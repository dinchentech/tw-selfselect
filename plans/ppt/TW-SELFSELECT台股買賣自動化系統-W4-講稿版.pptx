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4.svg" ContentType="image/svg"/>
  <Override PartName="/ppt/media/image6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5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customXml/item1.xml"/><Relationship Id="rId5" Type="http://schemas.openxmlformats.org/officeDocument/2006/relationships/customXml" Target="customXml/item2.xml"/><Relationship Id="rId6" Type="http://schemas.openxmlformats.org/officeDocument/2006/relationships/customXml" Target="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4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請按這裡移動投影片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請按這裡編輯備註格式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2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2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3802174-DA66-4B1E-9299-C94C529338E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0840" cy="342684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歡迎回來，這是第四堂課。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前幾週我們建好了環境、學會了跟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DSH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溝通。這一週是整個課程的核心中的核心——我們要深入認識系統內建的五大策略：它們的原理是什麼、適合什麼盤勢、什麼時候買、什麼時候賣。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【講師提示】預告這週資訊量大，但每個策略都會用動畫和回測數據講清楚，請大家保持耐心。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964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7B46E1-8325-4C34-8FCE-85082536CD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先看整體架構。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再強調一次：我們主要教的是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**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策略的量化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**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，而不是如何設計一個策略——你要會的是「看懂策略、設定參數、讓系統執行」。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本系統提供五個策略：布林通道、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 Cross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、唐奇安通道、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反轉、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Wait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低接高賣。另外保留四個使用者自訂策略。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重點：修改策略不用動主程式——主程式是經過長期驗證的，你只需要在設定檔改參數，或加上自己的策略就好。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【講師提示】這頁是地圖，先建立「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6+4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」的整體印象，之後逐個展開。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sldNum" idx="31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4E25B17-5598-4A1B-AF77-31911B5E23D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在講策略之前，先認識幾個常見術語。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，每股盈餘，是企業每一股賺進多少淨利；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ROE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，股東權益報酬率，是公司用股東資金賺錢的效率；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，本益比，代表買進股票後預計幾年可以回本，是估值指標；殖利率，把股票當定存，每年能拿到的配息回報率。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護城河，是一個公司難以被超越的地方——可能是技術、規模、或資產。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還有幾個技術指標：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是相對強弱指標，判斷市場買賣雙方力道強弱，用來評估股價是否過熱或過冷；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是平均真實波動幅度，衡量市場波動程度，不預測方向；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是簡單移動平均，把過去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天收盤價平均；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EMA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是指數移動平均，給近期價格較高權重。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【講師提示】這頁是詞典，不必逐個深入，先讓學員有印象；講到策略時會再複習相關指標。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sldNum" idx="32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1AFC96B-AC31-4A38-97EB-63D6AC6388F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與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的圖示。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畫面呈現的是移動平均線和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指標的示意。記住兩個重點：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告訴我們趨勢方向——價格在均線之上偏多，之下偏空；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告訴我們情緒狀態——超過七十算過熱，低於三十算超賣。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之後五個策略，有四個都用到這兩個指標的組合。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【講師提示】圖示頁，指著畫面快速帶過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MA/RSI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的視覺特徵。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sldNum" idx="33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4050809-8CFF-485C-A419-638464F0114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策略怎麼分類？兩個維度。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時間性：長期策略，持有半年以上；中短期，半年以內；還有當日內的短線交易。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進場時機：順勢策略，上漲時進場、開始下跌就賣出，追的是趨勢；逆勢策略，跌得離譜時進場、回歸正常時賣出，賭的是回歸。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不管哪種策略，分析的都是同樣的資料：開盤、收盤、最高、最低、成交量——就是我們下一頁要看的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線。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【講師提示】建立分類框架，講每個策略時可以問學員「這是順勢還是逆勢？」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34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36C3233-E6BE-4E59-AAE2-157F0FE1B9D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線圖。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線是股市最基本也最重要的圖形：一根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線記錄一天的開高低收。紅色上漲、綠色下跌。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不過要提醒大家：我們的系統是交由程式分析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線，不需要你人眼看圖——電腦會自動判斷。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【講師提示】強調「程式分析」而非「人眼盯盤」，呼應系統自動化的核心價值。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35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F7C8E43-3AFA-4327-A033-5204847C36F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接下來兩頁很重要：不同盤勢，適合不同策略。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先澄清一個概念：趨勢盤不一定上升——趨勢指的是「有明確方向」，上升趨勢和下跌趨勢都算趨勢。市場狀態大致分三種：上升趨勢，也就是多頭，方向明確往上；下跌趨勢，也就是空頭，方向明確往下；還有盤整震盪，沒有方向、來回拉扯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沒有一個策略在所有盤勢都賺錢——順勢策略在上升趨勢表現好，但在盤整會被雙巴；逆勢策略在盤整吃香，但在強趨勢會接刀。特別注意：我們的順勢策略只做多、不放空——所以在下跌趨勢中，它們會觸發賣出、空手避開，而不是反手放空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所以系統設計五個策略，就是讓你能根據盤勢搭配。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【講師提示】這是本週最重要的觀念之一，放慢講。務必強調「上升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下跌都是趨勢」「順勢策略只做多、下跌時空手避開」兩點。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019E428-3F35-4224-BD6F-641E039B332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這頁用兩張圖對照兩種極端盤勢。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左邊這張，是上升趨勢的噴出圖——價格一路向上、不斷創新高，趨勢明確，這正是順勢策略的主場；右邊這張，是下跌的崩盤圖——價格連續重挫、跌破所有支撐，這是空頭盤，順勢策略會空手避開。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實戰中，你要做的是判斷「現在大概是什麼盤」，然後把資金配置到適合的策略上。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【講師提示】指著左右兩張圖對比講解——上升噴出圖配順勢策略、下跌崩盤圖要防守避開。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37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E96F760-C17A-47CD-988D-B2D2F6D7134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第一個策略，布林通道反轉。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一句話描述：股價跌到統計學極限、加上市場極度恐慌時買進；漲到統計學極限、加上市場極度貪婪時賣出。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策略原理：布林通道以二十日移動平均線為中軸，上下各加減兩倍標準差構成通道。根據統計學常態分佈，大約百分之九十五點四的價格會落在通道內——所以衝出通道，就代表市場進入極端狀態。再結合五日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判讀市場情緒，形成雙重過濾。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數學上：通道中線是二十日均線，代表平均成本；通道上軌是中線加兩倍標準差，是統計學天花板；下軌是減兩倍，是統計學地板。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五日，看極短線多空力道。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【講師提示】動畫演示可現場播放。強調「統計學極限」概念——買在別人恐慌時。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38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7ABD2E6-2BE5-4910-BB5D-B430090448F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這頁是布林通道的買點示意圖。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大家看這張圖——當價格往下衝破下軌、同時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顯示超賣，就是買點訊號。圖中標示的位置，就是我們要出手買進的地方。買在這裡，賺的就是價格回歸均值這一段。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【講師提示】指著圖中的買點標記講解，對照布林下軌與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超賣的雙重條件。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39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FD5BADD-E477-43B2-97EF-B5745FBCF07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這頁是布林通道的賣點示意圖。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對應地，當價格往上突破上軌、同時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顯示超買，就是賣點訊號。圖中標示的位置，就是我們要獲利了結的地方——買點、賣點兩個條件對稱，來回操作。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【講師提示】指著圖中的賣點標記講解，與前一頁買點圖對照著講。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40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5B69279-2B7C-4446-A877-081E97006C2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0840" cy="342684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第二個策略，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偏離度反轉。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一句話：股價偏離法人平均成本超過一點五倍標準差，而且極短線情緒極端時，反向操作。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原理：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，成交量加權平均價，代表市場所有資金真正的平均買進成本。散戶無法大幅影響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VWAP——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只有大盤法人進出才會讓它移動。所以當股價遠離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超過一定倍數標準差，代表價格嚴重偏離法人的合理成本區，預期均值回歸。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數學上：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是成交量加權的平均價；偏離度是收盤價減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；標準差看的是偏離度的波動；門檻倍數預設一點五，可調；再配上五日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當情緒指標。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的意義——「法人的真實成本線」，適合金融股這類法人主導的標的。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964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4D41552-F377-4518-B379-E6BA934C4527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&lt;編號&gt;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的法人成本線示意圖。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大家看畫面中這條線——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，法人成本線。它代表市場所有資金真正的平均買進成本。看這張圖可以理解：價格線在法人成本線上下波動，當價格明顯偏離成本線的時候，就是反向操作的時機。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【講師提示】指著圖中的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成本線講解「法人的真實成本」概念，為買賣點圖鋪路。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42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5C96443-E98F-47BB-A79C-19DC9A01CB9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的買點示意圖。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當價格跌到法人成本線下方、偏離超過設定倍數標準差，而且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顯示超賣——這就是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策略的買點。圖中標示的位置，就是我們要出手買進的地方，賭的是價格回歸成本線。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【講師提示】指著圖中的買點標記講解「價格遠低於法人成本→買進」的邏輯。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43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7DF684D-A664-410B-B28C-131507C2999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的賣點示意圖。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對應地，當價格反彈到法人成本線上方、偏離過大，而且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RSI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顯示超買——這就是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策略的賣點。圖中標示的位置，就是我們要獲利了結的地方。到這裡，布林與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兩個逆勢策略的買賣點都看完了，下一頁進入順勢策略。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【講師提示】指著圖中的賣點標記講解，並作為逆勢策略段的收尾。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44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B62C9F1-8F56-4757-B155-AD39B49AAFC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0840" cy="342684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第三個策略，均線交叉。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一句話：短期平均成本突破中期平均成本時順勢買進；跌破時順勢賣出。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理：利用兩條不同週期的移動平均線的相對位置變化，捕捉波段趨勢。快線是九日均線，對價格反應靈敏；慢線是二十一日均線，代表中期方向。當快線由下往上突破慢線，稱為黃金交叉，是波段漲勢確立；反之跌破，是死亡交叉，多頭結束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特別的是，系統使用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shift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一比對昨日與今日的相對位置，精確判定交叉發生的瞬間——而不是等到趨勢明顯才進場。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【講師提示】黃金交叉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死亡交叉是學員最熟悉的概念，可以互動提問。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964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4100879E-0CC3-4637-9CBD-D8492BE4F13F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&lt;編號&gt;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這頁是均線交叉的買點示意圖。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大家看這張圖——快線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MA9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由下往上穿越慢線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MA21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，也就是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MA9 over MA21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，黃金交叉。圖中標示的位置，就是買點：短期成本突破中期成本，波段漲勢確立，順勢買進。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【講師提示】指著圖中的黃金交叉點講解「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MA9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上穿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MA21 =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買點」。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46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923A803-B40B-42ED-8C5F-C8192BFEACC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這頁是均線交叉的賣點示意圖。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對應地，當快線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MA9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由上往下跌破慢線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MA21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，也就是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MA21 over MA9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，死亡交叉。圖中標示的位置，就是賣點：多頭結束，順勢賣出離場。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要注意：盤整盤中快慢線會反覆交叉，容易「雙巴」——所以均線交叉最怕盤整盤，它適合用在趨勢明確的權值股上。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【講師提示】指著圖中的死亡交叉點講解「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MA21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壓過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MA9 =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賣點」，並提醒盤整雙巴風險。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47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27EF2EE-2FC9-4488-A6E4-796C1F95746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0840" cy="342684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第四個策略，唐奇安通道突破。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一句話：股價突破近一個月最高價時，猜測主力進場，順勢買進；跌破近一個月最低價時，猜測主力撤退，順勢賣出。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原理：唐奇安通道以過去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日的最高價與最低價作為上下軌，勾勒出箱型整理區間。散戶的資金分散且無共識，只有大盤法人有能力把股價推破長期天花板——所以價格突破上軌，就視為主力發動訊號。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數學上：上軌是過去二十日市場最高價，下軌是過去二十日最低價。系統特別使用前一日的通道值，避免用到今日包含突破瞬間的資料，造成前視偏差。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【講師提示】強調「前視偏差」這個專業細節，說明系統設計的嚴謹。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964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79AE3F90-A574-48A1-8EFF-17BBAA63C83E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&lt;編號&gt;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這頁是唐奇安突破的買點示意圖。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大家看這張圖——價格在箱型區間整理一段時間後，向上突破天花板，也就是創二十日新高。圖中標示的位置，就是買點：主力把股價推破長期高點，視為發動訊號，順勢追進，賺突破後的波段。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【講師提示】指著圖中突破上軌的位置講解「突破天花板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買點」。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49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AB9237D-8E8C-4F13-8257-5AF0201D3B5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這頁是唐奇安突破的賣點示意圖。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對應地，當價格跌破地板，也就是創二十日新低——圖中標示的位置，就是賣點：主力撤退訊號，順勢賣出。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風險提醒：價格衝破上軌又馬上跌回來的「假突破」在消息面刺激時很常見，系統用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ATR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過濾掉波動太小的假訊號，但無法完全避免。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【講師提示】指著圖中跌破下軌的位置講解「跌破地板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賣點」，並提醒假突破風險。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50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35A1986-186B-48F6-88EA-7C547B84AC0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0840" cy="342684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第五個策略，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and Wait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，低接策略。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一句話：不分析技術指標，完全依價格乖離與紀律執行低接——跌了就分批買、漲了就停利賣。適合波動大的高價股或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ETF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作為衛星持股。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流程是：初始進場，從上次買價跌百分之五再加碼，從均價漲百分之十五停利賣出，賣光後冷卻一段時間再重新開始。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買賣條件：初始買進，啟動時立即買入設定的股數建立基本倉位；加碼買進，從上次買價跌百分之五，最多加碼設定的次數（不含初始建倉）；停利賣出，從均價漲百分之十五，賣出百分之五十的部位；賣光之後有冷卻期，避免短線反覆交易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參數名就是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.env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PC_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條目的鍵：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initial_shares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add_drop_pct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add_shares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max_additions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tp_trigger_pct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tp_sell_ratio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cooldown_days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；想限制「太貴就不買」再加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max_entry_price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Wait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是「最不需要技術分析」的策略，強調紀律與資金管理。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6964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12A14986-5932-4911-8BE1-A1FD1D5F55C1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&lt;編號&gt;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這頁講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keep_wait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的實務用法：它由你人工管理，系統只負責執行紀律。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系統會自動做：初始建倉（受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max_entry_price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擋價）、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DCA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加碼（最多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max_additions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次，不含初始建倉）、停利（賣一部分或分層），賣光後才冷卻。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一個容易誤會的地方：改參數是「立刻生效」——把停利門檻調低到現價已達標，下一輪（最多一分鐘）就會停利賣出；只有調高才不會賣。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alloc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只影響資金到位與獲利滾入的加碼金額，不會觸發買賣。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系統不會做：每月選股不會新增、刪除或改它的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alloc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；它也不計入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SELFSELECT_TOP_N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的檔數上限；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不會路由到它；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immediate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也不會強制進場。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怎麼用：任何時間在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.env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PC_&lt;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代號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&gt;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strategy=keep_wait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）就會生效；要下車請先賣到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股——券商端賣掉後要跑對帳讓帳本（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holdings.json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）歸零——再刪條目；直接刪但還有持股，下一個交易日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09:00–13:30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的孤兒清倉會把它賣掉（每檔每日只嘗試一次），等於繞過停利規則。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【講師提示】用「名單交給程式、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keep_wait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的進出交給你自己」一句話收尾。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52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DF5E196-6115-4EFD-A458-A4CFF92424C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型態感知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：不鎖死一種策略，而是依「該股當下的型態」在四種策略中挑一個。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路由規則：趨勢成立（價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&gt; MA20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MA20 &gt; MA60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日動能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&gt; 0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）→ 順勢族；動能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&gt;5%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breakout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，否則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ma_cross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。非趨勢時，跌破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MA20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bollinger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（買低），仍在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MA20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上方用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（盤整偏離）。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重點一：同一檔只會落入順勢或回歸其中一族，持有期間固定，不會一下追高一下抄底；但不同檔可以同時有兩族（例：四檔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breakout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＋一檔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bollinger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），這是刻意分散。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重點二：買進前每天重判；成交當下鎖定並寫入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logs/auto_resolved.json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；賣到零股才釋放，下次買進重新判斷。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重點三：選股建議表的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auto→X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是基準日路由，實際鎖定在成交日——差一個交易日，型態若改變，鎖到的策略可能不同。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【講師提示】用「員工各有專長、就位後不換人」比喻鎖定；強調「同一檔不混族」與「不同檔可混族」。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53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84E75F6-19C8-4241-A51B-FCDD20207AA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最後講風險控制。正常組有四個限制：每日交易次數上限十次；每日虧損上限百分之三；漲跌停過濾正負百分之十；剩餘資金大於百分之三十時，不限交易次數。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這些參數全部可以在設定檔調整——紀律是自動化交易的生命線，系統用程式保證紀律不會因人而異。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【講師提示】強調「程式化風控＝克服人性」，這是系統的賣點。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54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2429F55-704C-4C1E-95A3-2492B707A7B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0840" cy="342684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做個總結。正常組這四個策略正好互補：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 Cross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順勢抓波段；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VWAP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逆勢抓法人成本偏離；唐奇安順勢追突破；布林逆勢抄底逃頂，涵蓋不同的交易情境。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自動化交易的目標不是年年打敗大盤，而是各種盤勢穩定發揮。數字要誠實講：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二〇二二年空頭，正常組賠百分之二十點六，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0050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含費用賠百分之二十二點二——只少賠一點六個百分點，不是空手避開。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二〇二三到二〇二五年分別是正三十四點六、正七點七、正四十點六；四年合計正五十九點一，平均只動用不到八成的資金。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但同期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0050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買進持有是正九十九點九，策略落後四十點八個百分點。這是明確的取捨：換來波動小一點、而且不用盯盤。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最後把進場方式講清楚，很多人會誤會：這組數字是「每個月選股後就下場」——選股日當天用收盤價買滿，不是選完之後等回檔、也不是等策略出現買訊；回測設定是立即成交，實盤對應隔一個交易日、下午一點二十五分掛單買進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【講師提示】這頁誠實講兩件事：①不是「年年打敗大盤」，落後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0050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四十點八個百分點就直說；②進場口徑是「選股後就下場」，不是等訊號、也不是等回檔。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6964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3D3C77A7-15B5-4DCF-B11C-F1B84299CEA0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&lt;編號&gt;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每月選股（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D1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）會做法人確認：選股基準日前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個交易日，投信加外資累計淨買超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&gt; 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才入選，把「法人沒在買的純動能股」濾掉。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資料由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TWSE T86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自動補抓並寫回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cache/inst_momentum/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（快取為空時自動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）；整體抓取失敗時，濾網照設計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pass-through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選股輸出若顯示「法人資料合併完成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交易日」，代表這次沒有法人確認，結果僅供參考。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56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10FB3C0-F42B-41E5-B468-526D657E823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⏱ 建議時間：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 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秒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好，這堂課到這裡。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五個策略全部介紹完了——原理、動畫、回測、風險，一應俱全。我是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frank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，信箱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frank@dinchen.com.tw</a:t>
            </a: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今天的功課：複習五個策略的比較表，想想你的資金和盤勢判斷適合哪幾個。下週我們開始回測實作。下次見！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【講師提示】收尾，點出「下週開始動手回測」的銜接。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57"/>
          </p:nvPr>
        </p:nvSpPr>
        <p:spPr>
          <a:xfrm>
            <a:off x="4278960" y="10157400"/>
            <a:ext cx="3279600" cy="53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358BC95-98DF-4FA3-A870-49E11898B9F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9"/>
          <p:cNvSpPr/>
          <p:nvPr/>
        </p:nvSpPr>
        <p:spPr>
          <a:xfrm>
            <a:off x="7026120" y="0"/>
            <a:ext cx="4459320" cy="1978920"/>
          </a:xfrm>
          <a:custGeom>
            <a:avLst/>
            <a:gdLst>
              <a:gd name="textAreaLeft" fmla="*/ 0 w 4459320"/>
              <a:gd name="textAreaRight" fmla="*/ 4461480 w 4459320"/>
              <a:gd name="textAreaTop" fmla="*/ 0 h 1978920"/>
              <a:gd name="textAreaBottom" fmla="*/ 1981080 h 19789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8160" cy="68558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A7F27FC-3EA2-42AA-AA20-8506ED525463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7720" y="2593440"/>
            <a:ext cx="44175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3"/>
          </p:nvPr>
        </p:nvSpPr>
        <p:spPr>
          <a:xfrm rot="16200000">
            <a:off x="-227520" y="5260680"/>
            <a:ext cx="12171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2560" cy="3503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16"/>
          <p:cNvSpPr/>
          <p:nvPr/>
        </p:nvSpPr>
        <p:spPr>
          <a:xfrm>
            <a:off x="7026120" y="0"/>
            <a:ext cx="4459320" cy="1978920"/>
          </a:xfrm>
          <a:custGeom>
            <a:avLst/>
            <a:gdLst>
              <a:gd name="textAreaLeft" fmla="*/ 0 w 4459320"/>
              <a:gd name="textAreaRight" fmla="*/ 4461480 w 4459320"/>
              <a:gd name="textAreaTop" fmla="*/ 0 h 1978920"/>
              <a:gd name="textAreaBottom" fmla="*/ 1981080 h 19789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0" name="Rectangle 1"/>
          <p:cNvSpPr/>
          <p:nvPr/>
        </p:nvSpPr>
        <p:spPr>
          <a:xfrm>
            <a:off x="0" y="0"/>
            <a:ext cx="758160" cy="68558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1" name="Cross 5"/>
          <p:cNvSpPr/>
          <p:nvPr/>
        </p:nvSpPr>
        <p:spPr>
          <a:xfrm>
            <a:off x="6683040" y="139716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2" name="Cross 6"/>
          <p:cNvSpPr/>
          <p:nvPr/>
        </p:nvSpPr>
        <p:spPr>
          <a:xfrm>
            <a:off x="11085480" y="563868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6210524-41AA-4867-A624-0208361586B4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7720" y="2593440"/>
            <a:ext cx="44175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6"/>
          </p:nvPr>
        </p:nvSpPr>
        <p:spPr>
          <a:xfrm rot="16200000">
            <a:off x="-227520" y="5260680"/>
            <a:ext cx="12171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0968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09680" cy="411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4"/>
          <p:cNvSpPr/>
          <p:nvPr/>
        </p:nvSpPr>
        <p:spPr>
          <a:xfrm>
            <a:off x="9958320" y="0"/>
            <a:ext cx="2228400" cy="1978920"/>
          </a:xfrm>
          <a:custGeom>
            <a:avLst/>
            <a:gdLst>
              <a:gd name="textAreaLeft" fmla="*/ 0 w 2228400"/>
              <a:gd name="textAreaRight" fmla="*/ 2230560 w 2228400"/>
              <a:gd name="textAreaTop" fmla="*/ 0 h 1978920"/>
              <a:gd name="textAreaBottom" fmla="*/ 1981080 h 197892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0" name="Rectangle 1"/>
          <p:cNvSpPr/>
          <p:nvPr/>
        </p:nvSpPr>
        <p:spPr>
          <a:xfrm>
            <a:off x="0" y="0"/>
            <a:ext cx="758160" cy="68558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1" name="Cross 2"/>
          <p:cNvSpPr/>
          <p:nvPr/>
        </p:nvSpPr>
        <p:spPr>
          <a:xfrm>
            <a:off x="7846920" y="38088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2" name="Cross 4"/>
          <p:cNvSpPr/>
          <p:nvPr/>
        </p:nvSpPr>
        <p:spPr>
          <a:xfrm>
            <a:off x="8559720" y="106668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8F6D2C4-E78A-4A42-9396-53040A3934D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7720" y="2593440"/>
            <a:ext cx="44175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9"/>
          </p:nvPr>
        </p:nvSpPr>
        <p:spPr>
          <a:xfrm rot="16200000">
            <a:off x="-227520" y="5260680"/>
            <a:ext cx="12171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09680" cy="4264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09680" cy="4264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eform: Shape 8"/>
          <p:cNvSpPr/>
          <p:nvPr/>
        </p:nvSpPr>
        <p:spPr>
          <a:xfrm>
            <a:off x="2131920" y="0"/>
            <a:ext cx="7922520" cy="6855840"/>
          </a:xfrm>
          <a:custGeom>
            <a:avLst/>
            <a:gdLst>
              <a:gd name="textAreaLeft" fmla="*/ 0 w 7922520"/>
              <a:gd name="textAreaRight" fmla="*/ 7924680 w 7922520"/>
              <a:gd name="textAreaTop" fmla="*/ 0 h 6855840"/>
              <a:gd name="textAreaBottom" fmla="*/ 6858000 h 685584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0" name="Left Brace 7"/>
          <p:cNvSpPr/>
          <p:nvPr/>
        </p:nvSpPr>
        <p:spPr>
          <a:xfrm>
            <a:off x="5560920" y="2022120"/>
            <a:ext cx="835920" cy="28119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69840" cy="586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1320" cy="2398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7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4" name="Freeform: Shape 12"/>
          <p:cNvSpPr/>
          <p:nvPr/>
        </p:nvSpPr>
        <p:spPr>
          <a:xfrm>
            <a:off x="0" y="1440"/>
            <a:ext cx="3426120" cy="6854400"/>
          </a:xfrm>
          <a:custGeom>
            <a:avLst/>
            <a:gdLst>
              <a:gd name="textAreaLeft" fmla="*/ 0 w 3426120"/>
              <a:gd name="textAreaRight" fmla="*/ 3428280 w 3426120"/>
              <a:gd name="textAreaTop" fmla="*/ 0 h 6854400"/>
              <a:gd name="textAreaBottom" fmla="*/ 6856560 h 685440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2640" cy="5293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2640" cy="285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Cross 13"/>
          <p:cNvSpPr/>
          <p:nvPr/>
        </p:nvSpPr>
        <p:spPr>
          <a:xfrm>
            <a:off x="4837680" y="91440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8" name="Cross 14"/>
          <p:cNvSpPr/>
          <p:nvPr/>
        </p:nvSpPr>
        <p:spPr>
          <a:xfrm>
            <a:off x="3085200" y="569592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Left Brace 1"/>
          <p:cNvSpPr/>
          <p:nvPr/>
        </p:nvSpPr>
        <p:spPr>
          <a:xfrm>
            <a:off x="5560920" y="2022120"/>
            <a:ext cx="835920" cy="28119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Oval 6"/>
          <p:cNvSpPr/>
          <p:nvPr/>
        </p:nvSpPr>
        <p:spPr>
          <a:xfrm>
            <a:off x="6703920" y="1148400"/>
            <a:ext cx="4559040" cy="45590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1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4200" cy="5659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Cross 8"/>
          <p:cNvSpPr/>
          <p:nvPr/>
        </p:nvSpPr>
        <p:spPr>
          <a:xfrm>
            <a:off x="10818720" y="535320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3" name="Cross 10"/>
          <p:cNvSpPr/>
          <p:nvPr/>
        </p:nvSpPr>
        <p:spPr>
          <a:xfrm>
            <a:off x="6336000" y="80568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0560" cy="403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0560" cy="1102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6840" cy="5088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"/>
          <p:cNvSpPr/>
          <p:nvPr/>
        </p:nvSpPr>
        <p:spPr>
          <a:xfrm>
            <a:off x="3274920" y="609480"/>
            <a:ext cx="5636520" cy="56365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Left Brace 7"/>
          <p:cNvSpPr/>
          <p:nvPr/>
        </p:nvSpPr>
        <p:spPr>
          <a:xfrm>
            <a:off x="5560920" y="2022120"/>
            <a:ext cx="835920" cy="28119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69840" cy="586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1320" cy="2811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3"/>
          <p:cNvSpPr/>
          <p:nvPr/>
        </p:nvSpPr>
        <p:spPr>
          <a:xfrm>
            <a:off x="0" y="0"/>
            <a:ext cx="758160" cy="68558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2" name="Cross 8"/>
          <p:cNvSpPr/>
          <p:nvPr/>
        </p:nvSpPr>
        <p:spPr>
          <a:xfrm>
            <a:off x="8151840" y="567072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211AA842-CDC2-4F81-9C93-713CDD2AFE47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7720" y="2593440"/>
            <a:ext cx="44175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12"/>
          </p:nvPr>
        </p:nvSpPr>
        <p:spPr>
          <a:xfrm rot="16200000">
            <a:off x="-227520" y="5260680"/>
            <a:ext cx="12171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69840" cy="4264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Cross 14"/>
          <p:cNvSpPr/>
          <p:nvPr/>
        </p:nvSpPr>
        <p:spPr>
          <a:xfrm>
            <a:off x="7351560" y="441972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Freeform: Shape 4"/>
          <p:cNvSpPr/>
          <p:nvPr/>
        </p:nvSpPr>
        <p:spPr>
          <a:xfrm>
            <a:off x="8609040" y="-21960"/>
            <a:ext cx="3577680" cy="6899760"/>
          </a:xfrm>
          <a:custGeom>
            <a:avLst/>
            <a:gdLst>
              <a:gd name="textAreaLeft" fmla="*/ 0 w 3577680"/>
              <a:gd name="textAreaRight" fmla="*/ 3579840 w 3577680"/>
              <a:gd name="textAreaTop" fmla="*/ 0 h 6899760"/>
              <a:gd name="textAreaBottom" fmla="*/ 6901920 h 689976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Oval 4"/>
          <p:cNvSpPr/>
          <p:nvPr/>
        </p:nvSpPr>
        <p:spPr>
          <a:xfrm>
            <a:off x="6703920" y="838080"/>
            <a:ext cx="5027040" cy="50270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1" name="Rectangle 7"/>
          <p:cNvSpPr/>
          <p:nvPr/>
        </p:nvSpPr>
        <p:spPr>
          <a:xfrm>
            <a:off x="0" y="0"/>
            <a:ext cx="758160" cy="68558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62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48920" cy="380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4AC24698-0905-496C-AB31-E8920834166C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7720" y="2593440"/>
            <a:ext cx="44175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dt" idx="15"/>
          </p:nvPr>
        </p:nvSpPr>
        <p:spPr>
          <a:xfrm rot="16200000">
            <a:off x="-227520" y="5260680"/>
            <a:ext cx="12171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6984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1240" cy="268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5120" cy="5286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0" name="Cross 2"/>
          <p:cNvSpPr/>
          <p:nvPr/>
        </p:nvSpPr>
        <p:spPr>
          <a:xfrm>
            <a:off x="7130160" y="3969360"/>
            <a:ext cx="638640" cy="638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71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1880" cy="558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Cross 5"/>
          <p:cNvSpPr/>
          <p:nvPr/>
        </p:nvSpPr>
        <p:spPr>
          <a:xfrm>
            <a:off x="6368040" y="2407320"/>
            <a:ext cx="638640" cy="638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6920" cy="4382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Oval 4"/>
          <p:cNvSpPr/>
          <p:nvPr/>
        </p:nvSpPr>
        <p:spPr>
          <a:xfrm>
            <a:off x="6361200" y="1317240"/>
            <a:ext cx="5027040" cy="50270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Rectangle 7"/>
          <p:cNvSpPr/>
          <p:nvPr/>
        </p:nvSpPr>
        <p:spPr>
          <a:xfrm>
            <a:off x="0" y="0"/>
            <a:ext cx="758160" cy="68558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B77D2D11-2559-439D-A415-56E49ED619D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7720" y="2593440"/>
            <a:ext cx="44175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dt" idx="18"/>
          </p:nvPr>
        </p:nvSpPr>
        <p:spPr>
          <a:xfrm rot="16200000">
            <a:off x="-227520" y="5260680"/>
            <a:ext cx="12171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6984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056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7"/>
          <p:cNvSpPr/>
          <p:nvPr/>
        </p:nvSpPr>
        <p:spPr>
          <a:xfrm>
            <a:off x="0" y="0"/>
            <a:ext cx="758160" cy="68558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9250603-3E8E-4FAF-AD6B-32C1C8A9900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7720" y="2593440"/>
            <a:ext cx="44175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dt" idx="21"/>
          </p:nvPr>
        </p:nvSpPr>
        <p:spPr>
          <a:xfrm rot="16200000">
            <a:off x="-227520" y="5260680"/>
            <a:ext cx="1217160" cy="758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6984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6600" cy="3960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1800" cy="686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4840" cy="388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4840" cy="53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2" name="Cross 2"/>
          <p:cNvSpPr/>
          <p:nvPr/>
        </p:nvSpPr>
        <p:spPr>
          <a:xfrm>
            <a:off x="10975680" y="498708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Cross 3"/>
          <p:cNvSpPr/>
          <p:nvPr/>
        </p:nvSpPr>
        <p:spPr>
          <a:xfrm>
            <a:off x="10118880" y="3581280"/>
            <a:ext cx="683640" cy="6836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請按這裡編輯題名文字格式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請按這裡編輯大綱文字格式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第二個大綱層次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image" Target="../media/image9.jpeg"/><Relationship Id="rId3" Type="http://schemas.openxmlformats.org/officeDocument/2006/relationships/slideLayout" Target="../slideLayouts/slideLayout1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1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selfselect/bollinger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selfselect/vwap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selfselect/ma_cross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selfselect/breakout-animation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hyperlink" Target="https://dinchentech.github.io/tw-selfselect/keep_wait&#31574;&#30053;&#35498;&#26126;.html" TargetMode="External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4840" cy="388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TW-SELFSELECT-W4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4840" cy="53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關於策略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60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現有策略的介紹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A30AC0D-A7F8-4C02-AF9E-874783C1751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1311120" y="1143000"/>
            <a:ext cx="9734040" cy="540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再強調一次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我們主要教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策略的量化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而不是如何設計一個策略</a:t>
            </a:r>
            <a:endParaRPr lang="en-US" sz="3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本系統提供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個策略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布林通道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,MA CROSS,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唐安奇通道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,VWAP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反轉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,KEEP_WAIT(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低接高賣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保留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個使用者自定策略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修改策略不用動主程式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主程式是經過長期驗證</a:t>
            </a:r>
            <a:r>
              <a:rPr lang="en-US" sz="32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32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1311120" y="190440"/>
            <a:ext cx="4912920" cy="60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常見術語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428F9AF8-0AE1-4051-B550-A4548CB2948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3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1311120" y="990720"/>
            <a:ext cx="9734040" cy="5560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EPS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每股盈餘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：企業為每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股賺進多少淨利。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ROE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股東權益報酬率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：公司用股東資金賺錢的效率。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PE 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本益比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：買進股票後，預計幾年可以回本（估值指標）。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殖利率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現金股利殖利率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：把股票當定存，每年能拿到的配息回報率。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護城河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一個公司難以被超越的地方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技術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規模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資產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軟硬件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.IP…)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RSI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（相對強弱指標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Relative Strength Index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）是一種用來評估市場「買賣雙方力道強弱」的動量指標。它透過計算特定期間內股價漲跌幅的大小與速度，來判斷股價是否處於過熱（超買）或過冷（超賣）的狀態。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ATR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（平均真實波動幅度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Average True Range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）是由威爾斯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·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威爾德（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J. Welles Wilder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1978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年提出的技術指標，用來衡量市場的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波動程度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不預測方向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MA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（簡單移動平均）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將過去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天的收盤價加總，除以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，每一天的權重相同。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EMA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（指數移動平均）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給予近期價格較高的權重，越靠近今天的價格影響越大；歷史價格影響力呈指數衰減。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MA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與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RSI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C7CE6D0A-ACE8-41FB-AE02-F0BB96DCBFC6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2" name="內容版面配置區 7"/>
          <p:cNvPicPr/>
          <p:nvPr/>
        </p:nvPicPr>
        <p:blipFill>
          <a:blip r:embed="rId1"/>
          <a:stretch/>
        </p:blipFill>
        <p:spPr>
          <a:xfrm>
            <a:off x="1311120" y="2997360"/>
            <a:ext cx="4569840" cy="2538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" name="內容版面配置區 5"/>
          <p:cNvPicPr/>
          <p:nvPr/>
        </p:nvPicPr>
        <p:blipFill>
          <a:blip r:embed="rId2"/>
          <a:srcRect l="10510" t="0" r="11566" b="4"/>
          <a:stretch/>
        </p:blipFill>
        <p:spPr>
          <a:xfrm>
            <a:off x="6094440" y="2286000"/>
            <a:ext cx="5560560" cy="396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53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策略的種類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1311120" y="1371600"/>
            <a:ext cx="4569840" cy="4874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時間性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 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長期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半年以上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中短期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: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半年以內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當日內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進場時機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順勢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上漲時進場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開始下跌賣出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逆勢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跌得離譜進場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回歸正常賣出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分析數據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 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開盤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收盤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最高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最低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成交量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6" name="內容版面配置區 6"/>
          <p:cNvPicPr/>
          <p:nvPr/>
        </p:nvPicPr>
        <p:blipFill>
          <a:blip r:embed="rId1"/>
          <a:stretch/>
        </p:blipFill>
        <p:spPr>
          <a:xfrm>
            <a:off x="6094440" y="2264760"/>
            <a:ext cx="5560560" cy="3088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5FEB68A2-DFDD-4829-890C-84122DF3164A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68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K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線圖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我們系統是交由程式分析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8" name="內容版面配置區 6"/>
          <p:cNvPicPr/>
          <p:nvPr/>
        </p:nvPicPr>
        <p:blipFill>
          <a:blip r:embed="rId1"/>
          <a:stretch/>
        </p:blipFill>
        <p:spPr>
          <a:xfrm>
            <a:off x="555840" y="1676520"/>
            <a:ext cx="5536080" cy="4669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內容版面配置區 8"/>
          <p:cNvPicPr/>
          <p:nvPr/>
        </p:nvPicPr>
        <p:blipFill>
          <a:blip r:embed="rId2"/>
          <a:stretch/>
        </p:blipFill>
        <p:spPr>
          <a:xfrm>
            <a:off x="6147720" y="151560"/>
            <a:ext cx="5536800" cy="327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圖片 10"/>
          <p:cNvPicPr/>
          <p:nvPr/>
        </p:nvPicPr>
        <p:blipFill>
          <a:blip r:embed="rId3"/>
          <a:srcRect l="0" t="1949" r="0" b="6584"/>
          <a:stretch/>
        </p:blipFill>
        <p:spPr>
          <a:xfrm>
            <a:off x="6147720" y="3276720"/>
            <a:ext cx="4494240" cy="357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59225F42-8DA8-4950-BC71-65D272912F94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7236720" cy="60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大盤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不同盤勢適合不同策略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26F810FB-4005-44B2-9F0D-F830652AE5E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3" name="內容版面配置區 8"/>
          <p:cNvPicPr/>
          <p:nvPr/>
        </p:nvPicPr>
        <p:blipFill>
          <a:blip r:embed="rId1"/>
          <a:srcRect l="1963" t="0" r="2546" b="0"/>
          <a:stretch/>
        </p:blipFill>
        <p:spPr>
          <a:xfrm>
            <a:off x="1446120" y="1600200"/>
            <a:ext cx="4798800" cy="2360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內容版面配置區 6"/>
          <p:cNvPicPr/>
          <p:nvPr/>
        </p:nvPicPr>
        <p:blipFill>
          <a:blip r:embed="rId2"/>
          <a:srcRect l="465" t="0" r="1654" b="0"/>
          <a:stretch/>
        </p:blipFill>
        <p:spPr>
          <a:xfrm>
            <a:off x="6475320" y="1600200"/>
            <a:ext cx="4909680" cy="411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圖片 10"/>
          <p:cNvPicPr/>
          <p:nvPr/>
        </p:nvPicPr>
        <p:blipFill>
          <a:blip r:embed="rId3"/>
          <a:stretch/>
        </p:blipFill>
        <p:spPr>
          <a:xfrm>
            <a:off x="1446120" y="4290840"/>
            <a:ext cx="4798800" cy="225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675360" cy="60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大盤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不同盤勢適合不同策略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8160" cy="378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05C2C89F-AF5A-405C-9AEA-9812D3F158A9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8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8" name="內容版面配置區 10"/>
          <p:cNvPicPr/>
          <p:nvPr/>
        </p:nvPicPr>
        <p:blipFill>
          <a:blip r:embed="rId1"/>
          <a:srcRect l="0" t="0" r="0" b="16600"/>
          <a:stretch/>
        </p:blipFill>
        <p:spPr>
          <a:xfrm>
            <a:off x="303120" y="1581120"/>
            <a:ext cx="5698800" cy="4950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內容版面配置區 12"/>
          <p:cNvPicPr/>
          <p:nvPr/>
        </p:nvPicPr>
        <p:blipFill>
          <a:blip r:embed="rId2"/>
          <a:srcRect l="0" t="0" r="-5" b="12243"/>
          <a:stretch/>
        </p:blipFill>
        <p:spPr>
          <a:xfrm>
            <a:off x="6184440" y="1562040"/>
            <a:ext cx="5698800" cy="495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文字方塊 2"/>
          <p:cNvSpPr/>
          <p:nvPr/>
        </p:nvSpPr>
        <p:spPr>
          <a:xfrm>
            <a:off x="912960" y="152280"/>
            <a:ext cx="9827640" cy="566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zh-TW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布林通道反轉 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 RSI </a:t>
            </a:r>
            <a:r>
              <a:rPr lang="zh-TW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過濾（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Bollinger</a:t>
            </a:r>
            <a:r>
              <a:rPr lang="zh-TW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）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一句話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：股價跌到統計學極限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市場極度恐慌時買進；漲到統計學極限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市場極度貪婪時賣出。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📺 動畫演示：</a:t>
            </a:r>
            <a:r>
              <a:rPr lang="zh-TW" sz="1800" b="0" u="sng" strike="noStrike">
                <a:solidFill>
                  <a:schemeClr val="dk1"/>
                </a:solidFill>
                <a:effectLst/>
                <a:uFillTx/>
                <a:latin typeface="Calibri"/>
                <a:hlinkClick r:id="rId1"/>
              </a:rPr>
              <a:t>點擊觀看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— 以走勢動畫解說買賣點邏輯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策略原理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布林通道（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Bollinger Bands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）以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20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日移動平均線為中軸，上下各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倍標準差構成通道。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根據統計學常態分佈，約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95.4%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的價格會落在通道內；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衝出通道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即代表市場進入極端狀態。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結合 </a:t>
            </a: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RSI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（</a:t>
            </a: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5 </a:t>
            </a:r>
            <a:r>
              <a:rPr lang="zh-TW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日）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判讀市場情緒，形成雙重過濾。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數學定義：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元件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公式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意義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BB_Middle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SMA(close, 20)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平均成本（價值中軸）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BB_Std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STD(close, 20)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近期波動劇烈程度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BB_Upper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Middle + 2 × Std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統計學天花板（超買門檻）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BB_Lower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Middle − 2 × Std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統計學地板（超賣門檻）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RSI(5)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100 − 100 / (1 + RS)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	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極短線多空力道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6720" cy="654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6720" cy="654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 0"/>
          <p:cNvSpPr/>
          <p:nvPr/>
        </p:nvSpPr>
        <p:spPr>
          <a:xfrm>
            <a:off x="747360" y="294480"/>
            <a:ext cx="11286720" cy="55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 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偏離度反轉（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747360" y="972000"/>
            <a:ext cx="10691640" cy="82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一句話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：股價偏離法人平均成本（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）超過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1.5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倍標準差，且極短線情緒極端時，反向操作。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660600" y="1885680"/>
            <a:ext cx="1122624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3"/>
          <p:cNvSpPr/>
          <p:nvPr/>
        </p:nvSpPr>
        <p:spPr>
          <a:xfrm>
            <a:off x="747360" y="2455920"/>
            <a:ext cx="112867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策略原理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4"/>
          <p:cNvSpPr/>
          <p:nvPr/>
        </p:nvSpPr>
        <p:spPr>
          <a:xfrm>
            <a:off x="747360" y="3008160"/>
            <a:ext cx="10691640" cy="124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（成交量加權平均價）代表市場所有資金真正的平均買進成本。散戶無法大幅影響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，只有大盤法人進出才會讓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移動。當股價遠離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VWAP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超過一定倍數的標準差時，代表價格嚴重偏離法人的合理成本區，預期均值回歸。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8" name="Table 0"/>
          <p:cNvGraphicFramePr/>
          <p:nvPr/>
        </p:nvGraphicFramePr>
        <p:xfrm>
          <a:off x="747360" y="4463280"/>
          <a:ext cx="8697600" cy="1965600"/>
        </p:xfrm>
        <a:graphic>
          <a:graphicData uri="http://schemas.openxmlformats.org/drawingml/2006/table">
            <a:tbl>
              <a:tblPr/>
              <a:tblGrid>
                <a:gridCol w="1729440"/>
                <a:gridCol w="4089240"/>
                <a:gridCol w="2879280"/>
              </a:tblGrid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元件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公式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意義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VWAP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Σ(close × volume) / Σ(volume)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市場真實平均成本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Deviation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close − VWAP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價格偏離法人的程度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Std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STD(Deviation, 20)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偏離度的波動標準差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sigma_mult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1.5</a:t>
                      </a: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（可調參數）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極端門檻倍數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2724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RSI(5)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100 − 100 / (1 + RS)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14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極短線情緒指標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6720" cy="654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圖片 2"/>
          <p:cNvPicPr/>
          <p:nvPr/>
        </p:nvPicPr>
        <p:blipFill>
          <a:blip r:embed="rId1"/>
          <a:stretch/>
        </p:blipFill>
        <p:spPr>
          <a:xfrm>
            <a:off x="0" y="153360"/>
            <a:ext cx="12186720" cy="6549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6984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056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4" name="圖片 6"/>
          <p:cNvPicPr/>
          <p:nvPr/>
        </p:nvPicPr>
        <p:blipFill>
          <a:blip r:embed="rId1"/>
          <a:stretch/>
        </p:blipFill>
        <p:spPr>
          <a:xfrm>
            <a:off x="0" y="153360"/>
            <a:ext cx="12186720" cy="654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2F89F889-FEC5-4C17-A014-23564A864A03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/>
          <p:nvPr/>
        </p:nvSpPr>
        <p:spPr>
          <a:xfrm>
            <a:off x="747360" y="287280"/>
            <a:ext cx="11286720" cy="55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均線交叉（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MA Cross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"/>
          <p:cNvSpPr/>
          <p:nvPr/>
        </p:nvSpPr>
        <p:spPr>
          <a:xfrm>
            <a:off x="747360" y="897480"/>
            <a:ext cx="10691640" cy="97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一句話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：短期平均成本突破中期平均成本時順勢買進；跌破時順勢賣出。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"/>
          <p:cNvSpPr/>
          <p:nvPr/>
        </p:nvSpPr>
        <p:spPr>
          <a:xfrm>
            <a:off x="747360" y="1841040"/>
            <a:ext cx="112867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策略原理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3"/>
          <p:cNvSpPr/>
          <p:nvPr/>
        </p:nvSpPr>
        <p:spPr>
          <a:xfrm>
            <a:off x="747360" y="2254680"/>
            <a:ext cx="10691640" cy="124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利用兩條不同週期的移動平均線的相對位置變化，捕捉波段趨勢。快線（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MA 9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）對價格反應靈敏，慢線（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MA 21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）代表中期方向。當快線由下往上突破慢線（黃金交叉），為波段漲勢確立；反之則為多頭結束（死亡交叉）。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4"/>
          <p:cNvSpPr/>
          <p:nvPr/>
        </p:nvSpPr>
        <p:spPr>
          <a:xfrm>
            <a:off x="747360" y="3429000"/>
            <a:ext cx="10691640" cy="9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使用 </a:t>
            </a:r>
            <a:r>
              <a:rPr lang="en-US" sz="1850" b="0" u="none" strike="noStrike">
                <a:solidFill>
                  <a:srgbClr val="1F2328"/>
                </a:solidFill>
                <a:effectLst/>
                <a:highlight>
                  <a:srgbClr val="F0F1F3"/>
                </a:highlight>
                <a:uFillTx/>
                <a:latin typeface="Consolas"/>
                <a:ea typeface="Consolas"/>
              </a:rPr>
              <a:t>.shift(1)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比對昨日與今日的相對位置，精確判定交叉瞬間。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數學定義：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0" name="Table 0"/>
          <p:cNvGraphicFramePr/>
          <p:nvPr/>
        </p:nvGraphicFramePr>
        <p:xfrm>
          <a:off x="747360" y="4482360"/>
          <a:ext cx="7048080" cy="1797120"/>
        </p:xfrm>
        <a:graphic>
          <a:graphicData uri="http://schemas.openxmlformats.org/drawingml/2006/table">
            <a:tbl>
              <a:tblPr/>
              <a:tblGrid>
                <a:gridCol w="1439640"/>
                <a:gridCol w="2149560"/>
                <a:gridCol w="345924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元件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公式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意義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MA_Fast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SMA(close, 9)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短期平均成本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MA_Slow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SMA(close, 21)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中期平均成本（一個月）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Shift(1)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取昨日資料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判斷交叉與否的基準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6984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056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54" name="圖片 6"/>
          <p:cNvPicPr/>
          <p:nvPr/>
        </p:nvPicPr>
        <p:blipFill>
          <a:blip r:embed="rId1"/>
          <a:stretch/>
        </p:blipFill>
        <p:spPr>
          <a:xfrm>
            <a:off x="0" y="153360"/>
            <a:ext cx="12186720" cy="654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5D4549EB-4CB6-4778-9D91-CF946499D48A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6984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056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58" name="圖片 6"/>
          <p:cNvPicPr/>
          <p:nvPr/>
        </p:nvPicPr>
        <p:blipFill>
          <a:blip r:embed="rId1"/>
          <a:stretch/>
        </p:blipFill>
        <p:spPr>
          <a:xfrm>
            <a:off x="0" y="153360"/>
            <a:ext cx="12186720" cy="654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09401660-2695-4C66-AB53-077518E1046E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 0"/>
          <p:cNvSpPr/>
          <p:nvPr/>
        </p:nvSpPr>
        <p:spPr>
          <a:xfrm>
            <a:off x="686880" y="147240"/>
            <a:ext cx="11286720" cy="55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唐奇安通道突破（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Breakout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686880" y="682200"/>
            <a:ext cx="10691640" cy="82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一句話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：股價突破近一個月最高價時猜測主力進場，順勢買進；跌破近一個月最低價時猜測主力撤退，順勢賣出。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"/>
          <p:cNvSpPr/>
          <p:nvPr/>
        </p:nvSpPr>
        <p:spPr>
          <a:xfrm>
            <a:off x="620640" y="1510560"/>
            <a:ext cx="1122624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"/>
          <p:cNvSpPr/>
          <p:nvPr/>
        </p:nvSpPr>
        <p:spPr>
          <a:xfrm>
            <a:off x="620640" y="1970640"/>
            <a:ext cx="112867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策略原理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4"/>
          <p:cNvSpPr/>
          <p:nvPr/>
        </p:nvSpPr>
        <p:spPr>
          <a:xfrm>
            <a:off x="620640" y="2378880"/>
            <a:ext cx="10691640" cy="124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唐奇安通道（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Donchian Channel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）以過去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N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日的最高價與最低價作為上下軌，勾勒出箱型整理區間。散戶的資金分散且無共識，只有大盤法人有能力將股價推破長期的天花板（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N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日最高價），因此價格突破通道上軌即視為主力發動訊號。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5"/>
          <p:cNvSpPr/>
          <p:nvPr/>
        </p:nvSpPr>
        <p:spPr>
          <a:xfrm>
            <a:off x="620640" y="3523320"/>
            <a:ext cx="10691640" cy="83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使用前一日的通道值（</a:t>
            </a:r>
            <a:r>
              <a:rPr lang="en-US" sz="1850" b="0" u="none" strike="noStrike">
                <a:solidFill>
                  <a:srgbClr val="1F2328"/>
                </a:solidFill>
                <a:effectLst/>
                <a:highlight>
                  <a:srgbClr val="F0F1F3"/>
                </a:highlight>
                <a:uFillTx/>
                <a:latin typeface="Consolas"/>
                <a:ea typeface="Consolas"/>
              </a:rPr>
              <a:t>.shift(1)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或 </a:t>
            </a:r>
            <a:r>
              <a:rPr lang="en-US" sz="1850" b="0" u="none" strike="noStrike">
                <a:solidFill>
                  <a:srgbClr val="1F2328"/>
                </a:solidFill>
                <a:effectLst/>
                <a:highlight>
                  <a:srgbClr val="F0F1F3"/>
                </a:highlight>
                <a:uFillTx/>
                <a:latin typeface="Consolas"/>
                <a:ea typeface="Consolas"/>
              </a:rPr>
              <a:t>iloc[-2]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），避免使用今日包含突破瞬間的資料造成前視偏差。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6"/>
          <p:cNvSpPr/>
          <p:nvPr/>
        </p:nvSpPr>
        <p:spPr>
          <a:xfrm>
            <a:off x="650880" y="4300560"/>
            <a:ext cx="1122624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數學定義：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6" name="Table 0"/>
          <p:cNvGraphicFramePr/>
          <p:nvPr/>
        </p:nvGraphicFramePr>
        <p:xfrm>
          <a:off x="620640" y="4902840"/>
          <a:ext cx="8067960" cy="2018160"/>
        </p:xfrm>
        <a:graphic>
          <a:graphicData uri="http://schemas.openxmlformats.org/drawingml/2006/table">
            <a:tbl>
              <a:tblPr/>
              <a:tblGrid>
                <a:gridCol w="2219400"/>
                <a:gridCol w="1989720"/>
                <a:gridCol w="385920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元件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公式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意義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Donchian_High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MAX(high, N)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N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日（預設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20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）市場最高價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Donchian_Low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Segoe UI"/>
                          <a:ea typeface="Segoe UI"/>
                        </a:rPr>
                        <a:t>MIN(low, N)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N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日（預設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20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）市場最低價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6984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056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70" name="圖片 8"/>
          <p:cNvPicPr/>
          <p:nvPr/>
        </p:nvPicPr>
        <p:blipFill>
          <a:blip r:embed="rId1"/>
          <a:stretch/>
        </p:blipFill>
        <p:spPr>
          <a:xfrm>
            <a:off x="0" y="153360"/>
            <a:ext cx="12186720" cy="654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E76FA5A8-0E16-46CF-AA12-415A723E8830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2920" cy="144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6984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6094440" y="2286000"/>
            <a:ext cx="556056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800"/>
              </a:spcBef>
              <a:buNone/>
            </a:pP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74" name="圖片 8"/>
          <p:cNvPicPr/>
          <p:nvPr/>
        </p:nvPicPr>
        <p:blipFill>
          <a:blip r:embed="rId1"/>
          <a:stretch/>
        </p:blipFill>
        <p:spPr>
          <a:xfrm>
            <a:off x="0" y="153360"/>
            <a:ext cx="12186720" cy="654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2BE23A9B-28FF-4295-92F7-F0E278C24432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 0"/>
          <p:cNvSpPr/>
          <p:nvPr/>
        </p:nvSpPr>
        <p:spPr>
          <a:xfrm>
            <a:off x="707400" y="247680"/>
            <a:ext cx="11286720" cy="55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Keep &amp; Wait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DCA </a:t>
            </a: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低接策略）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"/>
          <p:cNvSpPr/>
          <p:nvPr/>
        </p:nvSpPr>
        <p:spPr>
          <a:xfrm>
            <a:off x="686880" y="764280"/>
            <a:ext cx="112867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核心邏輯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"/>
          <p:cNvSpPr/>
          <p:nvPr/>
        </p:nvSpPr>
        <p:spPr>
          <a:xfrm>
            <a:off x="666720" y="1129320"/>
            <a:ext cx="10691640" cy="82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25000"/>
              </a:lnSpc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不分析技術指標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，完全依價格乖離與紀律執行低接。適合波動大的高價股或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ETF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作為衛星持股：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666720" y="1981080"/>
            <a:ext cx="1122624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📺 </a:t>
            </a: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動畫演示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</a:t>
            </a:r>
            <a:r>
              <a:rPr lang="zh-TW" sz="2170" b="0" u="sng" strike="noStrike">
                <a:solidFill>
                  <a:srgbClr val="0563C1"/>
                </a:solidFill>
                <a:effectLst/>
                <a:uFillTx/>
                <a:latin typeface="Yu Gothic UI"/>
                <a:ea typeface="Yu Gothic UI"/>
                <a:hlinkClick r:id="rId1"/>
              </a:rPr>
              <a:t>點擊觀看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— 以走勢動畫解說買賣點邏輯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4"/>
          <p:cNvSpPr/>
          <p:nvPr/>
        </p:nvSpPr>
        <p:spPr>
          <a:xfrm>
            <a:off x="747360" y="3612600"/>
            <a:ext cx="64440" cy="412200"/>
          </a:xfrm>
          <a:prstGeom prst="rect">
            <a:avLst/>
          </a:prstGeom>
          <a:solidFill>
            <a:srgbClr val="D1D9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" tIns="45000" rIns="324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 5"/>
          <p:cNvSpPr/>
          <p:nvPr/>
        </p:nvSpPr>
        <p:spPr>
          <a:xfrm>
            <a:off x="733320" y="2531160"/>
            <a:ext cx="1062504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6120" tIns="0" rIns="27612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初始進場 → 跌 </a:t>
            </a:r>
            <a:r>
              <a:rPr lang="en-US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X% </a:t>
            </a: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再加碼 → 漲 </a:t>
            </a:r>
            <a:r>
              <a:rPr lang="en-US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Y% </a:t>
            </a: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停利賣出 → 冷卻後重來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6"/>
          <p:cNvSpPr/>
          <p:nvPr/>
        </p:nvSpPr>
        <p:spPr>
          <a:xfrm>
            <a:off x="733320" y="3017520"/>
            <a:ext cx="112867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買賣條件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2" name="Table 0"/>
          <p:cNvGraphicFramePr/>
          <p:nvPr/>
        </p:nvGraphicFramePr>
        <p:xfrm>
          <a:off x="371160" y="3512880"/>
          <a:ext cx="11521080" cy="3236760"/>
        </p:xfrm>
        <a:graphic>
          <a:graphicData uri="http://schemas.openxmlformats.org/drawingml/2006/table">
            <a:tbl>
              <a:tblPr/>
              <a:tblGrid>
                <a:gridCol w="1691640"/>
                <a:gridCol w="5212080"/>
                <a:gridCol w="461772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動作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條件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說明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688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初始買進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啟動時立即買入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initial_shares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股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建立基本倉位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688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加碼買進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從上次買價跌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add_drop_pct%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（如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5%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最多加碼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max_additions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次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77688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停利賣出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從均價漲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tp_trigger_pct%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（如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15%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賣出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tp_sell_ratio%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（如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50%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冷卻期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賣光後 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cooldown_days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天不動作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避免短線反覆交易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 0"/>
          <p:cNvSpPr/>
          <p:nvPr/>
        </p:nvSpPr>
        <p:spPr>
          <a:xfrm>
            <a:off x="747360" y="169920"/>
            <a:ext cx="11286720" cy="55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>
              <a:lnSpc>
                <a:spcPct val="100000"/>
              </a:lnSpc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Yu Gothic UI"/>
              </a:rPr>
              <a:t>Keep &amp; Wait</a:t>
            </a:r>
            <a:r>
              <a:rPr lang="zh-TW" sz="2830" b="1" u="none" strike="noStrike">
                <a:solidFill>
                  <a:srgbClr val="000000"/>
                </a:solidFill>
                <a:effectLst/>
                <a:uFillTx/>
                <a:latin typeface="Yu Gothic UI"/>
              </a:rPr>
              <a:t>：人工管理怎麼用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"/>
          <p:cNvSpPr/>
          <p:nvPr/>
        </p:nvSpPr>
        <p:spPr>
          <a:xfrm>
            <a:off x="717120" y="646200"/>
            <a:ext cx="1122624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zh-TW" sz="2170" b="0" u="none" strike="noStrike">
                <a:solidFill>
                  <a:srgbClr val="000000"/>
                </a:solidFill>
                <a:effectLst/>
                <a:uFillTx/>
                <a:latin typeface="Yu Gothic UI"/>
              </a:rPr>
              <a:t>系統自動執行紀律；名單（誰被選中）不歸它管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"/>
          <p:cNvSpPr/>
          <p:nvPr/>
        </p:nvSpPr>
        <p:spPr>
          <a:xfrm>
            <a:off x="717120" y="3246120"/>
            <a:ext cx="112867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zh-TW" sz="2400" b="1" u="none" strike="noStrike">
                <a:solidFill>
                  <a:srgbClr val="222222"/>
                </a:solidFill>
                <a:effectLst/>
                <a:uFillTx/>
                <a:latin typeface="Yu Gothic UI"/>
              </a:rPr>
              <a:t>怎麼用：① 加 → ② 觀察自動執行 → ③ 要下車先賣再刪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"/>
          <p:cNvSpPr/>
          <p:nvPr/>
        </p:nvSpPr>
        <p:spPr>
          <a:xfrm>
            <a:off x="684000" y="3675960"/>
            <a:ext cx="11122920" cy="269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n-US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• 加：任何時間在 </a:t>
            </a:r>
            <a:r>
              <a:rPr lang="en-US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.env </a:t>
            </a:r>
            <a:r>
              <a:rPr lang="zh-TW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加 </a:t>
            </a:r>
            <a:r>
              <a:rPr lang="en-US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PC_&lt;</a:t>
            </a:r>
            <a:r>
              <a:rPr lang="zh-TW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代號</a:t>
            </a:r>
            <a:r>
              <a:rPr lang="en-US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&gt;{"strategy":"keep_wait",...}</a:t>
            </a:r>
            <a:r>
              <a:rPr lang="zh-TW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，</a:t>
            </a:r>
            <a:r>
              <a:rPr lang="en-US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1 </a:t>
            </a:r>
            <a:r>
              <a:rPr lang="zh-TW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分鐘內熱重載（不必部署）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• 改：改完 </a:t>
            </a:r>
            <a:r>
              <a:rPr lang="en-US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1 </a:t>
            </a:r>
            <a:r>
              <a:rPr lang="zh-TW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分鐘內生效；停利門檻調低到「現價已達標」⇒ 下一輪立刻停利（調高才不會賣）；</a:t>
            </a:r>
            <a:r>
              <a:rPr lang="en-US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alloc </a:t>
            </a:r>
            <a:r>
              <a:rPr lang="zh-TW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只影響資金到位／獲利滾入的加碼金額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• 下車：先賣到 </a:t>
            </a:r>
            <a:r>
              <a:rPr lang="en-US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0 </a:t>
            </a:r>
            <a:r>
              <a:rPr lang="zh-TW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股（券商賣掉後要用對帳把 </a:t>
            </a:r>
            <a:r>
              <a:rPr lang="en-US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holdings </a:t>
            </a:r>
            <a:r>
              <a:rPr lang="zh-TW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歸零）再刪 </a:t>
            </a:r>
            <a:r>
              <a:rPr lang="en-US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PC_ </a:t>
            </a:r>
            <a:r>
              <a:rPr lang="zh-TW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條目；直接刪但仍有持股 ⇒ 下一交易日 </a:t>
            </a:r>
            <a:r>
              <a:rPr lang="en-US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09:00–13:30 </a:t>
            </a:r>
            <a:r>
              <a:rPr lang="zh-TW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的孤兒清倉會賣掉（每檔每日只試一次，繞過停利規則）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• 限制：</a:t>
            </a:r>
            <a:r>
              <a:rPr lang="en-US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auto </a:t>
            </a:r>
            <a:r>
              <a:rPr lang="zh-TW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不會路由到 </a:t>
            </a:r>
            <a:r>
              <a:rPr lang="en-US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keep_wait</a:t>
            </a:r>
            <a:r>
              <a:rPr lang="zh-TW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；</a:t>
            </a:r>
            <a:r>
              <a:rPr lang="en-US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immediate </a:t>
            </a:r>
            <a:r>
              <a:rPr lang="zh-TW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不會強制進場；每日「買入不足補足」也不處理它；也不計入 </a:t>
            </a:r>
            <a:r>
              <a:rPr lang="en-US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SELFSELECT_TOP_N </a:t>
            </a:r>
            <a:r>
              <a:rPr lang="zh-TW" sz="1850" b="1" u="none" strike="noStrike">
                <a:solidFill>
                  <a:srgbClr val="1F1F1F"/>
                </a:solidFill>
                <a:effectLst/>
                <a:uFillTx/>
                <a:latin typeface="Segoe UI"/>
              </a:rPr>
              <a:t>檔數上限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7" name="Table 228"/>
          <p:cNvGraphicFramePr/>
          <p:nvPr/>
        </p:nvGraphicFramePr>
        <p:xfrm>
          <a:off x="728640" y="1051200"/>
          <a:ext cx="11351160" cy="1882440"/>
        </p:xfrm>
        <a:graphic>
          <a:graphicData uri="http://schemas.openxmlformats.org/drawingml/2006/table">
            <a:tbl>
              <a:tblPr/>
              <a:tblGrid>
                <a:gridCol w="2743200"/>
                <a:gridCol w="6766560"/>
                <a:gridCol w="1841760"/>
              </a:tblGrid>
              <a:tr h="3474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動作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keep_wait </a:t>
                      </a:r>
                      <a:r>
                        <a:rPr lang="zh-TW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會自動做？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你要做什麼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初始建倉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買 </a:t>
                      </a: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initial_shares</a:t>
                      </a: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（現價 </a:t>
                      </a: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&gt; max_entry_price </a:t>
                      </a: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則跳過）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決定 </a:t>
                      </a: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alloc </a:t>
                      </a: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與參數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DCA </a:t>
                      </a: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加碼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回跌 ≥ </a:t>
                      </a: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add_drop_pct% </a:t>
                      </a: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加 </a:t>
                      </a: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add_shares </a:t>
                      </a: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股（最多加碼 </a:t>
                      </a: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max_additions </a:t>
                      </a: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次）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想加碼就改參數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停利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漲 ≥ </a:t>
                      </a: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tp_trigger_pct% </a:t>
                      </a: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賣 </a:t>
                      </a: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tp_sell_ratio%</a:t>
                      </a: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（或 </a:t>
                      </a: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tp_tiers </a:t>
                      </a: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分層）；賣光後才冷卻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分批停利設 </a:t>
                      </a: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tp_tiers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每月選股新增／汰換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✗ 不新增、不刪除、不改 </a:t>
                      </a: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alloc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想換股自己改 </a:t>
                      </a: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Arial"/>
                        </a:rPr>
                        <a:t>.env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Text 0"/>
          <p:cNvSpPr/>
          <p:nvPr/>
        </p:nvSpPr>
        <p:spPr>
          <a:xfrm>
            <a:off x="747360" y="169920"/>
            <a:ext cx="11286720" cy="55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>
              <a:lnSpc>
                <a:spcPct val="100000"/>
              </a:lnSpc>
            </a:pPr>
            <a:r>
              <a:rPr lang="zh-TW" sz="2830" b="1" u="none" strike="noStrike">
                <a:solidFill>
                  <a:srgbClr val="000000"/>
                </a:solidFill>
                <a:effectLst/>
                <a:uFillTx/>
                <a:latin typeface="Yu Gothic UI"/>
              </a:rPr>
              <a:t>型態感知（</a:t>
            </a: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Yu Gothic UI"/>
              </a:rPr>
              <a:t>auto</a:t>
            </a:r>
            <a:r>
              <a:rPr lang="zh-TW" sz="2830" b="1" u="none" strike="noStrike">
                <a:solidFill>
                  <a:srgbClr val="000000"/>
                </a:solidFill>
                <a:effectLst/>
                <a:uFillTx/>
                <a:latin typeface="Yu Gothic UI"/>
              </a:rPr>
              <a:t>）：買進當下鎖定「一種」策略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"/>
          <p:cNvSpPr/>
          <p:nvPr/>
        </p:nvSpPr>
        <p:spPr>
          <a:xfrm>
            <a:off x="717120" y="646200"/>
            <a:ext cx="1122624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zh-TW" sz="2170" b="0" u="none" strike="noStrike">
                <a:solidFill>
                  <a:srgbClr val="000000"/>
                </a:solidFill>
                <a:effectLst/>
                <a:uFillTx/>
                <a:latin typeface="Yu Gothic UI"/>
              </a:rPr>
              <a:t>四種可能，分兩族；同一檔不混、不同檔可混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0" name="Table 0"/>
          <p:cNvGraphicFramePr/>
          <p:nvPr/>
        </p:nvGraphicFramePr>
        <p:xfrm>
          <a:off x="684000" y="1117080"/>
          <a:ext cx="11338200" cy="1918800"/>
        </p:xfrm>
        <a:graphic>
          <a:graphicData uri="http://schemas.openxmlformats.org/drawingml/2006/table">
            <a:tbl>
              <a:tblPr/>
              <a:tblGrid>
                <a:gridCol w="2926080"/>
                <a:gridCol w="6309360"/>
                <a:gridCol w="2103120"/>
              </a:tblGrid>
              <a:tr h="383760">
                <a:tc>
                  <a:txBody>
                    <a:bodyPr lIns="123480" tIns="56880" rIns="123480" bIns="568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策略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被選到的型態條件（只看 ≤ 當日資料）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族群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123480" tIns="56880" rIns="123480" bIns="568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Breakout </a:t>
                      </a: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唐奇安突破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趨勢成立（價</a:t>
                      </a: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&gt;MA20</a:t>
                      </a: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、</a:t>
                      </a: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MA20&gt;MA60</a:t>
                      </a: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、</a:t>
                      </a: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20 </a:t>
                      </a: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日動能</a:t>
                      </a: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&gt;0</a:t>
                      </a: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）且動能 </a:t>
                      </a: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&gt;5%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順勢 追強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123480" tIns="56880" rIns="123480" bIns="568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 Cross </a:t>
                      </a: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均線交叉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趨勢成立，但 </a:t>
                      </a: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20 </a:t>
                      </a: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日動能 ≤</a:t>
                      </a: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5%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順勢 追強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83760">
                <a:tc>
                  <a:txBody>
                    <a:bodyPr lIns="123480" tIns="56880" rIns="123480" bIns="568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Bollinger </a:t>
                      </a: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布林反轉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非趨勢，且股價 </a:t>
                      </a: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 MA20</a:t>
                      </a: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（回檔／超跌）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回歸 買低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123480" tIns="56880" rIns="123480" bIns="568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VWAP </a:t>
                      </a: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偏離回歸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非趨勢，但股價 ≥ </a:t>
                      </a: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MA20</a:t>
                      </a: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（盤整）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回歸 買低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191" name="Text 2"/>
          <p:cNvSpPr/>
          <p:nvPr/>
        </p:nvSpPr>
        <p:spPr>
          <a:xfrm>
            <a:off x="717120" y="3415680"/>
            <a:ext cx="112867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zh-TW" sz="2400" b="1" u="none" strike="noStrike">
                <a:solidFill>
                  <a:srgbClr val="000000"/>
                </a:solidFill>
                <a:effectLst/>
                <a:uFillTx/>
                <a:latin typeface="Yu Gothic UI"/>
              </a:rPr>
              <a:t>鎖定時機：</a:t>
            </a:r>
            <a:r>
              <a:rPr lang="zh-TW" sz="2400" b="1" u="none" strike="noStrike">
                <a:solidFill>
                  <a:srgbClr val="000000"/>
                </a:solidFill>
                <a:effectLst/>
                <a:highlight>
                  <a:srgbClr val="FFFF00"/>
                </a:highlight>
                <a:uFillTx/>
                <a:latin typeface="Yu Gothic UI"/>
              </a:rPr>
              <a:t>買進前每天重判 ➜ 成交當下鎖定 ➜ 賣出才釋放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5"/>
          <p:cNvSpPr/>
          <p:nvPr/>
        </p:nvSpPr>
        <p:spPr>
          <a:xfrm>
            <a:off x="684000" y="3931920"/>
            <a:ext cx="11122920" cy="22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n-US" sz="217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• 買進前：每天依最新日 </a:t>
            </a:r>
            <a:r>
              <a:rPr lang="en-US" sz="217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K </a:t>
            </a:r>
            <a:r>
              <a:rPr lang="zh-TW" sz="217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重判斷型態（進場前策略可能不同）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17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• 成交當下：鎖定並寫入 </a:t>
            </a:r>
            <a:r>
              <a:rPr lang="en-US" sz="217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logs/auto_resolved.json</a:t>
            </a:r>
            <a:r>
              <a:rPr lang="zh-TW" sz="217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；持有期間不換、重啟不重選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17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• 賣到 </a:t>
            </a:r>
            <a:r>
              <a:rPr lang="en-US" sz="217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0 </a:t>
            </a:r>
            <a:r>
              <a:rPr lang="zh-TW" sz="217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股：釋放鎖定；下次買進重新判斷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17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• immediate </a:t>
            </a:r>
            <a:r>
              <a:rPr lang="zh-TW" sz="217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模式：名單一出現，第一個日 </a:t>
            </a:r>
            <a:r>
              <a:rPr lang="en-US" sz="217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K </a:t>
            </a:r>
            <a:r>
              <a:rPr lang="zh-TW" sz="217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窗口就進場 ⇒ 進場當天型態＝鎖定策略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17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• 注意：選股建議表的 </a:t>
            </a:r>
            <a:r>
              <a:rPr lang="en-US" sz="217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auto→X </a:t>
            </a:r>
            <a:r>
              <a:rPr lang="zh-TW" sz="217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是「基準日」路由；實際鎖定在「成交日」（差 </a:t>
            </a:r>
            <a:r>
              <a:rPr lang="en-US" sz="217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1 </a:t>
            </a:r>
            <a:r>
              <a:rPr lang="zh-TW" sz="2170" b="1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個交易日，可能不同）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3" name="表格 7"/>
          <p:cNvGraphicFramePr/>
          <p:nvPr/>
        </p:nvGraphicFramePr>
        <p:xfrm>
          <a:off x="1087920" y="1243800"/>
          <a:ext cx="8686080" cy="1848600"/>
        </p:xfrm>
        <a:graphic>
          <a:graphicData uri="http://schemas.openxmlformats.org/drawingml/2006/table">
            <a:tbl>
              <a:tblPr/>
              <a:tblGrid>
                <a:gridCol w="2895480"/>
                <a:gridCol w="2895480"/>
                <a:gridCol w="2895480"/>
              </a:tblGrid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機制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C086EC"/>
                      </a:solidFill>
                      <a:prstDash val="solid"/>
                    </a:lnL>
                    <a:lnR w="12240">
                      <a:solidFill>
                        <a:srgbClr val="A094EC"/>
                      </a:solidFill>
                      <a:prstDash val="solid"/>
                    </a:lnR>
                    <a:lnT w="12240">
                      <a:solidFill>
                        <a:srgbClr val="C086EC"/>
                      </a:solidFill>
                      <a:prstDash val="solid"/>
                    </a:lnT>
                    <a:lnB w="12240">
                      <a:solidFill>
                        <a:srgbClr val="009B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參數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A094EC"/>
                      </a:solidFill>
                      <a:prstDash val="solid"/>
                    </a:lnL>
                    <a:lnR w="12240">
                      <a:solidFill>
                        <a:srgbClr val="8099EC"/>
                      </a:solidFill>
                      <a:prstDash val="solid"/>
                    </a:lnR>
                    <a:lnT w="12240">
                      <a:solidFill>
                        <a:srgbClr val="A094EC"/>
                      </a:solidFill>
                      <a:prstDash val="solid"/>
                    </a:lnT>
                    <a:lnB w="12240">
                      <a:solidFill>
                        <a:srgbClr val="40A0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預設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8099EC"/>
                      </a:solidFill>
                      <a:prstDash val="solid"/>
                    </a:lnL>
                    <a:lnR w="12240">
                      <a:solidFill>
                        <a:srgbClr val="8099EC"/>
                      </a:solidFill>
                      <a:prstDash val="solid"/>
                    </a:lnR>
                    <a:lnT w="12240">
                      <a:solidFill>
                        <a:srgbClr val="8099EC"/>
                      </a:solidFill>
                      <a:prstDash val="solid"/>
                    </a:lnT>
                    <a:lnB w="12240">
                      <a:solidFill>
                        <a:srgbClr val="00AA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每日交易次數上限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9BEC"/>
                      </a:solidFill>
                      <a:prstDash val="solid"/>
                    </a:lnL>
                    <a:lnR w="12240">
                      <a:solidFill>
                        <a:srgbClr val="40A0EC"/>
                      </a:solidFill>
                      <a:prstDash val="solid"/>
                    </a:lnR>
                    <a:lnT w="12240">
                      <a:solidFill>
                        <a:srgbClr val="009BEC"/>
                      </a:solidFill>
                      <a:prstDash val="solid"/>
                    </a:lnT>
                    <a:lnB w="12240">
                      <a:solidFill>
                        <a:srgbClr val="00D1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MAX_DAILY_TRADES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40A0EC"/>
                      </a:solidFill>
                      <a:prstDash val="solid"/>
                    </a:lnL>
                    <a:lnR w="12240">
                      <a:solidFill>
                        <a:srgbClr val="00AAEC"/>
                      </a:solidFill>
                      <a:prstDash val="solid"/>
                    </a:lnR>
                    <a:lnT w="12240">
                      <a:solidFill>
                        <a:srgbClr val="40A0EC"/>
                      </a:solidFill>
                      <a:prstDash val="solid"/>
                    </a:lnT>
                    <a:lnB w="12240">
                      <a:solidFill>
                        <a:srgbClr val="E0E4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10 次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AAEC"/>
                      </a:solidFill>
                      <a:prstDash val="solid"/>
                    </a:lnL>
                    <a:lnR w="12240">
                      <a:solidFill>
                        <a:srgbClr val="00AAEC"/>
                      </a:solidFill>
                      <a:prstDash val="solid"/>
                    </a:lnR>
                    <a:lnT w="12240">
                      <a:solidFill>
                        <a:srgbClr val="00AAEC"/>
                      </a:solidFill>
                      <a:prstDash val="solid"/>
                    </a:lnT>
                    <a:lnB w="12240">
                      <a:solidFill>
                        <a:srgbClr val="40E5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每日虧損上限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D1EC"/>
                      </a:solidFill>
                      <a:prstDash val="solid"/>
                    </a:lnL>
                    <a:lnR w="12240">
                      <a:solidFill>
                        <a:srgbClr val="E0E4EC"/>
                      </a:solidFill>
                      <a:prstDash val="solid"/>
                    </a:lnR>
                    <a:lnT w="12240">
                      <a:solidFill>
                        <a:srgbClr val="00D1EC"/>
                      </a:solidFill>
                      <a:prstDash val="solid"/>
                    </a:lnT>
                    <a:lnB w="12240">
                      <a:solidFill>
                        <a:srgbClr val="C0E3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MAX_DAILY_LOSS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E0E4EC"/>
                      </a:solidFill>
                      <a:prstDash val="solid"/>
                    </a:lnL>
                    <a:lnR w="12240">
                      <a:solidFill>
                        <a:srgbClr val="40E5EC"/>
                      </a:solidFill>
                      <a:prstDash val="solid"/>
                    </a:lnR>
                    <a:lnT w="12240">
                      <a:solidFill>
                        <a:srgbClr val="E0E4EC"/>
                      </a:solidFill>
                      <a:prstDash val="solid"/>
                    </a:lnT>
                    <a:lnB w="12240">
                      <a:solidFill>
                        <a:srgbClr val="20E4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3%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40E5EC"/>
                      </a:solidFill>
                      <a:prstDash val="solid"/>
                    </a:lnL>
                    <a:lnR w="12240">
                      <a:solidFill>
                        <a:srgbClr val="40E5EC"/>
                      </a:solidFill>
                      <a:prstDash val="solid"/>
                    </a:lnR>
                    <a:lnT w="12240">
                      <a:solidFill>
                        <a:srgbClr val="40E5EC"/>
                      </a:solidFill>
                      <a:prstDash val="solid"/>
                    </a:lnT>
                    <a:lnB w="12240">
                      <a:solidFill>
                        <a:srgbClr val="40EB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漲跌停過濾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C0E3EC"/>
                      </a:solidFill>
                      <a:prstDash val="solid"/>
                    </a:lnL>
                    <a:lnR w="12240">
                      <a:solidFill>
                        <a:srgbClr val="20E4EC"/>
                      </a:solidFill>
                      <a:prstDash val="solid"/>
                    </a:lnR>
                    <a:lnT w="12240">
                      <a:solidFill>
                        <a:srgbClr val="C0E3EC"/>
                      </a:solidFill>
                      <a:prstDash val="solid"/>
                    </a:lnT>
                    <a:lnB w="12240">
                      <a:solidFill>
                        <a:srgbClr val="60E3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_is_limit_up_or_down()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20E4EC"/>
                      </a:solidFill>
                      <a:prstDash val="solid"/>
                    </a:lnL>
                    <a:lnR w="12240">
                      <a:solidFill>
                        <a:srgbClr val="40EBEC"/>
                      </a:solidFill>
                      <a:prstDash val="solid"/>
                    </a:lnR>
                    <a:lnT w="12240">
                      <a:solidFill>
                        <a:srgbClr val="20E4EC"/>
                      </a:solidFill>
                      <a:prstDash val="solid"/>
                    </a:lnT>
                    <a:lnB w="12240">
                      <a:solidFill>
                        <a:srgbClr val="80ED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±10%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40EBEC"/>
                      </a:solidFill>
                      <a:prstDash val="solid"/>
                    </a:lnL>
                    <a:lnR w="12240">
                      <a:solidFill>
                        <a:srgbClr val="40EBEC"/>
                      </a:solidFill>
                      <a:prstDash val="solid"/>
                    </a:lnR>
                    <a:lnT w="12240">
                      <a:solidFill>
                        <a:srgbClr val="40EBEC"/>
                      </a:solidFill>
                      <a:prstDash val="solid"/>
                    </a:lnT>
                    <a:lnB w="12240">
                      <a:solidFill>
                        <a:srgbClr val="00E9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  <a:tr h="369000"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資金水位放寬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60E3EC"/>
                      </a:solidFill>
                      <a:prstDash val="solid"/>
                    </a:lnL>
                    <a:lnR w="12240">
                      <a:solidFill>
                        <a:srgbClr val="80EDEC"/>
                      </a:solidFill>
                      <a:prstDash val="solid"/>
                    </a:lnR>
                    <a:lnT w="12240">
                      <a:solidFill>
                        <a:srgbClr val="60E3EC"/>
                      </a:solidFill>
                      <a:prstDash val="solid"/>
                    </a:lnT>
                    <a:lnB w="7200">
                      <a:solidFill>
                        <a:srgbClr val="60E3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en-US" sz="1000" b="0" u="none" strike="noStrike">
                          <a:solidFill>
                            <a:srgbClr val="00CEB9"/>
                          </a:solidFill>
                          <a:effectLst/>
                          <a:uFillTx/>
                          <a:latin typeface="ui-monospace"/>
                        </a:rPr>
                        <a:t>CAPITAL_CONTROL_LINE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80EDEC"/>
                      </a:solidFill>
                      <a:prstDash val="solid"/>
                    </a:lnL>
                    <a:lnR w="12240">
                      <a:solidFill>
                        <a:srgbClr val="00E9EC"/>
                      </a:solidFill>
                      <a:prstDash val="solid"/>
                    </a:lnR>
                    <a:lnT w="12240">
                      <a:solidFill>
                        <a:srgbClr val="80EDEC"/>
                      </a:solidFill>
                      <a:prstDash val="solid"/>
                    </a:lnT>
                    <a:lnB w="7200">
                      <a:solidFill>
                        <a:srgbClr val="80ED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  <a:tc>
                  <a:txBody>
                    <a:bodyPr lIns="108360" tIns="108360" rIns="108360" bIns="10836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800"/>
                        </a:spcBef>
                        <a:spcAft>
                          <a:spcPts val="1800"/>
                        </a:spcAft>
                        <a:tabLst>
                          <a:tab pos="0" algn="l"/>
                        </a:tabLst>
                      </a:pP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資金 </a:t>
                      </a:r>
                      <a:r>
                        <a:rPr lang="en-US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&gt;30% </a:t>
                      </a:r>
                      <a:r>
                        <a:rPr lang="zh-TW" sz="1000" b="0" u="none" strike="noStrike">
                          <a:solidFill>
                            <a:srgbClr val="EDEDED"/>
                          </a:solidFill>
                          <a:effectLst/>
                          <a:uFillTx/>
                          <a:latin typeface="ui-sans-serif"/>
                        </a:rPr>
                        <a:t>時不限交易次數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360" marR="108360" marT="108360" marB="108360">
                    <a:lnL w="12240">
                      <a:solidFill>
                        <a:srgbClr val="00E9EC"/>
                      </a:solidFill>
                      <a:prstDash val="solid"/>
                    </a:lnL>
                    <a:lnR w="12240">
                      <a:solidFill>
                        <a:srgbClr val="00E9EC"/>
                      </a:solidFill>
                      <a:prstDash val="solid"/>
                    </a:lnR>
                    <a:lnT w="12240">
                      <a:solidFill>
                        <a:srgbClr val="00E9EC"/>
                      </a:solidFill>
                      <a:prstDash val="solid"/>
                    </a:lnT>
                    <a:lnB w="7200">
                      <a:solidFill>
                        <a:srgbClr val="00E9EC"/>
                      </a:solidFill>
                      <a:prstDash val="solid"/>
                    </a:lnB>
                    <a:solidFill>
                      <a:srgbClr val="151515"/>
                    </a:solidFill>
                  </a:tcPr>
                </a:tc>
              </a:tr>
            </a:tbl>
          </a:graphicData>
        </a:graphic>
      </p:graphicFrame>
      <p:sp>
        <p:nvSpPr>
          <p:cNvPr id="194" name="文字方塊 10"/>
          <p:cNvSpPr/>
          <p:nvPr/>
        </p:nvSpPr>
        <p:spPr>
          <a:xfrm>
            <a:off x="1068120" y="685080"/>
            <a:ext cx="2055240" cy="3672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正常組 </a:t>
            </a: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風險控制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427C8FBD-B330-4D2C-84E4-9277E620A5A0}" type="slidenum">
              <a:t>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 0"/>
          <p:cNvSpPr/>
          <p:nvPr/>
        </p:nvSpPr>
        <p:spPr>
          <a:xfrm>
            <a:off x="747360" y="169920"/>
            <a:ext cx="11286720" cy="55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總結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"/>
          <p:cNvSpPr/>
          <p:nvPr/>
        </p:nvSpPr>
        <p:spPr>
          <a:xfrm>
            <a:off x="717120" y="646200"/>
            <a:ext cx="1122624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180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正常組前四個策略（正好互補，涵蓋不同的交易情境與市場狀態：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7" name="Table 0"/>
          <p:cNvGraphicFramePr/>
          <p:nvPr/>
        </p:nvGraphicFramePr>
        <p:xfrm>
          <a:off x="684000" y="1117080"/>
          <a:ext cx="11375640" cy="2246400"/>
        </p:xfrm>
        <a:graphic>
          <a:graphicData uri="http://schemas.openxmlformats.org/drawingml/2006/table">
            <a:tbl>
              <a:tblPr/>
              <a:tblGrid>
                <a:gridCol w="6143760"/>
                <a:gridCol w="1191600"/>
                <a:gridCol w="404064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策略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類型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核心邏輯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MA Cross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（均線交叉）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捕捉波段趨勢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VWAP Deviation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VWAP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偏離）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抓法人成本極端偏離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Breakout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（唐奇安突破）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主力追價突破（無法長期用）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Bollinger Reverse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（布林反轉）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逆勢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恐慌抄底、貪婪逃頂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198" name="Text 2"/>
          <p:cNvSpPr/>
          <p:nvPr/>
        </p:nvSpPr>
        <p:spPr>
          <a:xfrm>
            <a:off x="717120" y="3415680"/>
            <a:ext cx="112867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180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正常組前四個策略 自動化交易的核心價值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3"/>
          <p:cNvSpPr/>
          <p:nvPr/>
        </p:nvSpPr>
        <p:spPr>
          <a:xfrm>
            <a:off x="747360" y="5483880"/>
            <a:ext cx="64440" cy="412200"/>
          </a:xfrm>
          <a:prstGeom prst="rect">
            <a:avLst/>
          </a:prstGeom>
          <a:solidFill>
            <a:srgbClr val="D1D9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" tIns="45000" rIns="324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 4"/>
          <p:cNvSpPr/>
          <p:nvPr/>
        </p:nvSpPr>
        <p:spPr>
          <a:xfrm>
            <a:off x="443160" y="3790080"/>
            <a:ext cx="10625040" cy="4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6120" tIns="0" rIns="27612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59636E"/>
                </a:solidFill>
                <a:effectLst/>
                <a:uFillTx/>
                <a:latin typeface="Yu Gothic UI"/>
                <a:ea typeface="Yu Gothic UI"/>
              </a:rPr>
              <a:t>自動化交易的目標不一定年年打敗大盤，而是在各種市場環境下都能穩定發揮：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5"/>
          <p:cNvSpPr/>
          <p:nvPr/>
        </p:nvSpPr>
        <p:spPr>
          <a:xfrm>
            <a:off x="684000" y="4250160"/>
            <a:ext cx="11122920" cy="18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📉 空頭只是少賠：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2022 </a:t>
            </a:r>
            <a:r>
              <a:rPr lang="zh-TW" sz="180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正常組 −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20.6%</a:t>
            </a:r>
            <a:r>
              <a:rPr lang="zh-TW" sz="180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、</a:t>
            </a:r>
            <a:r>
              <a:rPr lang="en-US" sz="180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0050 −22.2%</a:t>
            </a:r>
            <a:r>
              <a:rPr lang="zh-TW" sz="180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（含費用；不是空手避開）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Segoe UI"/>
              </a:rPr>
              <a:t>📈 多頭跟得上（部分）：四年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Segoe UI"/>
              </a:rPr>
              <a:t>+59.1%</a:t>
            </a:r>
            <a:r>
              <a:rPr lang="zh-TW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Segoe UI"/>
              </a:rPr>
              <a:t>，平均只動用不到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Segoe UI"/>
              </a:rPr>
              <a:t>8 </a:t>
            </a:r>
            <a:r>
              <a:rPr lang="zh-TW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Segoe UI"/>
              </a:rPr>
              <a:t>成資金（利用率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Segoe UI"/>
              </a:rPr>
              <a:t>79%</a:t>
            </a:r>
            <a:r>
              <a:rPr lang="zh-TW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Segoe UI"/>
              </a:rPr>
              <a:t>）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Segoe UI"/>
              </a:rPr>
              <a:t>🎯 但輸給基準：同期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Segoe UI"/>
              </a:rPr>
              <a:t>0050 +99.9%</a:t>
            </a:r>
            <a:r>
              <a:rPr lang="zh-TW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Segoe UI"/>
              </a:rPr>
              <a:t>，落後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Segoe UI"/>
              </a:rPr>
              <a:t>40.8 </a:t>
            </a:r>
            <a:r>
              <a:rPr lang="zh-TW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Segoe UI"/>
              </a:rPr>
              <a:t>個百分點——明確的取捨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Segoe UI"/>
              </a:rPr>
              <a:t>😴 不用盯盤：程式自動跑，克服人性追高殺低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040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Segoe UI"/>
              </a:rPr>
              <a:t>※ 口徑：</a:t>
            </a:r>
            <a:r>
              <a:rPr lang="zh-TW" sz="1800" b="0" u="none" strike="noStrike">
                <a:solidFill>
                  <a:srgbClr val="000000"/>
                </a:solidFill>
                <a:effectLst/>
                <a:highlight>
                  <a:srgbClr val="FFFF00"/>
                </a:highlight>
                <a:uFillTx/>
                <a:latin typeface="Calibri"/>
                <a:ea typeface="Segoe UI"/>
              </a:rPr>
              <a:t>每月 </a:t>
            </a:r>
            <a:r>
              <a:rPr lang="en-US" sz="1800" b="0" u="none" strike="noStrike">
                <a:solidFill>
                  <a:srgbClr val="000000"/>
                </a:solidFill>
                <a:effectLst/>
                <a:highlight>
                  <a:srgbClr val="FFFF00"/>
                </a:highlight>
                <a:uFillTx/>
                <a:latin typeface="Calibri"/>
                <a:ea typeface="Segoe UI"/>
              </a:rPr>
              <a:t>D1 </a:t>
            </a:r>
            <a:r>
              <a:rPr lang="zh-TW" sz="1800" b="0" u="none" strike="noStrike">
                <a:solidFill>
                  <a:srgbClr val="000000"/>
                </a:solidFill>
                <a:effectLst/>
                <a:highlight>
                  <a:srgbClr val="FFFF00"/>
                </a:highlight>
                <a:uFillTx/>
                <a:latin typeface="Calibri"/>
                <a:ea typeface="Segoe UI"/>
              </a:rPr>
              <a:t>選股後「就下場</a:t>
            </a:r>
            <a:r>
              <a:rPr lang="zh-TW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Segoe UI"/>
              </a:rPr>
              <a:t>」——選股日收盤價買滿（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Segoe UI"/>
              </a:rPr>
              <a:t>EXEC=immediate</a:t>
            </a:r>
            <a:r>
              <a:rPr lang="zh-TW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Segoe UI"/>
              </a:rPr>
              <a:t>），不是等進場訊號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2" name="Rectangl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83480" cy="68558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203" name="Text 0"/>
          <p:cNvSpPr/>
          <p:nvPr/>
        </p:nvSpPr>
        <p:spPr>
          <a:xfrm>
            <a:off x="838080" y="184680"/>
            <a:ext cx="10510560" cy="150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defTabSz="914400">
              <a:lnSpc>
                <a:spcPct val="100000"/>
              </a:lnSpc>
            </a:pPr>
            <a:r>
              <a:rPr lang="zh-TW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法人確認濾網：法人沒在買的，不買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文字方塊 3"/>
          <p:cNvSpPr/>
          <p:nvPr/>
        </p:nvSpPr>
        <p:spPr>
          <a:xfrm>
            <a:off x="9265320" y="5086440"/>
            <a:ext cx="2443680" cy="11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endParaRPr lang="en-US" sz="1600" b="0" u="none" strike="noStrike">
              <a:solidFill>
                <a:schemeClr val="dk1"/>
              </a:solidFill>
              <a:effectLst/>
              <a:highlight>
                <a:srgbClr val="FFFF00"/>
              </a:highlight>
              <a:uFillTx/>
              <a:latin typeface="Century Gothic"/>
            </a:endParaRPr>
          </a:p>
        </p:txBody>
      </p:sp>
      <p:graphicFrame>
        <p:nvGraphicFramePr>
          <p:cNvPr id="205" name="表格 2"/>
          <p:cNvGraphicFramePr/>
          <p:nvPr/>
        </p:nvGraphicFramePr>
        <p:xfrm>
          <a:off x="1503360" y="1845360"/>
          <a:ext cx="9390960" cy="3488760"/>
        </p:xfrm>
        <a:graphic>
          <a:graphicData uri="http://schemas.openxmlformats.org/drawingml/2006/table">
            <a:tbl>
              <a:tblPr/>
              <a:tblGrid>
                <a:gridCol w="2666520"/>
                <a:gridCol w="6724800"/>
              </a:tblGrid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核心機制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動能評分不變；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近</a:t>
                      </a: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15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交易日法人淨買超</a:t>
                      </a: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&gt;0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才入選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為什麼有效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濾掉「法人沒在買的純動能股」（散戶推升、反轉風險高）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天數敏感性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10d</a:t>
                      </a:r>
                      <a:r>
                        <a:rPr lang="zh-TW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／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15d</a:t>
                      </a:r>
                      <a:r>
                        <a:rPr lang="zh-TW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／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21d </a:t>
                      </a:r>
                      <a:r>
                        <a:rPr lang="zh-TW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皆可（本專案預設 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15d</a:t>
                      </a:r>
                      <a:r>
                        <a:rPr lang="zh-TW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，可用 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--inst-days </a:t>
                      </a:r>
                      <a:r>
                        <a:rPr lang="zh-TW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調整）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621000">
                <a:tc>
                  <a:txBody>
                    <a:bodyPr lIns="15480" tIns="15480" rIns="15480" bIns="0" anchor="b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選股流程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D1 </a:t>
                      </a:r>
                      <a:r>
                        <a:rPr lang="zh-TW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選股時套用；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bot </a:t>
                      </a:r>
                      <a:r>
                        <a:rPr lang="zh-TW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排程與手動選股共用同一入口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資料來源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TWSE </a:t>
                      </a:r>
                      <a:r>
                        <a:rPr lang="zh-TW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公開法人買賣超（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T86</a:t>
                      </a:r>
                      <a:r>
                        <a:rPr lang="zh-TW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）；自動補抓並寫回 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cache/inst_momentum/live/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實盤行為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選股日自動補抓最新法人資料；無資料自動 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pass-through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設定參數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程式預設開啟；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--no-inst </a:t>
                      </a:r>
                      <a:r>
                        <a:rPr lang="zh-TW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可關、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--inst-days </a:t>
                      </a:r>
                      <a:r>
                        <a:rPr lang="zh-TW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預設 </a:t>
                      </a: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7760"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一句話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5480" tIns="15480" rIns="15480" bIns="0" anchor="b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法人籌碼 </a:t>
                      </a: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× </a:t>
                      </a:r>
                      <a:r>
                        <a:rPr lang="zh-TW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價格動能，兩者正交互補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b" marL="15480" marR="15480" marT="1548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69840" cy="586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07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1320" cy="2398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2089</TotalTime>
  <Application>LibreOffice/26.2.6.3$Windows_X86_64 LibreOffice_project/8221e31b3ac356a1623c672912a3d2b492f7e3d1</Application>
  <AppVersion>15.0000</AppVersion>
  <Words>3496</Words>
  <Paragraphs>528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zh-TW</dc:language>
  <cp:lastModifiedBy/>
  <dcterms:modified xsi:type="dcterms:W3CDTF">2026-10-28T07:03:46Z</dcterms:modified>
  <cp:revision>16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12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39</vt:i4>
  </property>
</Properties>
</file>