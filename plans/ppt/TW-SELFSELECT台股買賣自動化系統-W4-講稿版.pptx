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media/image4.svg" ContentType="image/svg"/>
  <Override PartName="/ppt/media/image6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9" r:id="rId38"/>
    <p:sldId id="290" r:id="rId39"/>
    <p:sldId id="292" r:id="rId41"/>
    <p:sldId id="294" r:id="rId43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4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1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Click to move the slide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31F141-A172-44B1-A3CB-3952766F372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建議時間：30 秒</a:t>
            </a:r>
          </a:p>
          <a:p/>
          <a:p>
            <a:r>
              <a:t>歡迎回來，這是第四堂課。</a:t>
            </a:r>
          </a:p>
          <a:p>
            <a:r>
              <a:t>前幾週我們建好了環境、學會了跟 DSH 溝通。這一週是整個課程的核心中的核心——我們要深入認識系統內建的五大策略：它們的原理是什麼、適合什麼盤勢、什麼時候買、什麼時候賣。</a:t>
            </a:r>
          </a:p>
          <a:p>
            <a:r>
              <a:t>---</a:t>
            </a:r>
          </a:p>
          <a:p/>
          <a:p>
            <a:r>
              <a:t>【講師提示】預告這週資訊量大，但每個策略都會用動畫和回測數據講清楚，請大家保持耐心。</a:t>
            </a:r>
          </a:p>
        </p:txBody>
      </p:sp>
      <p:sp>
        <p:nvSpPr>
          <p:cNvPr id="24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F2A1B0-B90E-4B16-9A3C-A5266C5ED0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最後講風險控制，分兩組。</a:t>
            </a:r>
          </a:p>
          <a:p>
            <a:r>
              <a:t>第一資金組：每日交易次數上限五次；每日虧損上限百分之三；漲跌停過濾正負百分之十；資金水位大於三十趴時不限交易次數。</a:t>
            </a:r>
          </a:p>
          <a:p>
            <a:r>
              <a:t>第二資金組：硬性停損負百分之十，一到就砍；跌破十日移動停利出場；停損後有一段禁入期，不選同一檔；部位上限同時持有三檔；獨立資金池，不吃第一組額度。</a:t>
            </a:r>
          </a:p>
          <a:p>
            <a:r>
              <a:t>這些風控參數全部可以在設定檔調整——紀律是自動化交易的生命線，系統用程式保證紀律不會因人而異。</a:t>
            </a:r>
          </a:p>
          <a:p>
            <a:r>
              <a:t>---</a:t>
            </a:r>
          </a:p>
          <a:p/>
          <a:p>
            <a:r>
              <a:t>【講師提示】強調「程式化風控=克服人性」，這是系統的賣點。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這頁是唐奇安突破的賣點示意圖。</a:t>
            </a:r>
          </a:p>
          <a:p>
            <a:r>
              <a:t>對應地，當價格跌破地板，也就是創二十日新低——圖中標示的位置，就是賣點：主力撤退訊號，順勢賣出。</a:t>
            </a:r>
          </a:p>
          <a:p>
            <a:r>
              <a:t>風險提醒：價格衝破上軌又馬上跌回來的「假突破」在消息面刺激時很常見，系統用 ATR 過濾掉波動太小的假訊號，但無法完全避免。</a:t>
            </a:r>
          </a:p>
          <a:p>
            <a:r>
              <a:t>---</a:t>
            </a:r>
          </a:p>
          <a:p/>
          <a:p>
            <a:r>
              <a:t>【講師提示】指著圖中跌破下軌的位置講解「跌破地板 = 賣點」，並提醒假突破風險。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VWAP 的賣點示意圖。</a:t>
            </a:r>
          </a:p>
          <a:p>
            <a:r>
              <a:t>對應地，當價格反彈到法人成本線上方、偏離過大，而且 RSI 顯示超買——這就是 VWAP 策略的賣點。圖中標示的位置，就是我們要獲利了結的地方。到這裡，布林與 VWAP 兩個逆勢策略的買賣點都看完了，下一頁進入順勢策略。</a:t>
            </a:r>
          </a:p>
          <a:p>
            <a:r>
              <a:t>---</a:t>
            </a:r>
          </a:p>
          <a:p/>
          <a:p>
            <a:r>
              <a:t>【講師提示】指著圖中的賣點標記講解，並作為逆勢策略段的收尾。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VWAP 的買點示意圖。</a:t>
            </a:r>
          </a:p>
          <a:p>
            <a:r>
              <a:t>當價格跌到法人成本線下方、偏離超過設定倍數標準差，而且 RSI 顯示超賣——這就是 VWAP 策略的買點。圖中標示的位置，就是我們要出手買進的地方，賭的是價格回歸成本線。</a:t>
            </a:r>
          </a:p>
          <a:p>
            <a:r>
              <a:t>---</a:t>
            </a:r>
          </a:p>
          <a:p/>
          <a:p>
            <a:r>
              <a:t>【講師提示】指著圖中的買點標記講解「價格遠低於法人成本→買進」的邏輯。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VWAP 的法人成本線示意圖。</a:t>
            </a:r>
          </a:p>
          <a:p>
            <a:r>
              <a:t>大家看畫面中這條線——VWAP，法人成本線。它代表市場所有資金真正的平均買進成本。看這張圖可以理解：價格線在法人成本線上下波動，當價格明顯偏離成本線的時候，就是反向操作的時機。</a:t>
            </a:r>
          </a:p>
          <a:p>
            <a:r>
              <a:t>---</a:t>
            </a:r>
          </a:p>
          <a:p/>
          <a:p>
            <a:r>
              <a:t>【講師提示】指著圖中的 VWAP 成本線講解「法人的真實成本」概念，為買賣點圖鋪路。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這頁是布林通道的賣點示意圖。</a:t>
            </a:r>
          </a:p>
          <a:p>
            <a:r>
              <a:t>對應地，當價格往上突破上軌、同時 RSI 顯示超買，就是賣點訊號。圖中標示的位置，就是我們要獲利了結的地方——買點、賣點兩個條件對稱，來回操作。</a:t>
            </a:r>
          </a:p>
          <a:p>
            <a:r>
              <a:t>---</a:t>
            </a:r>
          </a:p>
          <a:p/>
          <a:p>
            <a:r>
              <a:t>【講師提示】指著圖中的賣點標記講解，與前一頁買點圖對照著講。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這頁用兩張圖對照兩種極端盤勢。</a:t>
            </a:r>
          </a:p>
          <a:p>
            <a:r>
              <a:t>左邊這張，是上升趨勢的噴出圖——價格一路向上、不斷創新高，趨勢明確，這正是順勢策略的主場；右邊這張，是下跌的崩盤圖——價格連續重挫、跌破所有支撐，這是空頭盤，順勢策略會空手避開。</a:t>
            </a:r>
          </a:p>
          <a:p>
            <a:r>
              <a:t>實戰中，你要做的是判斷「現在大概是什麼盤」，然後把資金配置到適合的策略上。</a:t>
            </a:r>
          </a:p>
          <a:p>
            <a:r>
              <a:t>---</a:t>
            </a:r>
          </a:p>
          <a:p/>
          <a:p>
            <a:r>
              <a:t>【講師提示】指著左右兩張圖對比講解——上升噴出圖配順勢策略、下跌崩盤圖要防守避開。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策略怎麼分類？兩個維度。</a:t>
            </a:r>
          </a:p>
          <a:p>
            <a:r>
              <a:t>時間性：長期策略，持有半年以上；中短期，半年以內；還有當日內的短線交易。</a:t>
            </a:r>
          </a:p>
          <a:p>
            <a:r>
              <a:t>進場時機：順勢策略，上漲時進場、開始下跌就賣出，追的是趨勢；逆勢策略，跌得離譜時進場、回歸正常時賣出，賭的是回歸。</a:t>
            </a:r>
          </a:p>
          <a:p>
            <a:r>
              <a:t>不管哪種策略，分析的都是同樣的資料：開盤、收盤、最高、最低、成交量——就是我們下一頁要看的 K 線。</a:t>
            </a:r>
          </a:p>
          <a:p>
            <a:r>
              <a:t>---</a:t>
            </a:r>
          </a:p>
          <a:p/>
          <a:p>
            <a:r>
              <a:t>【講師提示】建立分類框架，講每個策略時可以問學員「這是順勢還是逆勢？」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建議時間：2 分 30 秒</a:t>
            </a:r>
          </a:p>
          <a:p/>
          <a:p>
            <a:r>
              <a:t>第二個策略，VWAP 偏離度反轉。</a:t>
            </a:r>
          </a:p>
          <a:p>
            <a:r>
              <a:t>一句話：股價偏離法人平均成本超過一點五倍標準差，而且極短線情緒極端時，反向操作。</a:t>
            </a:r>
          </a:p>
          <a:p>
            <a:r>
              <a:t>原理：VWAP，成交量加權平均價，代表市場所有資金真正的平均買進成本。散戶無法大幅影響 VWAP——只有大盤法人進出才會讓它移動。所以當股價遠離 VWAP 超過一定倍數標準差，代表價格嚴重偏離法人的合理成本區，預期均值回歸。</a:t>
            </a:r>
          </a:p>
          <a:p>
            <a:r>
              <a:t>數學上：VWAP 是成交量加權的平均價；偏離度是收盤價減 VWAP；標準差看的是偏離度的波動；門檻倍數預設一點五，可調；再配上五日 RSI 當情緒指標。</a:t>
            </a:r>
          </a:p>
          <a:p>
            <a:r>
              <a:t>---</a:t>
            </a:r>
          </a:p>
          <a:p/>
          <a:p>
            <a:r>
              <a:t>【講師提示】強調 VWAP 的意義——「法人的真實成本線」，適合金融股這類法人主導的標的。</a:t>
            </a:r>
          </a:p>
        </p:txBody>
      </p:sp>
      <p:sp>
        <p:nvSpPr>
          <p:cNvPr id="24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1931136-0A9B-4EE3-B7D5-897CAA00BE1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先看整體架構。</a:t>
            </a:r>
          </a:p>
          <a:p>
            <a:r>
              <a:t>再強調一次：我們主要教的是**策略的量化**，而不是如何設計一個策略——你要會的是「看懂策略、設定參數、讓系統執行」。</a:t>
            </a:r>
          </a:p>
          <a:p>
            <a:r>
              <a:t>本系統提供五個策略：布林通道、MA Cross、唐奇安通道、VWAP 反轉、Keep Wait 低接高賣。另外保留四個使用者自訂策略。</a:t>
            </a:r>
          </a:p>
          <a:p>
            <a:r>
              <a:t>重點：修改策略不用動主程式——主程式是經過長期驗證的，你只需要在設定檔改參數，或加上自己的策略就好。</a:t>
            </a:r>
          </a:p>
          <a:p>
            <a:r>
              <a:t>---</a:t>
            </a:r>
          </a:p>
          <a:p/>
          <a:p>
            <a:r>
              <a:t>【講師提示】這頁是地圖，先建立「6+4」的整體印象，之後逐個展開。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在講策略之前，先認識幾個常見術語。</a:t>
            </a:r>
          </a:p>
          <a:p>
            <a:r>
              <a:t>EPS，每股盈餘，是企業每一股賺進多少淨利；ROE，股東權益報酬率，是公司用股東資金賺錢的效率；PE，本益比，代表買進股票後預計幾年可以回本，是估值指標；殖利率，把股票當定存，每年能拿到的配息回報率。</a:t>
            </a:r>
          </a:p>
          <a:p>
            <a:r>
              <a:t>護城河，是一個公司難以被超越的地方——可能是技術、規模、或資產。</a:t>
            </a:r>
          </a:p>
          <a:p>
            <a:r>
              <a:t>還有幾個技術指標：RSI 是相對強弱指標，判斷市場買賣雙方力道強弱，用來評估股價是否過熱或過冷；ATR 是平均真實波動幅度，衡量市場波動程度，不預測方向；MA 是簡單移動平均，把過去 N 天收盤價平均；EMA 是指數移動平均，給近期價格較高權重。</a:t>
            </a:r>
          </a:p>
          <a:p>
            <a:r>
              <a:t>---</a:t>
            </a:r>
          </a:p>
          <a:p/>
          <a:p>
            <a:r>
              <a:t>【講師提示】這頁是詞典，不必逐個深入，先讓學員有印象；講到策略時會再複習相關指標。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MA 與 RSI 的圖示。</a:t>
            </a:r>
          </a:p>
          <a:p>
            <a:r>
              <a:t>畫面呈現的是移動平均線和 RSI 指標的示意。記住兩個重點：MA 告訴我們趨勢方向——價格在均線之上偏多，之下偏空；RSI 告訴我們情緒狀態——超過七十算過熱，低於三十算超賣。</a:t>
            </a:r>
          </a:p>
          <a:p>
            <a:r>
              <a:t>之後五個策略，有四個都用到這兩個指標的組合。</a:t>
            </a:r>
          </a:p>
          <a:p>
            <a:r>
              <a:t>---</a:t>
            </a:r>
          </a:p>
          <a:p/>
          <a:p>
            <a:r>
              <a:t>【講師提示】圖示頁，指著畫面快速帶過 MA/RSI 的視覺特徵。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建議時間：2 分 30 秒</a:t>
            </a:r>
          </a:p>
          <a:p/>
          <a:p>
            <a:r>
              <a:t>第三個策略，均線交叉。</a:t>
            </a:r>
          </a:p>
          <a:p>
            <a:r>
              <a:t>一句話：短期平均成本突破中期平均成本時順勢買進；跌破時順勢賣出。</a:t>
            </a:r>
          </a:p>
          <a:p>
            <a:r>
              <a:t>原理：利用兩條不同週期的移動平均線的相對位置變化，捕捉波段趨勢。快線是九日均線，對價格反應靈敏；慢線是二十一日均線，代表中期方向。當快線由下往上突破慢線，稱為黃金交叉，是波段漲勢確立；反之跌破，是死亡交叉，多頭結束。</a:t>
            </a:r>
          </a:p>
          <a:p>
            <a:r>
              <a:t>特別的是，系統使用 shift 一比對昨日與今日的相對位置，精確判定交叉發生的瞬間——而不是等到趨勢明顯才進場。</a:t>
            </a:r>
          </a:p>
          <a:p>
            <a:r>
              <a:t>---</a:t>
            </a:r>
          </a:p>
          <a:p/>
          <a:p>
            <a:r>
              <a:t>【講師提示】黃金交叉/死亡交叉是學員最熟悉的概念，可以互動提問。</a:t>
            </a:r>
          </a:p>
        </p:txBody>
      </p:sp>
      <p:sp>
        <p:nvSpPr>
          <p:cNvPr id="24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E63335B-C6C8-4817-94AC-C7C60A91DD9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這頁是 K 線圖。</a:t>
            </a:r>
          </a:p>
          <a:p>
            <a:r>
              <a:t>K 線是股市最基本也最重要的圖形：一根 K 線記錄一天的開高低收。紅色上漲、綠色下跌。</a:t>
            </a:r>
          </a:p>
          <a:p>
            <a:r>
              <a:t>不過要提醒大家：我們的系統是交由程式分析 K 線，不需要你人眼看圖——電腦會自動判斷。</a:t>
            </a:r>
          </a:p>
          <a:p>
            <a:r>
              <a:t>---</a:t>
            </a:r>
          </a:p>
          <a:p/>
          <a:p>
            <a:r>
              <a:t>【講師提示】強調「程式分析」而非「人眼盯盤」，呼應系統自動化的核心價值。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接下來兩頁很重要：不同盤勢，適合不同策略。</a:t>
            </a:r>
          </a:p>
          <a:p>
            <a:r>
              <a:t>先澄清一個概念：趨勢盤不一定上升——趨勢指的是「有明確方向」，上升趨勢和下跌趨勢都算趨勢。市場狀態大致分三種：上升趨勢，也就是多頭，方向明確往上；下跌趨勢，也就是空頭，方向明確往下；還有盤整震盪，沒有方向、來回拉扯。</a:t>
            </a:r>
          </a:p>
          <a:p>
            <a:r>
              <a:t>沒有一個策略在所有盤勢都賺錢——順勢策略在上升趨勢表現好，但在盤整會被雙巴；逆勢策略在盤整吃香，但在強趨勢會接刀。特別注意：我們的順勢策略只做多、不放空——所以在下跌趨勢中，它們會觸發賣出、空手避開，而不是反手放空。</a:t>
            </a:r>
          </a:p>
          <a:p>
            <a:r>
              <a:t>所以系統設計五個策略，就是讓你能根據盤勢搭配。</a:t>
            </a:r>
          </a:p>
          <a:p>
            <a:r>
              <a:t>---</a:t>
            </a:r>
          </a:p>
          <a:p/>
          <a:p>
            <a:r>
              <a:t>【講師提示】這是本週最重要的觀念之一，放慢講。務必強調「上升/下跌都是趨勢」「順勢策略只做多、下跌時空手避開」兩點。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建議時間：2 分 30 秒</a:t>
            </a:r>
          </a:p>
          <a:p/>
          <a:p>
            <a:r>
              <a:t>第四個策略，唐奇安通道突破。</a:t>
            </a:r>
          </a:p>
          <a:p>
            <a:r>
              <a:t>一句話：股價突破近一個月最高價時，猜測主力進場，順勢買進；跌破近一個月最低價時，猜測主力撤退，順勢賣出。</a:t>
            </a:r>
          </a:p>
          <a:p>
            <a:r>
              <a:t>原理：唐奇安通道以過去 N 日的最高價與最低價作為上下軌，勾勒出箱型整理區間。散戶的資金分散且無共識，只有大盤法人有能力把股價推破長期天花板——所以價格突破上軌，就視為主力發動訊號。</a:t>
            </a:r>
          </a:p>
          <a:p>
            <a:r>
              <a:t>數學上：上軌是過去二十日市場最高價，下軌是過去二十日最低價。系統特別使用前一日的通道值，避免用到今日包含突破瞬間的資料，造成前視偏差。</a:t>
            </a:r>
          </a:p>
          <a:p>
            <a:r>
              <a:t>---</a:t>
            </a:r>
          </a:p>
          <a:p/>
          <a:p>
            <a:r>
              <a:t>【講師提示】強調「前視偏差」這個專業細節，說明系統設計的嚴謹。</a:t>
            </a:r>
          </a:p>
        </p:txBody>
      </p:sp>
      <p:sp>
        <p:nvSpPr>
          <p:cNvPr id="25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1193DAC-F4FE-4F66-A4C0-E1A433D96DE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 30 秒</a:t>
            </a:r>
          </a:p>
          <a:p/>
          <a:p>
            <a:r>
              <a:t>第一個策略，布林通道反轉。</a:t>
            </a:r>
          </a:p>
          <a:p>
            <a:r>
              <a:t>一句話描述：股價跌到統計學極限、加上市場極度恐慌時買進；漲到統計學極限、加上市場極度貪婪時賣出。</a:t>
            </a:r>
          </a:p>
          <a:p>
            <a:r>
              <a:t>策略原理：布林通道以二十日移動平均線為中軸，上下各加減兩倍標準差構成通道。根據統計學常態分佈，大約百分之九十五點四的價格會落在通道內——所以衝出通道，就代表市場進入極端狀態。再結合五日 RSI 判讀市場情緒，形成雙重過濾。</a:t>
            </a:r>
          </a:p>
          <a:p>
            <a:r>
              <a:t>數學上：通道中線是二十日均線，代表平均成本；通道上軌是中線加兩倍標準差，是統計學天花板；下軌是減兩倍，是統計學地板。RSI 五日，看極短線多空力道。</a:t>
            </a:r>
          </a:p>
          <a:p>
            <a:r>
              <a:t>---</a:t>
            </a:r>
          </a:p>
          <a:p/>
          <a:p>
            <a:r>
              <a:t>【講師提示】動畫演示可現場播放。強調「統計學極限」概念——買在別人恐慌時。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這頁是布林通道的買點示意圖。</a:t>
            </a:r>
          </a:p>
          <a:p>
            <a:r>
              <a:t>大家看這張圖——當價格往下衝破下軌、同時 RSI 顯示超賣，就是買點訊號。圖中標示的位置，就是我們要出手買進的地方。買在這裡，賺的就是價格回歸均值這一段。</a:t>
            </a:r>
          </a:p>
          <a:p>
            <a:r>
              <a:t>---</a:t>
            </a:r>
          </a:p>
          <a:p/>
          <a:p>
            <a:r>
              <a:t>【講師提示】指著圖中的買點標記講解，對照布林下軌與 RSI 超賣的雙重條件。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建議時間：2 分 30 秒</a:t>
            </a:r>
          </a:p>
          <a:p/>
          <a:p>
            <a:r>
              <a:t>第五個策略，Keep and Wait，低接策略。</a:t>
            </a:r>
          </a:p>
          <a:p>
            <a:r>
              <a:t>一句話：不分析技術指標，完全依價格乖離與紀律執行低接——跌了就分批買、漲了就停利賣。適合波動大的高價股或 ETF 作為衛星持股。</a:t>
            </a:r>
          </a:p>
          <a:p>
            <a:r>
              <a:t>流程是：初始進場，跌百分之五再加碼，漲百分之十五停利賣出，賣出後冷卻一段時間再重新開始。</a:t>
            </a:r>
          </a:p>
          <a:p>
            <a:r>
              <a:t>買賣條件：初始買進，啟動時立即買入設定的股數建立基本倉位；加碼買進，從均價跌百分之五，最多加碼固定次數；停利賣出，從均價漲百分之十五，賣出百分之五十的部位；賣出後有冷卻期，避免短線反覆交易。</a:t>
            </a:r>
          </a:p>
          <a:p>
            <a:r>
              <a:t>---</a:t>
            </a:r>
          </a:p>
          <a:p/>
          <a:p>
            <a:r>
              <a:t>【講師提示】Keep Wait 是「最不需要技術分析」的策略，強調紀律與資金管理。</a:t>
            </a:r>
          </a:p>
        </p:txBody>
      </p:sp>
      <p:sp>
        <p:nvSpPr>
          <p:cNvPr id="25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5C5DBD3-228B-4186-9822-10CA43BDF09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這頁是均線交叉的買點示意圖。</a:t>
            </a:r>
          </a:p>
          <a:p>
            <a:r>
              <a:t>大家看這張圖——快線 MA9 由下往上穿越慢線 MA21，也就是 MA9 over MA21，黃金交叉。圖中標示的位置，就是買點：短期成本突破中期成本，波段漲勢確立，順勢買進。</a:t>
            </a:r>
          </a:p>
          <a:p>
            <a:r>
              <a:t>---</a:t>
            </a:r>
          </a:p>
          <a:p/>
          <a:p>
            <a:r>
              <a:t>【講師提示】指著圖中的黃金交叉點講解「MA9 上穿 MA21 = 買點」。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這頁是均線交叉的賣點示意圖。</a:t>
            </a:r>
          </a:p>
          <a:p>
            <a:r>
              <a:t>對應地，當快線 MA9 由上往下跌破慢線 MA21，也就是 MA21 over MA9，死亡交叉。圖中標示的位置，就是賣點：多頭結束，順勢賣出離場。</a:t>
            </a:r>
          </a:p>
          <a:p>
            <a:r>
              <a:t>要注意：盤整盤中快慢線會反覆交叉，容易「雙巴」——所以均線交叉最怕盤整盤，它適合用在趨勢明確的權值股上。</a:t>
            </a:r>
          </a:p>
          <a:p>
            <a:r>
              <a:t>---</a:t>
            </a:r>
          </a:p>
          <a:p/>
          <a:p>
            <a:r>
              <a:t>【講師提示】指著圖中的死亡交叉點講解「MA21 壓過 MA9 = 賣點」，並提醒盤整雙巴風險。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這頁是唐奇安突破的買點示意圖。</a:t>
            </a:r>
          </a:p>
          <a:p>
            <a:r>
              <a:t>大家看這張圖——價格在箱型區間整理一段時間後，向上突破天花板，也就是創二十日新高。圖中標示的位置，就是買點：主力把股價推破長期高點，視為發動訊號，順勢追進，賺突破後的波段。</a:t>
            </a:r>
          </a:p>
          <a:p>
            <a:r>
              <a:t>---</a:t>
            </a:r>
          </a:p>
          <a:p/>
          <a:p>
            <a:r>
              <a:t>【講師提示】指著圖中突破上軌的位置講解「突破天花板 = 買點」。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1920" cy="3427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⏱ 建議時間：2 分鐘</a:t>
            </a:r>
          </a:p>
          <a:p/>
          <a:p>
            <a:r>
              <a:t>做個總結。</a:t>
            </a:r>
          </a:p>
          <a:p>
            <a:r>
              <a:t>第一資金組前四個策略正好互補：MA Cross 順勢捕捉波段；VWAP 逆勢抓法人成本極端偏離；唐奇安順勢追主力突破；布林逆勢恐慌抄底、貪婪逃頂。四個策略涵蓋不同的交易情境與市場狀態。</a:t>
            </a:r>
          </a:p>
          <a:p>
            <a:r>
              <a:t>自動化交易的核心價值：空頭時少賠——2022 年那種崩盤，策略空手避開；盤整時賺價差——每年百分之五到十五低買高賣，抱著不動是零；不用盯盤——程式自動跑，克服人性追高殺低；多頭也跟得上——2022 到 2025 四年加七十一趴，只落後買入持有不到十趴。</a:t>
            </a:r>
          </a:p>
          <a:p>
            <a:r>
              <a:t>---</a:t>
            </a:r>
          </a:p>
          <a:p/>
          <a:p>
            <a:r>
              <a:t>【講師提示】總結頁，強調「各種盤勢都能穩定發揮」而非「年年打敗大盤」。</a:t>
            </a:r>
          </a:p>
        </p:txBody>
      </p:sp>
      <p:sp>
        <p:nvSpPr>
          <p:cNvPr id="27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3B30DC3-938B-43A5-9D0D-3007C8B3A8A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每月選股（D1）會做法人確認：選股基準日前 15 個交易日，投信加外資累計淨買超 &gt; 0 才入選，把「法人沒在買的純動能股」濾掉。</a:t>
            </a:r>
          </a:p>
          <a:p>
            <a:r>
              <a:t>資料由 TWSE T86 自動補抓並寫回 cache/inst_momentum/（快取為空時自動 bootstrap）；整體抓取失敗時，濾網照設計 pass-through。</a:t>
            </a:r>
          </a:p>
          <a:p>
            <a:r>
              <a:t>選股輸出若顯示「法人資料合併完成: 0 交易日」，代表這次沒有法人確認，結果僅供參考。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好，這堂課到這裡。</a:t>
            </a:r>
          </a:p>
          <a:p>
            <a:r>
              <a:t>五個策略全部介紹完了——原理、動畫、回測、風險，一應俱全。我是 frank，信箱 frank@dinchen.com.tw。</a:t>
            </a:r>
          </a:p>
          <a:p>
            <a:r>
              <a:t>今天的功課：複習五個策略的比較表，想想你的資金和盤勢判斷適合哪幾個。下週我們開始回測實作。下次見！</a:t>
            </a:r>
          </a:p>
          <a:p>
            <a:r>
              <a:t>---</a:t>
            </a:r>
          </a:p>
          <a:p/>
          <a:p>
            <a:r>
              <a:t>【講師提示】收尾，點出「下週開始動手回測」的銜接。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4"/>
          <p:cNvSpPr/>
          <p:nvPr/>
        </p:nvSpPr>
        <p:spPr>
          <a:xfrm>
            <a:off x="9958320" y="0"/>
            <a:ext cx="2229480" cy="1980000"/>
          </a:xfrm>
          <a:custGeom>
            <a:avLst/>
            <a:gdLst>
              <a:gd name="textAreaLeft" fmla="*/ 0 w 2229480"/>
              <a:gd name="textAreaRight" fmla="*/ 2230560 w 2229480"/>
              <a:gd name="textAreaTop" fmla="*/ 0 h 1980000"/>
              <a:gd name="textAreaBottom" fmla="*/ 1981080 h 1980000"/>
              <a:gd name="GluePoint1X" fmla="*/ 0 w 2230666"/>
              <a:gd name="GluePoint1Y" fmla="*/ 0 h 1981200"/>
              <a:gd name="GluePoint2X" fmla="*/ 2230666 w 2230666"/>
              <a:gd name="GluePoint2Y" fmla="*/ 0 h 1981200"/>
              <a:gd name="GluePoint3X" fmla="*/ 2230666 w 2230666"/>
              <a:gd name="GluePoint3Y" fmla="*/ 1981200 h 1981200"/>
              <a:gd name="GluePoint4X" fmla="*/ 2029222 w 2230666"/>
              <a:gd name="GluePoint4Y" fmla="*/ 1972296 h 1981200"/>
              <a:gd name="GluePoint5X" fmla="*/ 28437 w 2230666"/>
              <a:gd name="GluePoint5Y" fmla="*/ 186331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Cross 2"/>
          <p:cNvSpPr/>
          <p:nvPr/>
        </p:nvSpPr>
        <p:spPr>
          <a:xfrm>
            <a:off x="7846920" y="3808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Cross 4"/>
          <p:cNvSpPr/>
          <p:nvPr/>
        </p:nvSpPr>
        <p:spPr>
          <a:xfrm>
            <a:off x="8559720" y="1066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58422E5-4E09-470B-A541-5AAC4AD95E5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1293840" y="2286000"/>
            <a:ext cx="491076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body"/>
          </p:nvPr>
        </p:nvSpPr>
        <p:spPr>
          <a:xfrm>
            <a:off x="6516720" y="2286000"/>
            <a:ext cx="491076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8"/>
          <p:cNvSpPr/>
          <p:nvPr/>
        </p:nvSpPr>
        <p:spPr>
          <a:xfrm>
            <a:off x="2131920" y="0"/>
            <a:ext cx="7923600" cy="6856920"/>
          </a:xfrm>
          <a:custGeom>
            <a:avLst/>
            <a:gdLst>
              <a:gd name="textAreaLeft" fmla="*/ 0 w 7923600"/>
              <a:gd name="textAreaRight" fmla="*/ 7924680 w 7923600"/>
              <a:gd name="textAreaTop" fmla="*/ 0 h 6856920"/>
              <a:gd name="textAreaBottom" fmla="*/ 6858000 h 6856920"/>
              <a:gd name="GluePoint1X" fmla="*/ 1982890 w 7924800"/>
              <a:gd name="GluePoint1Y" fmla="*/ 0 h 6858000"/>
              <a:gd name="GluePoint2X" fmla="*/ 5941911 w 7924800"/>
              <a:gd name="GluePoint2Y" fmla="*/ 0 h 6858000"/>
              <a:gd name="GluePoint3X" fmla="*/ 6177816 w 7924800"/>
              <a:gd name="GluePoint3Y" fmla="*/ 143316 h 6858000"/>
              <a:gd name="GluePoint4X" fmla="*/ 7924800 w 7924800"/>
              <a:gd name="GluePoint4Y" fmla="*/ 3429000 h 6858000"/>
              <a:gd name="GluePoint5X" fmla="*/ 6017049 w 7924800"/>
              <a:gd name="GluePoint5Y" fmla="*/ 6817750 h 6858000"/>
              <a:gd name="GluePoint6X" fmla="*/ 5947047 w 7924800"/>
              <a:gd name="GluePoint6Y" fmla="*/ 6858000 h 6858000"/>
              <a:gd name="GluePoint7X" fmla="*/ 1977753 w 7924800"/>
              <a:gd name="GluePoint7Y" fmla="*/ 6858000 h 6858000"/>
              <a:gd name="GluePoint8X" fmla="*/ 1907752 w 7924800"/>
              <a:gd name="GluePoint8Y" fmla="*/ 6817750 h 6858000"/>
              <a:gd name="GluePoint9X" fmla="*/ 0 w 7924800"/>
              <a:gd name="GluePoint9Y" fmla="*/ 3429000 h 6858000"/>
              <a:gd name="GluePoint10X" fmla="*/ 1746985 w 7924800"/>
              <a:gd name="GluePoint10Y" fmla="*/ 14331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" name="Left Brace 7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0920" cy="586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768360" y="2247840"/>
            <a:ext cx="4442400" cy="23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/>
          <p:nvPr/>
        </p:nvSpPr>
        <p:spPr>
          <a:xfrm>
            <a:off x="0" y="0"/>
            <a:ext cx="12187800" cy="6856920"/>
          </a:xfrm>
          <a:prstGeom prst="rect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Freeform: Shape 12"/>
          <p:cNvSpPr/>
          <p:nvPr/>
        </p:nvSpPr>
        <p:spPr>
          <a:xfrm>
            <a:off x="0" y="1440"/>
            <a:ext cx="3427200" cy="6855480"/>
          </a:xfrm>
          <a:custGeom>
            <a:avLst/>
            <a:gdLst>
              <a:gd name="textAreaLeft" fmla="*/ 0 w 3427200"/>
              <a:gd name="textAreaRight" fmla="*/ 3428280 w 3427200"/>
              <a:gd name="textAreaTop" fmla="*/ 0 h 6855480"/>
              <a:gd name="textAreaBottom" fmla="*/ 6856560 h 6855480"/>
              <a:gd name="GluePoint1X" fmla="*/ 1 w 3428208"/>
              <a:gd name="GluePoint1Y" fmla="*/ 0 h 6856414"/>
              <a:gd name="GluePoint2X" fmla="*/ 3428208 w 3428208"/>
              <a:gd name="GluePoint2Y" fmla="*/ 3428207 h 6856414"/>
              <a:gd name="GluePoint3X" fmla="*/ 1 w 3428208"/>
              <a:gd name="GluePoint3Y" fmla="*/ 6856414 h 6856414"/>
              <a:gd name="GluePoint4X" fmla="*/ 0 w 3428208"/>
              <a:gd name="GluePoint4Y" fmla="*/ 6856414 h 6856414"/>
              <a:gd name="GluePoint5X" fmla="*/ 0 w 3428208"/>
              <a:gd name="GluePoint5Y" fmla="*/ 0 h 68564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88920" y="723960"/>
            <a:ext cx="4113720" cy="52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932520" y="1981080"/>
            <a:ext cx="4113720" cy="285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Cross 13"/>
          <p:cNvSpPr/>
          <p:nvPr/>
        </p:nvSpPr>
        <p:spPr>
          <a:xfrm>
            <a:off x="4837680" y="91440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1" name="Cross 14"/>
          <p:cNvSpPr/>
          <p:nvPr/>
        </p:nvSpPr>
        <p:spPr>
          <a:xfrm>
            <a:off x="3085200" y="56959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2" name="Left Brace 1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ing with Phone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6"/>
          <p:cNvSpPr/>
          <p:nvPr/>
        </p:nvSpPr>
        <p:spPr>
          <a:xfrm>
            <a:off x="6703920" y="1148400"/>
            <a:ext cx="4560120" cy="4560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24" name="Graphic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32200" y="598320"/>
            <a:ext cx="3095280" cy="56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Cross 8"/>
          <p:cNvSpPr/>
          <p:nvPr/>
        </p:nvSpPr>
        <p:spPr>
          <a:xfrm>
            <a:off x="10818720" y="535320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Cross 10"/>
          <p:cNvSpPr/>
          <p:nvPr/>
        </p:nvSpPr>
        <p:spPr>
          <a:xfrm>
            <a:off x="6336000" y="805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6371640" cy="403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8040" y="4876920"/>
            <a:ext cx="6371640" cy="110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7765200" y="883440"/>
            <a:ext cx="2437920" cy="509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+ Subtitle 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4"/>
          <p:cNvSpPr/>
          <p:nvPr/>
        </p:nvSpPr>
        <p:spPr>
          <a:xfrm>
            <a:off x="3274920" y="609480"/>
            <a:ext cx="5637600" cy="563760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Left Brace 7"/>
          <p:cNvSpPr/>
          <p:nvPr/>
        </p:nvSpPr>
        <p:spPr>
          <a:xfrm>
            <a:off x="5560920" y="2022120"/>
            <a:ext cx="837000" cy="281304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0920" cy="586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768360" y="2022120"/>
            <a:ext cx="4442400" cy="281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lvl="1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標題及內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Cross 8"/>
          <p:cNvSpPr/>
          <p:nvPr/>
        </p:nvSpPr>
        <p:spPr>
          <a:xfrm>
            <a:off x="8151840" y="56707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4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657F864-9991-44F7-AF5B-704C6EBB9441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5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6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426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Cross 14"/>
          <p:cNvSpPr/>
          <p:nvPr/>
        </p:nvSpPr>
        <p:spPr>
          <a:xfrm>
            <a:off x="7351560" y="441972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Freeform: Shape 4"/>
          <p:cNvSpPr/>
          <p:nvPr/>
        </p:nvSpPr>
        <p:spPr>
          <a:xfrm>
            <a:off x="8609040" y="-21960"/>
            <a:ext cx="3578760" cy="6900840"/>
          </a:xfrm>
          <a:custGeom>
            <a:avLst/>
            <a:gdLst>
              <a:gd name="textAreaLeft" fmla="*/ 0 w 3578760"/>
              <a:gd name="textAreaRight" fmla="*/ 3579840 w 3578760"/>
              <a:gd name="textAreaTop" fmla="*/ 0 h 6900840"/>
              <a:gd name="textAreaBottom" fmla="*/ 6901920 h 6900840"/>
              <a:gd name="GluePoint1X" fmla="*/ 3450999 w 3579812"/>
              <a:gd name="GluePoint1Y" fmla="*/ 0 h 6901998"/>
              <a:gd name="GluePoint2X" fmla="*/ 3579812 w 3579812"/>
              <a:gd name="GluePoint2Y" fmla="*/ 3257 h 6901998"/>
              <a:gd name="GluePoint3X" fmla="*/ 3579812 w 3579812"/>
              <a:gd name="GluePoint3Y" fmla="*/ 6898741 h 6901998"/>
              <a:gd name="GluePoint4X" fmla="*/ 3450999 w 3579812"/>
              <a:gd name="GluePoint4Y" fmla="*/ 6901998 h 6901998"/>
              <a:gd name="GluePoint5X" fmla="*/ 0 w 3579812"/>
              <a:gd name="GluePoint5Y" fmla="*/ 3450999 h 6901998"/>
              <a:gd name="GluePoint6X" fmla="*/ 3450999 w 3579812"/>
              <a:gd name="GluePoint6Y" fmla="*/ 0 h 69019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with Computer Monit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"/>
          <p:cNvSpPr/>
          <p:nvPr/>
        </p:nvSpPr>
        <p:spPr>
          <a:xfrm>
            <a:off x="6703920" y="838080"/>
            <a:ext cx="5028120" cy="5028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45" name="Graphic 1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42080" y="1752480"/>
            <a:ext cx="4950000" cy="38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7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26AD230-C050-4F8C-90C1-49DE41DA556D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8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9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7045920" y="2057400"/>
            <a:ext cx="4342320" cy="268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5686200" cy="528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Cross 2"/>
          <p:cNvSpPr/>
          <p:nvPr/>
        </p:nvSpPr>
        <p:spPr>
          <a:xfrm>
            <a:off x="7130160" y="3969360"/>
            <a:ext cx="639720" cy="639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54" name="Graphic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42412" b="0"/>
          <a:stretch/>
        </p:blipFill>
        <p:spPr>
          <a:xfrm>
            <a:off x="7134840" y="533520"/>
            <a:ext cx="5052960" cy="55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Cross 5"/>
          <p:cNvSpPr/>
          <p:nvPr/>
        </p:nvSpPr>
        <p:spPr>
          <a:xfrm>
            <a:off x="6368040" y="2407320"/>
            <a:ext cx="639720" cy="639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119800" y="990720"/>
            <a:ext cx="4068000" cy="438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with Acc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4"/>
          <p:cNvSpPr/>
          <p:nvPr/>
        </p:nvSpPr>
        <p:spPr>
          <a:xfrm>
            <a:off x="6361200" y="1317240"/>
            <a:ext cx="5028120" cy="502812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8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0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B8C-02ED-4249-99B7-4CF69DDD0419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11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12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880200" lvl="2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63080" lvl="3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245960" lvl="4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and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7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3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DE82B53-2750-4511-9D35-9B7378655235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14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15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31560" lvl="1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57680" cy="39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" descr="A white circles on a black background&#10;&#10;Description automatically generated"/>
          <p:cNvPicPr/>
          <p:nvPr/>
        </p:nvPicPr>
        <p:blipFill>
          <a:blip r:embed="rId2"/>
          <a:srcRect l="0" t="11504" r="4106" b="14442"/>
          <a:stretch/>
        </p:blipFill>
        <p:spPr>
          <a:xfrm>
            <a:off x="3274920" y="0"/>
            <a:ext cx="8912880" cy="68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5920" cy="388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4360" y="5600880"/>
            <a:ext cx="1028592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Cross 2"/>
          <p:cNvSpPr/>
          <p:nvPr/>
        </p:nvSpPr>
        <p:spPr>
          <a:xfrm>
            <a:off x="10975680" y="49870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6" name="Cross 3"/>
          <p:cNvSpPr/>
          <p:nvPr/>
        </p:nvSpPr>
        <p:spPr>
          <a:xfrm>
            <a:off x="10118880" y="35812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9"/>
          <p:cNvSpPr/>
          <p:nvPr/>
        </p:nvSpPr>
        <p:spPr>
          <a:xfrm>
            <a:off x="7026120" y="0"/>
            <a:ext cx="4460400" cy="1980000"/>
          </a:xfrm>
          <a:custGeom>
            <a:avLst/>
            <a:gdLst>
              <a:gd name="textAreaLeft" fmla="*/ 0 w 4460400"/>
              <a:gd name="textAreaRight" fmla="*/ 4461480 w 4460400"/>
              <a:gd name="textAreaTop" fmla="*/ 0 h 1980000"/>
              <a:gd name="textAreaBottom" fmla="*/ 1981080 h 198000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16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1051542-497D-4150-A2B8-2B4C21A347E4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17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18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1293840" y="2743200"/>
            <a:ext cx="10133640" cy="350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: Shape 16"/>
          <p:cNvSpPr/>
          <p:nvPr/>
        </p:nvSpPr>
        <p:spPr>
          <a:xfrm>
            <a:off x="7026120" y="0"/>
            <a:ext cx="4460400" cy="1980000"/>
          </a:xfrm>
          <a:custGeom>
            <a:avLst/>
            <a:gdLst>
              <a:gd name="textAreaLeft" fmla="*/ 0 w 4460400"/>
              <a:gd name="textAreaRight" fmla="*/ 4461480 w 4460400"/>
              <a:gd name="textAreaTop" fmla="*/ 0 h 1980000"/>
              <a:gd name="textAreaBottom" fmla="*/ 1981080 h 198000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Rectangle 1"/>
          <p:cNvSpPr/>
          <p:nvPr/>
        </p:nvSpPr>
        <p:spPr>
          <a:xfrm>
            <a:off x="0" y="0"/>
            <a:ext cx="759240" cy="6856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Cross 5"/>
          <p:cNvSpPr/>
          <p:nvPr/>
        </p:nvSpPr>
        <p:spPr>
          <a:xfrm>
            <a:off x="6683040" y="139716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Cross 6"/>
          <p:cNvSpPr/>
          <p:nvPr/>
        </p:nvSpPr>
        <p:spPr>
          <a:xfrm>
            <a:off x="11085480" y="5638680"/>
            <a:ext cx="684720" cy="68472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19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35759C9-3E8F-4944-A6E6-34C4DA7B5821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&lt;number&gt;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20"/>
          </p:nvPr>
        </p:nvSpPr>
        <p:spPr>
          <a:xfrm rot="16200000">
            <a:off x="-1828800" y="2592360"/>
            <a:ext cx="44186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1"/>
          </p:nvPr>
        </p:nvSpPr>
        <p:spPr>
          <a:xfrm rot="16200000">
            <a:off x="-228600" y="5259600"/>
            <a:ext cx="1218240" cy="75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1293840" y="2438280"/>
            <a:ext cx="491076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6516720" y="2438280"/>
            <a:ext cx="491076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dinchentech.github.io/tw-autotrader/bollinger-animation.html" TargetMode="Externa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https://dinchentech.github.io/tw-autotrader/vwap-animation.html" TargetMode="Externa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dinchentech.github.io/tw-autotrader/ma_cross-animation.html" TargetMode="Externa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https://dinchentech.github.io/tw-autotrader/breakout-animation.html" TargetMode="Externa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https://dinchentech.github.io/tw-autotrader/keep_wait&#31574;&#30053;&#35498;&#26126;.html" TargetMode="External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5920" cy="388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TW-SELFSELECT-W4 </a:t>
            </a:r>
            <a:br>
              <a:rPr sz="6600"/>
            </a:b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台股買賣自動化系統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84360" y="5600880"/>
            <a:ext cx="1028592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Python 與 DSH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6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現有策略的介紹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5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507192A-C8D8-4C55-975E-EA474D9C5C9B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1311120" y="1143000"/>
            <a:ext cx="9735120" cy="540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再強調一次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我們主要教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策略的量化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而不是如何設計一個策略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t>本系統提供5個策略=&gt;布林通道,MA CROSS,唐安奇通道,VWAP反轉,KEEP_WAIT(低接高賣)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保留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個使用者自定策略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修改策略不用動主程式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主程式是經過長期驗證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311120" y="190440"/>
            <a:ext cx="4914000" cy="6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常見術語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26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FA3BF76-7AD1-4395-8FDB-DABF324F256E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3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311120" y="990720"/>
            <a:ext cx="9735120" cy="556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EPS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每股盈餘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：企業為每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股賺進多少淨利。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ROE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(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股東權益報酬率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：公司用股東資金賺錢的效率。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PE (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本益比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：買進股票後，預計幾年可以回本（估值指標）。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殖利率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現金股利殖利率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：把股票當定存，每年能拿到的配息回報率。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護城河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一個公司難以被超越的地方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技術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規模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資產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軟硬件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.IP…)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RSI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（相對強弱指標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Relative Strength Index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）是一種用來評估市場「買賣雙方力道強弱」的動量指標。它透過計算特定期間內股價漲跌幅的大小與速度，來判斷股價是否處於過熱（超買）或過冷（超賣）的狀態。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ATR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（平均真實波動幅度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Average True Range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）是由威爾斯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·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威爾德（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J. Welles Wilder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1978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年提出的技術指標，用來衡量市場的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波動程度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不預測方向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MA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（簡單移動平均）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將過去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天的收盤價加總，除以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N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，每一天的權重相同。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EMA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（指數移動平均）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給予近期價格較高的權重，越靠近今天的價格影響越大；歷史價格影響力呈指數衰減。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MA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RSI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7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9601D6FF-6044-48C0-B3B6-B6AB9DA99F41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2" name="內容版面配置區 7"/>
          <p:cNvPicPr/>
          <p:nvPr/>
        </p:nvPicPr>
        <p:blipFill>
          <a:blip r:embed="rId1"/>
          <a:stretch/>
        </p:blipFill>
        <p:spPr>
          <a:xfrm>
            <a:off x="1311120" y="2997360"/>
            <a:ext cx="4570920" cy="253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內容版面配置區 5"/>
          <p:cNvPicPr/>
          <p:nvPr/>
        </p:nvPicPr>
        <p:blipFill>
          <a:blip r:embed="rId2"/>
          <a:srcRect l="10510" t="0" r="11573" b="4"/>
          <a:stretch/>
        </p:blipFill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53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策略的種類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311120" y="1371600"/>
            <a:ext cx="4570920" cy="48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時間性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 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長期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半年以上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中短期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: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半年以內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當日內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進場時機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順勢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=&gt;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上漲時進場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開始下跌賣出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逆勢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=&gt;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跌得離譜進場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回歸正常賣出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分析數據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 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開盤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收盤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最高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最低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成交量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16" name="內容版面配置區 6"/>
          <p:cNvPicPr/>
          <p:nvPr/>
        </p:nvPicPr>
        <p:blipFill>
          <a:blip r:embed="rId1"/>
          <a:stretch/>
        </p:blipFill>
        <p:spPr>
          <a:xfrm>
            <a:off x="6094440" y="2264760"/>
            <a:ext cx="5561640" cy="308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4CB9788-064F-4D35-9D83-6C8B71B4DCA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68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K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線圖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我們系統是交由程式分析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18" name="內容版面配置區 6"/>
          <p:cNvPicPr/>
          <p:nvPr/>
        </p:nvPicPr>
        <p:blipFill>
          <a:blip r:embed="rId1"/>
          <a:stretch/>
        </p:blipFill>
        <p:spPr>
          <a:xfrm>
            <a:off x="555840" y="1676520"/>
            <a:ext cx="5537160" cy="46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內容版面配置區 8"/>
          <p:cNvPicPr/>
          <p:nvPr/>
        </p:nvPicPr>
        <p:blipFill>
          <a:blip r:embed="rId2"/>
          <a:stretch/>
        </p:blipFill>
        <p:spPr>
          <a:xfrm>
            <a:off x="6147720" y="151560"/>
            <a:ext cx="5537880" cy="327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圖片 10"/>
          <p:cNvPicPr/>
          <p:nvPr/>
        </p:nvPicPr>
        <p:blipFill>
          <a:blip r:embed="rId3"/>
          <a:srcRect l="0" t="1949" r="0" b="6584"/>
          <a:stretch/>
        </p:blipFill>
        <p:spPr>
          <a:xfrm>
            <a:off x="6147720" y="3276720"/>
            <a:ext cx="4495320" cy="35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F43CF2C-8926-4757-A53D-86E3FF3468B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7237800" cy="6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大盤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不同盤勢適合不同策略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28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87696BAF-7407-4BE3-96C7-C8C735144E7E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7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內容版面配置區 8"/>
          <p:cNvPicPr/>
          <p:nvPr/>
        </p:nvPicPr>
        <p:blipFill>
          <a:blip r:embed="rId1"/>
          <a:srcRect l="1963" t="0" r="2546" b="0"/>
          <a:stretch/>
        </p:blipFill>
        <p:spPr>
          <a:xfrm>
            <a:off x="1446120" y="1600200"/>
            <a:ext cx="4799880" cy="236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內容版面配置區 6"/>
          <p:cNvPicPr/>
          <p:nvPr/>
        </p:nvPicPr>
        <p:blipFill>
          <a:blip r:embed="rId2"/>
          <a:srcRect l="465" t="0" r="1654" b="0"/>
          <a:stretch/>
        </p:blipFill>
        <p:spPr>
          <a:xfrm>
            <a:off x="6475320" y="1600200"/>
            <a:ext cx="4910760" cy="41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圖片 10"/>
          <p:cNvPicPr/>
          <p:nvPr/>
        </p:nvPicPr>
        <p:blipFill>
          <a:blip r:embed="rId3"/>
          <a:stretch/>
        </p:blipFill>
        <p:spPr>
          <a:xfrm>
            <a:off x="1446120" y="4290840"/>
            <a:ext cx="4799880" cy="225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676440" cy="60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大盤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不同盤勢適合不同策略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29"/>
          </p:nvPr>
        </p:nvSpPr>
        <p:spPr>
          <a:xfrm>
            <a:off x="0" y="609480"/>
            <a:ext cx="75924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E9C87A6B-4634-4935-A6CA-CF5626189A06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8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內容版面配置區 10"/>
          <p:cNvPicPr/>
          <p:nvPr/>
        </p:nvPicPr>
        <p:blipFill>
          <a:blip r:embed="rId1"/>
          <a:srcRect l="0" t="0" r="0" b="16600"/>
          <a:stretch/>
        </p:blipFill>
        <p:spPr>
          <a:xfrm>
            <a:off x="303120" y="1581120"/>
            <a:ext cx="5699880" cy="495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內容版面配置區 12"/>
          <p:cNvPicPr/>
          <p:nvPr/>
        </p:nvPicPr>
        <p:blipFill>
          <a:blip r:embed="rId2"/>
          <a:srcRect l="0" t="0" r="-5" b="12243"/>
          <a:stretch/>
        </p:blipFill>
        <p:spPr>
          <a:xfrm>
            <a:off x="6184440" y="1562040"/>
            <a:ext cx="5699880" cy="495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文字方塊 2"/>
          <p:cNvSpPr/>
          <p:nvPr/>
        </p:nvSpPr>
        <p:spPr>
          <a:xfrm>
            <a:off x="912960" y="152280"/>
            <a:ext cx="9828720" cy="56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zh-TW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布林通道反轉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 RSI </a:t>
            </a:r>
            <a:r>
              <a:rPr lang="zh-TW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過濾（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Bollinger</a:t>
            </a:r>
            <a:r>
              <a:rPr lang="zh-TW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）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一句話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：股價跌到統計學極限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市場極度恐慌時買進；漲到統計學極限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市場極度貪婪時賣出。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📺 動畫演示：</a:t>
            </a:r>
            <a:r>
              <a:rPr lang="zh-TW" sz="1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點擊觀看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— 以走勢動畫解說買賣點邏輯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策略原理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布林通道（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Bollinger Bands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）以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日移動平均線為中軸，上下各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倍標準差構成通道。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根據統計學常態分佈，約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95.4%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的價格會落在通道內；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衝出通道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即代表市場進入極端狀態。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結合 </a:t>
            </a: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RSI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（</a:t>
            </a: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5 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日）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判讀市場情緒，形成雙重過濾。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數學定義：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元件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公式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意義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BB_Middle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SMA(close, 20)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平均成本（價值中軸）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BB_Std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STD(close, 20)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近期波動劇烈程度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BB_Upper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Middle + 2 × Std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統計學天花板（超買門檻）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BB_Lower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Middle − 2 × Std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統計學地板（超賣門檻）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RSI(5)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100 − 100 / (1 + RS)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極短線多空力道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圖片 2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圖片 2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747360" y="294480"/>
            <a:ext cx="1128780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040">
              <a:lnSpc>
                <a:spcPct val="109000"/>
              </a:lnSpc>
            </a:pP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 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偏離度反轉（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747360" y="972000"/>
            <a:ext cx="1069272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一句話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：股價偏離法人平均成本（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）超過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1.5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倍標準差，且極短線情緒極端時，反向操作。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660600" y="1885680"/>
            <a:ext cx="112273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📺 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動畫演示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zh-TW" sz="2170" b="0" u="sng" strike="noStrike">
                <a:solidFill>
                  <a:srgbClr val="0563C1"/>
                </a:solidFill>
                <a:effectLst/>
                <a:uFillTx/>
                <a:latin typeface="Yu Gothic UI"/>
                <a:ea typeface="Yu Gothic UI"/>
                <a:hlinkClick r:id="rId1"/>
              </a:rPr>
              <a:t>點擊觀看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— 以走勢動畫解說買賣點邏輯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747360" y="245592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策略原理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747360" y="3008160"/>
            <a:ext cx="1069272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（成交量加權平均價）代表市場所有資金真正的平均買進成本。散戶無法大幅影響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，只有大盤法人進出才會讓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移動。當股價遠離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VWAP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超過一定倍數的標準差時，代表價格嚴重偏離法人的合理成本區，預期均值回歸。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747360" y="4463280"/>
          <a:ext cx="8697600" cy="1965600"/>
        </p:xfrm>
        <a:graphic>
          <a:graphicData uri="http://schemas.openxmlformats.org/drawingml/2006/table">
            <a:tbl>
              <a:tblPr/>
              <a:tblGrid>
                <a:gridCol w="1729440"/>
                <a:gridCol w="4089240"/>
                <a:gridCol w="2879280"/>
              </a:tblGrid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元件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公式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意義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VWAP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Σ(close × volume) / Σ(volume)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市場真實平均成本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Deviation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close − VWAP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價格偏離法人的程度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Std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STD(Deviation, 20)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偏離度的波動標準差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sigma_mult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1.5</a:t>
                      </a: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（可調參數）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極端門檻倍數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2724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RSI(5)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100 − 100 / (1 + RS)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極短線情緒指標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圖片 2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圖片 2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44" name="圖片 6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DC63BAC-BF79-4FE5-B7CD-A999A56A31E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747360" y="287280"/>
            <a:ext cx="1128780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均線交叉（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MA Cross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47360" y="897480"/>
            <a:ext cx="10692720" cy="97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一句話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：短期平均成本突破中期平均成本時順勢買進；跌破時順勢賣出。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3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📺 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動畫演示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zh-TW" sz="2170" b="0" u="sng" strike="noStrike">
                <a:solidFill>
                  <a:srgbClr val="0563C1"/>
                </a:solidFill>
                <a:effectLst/>
                <a:uFillTx/>
                <a:latin typeface="Yu Gothic UI"/>
                <a:ea typeface="Yu Gothic UI"/>
                <a:hlinkClick r:id="rId1"/>
              </a:rPr>
              <a:t>點擊觀看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— 以走勢動畫解說買賣點邏輯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747360" y="184104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策略原理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747360" y="2254680"/>
            <a:ext cx="1069272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利用兩條不同週期的移動平均線的相對位置變化，捕捉波段趨勢。快線（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MA 9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）對價格反應靈敏，慢線（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MA 21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）代表中期方向。當快線由下往上突破慢線（黃金交叉），為波段漲勢確立；反之則為多頭結束（死亡交叉）。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747360" y="3429000"/>
            <a:ext cx="10692720" cy="9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使用 </a:t>
            </a:r>
            <a:r>
              <a:rPr lang="en-US" sz="1850" b="0" u="none" strike="noStrike">
                <a:solidFill>
                  <a:srgbClr val="1F2328"/>
                </a:solidFill>
                <a:effectLst/>
                <a:highlight>
                  <a:srgbClr val="F0F1F3"/>
                </a:highlight>
                <a:uFillTx/>
                <a:latin typeface="Consolas"/>
                <a:ea typeface="Consolas"/>
              </a:rPr>
              <a:t>.shift(1)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比對昨日與今日的相對位置，精確判定交叉瞬間。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30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數學定義：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Table 0"/>
          <p:cNvGraphicFramePr/>
          <p:nvPr/>
        </p:nvGraphicFramePr>
        <p:xfrm>
          <a:off x="747360" y="4482360"/>
          <a:ext cx="7048080" cy="1797120"/>
        </p:xfrm>
        <a:graphic>
          <a:graphicData uri="http://schemas.openxmlformats.org/drawingml/2006/table">
            <a:tbl>
              <a:tblPr/>
              <a:tblGrid>
                <a:gridCol w="1439640"/>
                <a:gridCol w="2149560"/>
                <a:gridCol w="3459240"/>
              </a:tblGrid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元件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公式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意義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MA_Fast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SMA(close, 9)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短期平均成本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MA_Slow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SMA(close, 21)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中期平均成本（一個月）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Shift(1)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取昨日資料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判斷交叉與否的基準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54" name="圖片 6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D8CA309-CA7A-4770-AED2-92EFF3BFD389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58" name="圖片 6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84D9702-38B0-484D-AAEE-300F116C8138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686880" y="147240"/>
            <a:ext cx="1128780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唐奇安通道突破（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Breakout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86880" y="682200"/>
            <a:ext cx="1069272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一句話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：股價突破近一個月最高價時猜測主力進場，順勢買進；跌破近一個月最低價時猜測主力撤退，順勢賣出。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620640" y="1510560"/>
            <a:ext cx="112273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📺 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動畫演示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zh-TW" sz="2170" b="0" u="sng" strike="noStrike">
                <a:solidFill>
                  <a:srgbClr val="0563C1"/>
                </a:solidFill>
                <a:effectLst/>
                <a:uFillTx/>
                <a:latin typeface="Yu Gothic UI"/>
                <a:ea typeface="Yu Gothic UI"/>
                <a:hlinkClick r:id="rId1"/>
              </a:rPr>
              <a:t>點擊觀看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— 以走勢動畫解說買賣點邏輯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620640" y="197064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策略原理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620640" y="2378880"/>
            <a:ext cx="1069272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唐奇安通道（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Donchian Channel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）以過去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N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日的最高價與最低價作為上下軌，勾勒出箱型整理區間。散戶的資金分散且無共識，只有大盤法人有能力將股價推破長期的天花板（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N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日最高價），因此價格突破通道上軌即視為主力發動訊號。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620640" y="3523320"/>
            <a:ext cx="10692720" cy="8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使用前一日的通道值（</a:t>
            </a:r>
            <a:r>
              <a:rPr lang="en-US" sz="1850" b="0" u="none" strike="noStrike">
                <a:solidFill>
                  <a:srgbClr val="1F2328"/>
                </a:solidFill>
                <a:effectLst/>
                <a:highlight>
                  <a:srgbClr val="F0F1F3"/>
                </a:highlight>
                <a:uFillTx/>
                <a:latin typeface="Consolas"/>
                <a:ea typeface="Consolas"/>
              </a:rPr>
              <a:t>.shift(1)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或 </a:t>
            </a:r>
            <a:r>
              <a:rPr lang="en-US" sz="1850" b="0" u="none" strike="noStrike">
                <a:solidFill>
                  <a:srgbClr val="1F2328"/>
                </a:solidFill>
                <a:effectLst/>
                <a:highlight>
                  <a:srgbClr val="F0F1F3"/>
                </a:highlight>
                <a:uFillTx/>
                <a:latin typeface="Consolas"/>
                <a:ea typeface="Consolas"/>
              </a:rPr>
              <a:t>iloc[-2]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），避免使用今日包含突破瞬間的資料造成前視偏差。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650880" y="4300560"/>
            <a:ext cx="112273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數學定義：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Table 0"/>
          <p:cNvGraphicFramePr/>
          <p:nvPr/>
        </p:nvGraphicFramePr>
        <p:xfrm>
          <a:off x="620640" y="4902840"/>
          <a:ext cx="8067960" cy="2018160"/>
        </p:xfrm>
        <a:graphic>
          <a:graphicData uri="http://schemas.openxmlformats.org/drawingml/2006/table">
            <a:tbl>
              <a:tblPr/>
              <a:tblGrid>
                <a:gridCol w="2219400"/>
                <a:gridCol w="1989720"/>
                <a:gridCol w="3859200"/>
              </a:tblGrid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元件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公式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意義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Donchian_High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MAX(high, N)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N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日（預設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20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）市場最高價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Donchian_Low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Segoe UI"/>
                          <a:ea typeface="Segoe UI"/>
                        </a:rPr>
                        <a:t>MIN(low, N)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N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日（預設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20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）市場最低價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70" name="圖片 8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BF2D7CF-B6B1-46A5-AF75-C14D557E8765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000" cy="144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092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6094440" y="2286000"/>
            <a:ext cx="5561640" cy="39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74" name="圖片 8"/>
          <p:cNvPicPr/>
          <p:nvPr/>
        </p:nvPicPr>
        <p:blipFill>
          <a:blip r:embed="rId1"/>
          <a:stretch/>
        </p:blipFill>
        <p:spPr>
          <a:xfrm>
            <a:off x="0" y="153360"/>
            <a:ext cx="12187800" cy="65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0F846AB-4625-4C95-986A-4807CF41CA49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707400" y="247680"/>
            <a:ext cx="1128780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040">
              <a:lnSpc>
                <a:spcPct val="109000"/>
              </a:lnSpc>
            </a:pP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Keep &amp; Wait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（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DCA </a:t>
            </a: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低接策略）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686880" y="76428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核心邏輯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666720" y="1129320"/>
            <a:ext cx="1069272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25000"/>
              </a:lnSpc>
            </a:pP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不分析技術指標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，完全依價格乖離與紀律執行低接。適合波動大的高價股或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ETF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作為衛星持股：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666720" y="1981080"/>
            <a:ext cx="112273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📺 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動畫演示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zh-TW" sz="2170" b="0" u="sng" strike="noStrike">
                <a:solidFill>
                  <a:srgbClr val="0563C1"/>
                </a:solidFill>
                <a:effectLst/>
                <a:uFillTx/>
                <a:latin typeface="Yu Gothic UI"/>
                <a:ea typeface="Yu Gothic UI"/>
                <a:hlinkClick r:id="rId1"/>
              </a:rPr>
              <a:t>點擊觀看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— 以走勢動畫解說買賣點邏輯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747360" y="3612600"/>
            <a:ext cx="65520" cy="413280"/>
          </a:xfrm>
          <a:prstGeom prst="rect">
            <a:avLst/>
          </a:prstGeom>
          <a:solidFill>
            <a:srgbClr val="D1D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760" tIns="45000" rIns="327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733320" y="2531160"/>
            <a:ext cx="106261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6120" tIns="0" rIns="27612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zh-TW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初始進場 → 跌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X% </a:t>
            </a:r>
            <a:r>
              <a:rPr lang="zh-TW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再加碼 → 漲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Y% </a:t>
            </a:r>
            <a:r>
              <a:rPr lang="zh-TW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停利賣出 → 冷卻後重來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733320" y="301752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買賣條件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Table 0"/>
          <p:cNvGraphicFramePr/>
          <p:nvPr/>
        </p:nvGraphicFramePr>
        <p:xfrm>
          <a:off x="371160" y="3512880"/>
          <a:ext cx="11523240" cy="3251880"/>
        </p:xfrm>
        <a:graphic>
          <a:graphicData uri="http://schemas.openxmlformats.org/drawingml/2006/table">
            <a:tbl>
              <a:tblPr/>
              <a:tblGrid>
                <a:gridCol w="1253880"/>
                <a:gridCol w="5489640"/>
                <a:gridCol w="4780080"/>
              </a:tblGrid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動作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條件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說明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688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初始買進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啟動時立即買入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KW_INITIAL_SHARES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股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建立基本倉位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688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加碼買進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從均價跌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KW_ADD_DROP_PCT%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（如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5%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最多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KW_MAX_ADDITIONS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次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77688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停利賣出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從均價漲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KW_TP_TRIGGER_PCT%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（如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15%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賣出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KW_TP_SELL_RATIO%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（如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50%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冷卻期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賣出後 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KW_COOLDOWN_DAYS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天不動作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避免短線反覆交易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表格 7"/>
          <p:cNvGraphicFramePr/>
          <p:nvPr/>
        </p:nvGraphicFramePr>
        <p:xfrm>
          <a:off x="1087920" y="1243800"/>
          <a:ext cx="8686080" cy="1848600"/>
        </p:xfrm>
        <a:graphic>
          <a:graphicData uri="http://schemas.openxmlformats.org/drawingml/2006/table">
            <a:tbl>
              <a:tblPr/>
              <a:tblGrid>
                <a:gridCol w="2895480"/>
                <a:gridCol w="2895480"/>
                <a:gridCol w="2895480"/>
              </a:tblGrid>
              <a:tr h="369000"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機制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C086EC"/>
                      </a:solidFill>
                      <a:prstDash val="solid"/>
                    </a:lnL>
                    <a:lnR w="12240">
                      <a:solidFill>
                        <a:srgbClr val="A094EC"/>
                      </a:solidFill>
                      <a:prstDash val="solid"/>
                    </a:lnR>
                    <a:lnT w="12240">
                      <a:solidFill>
                        <a:srgbClr val="C086EC"/>
                      </a:solidFill>
                      <a:prstDash val="solid"/>
                    </a:lnT>
                    <a:lnB w="12240">
                      <a:solidFill>
                        <a:srgbClr val="009B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參數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A094EC"/>
                      </a:solidFill>
                      <a:prstDash val="solid"/>
                    </a:lnL>
                    <a:lnR w="12240">
                      <a:solidFill>
                        <a:srgbClr val="8099EC"/>
                      </a:solidFill>
                      <a:prstDash val="solid"/>
                    </a:lnR>
                    <a:lnT w="12240">
                      <a:solidFill>
                        <a:srgbClr val="A094EC"/>
                      </a:solidFill>
                      <a:prstDash val="solid"/>
                    </a:lnT>
                    <a:lnB w="12240">
                      <a:solidFill>
                        <a:srgbClr val="40A0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預設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8099EC"/>
                      </a:solidFill>
                      <a:prstDash val="solid"/>
                    </a:lnL>
                    <a:lnR w="12240">
                      <a:solidFill>
                        <a:srgbClr val="8099EC"/>
                      </a:solidFill>
                      <a:prstDash val="solid"/>
                    </a:lnR>
                    <a:lnT w="12240">
                      <a:solidFill>
                        <a:srgbClr val="8099EC"/>
                      </a:solidFill>
                      <a:prstDash val="solid"/>
                    </a:lnT>
                    <a:lnB w="12240">
                      <a:solidFill>
                        <a:srgbClr val="00AA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</a:tr>
              <a:tr h="369000"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每日交易次數上限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009BEC"/>
                      </a:solidFill>
                      <a:prstDash val="solid"/>
                    </a:lnL>
                    <a:lnR w="12240">
                      <a:solidFill>
                        <a:srgbClr val="40A0EC"/>
                      </a:solidFill>
                      <a:prstDash val="solid"/>
                    </a:lnR>
                    <a:lnT w="12240">
                      <a:solidFill>
                        <a:srgbClr val="009BEC"/>
                      </a:solidFill>
                      <a:prstDash val="solid"/>
                    </a:lnT>
                    <a:lnB w="12240">
                      <a:solidFill>
                        <a:srgbClr val="00D1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CEB9"/>
                          </a:solidFill>
                          <a:effectLst/>
                          <a:uFillTx/>
                          <a:latin typeface="ui-monospace"/>
                        </a:rPr>
                        <a:t>MAX_DAILY_TRADES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40A0EC"/>
                      </a:solidFill>
                      <a:prstDash val="solid"/>
                    </a:lnL>
                    <a:lnR w="12240">
                      <a:solidFill>
                        <a:srgbClr val="00AAEC"/>
                      </a:solidFill>
                      <a:prstDash val="solid"/>
                    </a:lnR>
                    <a:lnT w="12240">
                      <a:solidFill>
                        <a:srgbClr val="40A0EC"/>
                      </a:solidFill>
                      <a:prstDash val="solid"/>
                    </a:lnT>
                    <a:lnB w="12240">
                      <a:solidFill>
                        <a:srgbClr val="E0E4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5 </a:t>
                      </a: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次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00AAEC"/>
                      </a:solidFill>
                      <a:prstDash val="solid"/>
                    </a:lnL>
                    <a:lnR w="12240">
                      <a:solidFill>
                        <a:srgbClr val="00AAEC"/>
                      </a:solidFill>
                      <a:prstDash val="solid"/>
                    </a:lnR>
                    <a:lnT w="12240">
                      <a:solidFill>
                        <a:srgbClr val="00AAEC"/>
                      </a:solidFill>
                      <a:prstDash val="solid"/>
                    </a:lnT>
                    <a:lnB w="12240">
                      <a:solidFill>
                        <a:srgbClr val="40E5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</a:tr>
              <a:tr h="369000"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每日虧損上限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00D1EC"/>
                      </a:solidFill>
                      <a:prstDash val="solid"/>
                    </a:lnL>
                    <a:lnR w="12240">
                      <a:solidFill>
                        <a:srgbClr val="E0E4EC"/>
                      </a:solidFill>
                      <a:prstDash val="solid"/>
                    </a:lnR>
                    <a:lnT w="12240">
                      <a:solidFill>
                        <a:srgbClr val="00D1EC"/>
                      </a:solidFill>
                      <a:prstDash val="solid"/>
                    </a:lnT>
                    <a:lnB w="12240">
                      <a:solidFill>
                        <a:srgbClr val="C0E3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CEB9"/>
                          </a:solidFill>
                          <a:effectLst/>
                          <a:uFillTx/>
                          <a:latin typeface="ui-monospace"/>
                        </a:rPr>
                        <a:t>MAX_DAILY_LOSS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E0E4EC"/>
                      </a:solidFill>
                      <a:prstDash val="solid"/>
                    </a:lnL>
                    <a:lnR w="12240">
                      <a:solidFill>
                        <a:srgbClr val="40E5EC"/>
                      </a:solidFill>
                      <a:prstDash val="solid"/>
                    </a:lnR>
                    <a:lnT w="12240">
                      <a:solidFill>
                        <a:srgbClr val="E0E4EC"/>
                      </a:solidFill>
                      <a:prstDash val="solid"/>
                    </a:lnT>
                    <a:lnB w="12240">
                      <a:solidFill>
                        <a:srgbClr val="20E4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3%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40E5EC"/>
                      </a:solidFill>
                      <a:prstDash val="solid"/>
                    </a:lnL>
                    <a:lnR w="12240">
                      <a:solidFill>
                        <a:srgbClr val="40E5EC"/>
                      </a:solidFill>
                      <a:prstDash val="solid"/>
                    </a:lnR>
                    <a:lnT w="12240">
                      <a:solidFill>
                        <a:srgbClr val="40E5EC"/>
                      </a:solidFill>
                      <a:prstDash val="solid"/>
                    </a:lnT>
                    <a:lnB w="12240">
                      <a:solidFill>
                        <a:srgbClr val="40EB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</a:tr>
              <a:tr h="369000"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漲跌停過濾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C0E3EC"/>
                      </a:solidFill>
                      <a:prstDash val="solid"/>
                    </a:lnL>
                    <a:lnR w="12240">
                      <a:solidFill>
                        <a:srgbClr val="20E4EC"/>
                      </a:solidFill>
                      <a:prstDash val="solid"/>
                    </a:lnR>
                    <a:lnT w="12240">
                      <a:solidFill>
                        <a:srgbClr val="C0E3EC"/>
                      </a:solidFill>
                      <a:prstDash val="solid"/>
                    </a:lnT>
                    <a:lnB w="12240">
                      <a:solidFill>
                        <a:srgbClr val="60E3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CEB9"/>
                          </a:solidFill>
                          <a:effectLst/>
                          <a:uFillTx/>
                          <a:latin typeface="ui-monospace"/>
                        </a:rPr>
                        <a:t>_is_limit_up_or_down()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20E4EC"/>
                      </a:solidFill>
                      <a:prstDash val="solid"/>
                    </a:lnL>
                    <a:lnR w="12240">
                      <a:solidFill>
                        <a:srgbClr val="40EBEC"/>
                      </a:solidFill>
                      <a:prstDash val="solid"/>
                    </a:lnR>
                    <a:lnT w="12240">
                      <a:solidFill>
                        <a:srgbClr val="20E4EC"/>
                      </a:solidFill>
                      <a:prstDash val="solid"/>
                    </a:lnT>
                    <a:lnB w="12240">
                      <a:solidFill>
                        <a:srgbClr val="80ED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±10%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40EBEC"/>
                      </a:solidFill>
                      <a:prstDash val="solid"/>
                    </a:lnL>
                    <a:lnR w="12240">
                      <a:solidFill>
                        <a:srgbClr val="40EBEC"/>
                      </a:solidFill>
                      <a:prstDash val="solid"/>
                    </a:lnR>
                    <a:lnT w="12240">
                      <a:solidFill>
                        <a:srgbClr val="40EBEC"/>
                      </a:solidFill>
                      <a:prstDash val="solid"/>
                    </a:lnT>
                    <a:lnB w="12240">
                      <a:solidFill>
                        <a:srgbClr val="00E9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</a:tr>
              <a:tr h="369000"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資金水位放寬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60E3EC"/>
                      </a:solidFill>
                      <a:prstDash val="solid"/>
                    </a:lnL>
                    <a:lnR w="12240">
                      <a:solidFill>
                        <a:srgbClr val="80EDEC"/>
                      </a:solidFill>
                      <a:prstDash val="solid"/>
                    </a:lnR>
                    <a:lnT w="12240">
                      <a:solidFill>
                        <a:srgbClr val="60E3EC"/>
                      </a:solidFill>
                      <a:prstDash val="solid"/>
                    </a:lnT>
                    <a:lnB w="7200">
                      <a:solidFill>
                        <a:srgbClr val="60E3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CEB9"/>
                          </a:solidFill>
                          <a:effectLst/>
                          <a:uFillTx/>
                          <a:latin typeface="ui-monospace"/>
                        </a:rPr>
                        <a:t>CAPITAL_CONTROL_LINE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80EDEC"/>
                      </a:solidFill>
                      <a:prstDash val="solid"/>
                    </a:lnL>
                    <a:lnR w="12240">
                      <a:solidFill>
                        <a:srgbClr val="00E9EC"/>
                      </a:solidFill>
                      <a:prstDash val="solid"/>
                    </a:lnR>
                    <a:lnT w="12240">
                      <a:solidFill>
                        <a:srgbClr val="80EDEC"/>
                      </a:solidFill>
                      <a:prstDash val="solid"/>
                    </a:lnT>
                    <a:lnB w="7200">
                      <a:solidFill>
                        <a:srgbClr val="80ED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 lIns="108360" tIns="108360" rIns="108360" bIns="108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資金 </a:t>
                      </a:r>
                      <a:r>
                        <a:rPr lang="en-US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&gt;30% </a:t>
                      </a:r>
                      <a:r>
                        <a:rPr lang="zh-TW" sz="10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時不限交易次數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360" marR="108360" marT="108360" marB="108360">
                    <a:lnL w="12240">
                      <a:solidFill>
                        <a:srgbClr val="00E9EC"/>
                      </a:solidFill>
                      <a:prstDash val="solid"/>
                    </a:lnL>
                    <a:lnR w="12240">
                      <a:solidFill>
                        <a:srgbClr val="00E9EC"/>
                      </a:solidFill>
                      <a:prstDash val="solid"/>
                    </a:lnR>
                    <a:lnT w="12240">
                      <a:solidFill>
                        <a:srgbClr val="00E9EC"/>
                      </a:solidFill>
                      <a:prstDash val="solid"/>
                    </a:lnT>
                    <a:lnB w="7200">
                      <a:solidFill>
                        <a:srgbClr val="00E9E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  <p:sp>
        <p:nvSpPr>
          <p:cNvPr id="219" name="文字方塊 10"/>
          <p:cNvSpPr/>
          <p:nvPr/>
        </p:nvSpPr>
        <p:spPr>
          <a:xfrm>
            <a:off x="1068120" y="685080"/>
            <a:ext cx="2056320" cy="36828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Group1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風險控制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333FE0B-524F-4B91-82E7-49456B67F7B3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747360" y="169920"/>
            <a:ext cx="1128780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040">
              <a:lnSpc>
                <a:spcPct val="109000"/>
              </a:lnSpc>
            </a:pPr>
            <a:r>
              <a:rPr lang="zh-TW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總結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717120" y="646200"/>
            <a:ext cx="112273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Group 1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前四個策略（正好互補，涵蓋不同的交易情境與市場狀態：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Table 0"/>
          <p:cNvGraphicFramePr/>
          <p:nvPr/>
        </p:nvGraphicFramePr>
        <p:xfrm>
          <a:off x="684000" y="1117080"/>
          <a:ext cx="11375640" cy="2246400"/>
        </p:xfrm>
        <a:graphic>
          <a:graphicData uri="http://schemas.openxmlformats.org/drawingml/2006/table">
            <a:tbl>
              <a:tblPr/>
              <a:tblGrid>
                <a:gridCol w="6143760"/>
                <a:gridCol w="1191600"/>
                <a:gridCol w="4040640"/>
              </a:tblGrid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策略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類型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核心邏輯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MA Cross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（均線交叉）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順勢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捕捉波段趨勢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VWAP Deviation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</a:t>
                      </a: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VWAP 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偏離）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逆勢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抓法人成本極端偏離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Breakout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（唐奇安突破）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順勢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主力追價突破（無法長期用）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320"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Bollinger Reverse</a:t>
                      </a: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（布林反轉）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逆勢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lIns="123480" tIns="56880" rIns="123480" bIns="56880" anchor="t">
                      <a:noAutofit/>
                    </a:bodyPr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恐慌抄底、貪婪逃頂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25" name="Text 2"/>
          <p:cNvSpPr/>
          <p:nvPr/>
        </p:nvSpPr>
        <p:spPr>
          <a:xfrm>
            <a:off x="717120" y="3415680"/>
            <a:ext cx="112878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040">
              <a:lnSpc>
                <a:spcPct val="109000"/>
              </a:lnSpc>
            </a:pPr>
            <a:r>
              <a:rPr lang="en-US" sz="240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Group 1</a:t>
            </a:r>
            <a:r>
              <a:rPr lang="zh-TW" sz="240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前四個策略 </a:t>
            </a: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自動化交易的核心價值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747360" y="5483880"/>
            <a:ext cx="65520" cy="413280"/>
          </a:xfrm>
          <a:prstGeom prst="rect">
            <a:avLst/>
          </a:prstGeom>
          <a:solidFill>
            <a:srgbClr val="D1D9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760" tIns="45000" rIns="327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443160" y="3790080"/>
            <a:ext cx="106261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6120" tIns="0" rIns="276120" bIns="0" anchor="t">
            <a:noAutofit/>
          </a:bodyPr>
          <a:p>
            <a:pPr defTabSz="914040">
              <a:lnSpc>
                <a:spcPct val="130000"/>
              </a:lnSpc>
            </a:pPr>
            <a:r>
              <a:rPr lang="zh-TW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自動化交易的目標不一定年年打敗大盤，而是在各種市場環境下都能穩定發揮：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4000" y="4187160"/>
            <a:ext cx="11124000" cy="87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2720" indent="-342720" defTabSz="914040">
              <a:lnSpc>
                <a:spcPct val="12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📉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空頭時少賠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2022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年那種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-20%~-50%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的崩盤，策略空手避開，定期定額照樣跟著跌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 defTabSz="914040">
              <a:lnSpc>
                <a:spcPct val="12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📊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盤整時賺價差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yearly +5%~+15%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低買高賣，抱著不動是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0%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 defTabSz="914040">
              <a:lnSpc>
                <a:spcPct val="12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😴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不用盯盤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：程式自動跑，克服人性追高殺低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720" indent="-342720" defTabSz="914040">
              <a:lnSpc>
                <a:spcPct val="12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📈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多頭也跟得上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：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2022-2025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四年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+71.4%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50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萬一筆資金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,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轉複利更高），買入持有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+81.0%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，只落後不到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10%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3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45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34" name="Text 0"/>
          <p:cNvSpPr/>
          <p:nvPr/>
        </p:nvSpPr>
        <p:spPr>
          <a:xfrm>
            <a:off x="838080" y="184680"/>
            <a:ext cx="10511640" cy="15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100000"/>
              </a:lnSpc>
            </a:pPr>
            <a:r>
              <a:rPr lang="zh-TW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法人確認濾網：法人沒在買的，不買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文字方塊 3"/>
          <p:cNvSpPr/>
          <p:nvPr/>
        </p:nvSpPr>
        <p:spPr>
          <a:xfrm>
            <a:off x="9265320" y="5086440"/>
            <a:ext cx="2444760" cy="11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1600" b="0" u="none" strike="noStrike">
              <a:solidFill>
                <a:schemeClr val="dk1"/>
              </a:solidFill>
              <a:effectLst/>
              <a:highlight>
                <a:srgbClr val="FFFF00"/>
              </a:highlight>
              <a:uFillTx/>
              <a:latin typeface="Century Gothic"/>
            </a:endParaRPr>
          </a:p>
        </p:txBody>
      </p:sp>
      <p:graphicFrame>
        <p:nvGraphicFramePr>
          <p:cNvPr id="236" name="表格 2"/>
          <p:cNvGraphicFramePr/>
          <p:nvPr/>
        </p:nvGraphicFramePr>
        <p:xfrm>
          <a:off x="1503360" y="1845360"/>
          <a:ext cx="9390960" cy="3967560"/>
        </p:xfrm>
        <a:graphic>
          <a:graphicData uri="http://schemas.openxmlformats.org/drawingml/2006/table">
            <a:tbl>
              <a:tblPr/>
              <a:tblGrid>
                <a:gridCol w="2666520"/>
                <a:gridCol w="6724800"/>
              </a:tblGrid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核心機制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動能評分不變；</a:t>
                      </a: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entury Gothic"/>
                        </a:rPr>
                        <a:t>近</a:t>
                      </a: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entury Gothic"/>
                        </a:rPr>
                        <a:t>15</a:t>
                      </a: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entury Gothic"/>
                        </a:rPr>
                        <a:t>交易日法人淨買超</a:t>
                      </a: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entury Gothic"/>
                        </a:rPr>
                        <a:t>&gt;0</a:t>
                      </a: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entury Gothic"/>
                        </a:rPr>
                        <a:t>才入選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為什麼有效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濾掉「法人沒在買的純動能股」（散戶推升、反轉風險高）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天數敏感性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10d／15d／21d 皆可（本專案預設 15d，可用 --inst-days 調整）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21000"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選股流程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D1 選股時套用；bot 排程與手動選股共用同一入口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資料來源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TWSE 公開法人買賣超（T86）；自動補抓並寫回 cache/inst_momentum/live/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實盤行為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選股日自動補抓最新法人資料；無資料自動 pass-through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設定參數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r>
                        <a:t>程式預設開啟；--no-inst 可關、--inst-days 預設 15</a:t>
                      </a: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一句話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5480" tIns="15480" rIns="1548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法人籌碼 </a:t>
                      </a: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× </a:t>
                      </a:r>
                      <a:r>
                        <a:rPr lang="zh-TW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價格動能，兩者正交互補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15480" marR="15480" marT="1548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0920" cy="586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Thank you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768360" y="2247840"/>
            <a:ext cx="4442400" cy="23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frank@dinchen.com.tw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7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 pitchFamily="0" charset="1"/>
        <a:ea typeface=""/>
        <a:cs typeface=""/>
      </a:majorFont>
      <a:minorFont>
        <a:latin typeface="Century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1588</TotalTime>
  <Application>LibreOffice/26.2.4.2$Linux_X86_64 LibreOffice_project/620$Build-2</Application>
  <AppVersion>15.0000</AppVersion>
  <Words>3496</Words>
  <Paragraphs>528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2026-07-14T08:04:07Z</dcterms:created>
  <dc:creator>宜軒 謝</dc:creator>
  <dc:description/>
  <dc:language>zh-TW</dc:language>
  <cp:lastModifiedBy/>
  <dcterms:modified xsi:type="dcterms:W3CDTF">2026-08-20T22:08:28Z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0x01010079F111ED35F8CC479449609E8A0923A6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MediaServiceImageTags">
    <vt:lpwstr/>
  </property>
  <property fmtid="{D5CDD505-2E9C-101B-9397-08002B2CF9AE}" pid="11" name="Notes">
    <vt:i4>12</vt:i4>
  </property>
  <property fmtid="{D5CDD505-2E9C-101B-9397-08002B2CF9AE}" pid="12" name="Order">
    <vt:r8>74069400</vt:r8>
  </property>
  <property fmtid="{D5CDD505-2E9C-101B-9397-08002B2CF9AE}" pid="13" name="PresentationFormat">
    <vt:lpwstr>自訂</vt:lpwstr>
  </property>
  <property fmtid="{D5CDD505-2E9C-101B-9397-08002B2CF9AE}" pid="14" name="ScenarioTags">
    <vt:lpwstr/>
  </property>
  <property fmtid="{D5CDD505-2E9C-101B-9397-08002B2CF9AE}" pid="15" name="Slides">
    <vt:i4>39</vt:i4>
  </property>
</Properties>
</file>