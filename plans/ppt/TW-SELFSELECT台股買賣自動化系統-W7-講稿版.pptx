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media/image4.svg" ContentType="image/svg"/>
  <Override PartName="/ppt/media/image6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2" r:id="rId3"/>
  </p:sldMasterIdLst>
  <p:notesMasterIdLst>
    <p:notesMasterId r:id="rId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4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請按這裡移動投影片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請按這裡編輯備註格式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2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349297-7364-4A75-8CA1-BDBE01D129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建議時間：30 秒</a:t>
            </a:r>
          </a:p>
          <a:p>
            <a:r>
              <a:rPr sz="1200"/>
              <a:t>歡迎回來第七堂課。前面六週我們把策略、回測、選股、部署都跑完了；這一週要補的是上線後才長出來的兩個東西：一個新的評分方式 zscore（現在是預設），以及可以選用的 AI 選股模式。</a:t>
            </a:r>
          </a:p>
          <a:p>
            <a:r>
              <a:rPr sz="1200"/>
              <a:t>這一集不講理念，只講三件事：它怎麼算、參數在哪、怎麼用，以及我們測出來的結果跟代價。</a:t>
            </a:r>
          </a:p>
          <a:p>
            <a:r>
              <a:rPr sz="1200" b="1"/>
              <a:t>【講師提示】這一集數字都是 2016-2025、正常組、含成本回測；結尾一定要留時間講「誠實看數據」那兩頁。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建議時間：1 分鐘</a:t>
            </a:r>
          </a:p>
          <a:p>
            <a:r>
              <a:rPr sz="1200"/>
              <a:t>先給大家一張地圖，四頁之後你就知道整集的骨架。</a:t>
            </a:r>
          </a:p>
          <a:p>
            <a:r>
              <a:rPr sz="1200"/>
              <a:t>第一，新加的 zscore 和 AI 選股是什麼、回測結果如何。第二，zscore 有哪些重要參數可以調。第三，AI 選股實際上怎麼操作。第四，還有哪些明顯的改進空間——這一段我會直接說我們還不夠好的地方。</a:t>
            </a:r>
          </a:p>
          <a:p>
            <a:r>
              <a:rPr sz="1200"/>
              <a:t>最後那句總結請大家記住：換了評分、多了 AI 選項，但兩者都還沒站穩。從 2026-10-30 起我們才開始真正的實測，之後會持續改進；所有最新數字、參數與更新都在 Git 專案上，講義拿到的是當天版本。</a:t>
            </a:r>
          </a:p>
          <a:p>
            <a:r>
              <a:rPr sz="1200" b="1"/>
              <a:t>【講師提示】課程結束後把 Git 專案網址留給學員；提醒他們數字會更新，回測結論以 repo 內文件為準。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分鐘</a:t>
            </a:r>
          </a:p>
          <a:p>
            <a:r>
              <a:rPr sz="1200"/>
              <a:t>v1.0 用的評分叫 legacy，是「動能＋技術面＋穩定度＋催化劑」的綜合分。實測有兩個問題：第一，它跟大盤比是明顯落後的（+61.4% vs 0050 的 +477.6%）。第二，它的分數不可解釋——你看不出為什麼 A 比 B 高分。</a:t>
            </a:r>
          </a:p>
          <a:p>
            <a:r>
              <a:rPr sz="1200"/>
              <a:t>第三個問題跟選股無關，是資料：宇宙裡沒有已下市個股、PER 快取只蓋四成、月營收只蓋一半。資料不修，換什麼評分都是在假的資料上調參數。所以 v1.1 是「先修資料，再換評分」。</a:t>
            </a:r>
          </a:p>
          <a:p>
            <a:r>
              <a:rPr sz="1200" b="1"/>
              <a:t>【講師提示】這一頁是動機頁，不要花超過兩分鐘；重點是讓學員接受「先修資料」的順序。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 30 秒</a:t>
            </a:r>
          </a:p>
          <a:p>
            <a:r>
              <a:rPr sz="1200"/>
              <a:t>zscore 的做法很樸素：同一批候選股裡，把每個因子換算成「相對強弱」（z 分數），再加權排序。</a:t>
            </a:r>
          </a:p>
          <a:p>
            <a:r>
              <a:rPr sz="1200"/>
              <a:t>四個因子：63 日動能（權重 0.40）、20 日動能（0.25）、距離 52 週高還有多遠（0.20）、本益比（0.15，而且是扣分——越貴越低分）。開營收因子時，把 63 日動能降到 0.25，多一個月營收年增率 0.15。</a:t>
            </a:r>
          </a:p>
          <a:p>
            <a:r>
              <a:rPr sz="1200"/>
              <a:t>白話：它同時看「最近有沒有在漲」「有沒有接近一年高點」「貴不貴」，最後一個是「基本面有沒有變好」。</a:t>
            </a:r>
          </a:p>
          <a:p>
            <a:r>
              <a:rPr sz="1200" b="1"/>
              <a:t>【講師提示】公式一定要配白話講；學員最容易卡在「z 分數是什麼」，用「同一班同學的排名」比喻最快。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分鐘</a:t>
            </a:r>
          </a:p>
          <a:p>
            <a:r>
              <a:rPr sz="1200"/>
              <a:t>zscore 有一個很多人會忽略的前置條件：本益比必須大於 0 且不超過 40，沒有 PER 的股票直接不列入。</a:t>
            </a:r>
          </a:p>
          <a:p>
            <a:r>
              <a:rPr sz="1200"/>
              <a:t>這條規則本身合理——虧錢的公司 PER 是負的、太貴的不想追。但它有一個副作用：如果 PER 資料本身不完整，等於「先偷偷刪掉一批候選股」。我們就是這樣踩到的：PER 快取當時只有 267 檔，宇宙有 672 檔，等於六成候選股在評分前就不見了。</a:t>
            </a:r>
          </a:p>
          <a:p>
            <a:r>
              <a:rPr sz="1200"/>
              <a:t>所以 v1.1 把 PER 補到 672 檔。這件事對回測結果的影響，比任何參數調整都大。</a:t>
            </a:r>
          </a:p>
          <a:p>
            <a:r>
              <a:rPr sz="1200" b="1"/>
              <a:t>【講師提示】這頁是「資料正確性」的核心案例，建議花時間講清楚：門檻本身沒錯，錯的是資料覆蓋率。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建議時間：3 分鐘</a:t>
            </a:r>
          </a:p>
          <a:p>
            <a:r>
              <a:rPr sz="1200"/>
              <a:t>這頁是操作頁，學員會截圖。分三類：</a:t>
            </a:r>
          </a:p>
          <a:p>
            <a:r>
              <a:rPr sz="1200"/>
              <a:t>第一類「評分本身」：SCORING_MODEL 決定用 zscore 還是 legacy；權重寫在 core/scoring.py，改了要一起改測試跟文件；PER_MAX 是資格門檻 40。</a:t>
            </a:r>
          </a:p>
          <a:p>
            <a:r>
              <a:rPr sz="1200"/>
              <a:t>第二類「選股口徑」：SELFSELECT_PRESET 是總開關（current／revenue／aggressive），它會一次設定池大小、營收因子、產業上限；SELFSELECT_POOL_N 是池大小、SELFSELECT_FACTOR_REVENUE 與 SELFSELECT_MAX_PER_SECTOR 可以個別覆寫——記住規則：SELFSELECT_ 前綴的明示值優先於 preset。</a:t>
            </a:r>
          </a:p>
          <a:p>
            <a:r>
              <a:rPr sz="1200"/>
              <a:t>第三類「換股節奏與補位」：TOP_N、REBAL_MONTHS、FILL_MODE。</a:t>
            </a:r>
          </a:p>
          <a:p>
            <a:r>
              <a:rPr sz="1200" b="1"/>
              <a:t>【講師提示】提醒學員：沒有 SELFSELECT_ 前綴的 POOL_N／FACTOR_REVENUE 是「回測旋鈕」，實盤不會讀。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分鐘</a:t>
            </a:r>
          </a:p>
          <a:p>
            <a:r>
              <a:rPr sz="1200"/>
              <a:t>我們的實驗方式是「一次只動一個維度」，而且是同一段資料、同一批成本假設。</a:t>
            </a:r>
          </a:p>
          <a:p>
            <a:r>
              <a:rPr sz="1200"/>
              <a:t>這張表是三個維度的掃描：池大小 20/50/100/150、營收因子開或關、產業上限兩個。總共十六組。為什麼不用大網格一次掃到底？因為組合越多，你越容易挑到剛好漂亮的那一組——那不是策略變好，是過度擬合。</a:t>
            </a:r>
          </a:p>
          <a:p>
            <a:r>
              <a:rPr sz="1200"/>
              <a:t>右邊那條紅線是提醒：比較參數之前，先把資料補滿並記下快照，不然你會把「資料補齊」誤讀成「策略變好」。</a:t>
            </a:r>
          </a:p>
          <a:p>
            <a:r>
              <a:rPr sz="1200" b="1"/>
              <a:t>【講師提示】如果學員問「為什麼不做更細的網格」，就用過度擬合回答，並指向後面「誠實看數據」那頁。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分鐘</a:t>
            </a:r>
          </a:p>
          <a:p>
            <a:r>
              <a:rPr sz="1200"/>
              <a:t>先看最直接的對照：同樣的程式、同樣的池、同樣的成本，只換評分器。</a:t>
            </a:r>
          </a:p>
          <a:p>
            <a:r>
              <a:rPr sz="1200"/>
              <a:t>legacy 閒置資金是 +61.4%，zscore 是 +129.4%，一倍多。若把閒置資金停泊 0050，legacy +207.9%、zscore +762.4%——差距被放大了，因為停泊讓資金全程都在市場裡。</a:t>
            </a:r>
          </a:p>
          <a:p>
            <a:r>
              <a:rPr sz="1200"/>
              <a:t>所以「AI 那套公式比較好」這句話，有一半其實是「評分方式」的功勞，不是模型的神秘能力。這也是我們把它做成可選項、而且直接設成預設的原因。</a:t>
            </a:r>
          </a:p>
          <a:p>
            <a:r>
              <a:rPr sz="1200" b="1"/>
              <a:t>【講師提示】這一頁只需要學員記住兩個數字：+207.9% → +762.4%（停泊口徑）。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 30 秒</a:t>
            </a:r>
          </a:p>
          <a:p>
            <a:r>
              <a:rPr sz="1200"/>
              <a:t>v1.1 把選股口徑做成三個選項，預設是中間那個 revenue。</a:t>
            </a:r>
          </a:p>
          <a:p>
            <a:r>
              <a:rPr sz="1200"/>
              <a:t>current 是舊行為，報酬 +411.1%，還是輸 0050。revenue 是預設：池 100 加營收因子，總報酬 +762.4% 首次超過 0050，但回撤 −53.7% 是三個裡最深的，夏普 0.95 還是低於 1.06。aggressive 是池 150 加營收加產業上限，報酬 +1323.6%、回撤 −40.2%、夏普 1.15——夏普首次超過 0050。</a:t>
            </a:r>
          </a:p>
          <a:p>
            <a:r>
              <a:rPr sz="1200"/>
              <a:t>看起來 aggressive 最好，但它是在同一段歷史上十六組裡事後挑出來的，沒有做 walk-forward。所以我們不把它設成預設，只提供開關。</a:t>
            </a:r>
          </a:p>
          <a:p>
            <a:r>
              <a:rPr sz="1200" b="1"/>
              <a:t>【講師提示】務必強調「報酬贏 ≠ 策略贏」：回撤 −40~−54% 都大於 0050 的 −34%。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 30 秒</a:t>
            </a:r>
          </a:p>
          <a:p>
            <a:r>
              <a:rPr sz="1200"/>
              <a:t>這張表請看兩件事。</a:t>
            </a:r>
          </a:p>
          <a:p>
            <a:r>
              <a:rPr sz="1200"/>
              <a:t>第一，橫著看營收因子：池 50 從 +291.1% 變 +441.7%、池 100 從 +411.1% 變 +762.4%、池 150 從 +541.7% 變 +940.9%。也就是說，唯一能穩定把報酬推上去的是營收因子。</a:t>
            </a:r>
          </a:p>
          <a:p>
            <a:r>
              <a:rPr sz="1200"/>
              <a:t>第二，直著看池大小：不開營收因子時，池 50 甚至比池 20 差。所以「池越大越好」是錯的，池變大只是增加可選標的，必須同時換評分方式才有用。這也是為什麼 preset 是「池＋因子」綁在一起。</a:t>
            </a:r>
          </a:p>
          <a:p>
            <a:r>
              <a:rPr sz="1200" b="1"/>
              <a:t>【講師提示】池 20 幾乎沒差（+395.1% → +407.1%），因為池 20 的股票本來就有營收快取；這點可以順帶說明資料覆蓋率的影響。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建議時間：3 分鐘</a:t>
            </a:r>
          </a:p>
          <a:p>
            <a:r>
              <a:rPr sz="1200"/>
              <a:t>這一頁請大家務必看完，因為它決定你要不要真的用預設。</a:t>
            </a:r>
          </a:p>
          <a:p>
            <a:r>
              <a:rPr sz="1200"/>
              <a:t>第一，回撤：預設 revenue 是 −53.7%，0050 是 −34.0%。夏普 0.95 還低於 1.06。也就是「用更大的回撤換更高的報酬」，不是穩健超額報酬。</a:t>
            </a:r>
          </a:p>
          <a:p>
            <a:r>
              <a:rPr sz="1200"/>
              <a:t>第二，這是樣本內結果：aggressive 是十六組裡事後挑出來的最好一組，沒有做非重疊窗口或 walk-forward，實盤很可能拿不到一樣的數字。</a:t>
            </a:r>
          </a:p>
          <a:p>
            <a:r>
              <a:rPr sz="1200"/>
              <a:t>第三，結果對資料覆蓋率極度敏感：月營收快取從 515 檔補到 645 檔，同一格就從 +1070.5% 變 +1323.6%，差 253 個百分點。所以我們現在講數字，一定連資料快照一起講。</a:t>
            </a:r>
          </a:p>
          <a:p>
            <a:r>
              <a:rPr sz="1200" b="1"/>
              <a:t>【講師提示】這頁是整集最重要的道德頁：寧可講難聽，也不要讓學員以為撿到聖杯。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 30 秒</a:t>
            </a:r>
          </a:p>
          <a:p>
            <a:r>
              <a:rPr sz="1200"/>
              <a:t>很多人聽到 AI 選股，想像的是把股票清單丟給 ChatGPT。我們的做法剛好相反：先把資料整理成「只能看到當天之前資訊」的封包，再讓模型在封包裡挑，最後把它的答案連同引用的證據一起存檔。</a:t>
            </a:r>
          </a:p>
          <a:p>
            <a:r>
              <a:rPr sz="1200"/>
              <a:t>封包裡有：價格動能、距 52 週高、PER、月營收年增率、（可選）法人與新聞，但新聞有截止時間。模型必須用我們給的編號引用它看過的資料，不能自己發明新股票代號——不符合就直接判為不合法。</a:t>
            </a:r>
          </a:p>
          <a:p>
            <a:r>
              <a:rPr sz="1200"/>
              <a:t>每一份封包、提示詞、回應、稽核檔都留 sha256，所以三個月後你還能回答「當初它為什麼挑這五檔」。</a:t>
            </a:r>
          </a:p>
          <a:p>
            <a:r>
              <a:rPr sz="1200" b="1"/>
              <a:t>【講師提示】這一頁建立信任感：AI 選股的重點不是模型多聰明，而是可稽核、不可事後修改。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 30 秒</a:t>
            </a:r>
          </a:p>
          <a:p>
            <a:r>
              <a:rPr sz="1200"/>
              <a:t>這是真實的翻車。第一版封包的 as_of 是「當月第一個交易日的收盤」，而引擎真正選股用的是「前一個交易日收盤」——等於模型比程式多看到了當天的價格，而那天的價格正好是它的進場價。</a:t>
            </a:r>
          </a:p>
          <a:p>
            <a:r>
              <a:rPr sz="1200"/>
              <a:t>結果就是漂亮的假數字：AI 停泊口徑 +651.7%。修正後重跑 117 份封包，變成 +349.4%，跟程式同一口徑比才公平。</a:t>
            </a:r>
          </a:p>
          <a:p>
            <a:r>
              <a:rPr sz="1200"/>
              <a:t>所以現在的規則是：封包 as_of 一律等於引擎的 sel_date（前一個交易日）；新聞截止 13:30；月營收用公告時間或次月 10 日保守估。這三條都寫進測試了。</a:t>
            </a:r>
          </a:p>
          <a:p>
            <a:r>
              <a:rPr sz="1200" b="1"/>
              <a:t>【講師提示】這頁可以用來教「回測偏誤怎麼發生的」，比抽象講解有效得多。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建議時間：3 分鐘</a:t>
            </a:r>
          </a:p>
          <a:p>
            <a:r>
              <a:rPr sz="1200"/>
              <a:t>先定義名詞，不然後面會聽不懂。**D1＝每個月的「選股第一日」，也就是該月第 1 個交易日**；盤後 13:36 起系統會跑選股、改寫 .env 的持股名單。**D2＝第 2 個交易日**，13:25–13:30 依訊號換股進場。所以 D1 是「決定買什麼」的那天，D2 是「真的買」的那天。</a:t>
            </a:r>
          </a:p>
          <a:p>
            <a:r>
              <a:rPr sz="1200"/>
              <a:t>實作流程五步。</a:t>
            </a:r>
          </a:p>
          <a:p>
            <a:r>
              <a:rPr sz="1200"/>
              <a:t>第一步，.env 設 SELFSELECT_AI=1，期限預設 13:50。第二步，D1 你跑 scripts/ai_pick_dsh.py --emit prompt，它會依當天資料產生封包與提示詞。第三步，把提示詞貼給任何一個 LLM（在 DSH 裡切模型也可以），拿到 JSON。</a:t>
            </a:r>
          </a:p>
          <a:p>
            <a:r>
              <a:rPr sz="1200"/>
              <a:t>第四步，用 --picks-file 把名單交回程式，它會驗證格式與代號，然後寫進 .env 的 PC_ 名單，同時在 logs/selfselect_auto.json 記下 ai_applied=YYYY-MM。第五步，什麼都不做也行：期限前沒完成，系統就自動退回規則選股，而且不會反過來覆蓋你已套用的名單。</a:t>
            </a:r>
          </a:p>
          <a:p>
            <a:r>
              <a:rPr sz="1200" b="1"/>
              <a:t>【講師提示】現場示範一次 --emit prompt 的輸出最有效；提醒學員不要把 AI 名單直接手改 .env，要用 --picks-file 走驗證。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建議時間：3 分鐘</a:t>
            </a:r>
          </a:p>
          <a:p>
            <a:r>
              <a:rPr sz="1200"/>
              <a:t>我們做了兩種比較。第一種是「LLM 親自判斷 vs 公式」：2024 年 12 個選股日，用同一批封包讓 LLM 挑，結果與 z 分數公式幾乎打平，配對檢定全部不顯著。</a:t>
            </a:r>
          </a:p>
          <a:p>
            <a:r>
              <a:rPr sz="1200"/>
              <a:t>第二種是「AI 名單 vs 程式選股」的整段回測：AI 名單停泊口徑 +348.2%，程式（zscore）是 +762.4%——以目前版本，程式反而比較好。</a:t>
            </a:r>
          </a:p>
          <a:p>
            <a:r>
              <a:rPr sz="1200"/>
              <a:t>要特別說清楚：AI 名單是用舊宇宙的封包產生的（少了 62 檔下市股、也沒有營收因子），所以這個比較對 AI 稍微不利；要嚴格比，得重跑 117 份封包。誠實的結論是：目前沒有證據支持「讓 AI 挑」比公式好，但也還沒證明它比較差。</a:t>
            </a:r>
          </a:p>
          <a:p>
            <a:r>
              <a:rPr sz="1200" b="1"/>
              <a:t>【講師提示】不要替 AI 加油也不要唱衰；把「樣本 12 天、全部不顯著」講清楚就是最好的教學。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建議時間：3 分鐘</a:t>
            </a:r>
          </a:p>
          <a:p>
            <a:r>
              <a:rPr sz="1200"/>
              <a:t>最後一段講改進。我按「改一個能拿到多少」排序，前三項是我們認為最該先做的。</a:t>
            </a:r>
          </a:p>
          <a:p>
            <a:r>
              <a:rPr sz="1200"/>
              <a:t>第一，驗證強度：現在所有超過 0050 的結果都來自同一段 2016-2025，而且是在十六組裡挑出來的。要做非重疊窗口加 walk-forward，否則不知道是真本事還是運氣。</a:t>
            </a:r>
          </a:p>
          <a:p>
            <a:r>
              <a:rPr sz="1200"/>
              <a:t>第二，實盤與回測吃同一組因子：我們已經把 preset 做進實盤，但實盤還沒有產業上限的實測驗證。第三，資料：上櫃下市股沒納入、法人只有 41 個交易日、新聞預設關閉、成本沒算滑價。</a:t>
            </a:r>
          </a:p>
          <a:p>
            <a:r>
              <a:rPr sz="1200"/>
              <a:t>最後一項是因子本身：目前只有動能、評價、營收，缺品質（ROE）、低波動、法人籌碼。但每加一個因子就要做一次 A/B，不然就是過度擬合。</a:t>
            </a:r>
          </a:p>
          <a:p>
            <a:r>
              <a:rPr sz="1200" b="1"/>
              <a:t>【講師提示】這頁可以當作業：請學員挑一項，用同一段資料做一次 A/B，下次上課報告。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建議時間：1 分 30 秒</a:t>
            </a:r>
          </a:p>
          <a:p>
            <a:r>
              <a:rPr sz="1200"/>
              <a:t>這一頁是專案紀律，跟策略無關但很重要。</a:t>
            </a:r>
          </a:p>
          <a:p>
            <a:r>
              <a:rPr sz="1200"/>
              <a:t>第一，只要程式有修改，版號就要加一：1.1.0、1.1.1、1.1.2、1.1.3。純文件修改不動版號；大升版由我決定時再跳。</a:t>
            </a:r>
          </a:p>
          <a:p>
            <a:r>
              <a:rPr sz="1200"/>
              <a:t>第二，部署由你自己手動跑 ./deploy_source.sh，任何自動化流程都不代跑。換版後看啟動 banner 的版號與原始碼指紋就知道跑的是哪一版。</a:t>
            </a:r>
          </a:p>
          <a:p>
            <a:r>
              <a:rPr sz="1200"/>
              <a:t>第三，儀表板發佈走 gh-pages 分支，main 只由人推——不然機器人每天推 commit，你本機 push 就會被拒（我們真的遇過）。</a:t>
            </a:r>
          </a:p>
          <a:p>
            <a:r>
              <a:rPr sz="1200" b="1"/>
              <a:t>【講師提示】這頁可以縮短；若時間不夠，只講「改程式就加版號、部署自己跑、main 只由人推」三句。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sz="1200" b="1"/>
              <a:t>⏱ 建議時間：2 分鐘</a:t>
            </a:r>
          </a:p>
          <a:p>
            <a:r>
              <a:rPr sz="1200"/>
              <a:t>收尾。三個數字：預設口徑 +762.4%（0050 +477.6%）、回撤 −53.7%（0050 −34%）、夏普 0.95（0050 1.06）。兩個動作：一是想回舊行為設 SELFSELECT_PRESET=current，二是想試 AI 選股設 SELFSELECT_AI=1 然後按五步流程跑一次。一個提醒：這仍是樣本內結果，還沒有 walk-forward，先小額或紙上跑一段再說。</a:t>
            </a:r>
          </a:p>
          <a:p>
            <a:r>
              <a:rPr sz="1200"/>
              <a:t>作業：挑一個改進項目做一次 A/B（例如把產業上限接進實盤），下次上課報告你的數字與口徑。</a:t>
            </a:r>
          </a:p>
          <a:p>
            <a:r>
              <a:rPr sz="1200"/>
              <a:t>另外要說清楚這門課的節奏：從 2026-10-30 起才開始真正的實測與持續改進，所以講義上的數字是「當天版本」，之後每一次程式修改都會升版號並更新到 Git 專案。要看最新版、最新回測與最新的改進清單，一律以 Git 專案為準。</a:t>
            </a:r>
          </a:p>
          <a:p>
            <a:r>
              <a:rPr sz="1200" b="1"/>
              <a:t>【講師提示】最後留 30 秒問答；把 Git 專案網址、README 的「改進空間」與 cairn/LOG 一起指給學員當延伸閱讀。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4"/>
          <p:cNvSpPr/>
          <p:nvPr/>
        </p:nvSpPr>
        <p:spPr>
          <a:xfrm>
            <a:off x="9958320" y="0"/>
            <a:ext cx="2229480" cy="1980000"/>
          </a:xfrm>
          <a:custGeom>
            <a:avLst/>
            <a:gdLst>
              <a:gd name="textAreaLeft" fmla="*/ 0 w 2229480"/>
              <a:gd name="textAreaRight" fmla="*/ 2230560 w 2229480"/>
              <a:gd name="textAreaTop" fmla="*/ 0 h 1980000"/>
              <a:gd name="textAreaBottom" fmla="*/ 1981080 h 1980000"/>
              <a:gd name="GluePoint1X" fmla="*/ 0 w 2230666"/>
              <a:gd name="GluePoint1Y" fmla="*/ 0 h 1981200"/>
              <a:gd name="GluePoint2X" fmla="*/ 2230666 w 2230666"/>
              <a:gd name="GluePoint2Y" fmla="*/ 0 h 1981200"/>
              <a:gd name="GluePoint3X" fmla="*/ 2230666 w 2230666"/>
              <a:gd name="GluePoint3Y" fmla="*/ 1981200 h 1981200"/>
              <a:gd name="GluePoint4X" fmla="*/ 2029222 w 2230666"/>
              <a:gd name="GluePoint4Y" fmla="*/ 1972296 h 1981200"/>
              <a:gd name="GluePoint5X" fmla="*/ 28437 w 2230666"/>
              <a:gd name="GluePoint5Y" fmla="*/ 186331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Cross 2"/>
          <p:cNvSpPr/>
          <p:nvPr/>
        </p:nvSpPr>
        <p:spPr>
          <a:xfrm>
            <a:off x="7846920" y="3808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Cross 4"/>
          <p:cNvSpPr/>
          <p:nvPr/>
        </p:nvSpPr>
        <p:spPr>
          <a:xfrm>
            <a:off x="8559720" y="10666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C163975F-7C96-4719-8E52-AA7EFEDB4AEE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2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3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1293840" y="2286000"/>
            <a:ext cx="4910760" cy="42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body"/>
          </p:nvPr>
        </p:nvSpPr>
        <p:spPr>
          <a:xfrm>
            <a:off x="6516720" y="2286000"/>
            <a:ext cx="4910760" cy="42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8"/>
          <p:cNvSpPr/>
          <p:nvPr/>
        </p:nvSpPr>
        <p:spPr>
          <a:xfrm>
            <a:off x="2131920" y="0"/>
            <a:ext cx="7923600" cy="6856920"/>
          </a:xfrm>
          <a:custGeom>
            <a:avLst/>
            <a:gdLst>
              <a:gd name="textAreaLeft" fmla="*/ 0 w 7923600"/>
              <a:gd name="textAreaRight" fmla="*/ 7924680 w 7923600"/>
              <a:gd name="textAreaTop" fmla="*/ 0 h 6856920"/>
              <a:gd name="textAreaBottom" fmla="*/ 6858000 h 6856920"/>
              <a:gd name="GluePoint1X" fmla="*/ 1982890 w 7924800"/>
              <a:gd name="GluePoint1Y" fmla="*/ 0 h 6858000"/>
              <a:gd name="GluePoint2X" fmla="*/ 5941911 w 7924800"/>
              <a:gd name="GluePoint2Y" fmla="*/ 0 h 6858000"/>
              <a:gd name="GluePoint3X" fmla="*/ 6177816 w 7924800"/>
              <a:gd name="GluePoint3Y" fmla="*/ 143316 h 6858000"/>
              <a:gd name="GluePoint4X" fmla="*/ 7924800 w 7924800"/>
              <a:gd name="GluePoint4Y" fmla="*/ 3429000 h 6858000"/>
              <a:gd name="GluePoint5X" fmla="*/ 6017049 w 7924800"/>
              <a:gd name="GluePoint5Y" fmla="*/ 6817750 h 6858000"/>
              <a:gd name="GluePoint6X" fmla="*/ 5947047 w 7924800"/>
              <a:gd name="GluePoint6Y" fmla="*/ 6858000 h 6858000"/>
              <a:gd name="GluePoint7X" fmla="*/ 1977753 w 7924800"/>
              <a:gd name="GluePoint7Y" fmla="*/ 6858000 h 6858000"/>
              <a:gd name="GluePoint8X" fmla="*/ 1907752 w 7924800"/>
              <a:gd name="GluePoint8Y" fmla="*/ 6817750 h 6858000"/>
              <a:gd name="GluePoint9X" fmla="*/ 0 w 7924800"/>
              <a:gd name="GluePoint9Y" fmla="*/ 3429000 h 6858000"/>
              <a:gd name="GluePoint10X" fmla="*/ 1746985 w 7924800"/>
              <a:gd name="GluePoint10Y" fmla="*/ 143316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3" name="Left Brace 7"/>
          <p:cNvSpPr/>
          <p:nvPr/>
        </p:nvSpPr>
        <p:spPr>
          <a:xfrm>
            <a:off x="5560920" y="2022120"/>
            <a:ext cx="837000" cy="281304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0920" cy="586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768360" y="2247840"/>
            <a:ext cx="4442400" cy="23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7" name="Freeform: Shape 12"/>
          <p:cNvSpPr/>
          <p:nvPr/>
        </p:nvSpPr>
        <p:spPr>
          <a:xfrm>
            <a:off x="0" y="1440"/>
            <a:ext cx="3427200" cy="6855480"/>
          </a:xfrm>
          <a:custGeom>
            <a:avLst/>
            <a:gdLst>
              <a:gd name="textAreaLeft" fmla="*/ 0 w 3427200"/>
              <a:gd name="textAreaRight" fmla="*/ 3428280 w 3427200"/>
              <a:gd name="textAreaTop" fmla="*/ 0 h 6855480"/>
              <a:gd name="textAreaBottom" fmla="*/ 6856560 h 6855480"/>
              <a:gd name="GluePoint1X" fmla="*/ 1 w 3428208"/>
              <a:gd name="GluePoint1Y" fmla="*/ 0 h 6856414"/>
              <a:gd name="GluePoint2X" fmla="*/ 3428208 w 3428208"/>
              <a:gd name="GluePoint2Y" fmla="*/ 3428207 h 6856414"/>
              <a:gd name="GluePoint3X" fmla="*/ 1 w 3428208"/>
              <a:gd name="GluePoint3Y" fmla="*/ 6856414 h 6856414"/>
              <a:gd name="GluePoint4X" fmla="*/ 0 w 3428208"/>
              <a:gd name="GluePoint4Y" fmla="*/ 6856414 h 6856414"/>
              <a:gd name="GluePoint5X" fmla="*/ 0 w 3428208"/>
              <a:gd name="GluePoint5Y" fmla="*/ 0 h 68564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88920" y="723960"/>
            <a:ext cx="4113720" cy="529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932520" y="1981080"/>
            <a:ext cx="4113720" cy="285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0" name="Cross 13"/>
          <p:cNvSpPr/>
          <p:nvPr/>
        </p:nvSpPr>
        <p:spPr>
          <a:xfrm>
            <a:off x="4837680" y="91440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1" name="Cross 14"/>
          <p:cNvSpPr/>
          <p:nvPr/>
        </p:nvSpPr>
        <p:spPr>
          <a:xfrm>
            <a:off x="3085200" y="569592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2" name="Left Brace 1"/>
          <p:cNvSpPr/>
          <p:nvPr/>
        </p:nvSpPr>
        <p:spPr>
          <a:xfrm>
            <a:off x="5560920" y="2022120"/>
            <a:ext cx="837000" cy="281304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ing with Phone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6"/>
          <p:cNvSpPr/>
          <p:nvPr/>
        </p:nvSpPr>
        <p:spPr>
          <a:xfrm>
            <a:off x="6703920" y="1148400"/>
            <a:ext cx="4560120" cy="456012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24" name="Graphic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432200" y="598320"/>
            <a:ext cx="3095280" cy="566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Cross 8"/>
          <p:cNvSpPr/>
          <p:nvPr/>
        </p:nvSpPr>
        <p:spPr>
          <a:xfrm>
            <a:off x="10818720" y="535320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6" name="Cross 10"/>
          <p:cNvSpPr/>
          <p:nvPr/>
        </p:nvSpPr>
        <p:spPr>
          <a:xfrm>
            <a:off x="6336000" y="8056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6371640" cy="403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8040" y="4876920"/>
            <a:ext cx="6371640" cy="110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7765200" y="883440"/>
            <a:ext cx="2437920" cy="50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+ Subtitle 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4"/>
          <p:cNvSpPr/>
          <p:nvPr/>
        </p:nvSpPr>
        <p:spPr>
          <a:xfrm>
            <a:off x="3274920" y="609480"/>
            <a:ext cx="5637600" cy="563760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Left Brace 7"/>
          <p:cNvSpPr/>
          <p:nvPr/>
        </p:nvSpPr>
        <p:spPr>
          <a:xfrm>
            <a:off x="5560920" y="2022120"/>
            <a:ext cx="837000" cy="281304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0920" cy="586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768360" y="2022120"/>
            <a:ext cx="4442400" cy="281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lvl="1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標題及內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5" name="Cross 8"/>
          <p:cNvSpPr/>
          <p:nvPr/>
        </p:nvSpPr>
        <p:spPr>
          <a:xfrm>
            <a:off x="8151840" y="567072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4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998C165B-F14A-4164-8DBF-2E37765055E2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5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6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0920" cy="42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1" name="Cross 14"/>
          <p:cNvSpPr/>
          <p:nvPr/>
        </p:nvSpPr>
        <p:spPr>
          <a:xfrm>
            <a:off x="7351560" y="441972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2" name="Freeform: Shape 4"/>
          <p:cNvSpPr/>
          <p:nvPr/>
        </p:nvSpPr>
        <p:spPr>
          <a:xfrm>
            <a:off x="8609040" y="-21960"/>
            <a:ext cx="3578760" cy="6900840"/>
          </a:xfrm>
          <a:custGeom>
            <a:avLst/>
            <a:gdLst>
              <a:gd name="textAreaLeft" fmla="*/ 0 w 3578760"/>
              <a:gd name="textAreaRight" fmla="*/ 3579840 w 3578760"/>
              <a:gd name="textAreaTop" fmla="*/ 0 h 6900840"/>
              <a:gd name="textAreaBottom" fmla="*/ 6901920 h 6900840"/>
              <a:gd name="GluePoint1X" fmla="*/ 3450999 w 3579812"/>
              <a:gd name="GluePoint1Y" fmla="*/ 0 h 6901998"/>
              <a:gd name="GluePoint2X" fmla="*/ 3579812 w 3579812"/>
              <a:gd name="GluePoint2Y" fmla="*/ 3257 h 6901998"/>
              <a:gd name="GluePoint3X" fmla="*/ 3579812 w 3579812"/>
              <a:gd name="GluePoint3Y" fmla="*/ 6898741 h 6901998"/>
              <a:gd name="GluePoint4X" fmla="*/ 3450999 w 3579812"/>
              <a:gd name="GluePoint4Y" fmla="*/ 6901998 h 6901998"/>
              <a:gd name="GluePoint5X" fmla="*/ 0 w 3579812"/>
              <a:gd name="GluePoint5Y" fmla="*/ 3450999 h 6901998"/>
              <a:gd name="GluePoint6X" fmla="*/ 3450999 w 3579812"/>
              <a:gd name="GluePoint6Y" fmla="*/ 0 h 69019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with Computer Monit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"/>
          <p:cNvSpPr/>
          <p:nvPr/>
        </p:nvSpPr>
        <p:spPr>
          <a:xfrm>
            <a:off x="6703920" y="838080"/>
            <a:ext cx="5028120" cy="502812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4" name="Rectangle 7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45" name="Graphic 14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742080" y="1752480"/>
            <a:ext cx="4950000" cy="38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7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893CF28D-EE98-467D-BE5F-ADEDAA1078DD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8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9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body"/>
          </p:nvPr>
        </p:nvSpPr>
        <p:spPr>
          <a:xfrm>
            <a:off x="7045920" y="2057400"/>
            <a:ext cx="4342320" cy="268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5686200" cy="528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Cross 2"/>
          <p:cNvSpPr/>
          <p:nvPr/>
        </p:nvSpPr>
        <p:spPr>
          <a:xfrm>
            <a:off x="7130160" y="3969360"/>
            <a:ext cx="639720" cy="639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54" name="Graphic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42412" b="0"/>
          <a:stretch/>
        </p:blipFill>
        <p:spPr>
          <a:xfrm>
            <a:off x="7134840" y="533520"/>
            <a:ext cx="5052960" cy="55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Cross 5"/>
          <p:cNvSpPr/>
          <p:nvPr/>
        </p:nvSpPr>
        <p:spPr>
          <a:xfrm>
            <a:off x="6368040" y="2407320"/>
            <a:ext cx="639720" cy="639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119800" y="990720"/>
            <a:ext cx="4068000" cy="438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with Acc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val 4"/>
          <p:cNvSpPr/>
          <p:nvPr/>
        </p:nvSpPr>
        <p:spPr>
          <a:xfrm>
            <a:off x="6361200" y="1317240"/>
            <a:ext cx="5028120" cy="502812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8" name="Rectangle 7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10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64D1829E-D80B-4503-807A-67164BDE4FDF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11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12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880200" lvl="2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63080" lvl="3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245960" lvl="4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6164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and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7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3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D35B647D-4F2C-40EB-AD9F-E007CA103D09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14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15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31560" lvl="1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57680" cy="39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" descr="A white circles on a black background&#10;&#10;Description automatically generated"/>
          <p:cNvPicPr/>
          <p:nvPr/>
        </p:nvPicPr>
        <p:blipFill>
          <a:blip r:embed="rId2"/>
          <a:srcRect l="0" t="11504" r="4106" b="14442"/>
          <a:stretch/>
        </p:blipFill>
        <p:spPr>
          <a:xfrm>
            <a:off x="3274920" y="0"/>
            <a:ext cx="8912880" cy="68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5920" cy="388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4360" y="5600880"/>
            <a:ext cx="1028592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5" name="Cross 2"/>
          <p:cNvSpPr/>
          <p:nvPr/>
        </p:nvSpPr>
        <p:spPr>
          <a:xfrm>
            <a:off x="10975680" y="49870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6" name="Cross 3"/>
          <p:cNvSpPr/>
          <p:nvPr/>
        </p:nvSpPr>
        <p:spPr>
          <a:xfrm>
            <a:off x="10118880" y="35812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: Shape 9"/>
          <p:cNvSpPr/>
          <p:nvPr/>
        </p:nvSpPr>
        <p:spPr>
          <a:xfrm>
            <a:off x="7026120" y="0"/>
            <a:ext cx="4460400" cy="1980000"/>
          </a:xfrm>
          <a:custGeom>
            <a:avLst/>
            <a:gdLst>
              <a:gd name="textAreaLeft" fmla="*/ 0 w 4460400"/>
              <a:gd name="textAreaRight" fmla="*/ 4461480 w 4460400"/>
              <a:gd name="textAreaTop" fmla="*/ 0 h 1980000"/>
              <a:gd name="textAreaBottom" fmla="*/ 1981080 h 198000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16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A98BF108-0ECB-4802-AC52-315FD7F60FD0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17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18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1293840" y="2743200"/>
            <a:ext cx="10133640" cy="350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: Shape 16"/>
          <p:cNvSpPr/>
          <p:nvPr/>
        </p:nvSpPr>
        <p:spPr>
          <a:xfrm>
            <a:off x="7026120" y="0"/>
            <a:ext cx="4460400" cy="1980000"/>
          </a:xfrm>
          <a:custGeom>
            <a:avLst/>
            <a:gdLst>
              <a:gd name="textAreaLeft" fmla="*/ 0 w 4460400"/>
              <a:gd name="textAreaRight" fmla="*/ 4461480 w 4460400"/>
              <a:gd name="textAreaTop" fmla="*/ 0 h 1980000"/>
              <a:gd name="textAreaBottom" fmla="*/ 1981080 h 198000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5" name="Rectangle 1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Cross 5"/>
          <p:cNvSpPr/>
          <p:nvPr/>
        </p:nvSpPr>
        <p:spPr>
          <a:xfrm>
            <a:off x="6683040" y="139716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Cross 6"/>
          <p:cNvSpPr/>
          <p:nvPr/>
        </p:nvSpPr>
        <p:spPr>
          <a:xfrm>
            <a:off x="11085480" y="56386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19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209ABB7-C1E1-4E62-BCD3-0F2A651EB701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20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21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1293840" y="2438280"/>
            <a:ext cx="491076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6516720" y="2438280"/>
            <a:ext cx="491076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請按這裡編輯題名文字格式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請按這裡編輯大綱文字格式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第二個大綱層次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3291840"/>
          </a:xfrm>
        </p:spPr>
        <p:txBody>
          <a:bodyPr/>
          <a:lstStyle/>
          <a:p>
            <a:r>
              <a:rPr sz="2400" b="1">
                <a:solidFill>
                  <a:srgbClr val="C0392B"/>
                </a:solidFill>
              </a:rPr>
              <a:t>TW-SELFSELECT-W7</a:t>
            </a:r>
          </a:p>
          <a:p>
            <a:r>
              <a:rPr sz="4000" b="1">
                <a:solidFill>
                  <a:srgbClr val="1F242B"/>
                </a:solidFill>
              </a:rPr>
              <a:t>選股進化：zscore（預設）＋ AI 選股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983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B636D"/>
                </a:solidFill>
              </a:rPr>
              <a:t>v1.1.x｜回測結果 · 重要參數 · AI 選股實作 · 可能的改進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這一集要回答的四個問題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15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F242B"/>
                </a:solidFill>
              </a:rPr>
              <a:t>1. zscore（預設）＋ AI 選股 是什麼？回測結果如何？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42B"/>
                </a:solidFill>
              </a:rPr>
              <a:t>2. zscore 有哪些重要參數？哪些該調、哪些不要碰？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42B"/>
                </a:solidFill>
              </a:rPr>
              <a:t>3. AI 選股怎麼用？D1 手動、逾期自動 fallback 的流程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42B"/>
                </a:solidFill>
              </a:rPr>
              <a:t>4. 可能的改進方式：哪幾個缺口最該先補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0392B"/>
                </a:solidFill>
              </a:rPr>
              <a:t>• 一句話總結：預設從 legacy 換成 zscore，並多了「AI 當選股員」這個選項；但兩者都還沒站穩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42B"/>
                </a:solidFill>
              </a:rPr>
              <a:t>• 自 2026-10-30 起開始實測、持續改進；最新更新請上 Git 專案：github.com/dinchentech/tw-selfselect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為什麼要改？v1.0 的三個問題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122"/>
                <a:gridCol w="4702258"/>
                <a:gridCol w="470225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問題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v1.0 的狀況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v1.1 的做法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評分不可解釋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legacy 綜合分：看不出為什麼這檔分數高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zscore：四個因子加權，每一項都能講清楚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報酬落後大盤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legacy·停泊 0050 ＝ +207.9%（0050 +477.6%）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zscore·停泊 0050 ＝ +762.4%（含營收因子）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資料有偏誤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宇宙不含已下市股；PER 267/672、月營收 522/672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補 62 檔下市股、PER 672/672、月營收 645/672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892040"/>
            <a:ext cx="10835640" cy="868680"/>
          </a:xfrm>
          <a:prstGeom prst="rect">
            <a:avLst/>
          </a:prstGeom>
          <a:solidFill>
            <a:srgbClr val="FFF4E5"/>
          </a:solidFill>
          <a:ln>
            <a:solidFill>
              <a:srgbClr val="F0B48A"/>
            </a:solidFill>
          </a:ln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42B"/>
                </a:solidFill>
              </a:rPr>
              <a:t>順序很重要：先修資料（宇宙／PER／營收），再比評分方式。資料沒補齊時，同一組參數換個時間跑，結果就會變。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zscore 是什麼：四個因子、一句話講完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64922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605"/>
                <a:gridCol w="2629768"/>
                <a:gridCol w="1068343"/>
                <a:gridCol w="115052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意思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預設權重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開營收後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z(63 日報酬)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最近三個月的動能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0.25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z(20 日報酬)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最近一個月的動能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z(距 52 週高)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離一年高點多遠（越近越高分）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0.20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z(負 PER)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本益比越低越高分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z(月營收 YoY)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營收年增率（基本面成長）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298448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42B"/>
                </a:solidFill>
              </a:rPr>
              <a:t>• 公式（預設）：0.40·z63 ＋ 0.25·z20 ＋ 0.20·z距高 ＋ 0.15·z(−PER)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42B"/>
                </a:solidFill>
              </a:rPr>
              <a:t>• 開營收因子：0.25·z63 ＋ 0.25·z20 ＋ 0.20·z距高 ＋ 0.15·z(−PER) ＋ 0.15·z(營收YoY)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42B"/>
                </a:solidFill>
              </a:rPr>
              <a:t>• 程式位置：core/scoring.py（回測與實盤共用同一份）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92040"/>
            <a:ext cx="10835640" cy="822960"/>
          </a:xfrm>
          <a:prstGeom prst="rect">
            <a:avLst/>
          </a:prstGeom>
          <a:solidFill>
            <a:srgbClr val="E8F5EC"/>
          </a:solidFill>
          <a:ln>
            <a:solidFill>
              <a:srgbClr val="F0B48A"/>
            </a:solidFill>
          </a:ln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42B"/>
                </a:solidFill>
              </a:rPr>
              <a:t>重點：四個因子都能用一句話解釋，這就是 zscore 相對 legacy 最大的價值——可解釋、可稽核、可重跑。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先過門檻才評分：0 &lt; PER ≤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858"/>
                <a:gridCol w="5693302"/>
                <a:gridCol w="293847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情境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會發生什麼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怎麼查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PER 快取完整（672/672）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資格門檻只剔掉真正不合格的股票（PER &gt; 40 或 ≤ 0）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回測結尾印「完全查不到 PER 0 次」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PER 快取只有 267 檔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六成候選股在評分前被默默剔除，等於用殘缺的池子在選股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回測結尾的 per_miss 次數變大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實盤（v1.1 起）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先讀 cache/stock_per/ 的磁碟快取，缺檔才打 FinMind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選股輸出會印「有 PER N 檔」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526280"/>
            <a:ext cx="10835640" cy="868680"/>
          </a:xfrm>
          <a:prstGeom prst="rect">
            <a:avLst/>
          </a:prstGeom>
          <a:solidFill>
            <a:srgbClr val="FDECEA"/>
          </a:solidFill>
          <a:ln>
            <a:solidFill>
              <a:srgbClr val="F0B48A"/>
            </a:solidFill>
          </a:ln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42B"/>
                </a:solidFill>
              </a:rPr>
              <a:t>記住這條線：任何「資格門檻」都要先確認資料覆蓋率，否則你調的不是策略，是資料缺口。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zscore 有哪些重要參數（速查）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9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306"/>
                <a:gridCol w="1744721"/>
                <a:gridCol w="606061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變數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預設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作用／注意事項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SELFSELECT_SCORING_MODEL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zscore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評分器：zscore／legacy（legacy 只剩對照用途）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WEIGHTS / WEIGHTS_REVENUE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0.40/0.25/0.20/0.15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權重寫在 core/scoring.py；改動要同步測試與文件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PER_MAX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資格門檻；沒有 PER 的股票不列入（見上一頁）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SELFSELECT_PRESET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總開關：current／revenue（池100＋營收）／aggressive（池150＋營收＋產業上限2）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SELFSELECT_POOL_N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候選池大小；優先於 preset 的池，不一致時 picker 會印警告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SELFSELECT_FACTOR_REVENUE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隨 preset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月營收 YoY 是否入分數（明示值優先於 preset）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SELFSELECT_MAX_PER_SECTOR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每產業最多幾檔；只有在池 150 實測有效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SELFSELECT_TOP_N / REBAL_MONTHS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5 / 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持有檔數／每 N 個月換股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SELFSELECT_FILL_MODE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proportional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選不滿 N 檔時：平均分配 or 補滿（補滿要用動能遞補）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42B"/>
                          </a:solidFill>
                        </a:rPr>
                        <a:t>UNIVERSE_DELISTED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42B"/>
                          </a:solidFill>
                        </a:rPr>
                        <a:t>宇宙是否併入 2016-2025 已下市 62 檔（實盤有 45 天新鮮度閘門）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參數怎麼調：一次只動一個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04"/>
                <a:gridCol w="3278008"/>
                <a:gridCol w="591862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維度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掃過的範圍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結論一句話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池大小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20 / 50 / 100 / 150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單獨放大池沒有用（池 50 比池 20 差），要配評分方式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營收因子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關 / 開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各池大小都是正貢獻；池 100 從 +411.1% → +762.4%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產業上限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無 / 2 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只在池 150 有效（+940.9% → +1323.6%），池 20 反而略差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資料快照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月營收 515 → 645 檔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同一格從 +1070.5% → +1323.6%，差 253 個百分點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663440"/>
            <a:ext cx="10835640" cy="822960"/>
          </a:xfrm>
          <a:prstGeom prst="rect">
            <a:avLst/>
          </a:prstGeom>
          <a:solidFill>
            <a:srgbClr val="FFF4E5"/>
          </a:solidFill>
          <a:ln>
            <a:solidFill>
              <a:srgbClr val="F0B48A"/>
            </a:solidFill>
          </a:ln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42B"/>
                </a:solidFill>
              </a:rPr>
              <a:t>調參數的紀律：一次只動一個、同一段資料、同一套成本、結果連資料快照一起記。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回測結果①：zscore 明顯勝過舊評分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7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2337"/>
                <a:gridCol w="1652894"/>
                <a:gridCol w="1377411"/>
                <a:gridCol w="1561066"/>
                <a:gridCol w="110192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評分器（正常組、2016-2025、含成本）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總報酬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年化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最大回撤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夏普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legacy·閒置資金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+61.4%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+4.9%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−22.0%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0.42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zscore·閒置資金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+129.4%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+8.7%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−24.2%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legacy·停泊 0050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+207.9%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+11.9%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−36.0%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0.69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zscore·停泊 0050（＝現行預設口徑）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+762.4%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+24.1%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−53.7%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0050 買進持有（對照）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+477.6%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+19.2%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−34.0%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1.06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回測結果②：三個口徑、三種代價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5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768"/>
                <a:gridCol w="976983"/>
                <a:gridCol w="1332250"/>
                <a:gridCol w="1243434"/>
                <a:gridCol w="1598700"/>
                <a:gridCol w="1598700"/>
                <a:gridCol w="10658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preset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池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營收因子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產業上限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總報酬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最大回撤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夏普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current（舊行為）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關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+411.1%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−52.4%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0.75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revenue（預設）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開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無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+762.4%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−53.7%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aggressive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2 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+1323.6%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−40.2%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1.15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0050 買進持有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+477.6%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−34.0%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1.06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94760"/>
            <a:ext cx="10835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42B"/>
                </a:solidFill>
              </a:rPr>
              <a:t>• 口徑：正常組、2016-01-01~2025-12-31、100 萬、TOP5、每月換股、停泊 0050＋大盤年線、含手續費與證交稅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42B"/>
                </a:solidFill>
              </a:rPr>
              <a:t>• 資料快照：宇宙 672 檔（610 存活＋62 已下市）、PER 672/672、月營收 645/672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</a:rPr>
              <a:t>• 選哪一個由你決定：預設 revenue，想回舊行為設 current，想追最高歷史報酬設 aggressive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回測結果③：關鍵發現是營收因子，不是大池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658368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1563624"/>
                <a:gridCol w="1563624"/>
                <a:gridCol w="131673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池大小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營收因子關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營收因子開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差距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20 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+395.1%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+407.1%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+12.0 pp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50 檔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+291.1%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+441.7%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+150.6 pp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100 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+411.1%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+762.4%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+351.3 pp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150 檔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+541.7%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+940.9%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+399.2 pp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42B"/>
                          </a:solidFill>
                        </a:rPr>
                        <a:t>150 檔＋產業上限 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+364.2%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+1323.6%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B"/>
                          </a:solidFill>
                        </a:rPr>
                        <a:t>+959.4 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43800" y="1298448"/>
            <a:ext cx="3977639" cy="1371600"/>
          </a:xfrm>
          <a:prstGeom prst="rect">
            <a:avLst/>
          </a:prstGeom>
          <a:solidFill>
            <a:srgbClr val="E8F5EC"/>
          </a:solidFill>
          <a:ln>
            <a:solidFill>
              <a:srgbClr val="F0B48A"/>
            </a:solidFill>
          </a:ln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42B"/>
                </a:solidFill>
              </a:rPr>
              <a:t>營收因子是「唯一能讓總報酬穩定超過 0050」的因子；池子變大只是把可選標的變多。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10835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42B"/>
                </a:solidFill>
              </a:rPr>
              <a:t>• 產業上限只在池 150 有效：把回撤從 −54.9% 壓回 −40.2%，夏普 0.98 → 1.15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42B"/>
                </a:solidFill>
              </a:rPr>
              <a:t>• 池 20 加上產業上限反而變差（+407.1% → +389.5%）：窄池硬性分散等於被迫買較弱的產業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誠實看數據：贏了報酬，沒贏風險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204"/>
                <a:gridCol w="4591372"/>
                <a:gridCol w="422406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疑點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實測數字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怎麼看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回撤更深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預設 −53.7%（0050 −34.0%）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報酬高是用更大的波動換來的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風險調整沒贏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夏普 0.95（0050 1.06）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只有 aggressive 的 1.15 超過，但它是事後挑的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樣本內偏誤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16 組挑 1 組、單一 2016-2025 窗口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沒有 walk-forward，不能外推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資料敏感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月營收 515→645 檔，同一格 +253 pp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比較前必須凍結快照並記錄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下市價偏樂觀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康友-KY 以最後成交 56.6 計算（實務近歸零）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地雷股的真實虧損被低估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709160"/>
            <a:ext cx="10835640" cy="914400"/>
          </a:xfrm>
          <a:prstGeom prst="rect">
            <a:avLst/>
          </a:prstGeom>
          <a:solidFill>
            <a:srgbClr val="FDECEA"/>
          </a:solidFill>
          <a:ln>
            <a:solidFill>
              <a:srgbClr val="F0B48A"/>
            </a:solidFill>
          </a:ln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42B"/>
                </a:solidFill>
              </a:rPr>
              <a:t>結論一句話：選股、AI 選股、策略三者都還有很大的改進空間——這個預設不是「能贏大盤」的策略。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AI 選股不是「丟給 AI 自由發揮」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894"/>
                <a:gridCol w="5509647"/>
                <a:gridCol w="367309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元件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為什麼要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PIT 封包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只用 as_of 之前可得的價格／PER／營收（＋可選法人、新聞）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避免用到未來資訊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提示詞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固定格式，要求引用 [R#] 編號、不得出現封包外的代號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可稽核、可重現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回應解析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parse_selection() 驗證：數量、代號、引用是否存在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防止模型亂編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稽核檔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pack.json／prompt.txt／response.json／audit.json（含 sha256）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事後能追責與比較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省時模式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SELFSELECT_AI=1 讓 D1 由人來跑，逾期自動 fallback 規則選股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不讓選股卡住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資料紀律：那一天的 lookahead 我們栽過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700"/>
                <a:gridCol w="5151369"/>
                <a:gridCol w="408556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規則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具體做法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違反的後果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封包時點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as_of ＝ 引擎 sel_date（當月第一個交易日的**前一個**交易日收盤）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多看到 1 天，報酬被高估（+651.7% → +349.4%）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新聞截止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只收 13:30 之前的新聞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用到盤後消息，等於偷看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月營收時點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用 FinMind create_time，否則保守取次月 10 日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營收公布前就用到，高估成長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自動檢查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assert_no_lookahead() 在建立封包時逐欄驗證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錯誤會在產生封包時就爆，不會流進回測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怎麼用 AI 選股：D1 五步、逾期自動接手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549"/>
                <a:gridCol w="5876957"/>
                <a:gridCol w="312213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步驟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指令／設定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產出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① 開啟 AI 模式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SELFSELECT_AI=1、SELFSELECT_AI_DEADLINE=13:50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D1 選股會等人，不直接跑規則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② 產生封包與提示詞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python scripts/ai_pick_dsh.py --emit prompt --as-of &lt;日期&gt;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prompt.txt＋pack.json（可用 --emit pack）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③ 交給 LLM 判斷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貼進 DSH 對話（可切模型），回傳 JSON 名單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含 [R#] 引用的選股理由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④ 交回程式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… --picks-file mypicks.json（或 --apply-env 直接寫 .env）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驗證通過才寫入 PC_ 名單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⑤ 逾期 fallback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期限前沒完成 ⇒ 自動用規則選股（不會覆蓋已套用的 AI 名單）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logs/selfselect_auto.json 記 ai_applied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03320"/>
            <a:ext cx="10835640" cy="1051560"/>
          </a:xfrm>
          <a:prstGeom prst="rect">
            <a:avLst/>
          </a:prstGeom>
          <a:solidFill>
            <a:srgbClr val="FFF4E5"/>
          </a:solidFill>
          <a:ln>
            <a:solidFill>
              <a:srgbClr val="F0B48A"/>
            </a:solidFill>
          </a:ln>
        </p:spPr>
        <p:txBody>
          <a:bodyPr wrap="square">
            <a:spAutoFit/>
          </a:bodyPr>
          <a:lstStyle/>
          <a:p>
            <a:r>
              <a:rPr sz="1400">
                <a:solidFill>
                  <a:srgbClr val="1F242B"/>
                </a:solidFill>
              </a:rPr>
              <a:t>D1 ＝ 每月選股第一日（該月第 1 個交易日）：盤後 13:36 起選股、改寫 .env 的持股名單；AI 模式的期限是 13:50。
D2 ＝ 第 2 個交易日：13:25–13:30 依訊號換股進場。⇒ D1 決定「買什麼」，D2 才真的「買」。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92040"/>
            <a:ext cx="10835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242B"/>
                </a:solidFill>
              </a:rPr>
              <a:t>• D1 沒完成也不會卡住：期限一過，系統自動用規則選股；已套用的 AI 名單不會被覆蓋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42B"/>
                </a:solidFill>
              </a:rPr>
              <a:t>• 名單沿用到下一個 D1：中間每天只依策略訊號進出，不會因為盤中波動改選股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AI vs 程式：目前沒有證據說 AI 比較好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9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788"/>
                <a:gridCol w="3489443"/>
                <a:gridCol w="404040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比較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樣本／口徑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結果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LLM 判斷 vs zscore 公式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2024 年 12 個選股日、同一批 PIT 封包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1／3／6／12 個月全部不顯著（差距 +0.45%~+1.68%）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LLM 判斷 vs legacy 評分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同上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1 個月 +1.51%（t=1.96），其餘不顯著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AI 名單整段回測（停泊 0050）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2016-2025、池 20、含成本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+348.2%（程式 zscore 同口徑 +762.4%）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AI 名單（閒置資金）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同上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+106.5%（程式 +129.4%）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663440"/>
            <a:ext cx="10835640" cy="822960"/>
          </a:xfrm>
          <a:prstGeom prst="rect">
            <a:avLst/>
          </a:prstGeom>
          <a:solidFill>
            <a:srgbClr val="FFF4E5"/>
          </a:solidFill>
          <a:ln>
            <a:solidFill>
              <a:srgbClr val="F0B48A"/>
            </a:solidFill>
          </a:ln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42B"/>
                </a:solidFill>
              </a:rPr>
              <a:t>AI 名單是用「舊宇宙」的封包產生的 ⇒ 這個比較對 AI 略不利；要嚴格比得重跑 117 份封包。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可能的改進方式（依槓桿大小排序）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502"/>
                <a:gridCol w="3095897"/>
                <a:gridCol w="4188566"/>
                <a:gridCol w="273167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優先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缺口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下一步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預期效果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驗證強度不足（樣本內挑選）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非重疊窗口＋逐年 walk-forward，固定資料快照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知道 +762% 是真本事還是運氣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實盤與回測因子不對齊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把產業上限接進實盤並實測（MAX_PER_SECTOR）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回測口徑＝實盤口徑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資料缺口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補上櫃（TPEX）下市股、法人歷史、可稽核新聞源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宇宙與資訊量更接近實務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成本假設太樂觀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加滑價與部分成交假設，用實盤成交紀錄回推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報酬會下修，但更真實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因子太少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品質（ROE）、低波動、法人籌碼，一次只加一個做 A/B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可能提升夏普，不是提高報酬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出場機制單薄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組合層級減碼（不是個股停損）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壓回撤，換取夏普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版本與部署紀律（v1.1.x 起）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07008"/>
          <a:ext cx="1083563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239"/>
                <a:gridCol w="4958682"/>
                <a:gridCol w="440771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規則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為什麼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版號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程式有修改 ⇒ APP_VERSION +1；大升版由使用者通知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VM banner／Telegram／儀表板都顯示版本，換版可驗證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部署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deploy_source.sh 一律由使用者手動執行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避免自動化在有持倉時重啟容器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分支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儀表板推 gh-pages；main 只由人推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機器人推 main 會讓人手 push 被拒（非 fast-forward）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42B"/>
                          </a:solidFill>
                        </a:rPr>
                        <a:t>資料快照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報告要寫宇宙／PER／營收的覆蓋率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42B"/>
                          </a:solidFill>
                        </a:rPr>
                        <a:t>換快照結果就會變，不寫就無法覆核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10835640" cy="658368"/>
          </a:xfrm>
        </p:spPr>
        <p:txBody>
          <a:bodyPr/>
          <a:lstStyle/>
          <a:p>
            <a:r>
              <a:rPr sz="2600" b="1">
                <a:solidFill>
                  <a:srgbClr val="1F242B"/>
                </a:solidFill>
              </a:rPr>
              <a:t>總結：三個數字、兩個動作、一個提醒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36D"/>
                </a:solidFill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1F242B"/>
                </a:solidFill>
              </a:rPr>
              <a:t>• 三個數字：+762.4%（0050 +477.6%）／回撤 −53.7%（−34.0%）／夏普 0.95（1.06）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F242B"/>
                </a:solidFill>
              </a:rPr>
              <a:t>• 兩個動作：想回舊行為 SELFSELECT_PRESET=current；想試 AI 選股 SELFSELECT_AI=1 跑五步流程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C0392B"/>
                </a:solidFill>
              </a:rPr>
              <a:t>• 一個提醒：這是樣本內結果，沒有 walk-forward；先小額或紙上跑一段，再決定要不要當正式口徑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F242B"/>
                </a:solidFill>
              </a:rPr>
              <a:t>• 作業：挑一個改進項目做 A/B（例：產業上限接進實盤），下次報告數字與口徑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F242B"/>
                </a:solidFill>
              </a:rPr>
              <a:t>📌 自 2026-10-30 起開始實測、持續改進；最新更新請上 Git 專案：github.com/dinchentech/tw-selfselect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7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 pitchFamily="0" charset="1"/>
        <a:ea typeface=""/>
        <a:cs typeface=""/>
      </a:majorFont>
      <a:minorFont>
        <a:latin typeface="Century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{01E1B3A5-1AE4-4177-BC3F-C596D532C00B}TFf1460845-8e07-4b92-9183-e15be13008a218dbe6a5_win32-cc1095971745</Template>
  <TotalTime>2479</TotalTime>
  <Application>LibreOffice/26.2.6.3$Windows_X86_64 LibreOffice_project/8221e31b3ac356a1623c672912a3d2b492f7e3d1</Application>
  <AppVersion>15.0000</AppVersion>
  <Words>2199</Words>
  <Paragraphs>178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2026-07-14T08:04:07Z</dcterms:created>
  <dc:creator>宜軒 謝</dc:creator>
  <dc:description/>
  <dc:language>en-US</dc:language>
  <cp:lastModifiedBy/>
  <dcterms:modified xsi:type="dcterms:W3CDTF">2026-10-28T08:22:12Z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s">
    <vt:lpwstr/>
  </property>
  <property fmtid="{D5CDD505-2E9C-101B-9397-08002B2CF9AE}" pid="3" name="CampaignTags">
    <vt:lpwstr/>
  </property>
  <property fmtid="{D5CDD505-2E9C-101B-9397-08002B2CF9AE}" pid="4" name="CategoryTags">
    <vt:lpwstr/>
  </property>
  <property fmtid="{D5CDD505-2E9C-101B-9397-08002B2CF9AE}" pid="5" name="ContentTypeId">
    <vt:lpwstr>0x01010079F111ED35F8CC479449609E8A0923A6</vt:lpwstr>
  </property>
  <property fmtid="{D5CDD505-2E9C-101B-9397-08002B2CF9AE}" pid="6" name="FeatureTags">
    <vt:lpwstr/>
  </property>
  <property fmtid="{D5CDD505-2E9C-101B-9397-08002B2CF9AE}" pid="7" name="HiddenCategoryTags">
    <vt:lpwstr/>
  </property>
  <property fmtid="{D5CDD505-2E9C-101B-9397-08002B2CF9AE}" pid="8" name="InternalTags">
    <vt:lpwstr/>
  </property>
  <property fmtid="{D5CDD505-2E9C-101B-9397-08002B2CF9AE}" pid="9" name="LocalizationTags">
    <vt:lpwstr/>
  </property>
  <property fmtid="{D5CDD505-2E9C-101B-9397-08002B2CF9AE}" pid="10" name="MediaServiceImageTags">
    <vt:lpwstr/>
  </property>
  <property fmtid="{D5CDD505-2E9C-101B-9397-08002B2CF9AE}" pid="11" name="Notes">
    <vt:i4>3</vt:i4>
  </property>
  <property fmtid="{D5CDD505-2E9C-101B-9397-08002B2CF9AE}" pid="12" name="Order">
    <vt:r8>74069400</vt:r8>
  </property>
  <property fmtid="{D5CDD505-2E9C-101B-9397-08002B2CF9AE}" pid="13" name="PresentationFormat">
    <vt:lpwstr>自訂</vt:lpwstr>
  </property>
  <property fmtid="{D5CDD505-2E9C-101B-9397-08002B2CF9AE}" pid="14" name="ScenarioTags">
    <vt:lpwstr/>
  </property>
  <property fmtid="{D5CDD505-2E9C-101B-9397-08002B2CF9AE}" pid="15" name="Slides">
    <vt:i4>21</vt:i4>
  </property>
</Properties>
</file>