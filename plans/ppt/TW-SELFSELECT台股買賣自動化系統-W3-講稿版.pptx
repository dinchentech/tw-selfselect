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"/>
  <Override PartName="/ppt/media/image5.svg" ContentType="image/svg"/>
  <Override PartName="/ppt/media/image7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4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customXml/item1.xml"/><Relationship Id="rId5" Type="http://schemas.openxmlformats.org/officeDocument/2006/relationships/customXml" Target="customXml/item2.xml"/><Relationship Id="rId6" Type="http://schemas.openxmlformats.org/officeDocument/2006/relationships/customXml" Target="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4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799D852-BF2C-48A9-87DB-2FF1BF0E754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建議時間：30 秒</a:t>
            </a:r>
          </a:p>
          <a:p/>
          <a:p>
            <a:r>
              <a:t>歡迎回來，這是第三堂課。</a:t>
            </a:r>
          </a:p>
          <a:p>
            <a:r>
              <a:t>前兩週我們把環境建好了，也認識了 Python。這一週是整個課程的轉折點——我們要正式認識我們的「主力同事」：DSH。學會怎麼跟它下指令，之後所有程式都交給它寫。</a:t>
            </a:r>
          </a:p>
          <a:p>
            <a:r>
              <a:t>---</a:t>
            </a:r>
          </a:p>
          <a:p/>
          <a:p>
            <a:r>
              <a:t>【講師提示】強調這堂課是「人機協作」的開始，學員心態要從「學寫程式」轉為「學下指令」。</a:t>
            </a:r>
          </a:p>
        </p:txBody>
      </p:sp>
      <p:sp>
        <p:nvSpPr>
          <p:cNvPr id="18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37A0B7-8506-4DF1-B47F-94F86BE036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在開始之前，有幾個前置設定要先確認。</a:t>
            </a:r>
          </a:p>
          <a:p>
            <a:r>
              <a:t>第一，請確定 DSH 可以正常啟動（本課程用 deepseek-flash）。FinMind 的 API token 放在專案的 .env 裡（FINMIND_API_TOKEN）——DSH 執行專案腳本時會直接讀到，不需要另外設定。</a:t>
            </a:r>
          </a:p>
          <a:p>
            <a:r>
              <a:t>在專案根目錄啟動 dsh_web（瀏覽器開 http://127.0.0.1:3080）。一般任務直接對話；規劃階段用 plan 模式，先確認計畫再執行。</a:t>
            </a:r>
          </a:p>
          <a:p>
            <a:r>
              <a:t>---</a:t>
            </a:r>
          </a:p>
          <a:p/>
          <a:p>
            <a:r>
              <a:t>確認每位學員的 DSH 都能正常回應（打一句「我們溝通都用繁中」看看）。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接下來講模型選擇。在 DSH 的 Web 介面可以切換模型；本課程統一用 deepseek-flash——一般問題夠用，較複雜再換更大的模型。</a:t>
            </a:r>
            <a:br/>
            <a:r>
              <a:t>強烈建議同一段對話不要混用其他廠牌模型：不同模型的理解不同，混用容易讓邏輯亂掉，也影響費用。</a:t>
            </a:r>
          </a:p>
          <a:p/>
          <a:p>
            <a:r>
              <a:t>【講師提示】強調「同一對話不要混模型」，這是費用與品質的雙重關鍵。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 DSH 的常用操作速查：</a:t>
            </a:r>
          </a:p>
          <a:p>
            <a:r>
              <a:t>① 啟動：dsh_web（＝pnpm dsh web）→ 瀏覽器開 http://127.0.0.1:3080</a:t>
            </a:r>
          </a:p>
          <a:p>
            <a:r>
              <a:t>② 先打一句「我們溝通都用繁中」，AI 有回應就代表設定好了</a:t>
            </a:r>
          </a:p>
          <a:p>
            <a:r>
              <a:t>③ 接續先前對話：Web 介面左側的 session 清單</a:t>
            </a:r>
          </a:p>
          <a:p>
            <a:r>
              <a:t>④ 技能（skills）：直接用自然語言描述，例如「用 finmind 抓台積電月營收」</a:t>
            </a:r>
          </a:p>
          <a:p>
            <a:r>
              <a:t>⑤ 重要／不可逆的動作：先切到 plan 模式，DSH 會先送計畫給你核准</a:t>
            </a:r>
          </a:p>
          <a:p>
            <a:r>
              <a:t>⑥ 進度沉澱：寫進專案的 cairn/LOG.md</a:t>
            </a:r>
          </a:p>
          <a:p/>
          <a:p>
            <a:r>
              <a:t>【講師提示】這頁是操作速查表，建議讓學員抄下來或截圖，之後每週都會用到。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現在實際操作。第一步：把工作目錄開到專案根 ~/tw-selfselect；第二步：一般對話模式直接下指令；第三步：模型選 deepseek-flash。三個步驟就完成開場設定。</a:t>
            </a:r>
          </a:p>
          <a:p/>
          <a:p>
            <a:r>
              <a:t>【講師提示】現場示範三步驟，請學員跟著做。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接著，新增一個工作階段。</a:t>
            </a:r>
          </a:p>
          <a:p>
            <a:r>
              <a:t>新增之後，第一句話建議先提醒 DSH：用 WSL 的 ~/tw-selfselect 當工作根目錄。這樣 AI 才能正確掃描專案檔案，針對你的專案回答問題——這跟一般聊天型 AI 最大的不同就在這裡。</a:t>
            </a:r>
          </a:p>
          <a:p>
            <a:r>
              <a:t>---</a:t>
            </a:r>
          </a:p>
          <a:p/>
          <a:p>
            <a:r>
              <a:t>【講師提示】強調「工作根目錄」概念，這是 DSH 能回答專案問題的關鍵。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來，下第一個真實指令。</a:t>
            </a:r>
          </a:p>
          <a:p>
            <a:r>
              <a:t>輸入：「給我台積電今年一到六月的 K 線圖，放在 img 資料夾下」。建議前面加上 /finmind，執行會比較快。</a:t>
            </a:r>
          </a:p>
          <a:p>
            <a:r>
              <a:t>為什麼用 /finmind？因為 Finmind 是免費的股市資料庫，AI 透過這個技能可以直接取得台股歷史資料，不用自己慢慢抓。</a:t>
            </a:r>
          </a:p>
          <a:p>
            <a:r>
              <a:t>---</a:t>
            </a:r>
          </a:p>
          <a:p/>
          <a:p>
            <a:r>
              <a:t>【講師提示】這是學員第一次看到 AI 產出圖表，放慢節奏，讓大家感受「一句話→一張圖」的過程。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這頁比較了用與不用 /finmind 的差異。</a:t>
            </a:r>
          </a:p>
          <a:p>
            <a:r>
              <a:t>大家可以看畫面上的對比——基本上兩邊畫出來的 K 線圖一樣，但是速度差很多：使用 /finmind 只要二十三秒，沒用則要一分零一秒。差了三倍以上。</a:t>
            </a:r>
          </a:p>
          <a:p>
            <a:r>
              <a:t>所以之後下指令，記得養成習慣：查股市資料，前面先加 /finmind。</a:t>
            </a:r>
          </a:p>
          <a:p>
            <a:r>
              <a:t>---</a:t>
            </a:r>
          </a:p>
          <a:p/>
          <a:p>
            <a:r>
              <a:t>【講師提示】用實際計時數據強調 /finmind 的價值，養成學員的使用習慣。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再來一個例子。</a:t>
            </a:r>
          </a:p>
          <a:p>
            <a:r>
              <a:t>AI 已經生成在 tw-selfselect 的 img 資料夾裡。</a:t>
            </a:r>
          </a:p>
          <a:p>
            <a:r>
              <a:t>這是一個互動式 HTML 圖表，用瀏覽器直接開就能用。功能包含：滑鼠框選區域可以縮放；游標移到 K 線上可以看到當天的開高低收；下半部有半透明的成交量柱狀圖，紅漲綠跌；深色主題，總共一百一十六個交易日的資料。</a:t>
            </a:r>
          </a:p>
          <a:p>
            <a:r>
              <a:t>---</a:t>
            </a:r>
          </a:p>
          <a:p/>
          <a:p>
            <a:r>
              <a:t>【講師提示】現場直接開 HTML 示範縮放與懸停，讓學員看到「互動式圖表」不只是靜態圖片。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再挑戰一個：台股期貨。</a:t>
            </a:r>
          </a:p>
          <a:p>
            <a:r>
              <a:t>輸入「/finmind 給我 2025 到現在的台股期貨走勢圖 HTML，放在 img 下」。</a:t>
            </a:r>
          </a:p>
          <a:p>
            <a:r>
              <a:t>AI 一樣幫你生成互動式圖表，功能跟剛剛聯發科那張一樣——縮放、懸停看數值、成交量柱狀圖。你看，不管是個股還是期貨，只要一句話，AI 都能處理。</a:t>
            </a:r>
          </a:p>
          <a:p>
            <a:r>
              <a:t>---</a:t>
            </a:r>
          </a:p>
          <a:p/>
          <a:p>
            <a:r>
              <a:t>【講師提示】這頁畫面內容若與上一頁雷同是投影片複製問題，講解以「期貨走勢圖」為主即可，不必糾結畫面上的文字。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有個 Windows 使用的小技巧。</a:t>
            </a:r>
          </a:p>
          <a:p>
            <a:r>
              <a:t>你生成出來的圖表檔案在 WSL 裡面，那要怎麼在 Windows 打開？很簡單——在 Windows 的檔案總管網址列輸入 wsl.localhost，就能看到 WSL 的檔案系統，直接瀏覽取用。</a:t>
            </a:r>
          </a:p>
          <a:p>
            <a:r>
              <a:t>另外你可能會發現有些檔案旁邊出現「同名的 .Zone.Identifier 檔案」——這是 Windows 用來存放 WSL 屬性給 Windows 看的標記，正常現象，不用理它。</a:t>
            </a:r>
          </a:p>
          <a:p>
            <a:r>
              <a:t>---</a:t>
            </a:r>
          </a:p>
          <a:p/>
          <a:p>
            <a:r>
              <a:t>【講師提示】現場示範從檔案總管開 wsl.localhost，找 img 資料夾的 HTML。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接下來是重頭戲——讓 AI 幫我們選股。</a:t>
            </a:r>
          </a:p>
          <a:p>
            <a:r>
              <a:t>指令是：「用 /finmind，就 2022 年底一整年的股市資料，挑出當時十家最值得投資的股票，包含 ETF，並列出它們 2022 年的走勢圖 HTML 於 img 下」。</a:t>
            </a:r>
          </a:p>
          <a:p>
            <a:r>
              <a:t>這是第一次的結果。大家可以看看 AI 選出了什麼——不過，重點在下一頁。</a:t>
            </a:r>
          </a:p>
          <a:p>
            <a:r>
              <a:t>---</a:t>
            </a:r>
          </a:p>
          <a:p/>
          <a:p>
            <a:r>
              <a:t>【講師提示】先讓學員看結果，但提示「這個結果還不夠好」，製造懸念。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這是修正後的結果。</a:t>
            </a:r>
          </a:p>
          <a:p>
            <a:r>
              <a:t>為什麼要修正？因為「怎麼選最值得投資」這個問題太模糊了——每個人對「值得」的定義不同。正確做法是：問一問 AI 它的選股原則，然後跟它討論，把原則講清楚，再讓它重新選。</a:t>
            </a:r>
          </a:p>
          <a:p>
            <a:r>
              <a:t>這正是使用 AI 的核心心態：不是丟一個問題就結束，而是透過對話把問題定義清楚。</a:t>
            </a:r>
          </a:p>
          <a:p>
            <a:r>
              <a:t>---</a:t>
            </a:r>
          </a:p>
          <a:p/>
          <a:p>
            <a:r>
              <a:t>【講師提示】強調「跟 AI 討論原則」的過程比結果重要，這是本課程的方法論核心。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 AI 最後採用的選股原則。</a:t>
            </a:r>
          </a:p>
          <a:p>
            <a:r>
              <a:t>先認識一個名詞：夏普比率。白話說，就是你每承擔一單位波動，換到多少超額報酬——是衡量「效率」的指標。</a:t>
            </a:r>
          </a:p>
          <a:p>
            <a:r>
              <a:t>原則一：先過濾，再評分。過濾條件有兩個：日均成交量要大於等於一千張，確保股票流動性夠；全年交易日大於等於兩百天，確保資料完整。</a:t>
            </a:r>
          </a:p>
          <a:p>
            <a:r>
              <a:t>原則二是純績效三維評分，總分等於：總報酬乘五十趴，加上夏普比率乘二十五趴，加上最大回撤的反向乘二十五趴。總報酬代表這段期間到底賺還是賠，是核心指標；夏普比率是效率指標；最大回撤代表從高點到低點最多賠多少，是心臟強度指標。</a:t>
            </a:r>
          </a:p>
          <a:p>
            <a:r>
              <a:t>原則三：不做主觀調整——產業偏好不加分，冷門但績效好不扣分，只讓數據決定排名，人只負責修正演算法缺陷，不手動調整排名。</a:t>
            </a:r>
          </a:p>
          <a:p>
            <a:r>
              <a:t>---</a:t>
            </a:r>
          </a:p>
          <a:p/>
          <a:p>
            <a:r>
              <a:t>【講師提示】這頁資訊量最大，建議放慢。三個原則可以配合畫面逐條講，強調「數據說話、人只修演算法」的紀律。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補充一下反向 ETF 的知識。</a:t>
            </a:r>
          </a:p>
          <a:p>
            <a:r>
              <a:t>反向 ETF 的設計是「大盤跌多少，它就漲多少」。以 00632R 為例，它追蹤的是台灣五十指數的單日反向報酬：大盤漲百分之一，它跌百分之一；大盤跌百分之一，它漲百分之一。看畫面上的情境表就很清楚——0050 與 00632R 的漲跌永遠相反。</a:t>
            </a:r>
          </a:p>
          <a:p>
            <a:r>
              <a:t>記住，是「單日」反向——這是反向 ETF 的特性，長期持有會因為複利計算產生誤差，所以它比較適合短線避險，不適合長期持有。</a:t>
            </a:r>
          </a:p>
          <a:p>
            <a:r>
              <a:t>---</a:t>
            </a:r>
          </a:p>
          <a:p/>
          <a:p>
            <a:r>
              <a:t>【講師提示】用「大盤跌→它漲」的口訣帶過，強調「單日反向」與「不適合長期持有」兩個重點。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這頁要提醒大家一個重點。</a:t>
            </a:r>
          </a:p>
          <a:p>
            <a:r>
              <a:t>在台灣，反向 ETF 其實是少數——而 00632R，元大台灣五十反一，就是台灣少數的反向元大 ETF。它透過衍生性金融商品，追蹤台灣五十指數的單日反向報酬：大盤跌，它就漲，是看空台股的工具。詳細的標的清單，下一頁看。</a:t>
            </a:r>
          </a:p>
          <a:p>
            <a:r>
              <a:t>---</a:t>
            </a:r>
          </a:p>
          <a:p/>
          <a:p>
            <a:r>
              <a:t>【講師提示】強調「台灣反向 ETF 少、00632R 是其中代表」，這是這頁的核心訊息。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這頁是台灣 ETF 的實用清單，分成兩部分。</a:t>
            </a:r>
          </a:p>
          <a:p>
            <a:r>
              <a:t>上半部是反向 ETF：00632R 元大台灣五十反一，追蹤台灣五十指數；00664R、00676R 是台股加權反一；00648R、00668R、00670R 分別對應美股 S&amp;P 五百、道瓊、那斯達克的反向；00636R 是陸股 A50 反向。</a:t>
            </a:r>
          </a:p>
          <a:p>
            <a:r>
              <a:t>下半部是常見的正向 ETF，依類別分類：大盤型有 0050、006208、00692；高股息有 0056、00878、00919、00713、00900；另外還有市值型 00690、科技 0052、金融 0055、ESG 00850，以及直接追蹤大盤的 006204。</a:t>
            </a:r>
          </a:p>
          <a:p>
            <a:r>
              <a:t>---</a:t>
            </a:r>
          </a:p>
          <a:p/>
          <a:p>
            <a:r>
              <a:t>【講師提示】這頁是參考清單，不必逐檔唸，帶過分類即可，提醒學員之後選股會用到。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除了 Deepseek，我們也問了 Google 的 AI，看它選股有什麼原則。</a:t>
            </a:r>
          </a:p>
          <a:p>
            <a:r>
              <a:t>原則一，流動性過濾：二十日平均成交量要大於五百張，目的是剔除成交量過低的殭屍股，確保大資金進出時不會有嚴重滑價，實單能順利成交。</a:t>
            </a:r>
          </a:p>
          <a:p>
            <a:r>
              <a:t>原則二，營收成長動能：月營收年增率大於零，而且月營收創近十二個月新高。月營收是台股特有、最即時的基本面指標——營收創新高代表公司正處於強烈的產業上升循環。</a:t>
            </a:r>
          </a:p>
          <a:p>
            <a:r>
              <a:t>原則三，法人籌碼強度：投信或外資連續買超，而且買超張數佔成交量比例排全市場前列。用比例而不是張數，可以避免大型股偏誤，抓出法人正在默默認養的中小型波段飆股。</a:t>
            </a:r>
          </a:p>
          <a:p>
            <a:r>
              <a:t>原則四，價格與估值控制：本益比低於同業均值，或股價站上季線且回檔不破——在動能強的股票中，優先挑估值還沒過度膨脹、技術面維持多頭的標的，當作最後的安全氣囊。</a:t>
            </a:r>
          </a:p>
          <a:p>
            <a:r>
              <a:t>---</a:t>
            </a:r>
          </a:p>
          <a:p/>
          <a:p>
            <a:r>
              <a:t>【講師提示】可以對比 Deepseek 與 Google 兩種原則——一個純績效導向，一個基本面加籌碼導向，讓學員理解「不同 AI 有不同選股哲學」。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使用 DSH 的 plan 模式</a:t>
            </a:r>
          </a:p>
          <a:p>
            <a:r>
              <a:t>當你的任務比較複雜時，可以用這個模式。你提出需求，Plan Builder 會先制訂一份工作計畫，放在 .omo/plans 底下的 Markdown 檔案——先規劃，再執行。</a:t>
            </a:r>
          </a:p>
          <a:p>
            <a:r>
              <a:t>---</a:t>
            </a:r>
          </a:p>
          <a:p/>
          <a:p>
            <a:r>
              <a:t>【講師提示】強調「先計畫再動手」是複雜任務的標準流程，跟寫程式前的設計圖概念一樣。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計畫建好之後怎麼執行？</a:t>
            </a:r>
          </a:p>
          <a:p>
            <a:r>
              <a:t>確認計畫後 DSH 就會開始執行；過程中有問題直接在對話追加指示，或切回 plan 模式重新規劃。完成後在介面看得到結果；長時間任務可用 goal 讓它分回合續跑，不用一直盯著螢幕。</a:t>
            </a:r>
          </a:p>
          <a:p>
            <a:r>
              <a:t>---</a:t>
            </a:r>
          </a:p>
          <a:p/>
          <a:p>
            <a:r>
              <a:t>【講師提示】現場示範一次 Plan Builder 建計畫 + start-work 流程，讓學員看到「計畫→執行→完成提示」的完整循環。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為什麼要講知識沉澱？</a:t>
            </a:r>
          </a:p>
          <a:p>
            <a:r>
              <a:t>因為 AI 沒有記憶——每個新的工作階段都是全新開始，上次修過的 bug，下次可能又踩一次。真正的記憶，是寫在專案裡、下次會被讀到的東西：AGENTS.md 是規則入口，進入專案必讀；cairn/LOG.md 記錄做了什麼；cairn/ 底下的知識專題記錄陷阱與根因。</a:t>
            </a:r>
          </a:p>
          <a:p>
            <a:r>
              <a:t>我們的舊回測就實際發生過——同樣的快取 bug 反覆出現好幾次，最後靠「快取版本化＋回歸測試＋知識專題」三管齊下才根治。</a:t>
            </a:r>
          </a:p>
          <a:p>
            <a:r>
              <a:t>---</a:t>
            </a:r>
          </a:p>
          <a:p/>
          <a:p>
            <a:r>
              <a:t>【講師提示】用「AI 會失憶」的比喻讓學員理解為什麼要養成記錄習慣；強調這是工程師與 AI 協作的關鍵紀律。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這一頁，讓大家看看 DSH 實際幫我們產出的知識沉澱檔案。</a:t>
            </a:r>
          </a:p>
          <a:p>
            <a:r>
              <a:t>畫面上是 ~/tw-selfselect/cairn/ 底下的 backtest-data-pitfalls.MD——這是 DSH 自動產生的檔案。內容記錄了 2026-08 回測數字無法重現事件的完整教訓：症狀、根因、還有目前的防護措施。</a:t>
            </a:r>
          </a:p>
          <a:p>
            <a:r>
              <a:t>最上面是症狀：舊官方數字 +85.22% 在乾淨資料下無法重現，實際只有 -13.05%；接著是根因——價格快取混入 yfinance 還原價、魚過濾回溯視窗不完整、快取沒有版本。</a:t>
            </a:r>
          </a:p>
          <a:p>
            <a:r>
              <a:t>重點是：這些內容不是老師手寫的，是修完 bug 之後 DSH 自動沉澱下來的。下次開新 session，AI 一進專案就會讀到，同樣的坑就不會再踩。</a:t>
            </a:r>
          </a:p>
          <a:p>
            <a:r>
              <a:t>---</a:t>
            </a:r>
          </a:p>
          <a:p/>
          <a:p>
            <a:r>
              <a:t>【講師提示】現場打開 ~/tw-selfselect/cairn/ 目錄展示真實檔案（AGENTS.md、LOG.md、backtest-data-pitfalls.md），讓學員知道之後他們的專案也會自動長出這些知識檔。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最後講錢的事情——用 AI 要花多少？</a:t>
            </a:r>
          </a:p>
          <a:p>
            <a:r>
              <a:t>先看數據：PRO 大約比 FLASH 貴四倍；Cache Hit 比 Miss 便宜約五十倍——這是 Deepseek 原廠價格，經銷商可能不同。這解釋了為什麼我們強調「同一對話不要常換 AI 模型」：一直換模型，快取一直 miss，費用就上去了。</a:t>
            </a:r>
          </a:p>
          <a:p>
            <a:r>
              <a:t>實際花費呢？一天兩千萬個 token，大約一到兩毛美元，一個月不到十美元。所以基本上只要充值就好，負擔很低。</a:t>
            </a:r>
          </a:p>
          <a:p>
            <a:r>
              <a:t>---</a:t>
            </a:r>
          </a:p>
          <a:p/>
          <a:p>
            <a:r>
              <a:t>【講師提示】用「兩千萬 token 才一兩毛美金」的具體數字打消學員對費用的疑慮，強調「不要混模型」是省錢關鍵。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好，這堂課到這裡。</a:t>
            </a:r>
          </a:p>
          <a:p>
            <a:r>
              <a:t>請大家自行練習使用 DSH 下指令——越熟練，之後的策略課程越輕鬆。我是 frank，信箱是 frank@dinchen.com.tw，有問題歡迎寫信。</a:t>
            </a:r>
          </a:p>
          <a:p>
            <a:r>
              <a:t>今天的功課：完成本週的四個指令練習——台積電 K 線、聯發科 K 線、期貨走勢圖、AI 選股。我們下次見！</a:t>
            </a:r>
          </a:p>
          <a:p>
            <a:r>
              <a:t>---</a:t>
            </a:r>
          </a:p>
          <a:p/>
          <a:p>
            <a:r>
              <a:t>【講師提示】收尾把功課清單唸一次，強調「熟練下指令」是之後所有週次的基礎。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3600" cy="686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2"/>
          <p:cNvSpPr/>
          <p:nvPr/>
        </p:nvSpPr>
        <p:spPr>
          <a:xfrm>
            <a:off x="10975680" y="49870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Cross 3"/>
          <p:cNvSpPr/>
          <p:nvPr/>
        </p:nvSpPr>
        <p:spPr>
          <a:xfrm>
            <a:off x="10118880" y="35812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9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" name="Rectangle 2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61E0043-9367-4131-B2B3-99FD9D5271E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3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360" cy="3504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6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6" name="Cross 5"/>
          <p:cNvSpPr/>
          <p:nvPr/>
        </p:nvSpPr>
        <p:spPr>
          <a:xfrm>
            <a:off x="6683040" y="139716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Cross 6"/>
          <p:cNvSpPr/>
          <p:nvPr/>
        </p:nvSpPr>
        <p:spPr>
          <a:xfrm>
            <a:off x="11085480" y="5638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0A29DB54-9A3C-4E6D-A42C-FE6CEA014C7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dt" idx="6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14"/>
          <p:cNvSpPr/>
          <p:nvPr/>
        </p:nvSpPr>
        <p:spPr>
          <a:xfrm>
            <a:off x="9958320" y="0"/>
            <a:ext cx="2230200" cy="1980720"/>
          </a:xfrm>
          <a:custGeom>
            <a:avLst/>
            <a:gdLst>
              <a:gd name="textAreaLeft" fmla="*/ 0 w 2230200"/>
              <a:gd name="textAreaRight" fmla="*/ 2230560 w 2230200"/>
              <a:gd name="textAreaTop" fmla="*/ 0 h 1980720"/>
              <a:gd name="textAreaBottom" fmla="*/ 1981080 h 198072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2"/>
          <p:cNvSpPr/>
          <p:nvPr/>
        </p:nvSpPr>
        <p:spPr>
          <a:xfrm>
            <a:off x="7846920" y="3808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Cross 4"/>
          <p:cNvSpPr/>
          <p:nvPr/>
        </p:nvSpPr>
        <p:spPr>
          <a:xfrm>
            <a:off x="8559720" y="1066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6D28C6C-6DF8-4DA2-B208-AEDA3E3F746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9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8"/>
          <p:cNvSpPr/>
          <p:nvPr/>
        </p:nvSpPr>
        <p:spPr>
          <a:xfrm>
            <a:off x="2131920" y="0"/>
            <a:ext cx="7924320" cy="6857640"/>
          </a:xfrm>
          <a:custGeom>
            <a:avLst/>
            <a:gdLst>
              <a:gd name="textAreaLeft" fmla="*/ 0 w 7924320"/>
              <a:gd name="textAreaRight" fmla="*/ 7924680 w 7924320"/>
              <a:gd name="textAreaTop" fmla="*/ 0 h 6857640"/>
              <a:gd name="textAreaBottom" fmla="*/ 6858000 h 685764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7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Freeform: Shape 12"/>
          <p:cNvSpPr/>
          <p:nvPr/>
        </p:nvSpPr>
        <p:spPr>
          <a:xfrm>
            <a:off x="0" y="1440"/>
            <a:ext cx="3427920" cy="6856200"/>
          </a:xfrm>
          <a:custGeom>
            <a:avLst/>
            <a:gdLst>
              <a:gd name="textAreaLeft" fmla="*/ 0 w 3427920"/>
              <a:gd name="textAreaRight" fmla="*/ 3428280 w 3427920"/>
              <a:gd name="textAreaTop" fmla="*/ 0 h 6856200"/>
              <a:gd name="textAreaBottom" fmla="*/ 6856560 h 685620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440" cy="529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440" cy="285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Cross 13"/>
          <p:cNvSpPr/>
          <p:nvPr/>
        </p:nvSpPr>
        <p:spPr>
          <a:xfrm>
            <a:off x="4837680" y="9144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3" name="Cross 14"/>
          <p:cNvSpPr/>
          <p:nvPr/>
        </p:nvSpPr>
        <p:spPr>
          <a:xfrm>
            <a:off x="3085200" y="56959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Left Brace 1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Oval 6"/>
          <p:cNvSpPr/>
          <p:nvPr/>
        </p:nvSpPr>
        <p:spPr>
          <a:xfrm>
            <a:off x="6703920" y="1148400"/>
            <a:ext cx="4560840" cy="4560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6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6000" cy="566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ross 8"/>
          <p:cNvSpPr/>
          <p:nvPr/>
        </p:nvSpPr>
        <p:spPr>
          <a:xfrm>
            <a:off x="10818720" y="53532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Cross 10"/>
          <p:cNvSpPr/>
          <p:nvPr/>
        </p:nvSpPr>
        <p:spPr>
          <a:xfrm>
            <a:off x="6336000" y="805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360" cy="403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360" cy="110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640" cy="5090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val 4"/>
          <p:cNvSpPr/>
          <p:nvPr/>
        </p:nvSpPr>
        <p:spPr>
          <a:xfrm>
            <a:off x="3274920" y="609480"/>
            <a:ext cx="5638320" cy="56383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3120" cy="281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3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Cross 8"/>
          <p:cNvSpPr/>
          <p:nvPr/>
        </p:nvSpPr>
        <p:spPr>
          <a:xfrm>
            <a:off x="8151840" y="5670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B9D7F0E-BCD0-4CB9-BBBA-AE25EBC512B5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12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3" name="Cross 14"/>
          <p:cNvSpPr/>
          <p:nvPr/>
        </p:nvSpPr>
        <p:spPr>
          <a:xfrm>
            <a:off x="7351560" y="4419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Freeform: Shape 4"/>
          <p:cNvSpPr/>
          <p:nvPr/>
        </p:nvSpPr>
        <p:spPr>
          <a:xfrm>
            <a:off x="8609040" y="-21960"/>
            <a:ext cx="3579480" cy="6901560"/>
          </a:xfrm>
          <a:custGeom>
            <a:avLst/>
            <a:gdLst>
              <a:gd name="textAreaLeft" fmla="*/ 0 w 3579480"/>
              <a:gd name="textAreaRight" fmla="*/ 3579840 w 3579480"/>
              <a:gd name="textAreaTop" fmla="*/ 0 h 6901560"/>
              <a:gd name="textAreaBottom" fmla="*/ 6901920 h 690156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4"/>
          <p:cNvSpPr/>
          <p:nvPr/>
        </p:nvSpPr>
        <p:spPr>
          <a:xfrm>
            <a:off x="6703920" y="83808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67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50720" cy="380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8AE8A23-3AE8-41E7-8D77-C36406EE233C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dt" idx="15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3040" cy="2688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920" cy="528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7130160" y="396936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76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3680" cy="55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Cross 5"/>
          <p:cNvSpPr/>
          <p:nvPr/>
        </p:nvSpPr>
        <p:spPr>
          <a:xfrm>
            <a:off x="6368040" y="240732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720" cy="438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4"/>
          <p:cNvSpPr/>
          <p:nvPr/>
        </p:nvSpPr>
        <p:spPr>
          <a:xfrm>
            <a:off x="6361200" y="131724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FB523770-A224-469B-A50E-CDE5D5A4662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dt" idx="18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36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4459E0C7-DA53-4F6B-8DAA-B6715A978E8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400" cy="3962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–W3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Python 與 DSH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 DSH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D5612618-78FC-4942-99B3-296FDB8C84AD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請先確定 DSH 可以正常啟動（本課程用 deepseek-flash）；FinMind 的 API token 放在專案 .env 的 FINMIND_API_TOKEN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activate_venv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在專案根目錄啟動 DSH：dsh_web（即 pnpm dsh web，瀏覽器開 http://127.0.0.1:3080）；一般任務直接對話，重要或不可逆的動作先用 plan 模式（DSH 會先送計畫給你核准）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05" name="圖片 4"/>
          <p:cNvPicPr/>
          <p:nvPr/>
        </p:nvPicPr>
        <p:blipFill>
          <a:blip r:embed="rId1"/>
          <a:srcRect l="17878" t="0" r="26669" b="0"/>
          <a:stretch/>
        </p:blipFill>
        <p:spPr>
          <a:xfrm>
            <a:off x="6094440" y="2286000"/>
            <a:ext cx="5562360" cy="3962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 DSH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7F1202EE-7723-4659-B67B-5561C0D2F288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3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1318680" y="167652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r>
              <a:t>切換模型：DSH Web 介面</a:t>
            </a:r>
            <a:br/>
            <a:r>
              <a:t>本課程統一用 deepseek-flash</a:t>
            </a:r>
            <a:br/>
            <a:r>
              <a:t>（同一段對話不要混用其他廠牌模型）</a:t>
            </a:r>
          </a:p>
        </p:txBody>
      </p:sp>
      <p:pic>
        <p:nvPicPr>
          <p:cNvPr id="109" name="圖片 5"/>
          <p:cNvPicPr/>
          <p:nvPr/>
        </p:nvPicPr>
        <p:blipFill>
          <a:blip r:embed="rId1"/>
          <a:stretch/>
        </p:blipFill>
        <p:spPr>
          <a:xfrm>
            <a:off x="6178680" y="1676520"/>
            <a:ext cx="5562360" cy="2196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0" name="圖片 7"/>
          <p:cNvPicPr/>
          <p:nvPr/>
        </p:nvPicPr>
        <p:blipFill>
          <a:blip r:embed="rId2"/>
          <a:stretch/>
        </p:blipFill>
        <p:spPr>
          <a:xfrm>
            <a:off x="6157440" y="4035240"/>
            <a:ext cx="5604120" cy="2209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1293840" y="110880"/>
            <a:ext cx="4914720" cy="65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 DSH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76879C45-C1DF-4B32-A116-45C31C00DD74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204840" y="609480"/>
            <a:ext cx="4365360" cy="487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我們溝通都用繁中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確定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回應代表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有接上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關閉瀏覽器分頁即結束（背景伺服器用 Ctrl+C 停）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工作目錄＝啟動 DSH 的專案根（本專案 ~/tw-selfselect），不需要額外初始化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技能（skills）：直接用自然語言描述，例如「用 finmind 抓台積電月營收」，DSH 會呼叫對應技能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在 Web 介面左側的 session 清單可以直接接續先前的對話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 中執行 dsh_web 會開啟 Web 介面（http://127.0.0.1:3080）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4" name="圖片 4"/>
          <p:cNvPicPr/>
          <p:nvPr/>
        </p:nvPicPr>
        <p:blipFill>
          <a:blip r:embed="rId1"/>
          <a:stretch/>
        </p:blipFill>
        <p:spPr>
          <a:xfrm>
            <a:off x="4379760" y="627840"/>
            <a:ext cx="7603560" cy="3003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5" name="圖片 8"/>
          <p:cNvPicPr/>
          <p:nvPr/>
        </p:nvPicPr>
        <p:blipFill>
          <a:blip r:embed="rId2"/>
          <a:srcRect l="0" t="-3829" r="48241" b="3829"/>
          <a:stretch/>
        </p:blipFill>
        <p:spPr>
          <a:xfrm>
            <a:off x="5629320" y="3886200"/>
            <a:ext cx="5105160" cy="2181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開啟專案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spcAft>
                <a:spcPts val="601"/>
              </a:spcAft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spcAft>
                <a:spcPts val="601"/>
              </a:spcAft>
              <a:buNone/>
            </a:pPr>
            <a:fld id="{1C9E4D82-5DED-4C13-9A2E-666F201AAF85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8" name="內容版面配置區 6"/>
          <p:cNvPicPr/>
          <p:nvPr/>
        </p:nvPicPr>
        <p:blipFill>
          <a:blip r:embed="rId1"/>
          <a:srcRect l="28689" t="23455" r="28959" b="11733"/>
          <a:stretch/>
        </p:blipFill>
        <p:spPr>
          <a:xfrm>
            <a:off x="1065240" y="1333440"/>
            <a:ext cx="4911480" cy="263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6437160" y="1333440"/>
            <a:ext cx="4911480" cy="460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開啟專案目錄 ~/tw-selfselect</a:t>
            </a:r>
            <a:br/>
            <a:r>
              <a:t>一般對話模式</a:t>
            </a:r>
            <a:br/>
            <a:r>
              <a:t>模型選 deepseek-flash</a:t>
            </a:r>
          </a:p>
        </p:txBody>
      </p:sp>
      <p:sp>
        <p:nvSpPr>
          <p:cNvPr id="120" name="PlaceHolder 4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spcAft>
                <a:spcPts val="601"/>
              </a:spcAft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spcAft>
                <a:spcPts val="601"/>
              </a:spcAft>
              <a:buNone/>
            </a:pPr>
            <a:fld id="{1B0820FB-9F4A-472C-BBBD-D5EC109D913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1293840" y="304920"/>
            <a:ext cx="9981720" cy="99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新增工作階段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=&gt;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提醒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DSH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用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wsl~/tw-selfselect/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當工作根目錄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sldNum" idx="3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65821F67-A770-417F-9FFC-0B3BF0BBF700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3" name="內容版面配置區 6"/>
          <p:cNvPicPr/>
          <p:nvPr/>
        </p:nvPicPr>
        <p:blipFill>
          <a:blip r:embed="rId1"/>
          <a:stretch/>
        </p:blipFill>
        <p:spPr>
          <a:xfrm>
            <a:off x="1330200" y="1219320"/>
            <a:ext cx="9781560" cy="5257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119160" cy="91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輸入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給我台積電今年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1~6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月的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線圖放在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br>
              <a:rPr sz="3200"/>
            </a:b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前加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執行會比較快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sldNum" idx="3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8EACE755-04A0-4E40-8292-2E49E4952AD0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6" name="內容版面配置區 5"/>
          <p:cNvPicPr/>
          <p:nvPr/>
        </p:nvPicPr>
        <p:blipFill>
          <a:blip r:embed="rId1"/>
          <a:stretch/>
        </p:blipFill>
        <p:spPr>
          <a:xfrm>
            <a:off x="1293840" y="1523880"/>
            <a:ext cx="911916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與沒使用的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基本上一樣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但是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/findmind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會比較快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(23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秒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vs 1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分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秒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sldNum" idx="32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B8EA3F56-2473-4404-9F02-AF0BEFEBA6D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8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9" name="圖片 10"/>
          <p:cNvPicPr/>
          <p:nvPr/>
        </p:nvPicPr>
        <p:blipFill>
          <a:blip r:embed="rId1"/>
          <a:srcRect l="17664" t="0" r="3853" b="0"/>
          <a:stretch/>
        </p:blipFill>
        <p:spPr>
          <a:xfrm>
            <a:off x="1293840" y="2438280"/>
            <a:ext cx="4911480" cy="411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0" name="內容版面配置區 8"/>
          <p:cNvPicPr/>
          <p:nvPr/>
        </p:nvPicPr>
        <p:blipFill>
          <a:blip r:embed="rId2"/>
          <a:srcRect l="14393" t="0" r="7722" b="5"/>
          <a:stretch/>
        </p:blipFill>
        <p:spPr>
          <a:xfrm>
            <a:off x="6516720" y="2438280"/>
            <a:ext cx="4911480" cy="411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67716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給我聯發科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1~6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月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檔放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sldNum" idx="3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E5750143-0A87-40F6-98D2-288464D26F25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303120" y="190512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已生成在 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~/tw-selfselect/img/mtk_kline_2026_h1.html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13KB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這是互動式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HTML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圖表，用瀏覽器直接開就能用，功能包含：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縮放：滑鼠框選區域放大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懸停：游標移到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線上看當日開高低收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成交量：下半部半透明柱狀圖，紅漲綠跌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深色主題，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116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個交易日資料（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1/2 ~ 6/30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34" name="內容版面配置區 6"/>
          <p:cNvPicPr/>
          <p:nvPr/>
        </p:nvPicPr>
        <p:blipFill>
          <a:blip r:embed="rId1"/>
          <a:stretch/>
        </p:blipFill>
        <p:spPr>
          <a:xfrm>
            <a:off x="4993200" y="1828800"/>
            <a:ext cx="6892200" cy="4038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293840" y="304920"/>
            <a:ext cx="967716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給我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2025~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現在的台股期貨走勢圖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放在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sldNum" idx="34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2C09BDCB-7B82-400D-82DB-085D4B645D77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303120" y="190512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已生成在 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~/tw-selfselect/img/mtk_kline_2026_h1.html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13KB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這是互動式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HTML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圖表，用瀏覽器直接開就能用，功能包含：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縮放：滑鼠框選區域放大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懸停：游標移到 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線上看當日開高低收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成交量：下半部半透明柱狀圖，紅漲綠跌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深色主題，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116 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個交易日資料（</a:t>
            </a:r>
            <a:r>
              <a:rPr lang="en-US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1/2 ~ 6/30</a:t>
            </a:r>
            <a:r>
              <a:rPr lang="zh-TW" sz="17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7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8" name="PlaceHolder 4"/>
          <p:cNvSpPr>
            <a:spLocks noGrp="1"/>
          </p:cNvSpPr>
          <p:nvPr>
            <p:ph/>
          </p:nvPr>
        </p:nvSpPr>
        <p:spPr>
          <a:xfrm>
            <a:off x="6094440" y="2286000"/>
            <a:ext cx="556236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39" name="圖片 8"/>
          <p:cNvPicPr/>
          <p:nvPr/>
        </p:nvPicPr>
        <p:blipFill>
          <a:blip r:embed="rId1"/>
          <a:stretch/>
        </p:blipFill>
        <p:spPr>
          <a:xfrm>
            <a:off x="38160" y="990720"/>
            <a:ext cx="12188520" cy="586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1304280" y="423720"/>
            <a:ext cx="997128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如何於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windows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中的檔案</a:t>
            </a:r>
            <a:br>
              <a:rPr sz="3200"/>
            </a:b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同名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Zone Identifier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用來存放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屬性給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windwos)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1" name="內容版面配置區 6"/>
          <p:cNvPicPr/>
          <p:nvPr/>
        </p:nvPicPr>
        <p:blipFill>
          <a:blip r:embed="rId1"/>
          <a:stretch/>
        </p:blipFill>
        <p:spPr>
          <a:xfrm>
            <a:off x="1304280" y="1219320"/>
            <a:ext cx="9781560" cy="52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3193C5DC-891C-492B-8210-6AC3363C7BEE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1281240" y="151200"/>
            <a:ext cx="9971280" cy="795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年底一整年的股市資料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挑出當時十家最值得投資的股票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含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ETF),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並列出其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年走勢圖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第一次結果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4" name="圖片 7"/>
          <p:cNvPicPr/>
          <p:nvPr/>
        </p:nvPicPr>
        <p:blipFill>
          <a:blip r:embed="rId1"/>
          <a:stretch/>
        </p:blipFill>
        <p:spPr>
          <a:xfrm>
            <a:off x="1185480" y="1219320"/>
            <a:ext cx="10208880" cy="548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5579861D-447B-4958-9C3C-D3297919949A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281240" y="151200"/>
            <a:ext cx="9971280" cy="795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/finmind,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年底一整年的股市資料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挑出當時十家最值得投資的股票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含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ETF),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並列出其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年走勢圖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修正結果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怎麼選最值得投資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問一問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再討論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7" name="圖片 5"/>
          <p:cNvPicPr/>
          <p:nvPr/>
        </p:nvPicPr>
        <p:blipFill>
          <a:blip r:embed="rId1"/>
          <a:stretch/>
        </p:blipFill>
        <p:spPr>
          <a:xfrm>
            <a:off x="1258200" y="1371600"/>
            <a:ext cx="9828000" cy="528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67E2A7F5-7616-4612-B228-9D068D969888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229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AI(Deepseek)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選股原則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/>
          </p:nvPr>
        </p:nvSpPr>
        <p:spPr>
          <a:xfrm>
            <a:off x="6094440" y="1219320"/>
            <a:ext cx="556236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原則 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3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不做主觀調整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產業偏好不加分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冷門但績效好不扣分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只讓數據決定排名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人只負責修正演算法缺陷，不手動調整排名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註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夏普比率（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Sharpe Ratio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）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白話：你每承擔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單位波動，換到多少超額報酬。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/>
          </p:nvPr>
        </p:nvSpPr>
        <p:spPr>
          <a:xfrm>
            <a:off x="836640" y="1219320"/>
            <a:ext cx="504648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原則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先過濾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，再評分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日均成交量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&gt;= 1,000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張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全年交易日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&gt;= 200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天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純績效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三維評分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總分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總報酬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50% +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夏普比率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25% +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最大回撤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反向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x 25%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總報酬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50% 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這段期間到底是賺是賠？核心指標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夏普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比率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25% 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每承擔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單位波動換到多少報酬？效率指標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最大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回撤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 25% |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從高點到低點最多賠多少？心臟強度指標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|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F75E054E-F947-43AC-AB0A-6B5099657405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229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6094440" y="1219320"/>
            <a:ext cx="556236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836640" y="1219320"/>
            <a:ext cx="1066752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反向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ETF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的設計是「大盤跌多少，它就漲多少」。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00632R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追蹤的是「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台灣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指數的單日反向報酬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」：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情境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50 (0050)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(00632R)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大盤漲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-1%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大盤跌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跌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-1%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+1%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38477E0E-1C65-4AAF-8BB0-2AC2F5FEA29A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1311120" y="380880"/>
            <a:ext cx="1004040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反向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55" name="內容版面配置區 6"/>
          <p:cNvPicPr/>
          <p:nvPr/>
        </p:nvPicPr>
        <p:blipFill>
          <a:blip r:embed="rId1"/>
          <a:stretch/>
        </p:blipFill>
        <p:spPr>
          <a:xfrm>
            <a:off x="1311120" y="800280"/>
            <a:ext cx="10561320" cy="567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66F6E995-48A4-44FD-9A63-73429E12AB72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1293840" y="190440"/>
            <a:ext cx="8229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6094440" y="1219320"/>
            <a:ext cx="556236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00632R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元大台灣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台灣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台股反向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00664R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國泰台灣加權反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發行量加權股價指數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00676R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富邦台灣加權反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發行量加權股價指數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00648R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元大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S&amp;P500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S&amp;P 500 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美股反向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00668R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國泰美國道瓊反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道瓊工業指數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美股反向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00670R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富邦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NASDAQ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NASDAQ 100 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美股反向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00636R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國泰中國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新華富時中國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指數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陸股反向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180000" y="1080000"/>
            <a:ext cx="7020000" cy="54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台灣正向 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ETF 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很多，以常見的分類：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類別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代號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名稱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特色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大盤型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0050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元大台灣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大權值股，最經典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006208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富邦台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同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但內扣稍低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00692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富邦公司治理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公司治理評鑑前段班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0056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預測未來一年高股息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00878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國泰永續高股息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ESG+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高股息，人氣高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00919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群益台灣精選高息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季配息，選股邏輯不同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00713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元大高息低波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低波動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00900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富邦特選高股息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換股頻率高，追逐當下高息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市值型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00690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兆豐藍籌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藍籌股精選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30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科技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0052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富邦科技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科技類股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金融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0055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MSCI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金融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金融類股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00850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元大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永續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ESG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篩選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ts val="839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總體市場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006204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永豐臺灣加權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直接追蹤大盤加權指數</a:t>
            </a:r>
            <a:br>
              <a:rPr sz="1800"/>
            </a:b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7DBFC100-6947-43C3-A08B-B3692238C227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229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AI(Google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網頁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選股原則</a:t>
            </a:r>
            <a:br>
              <a:rPr sz="3200"/>
            </a:b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就只看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Finmind, TWSE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的股市資料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選出值得投資的台股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你有甚麼簡單原則來選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endParaRPr lang="en-US" sz="20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6094440" y="1600200"/>
            <a:ext cx="5562360" cy="4647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3.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法人籌碼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強度（跟隨大戶資金）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篩選原則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投信或外資連續買超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，且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籌碼買超強度在全市場排名前列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。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核心目的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：單純看法人買超張數容易有大型股偏誤（如台積電動輒幾萬張）。改用「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買超張數佔成交量比例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」能有效抓出法人正在默默認養、中小型股本的波段飆股。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4.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價格與估值控制（避免追高套牢）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篩選原則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本益比 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(PE)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低於同業均值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，或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股價位於季線 </a:t>
            </a:r>
            <a:r>
              <a:rPr lang="en-US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(60MA) </a:t>
            </a: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之上且回檔不破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。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核心目的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：結合 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TWSE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每日公告的個股本益比，在動能強勁的股票中，優先挑選估值尚未過度膨脹、技術面維持多頭排列的標的，作為最後的安全氣囊。 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/>
          </p:nvPr>
        </p:nvSpPr>
        <p:spPr>
          <a:xfrm>
            <a:off x="836640" y="1219320"/>
            <a:ext cx="504648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流動性過濾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（防範流動性風險）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篩選原則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日平均成交量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&gt; 500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張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核心目的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：剔除成交量過低的「殭屍股」，確保資金在大進大出時不會產生嚴重的滑價，實單能夠順利成交。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營收成長動能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（基本面把關）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篩選原則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月營收年增率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(YoY) &gt; 0%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，且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月營收創近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12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個月新高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核心目的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：月營收是台股特有且最即時的基本面指標（每月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號前公布）。營收創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12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個月新高代表公司正處於強烈的產業上升循環，通常會帶來實質的波段漲幅。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6EEC4F19-8FC7-4521-AFFB-F7F33419E020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610120" cy="57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DSH 的 plan 模式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sldNum" idx="35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26E73691-0C2E-4B2E-A6DF-870766C29E95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/>
          </p:nvPr>
        </p:nvSpPr>
        <p:spPr>
          <a:xfrm>
            <a:off x="1311120" y="1189800"/>
            <a:ext cx="2420640" cy="223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你提出需求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Plan Builder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會制訂一個放在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.omo/plans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下的工作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65" name="內容版面配置區 6"/>
          <p:cNvPicPr/>
          <p:nvPr/>
        </p:nvPicPr>
        <p:blipFill>
          <a:blip r:embed="rId1"/>
          <a:stretch/>
        </p:blipFill>
        <p:spPr>
          <a:xfrm>
            <a:off x="3960720" y="1081440"/>
            <a:ext cx="7854480" cy="5242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1311120" y="142560"/>
            <a:ext cx="8610120" cy="57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DSH 的 plan 模式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ldNum" idx="3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C23251F3-316F-442D-9EAA-93EA7EAFA97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843480" y="714600"/>
            <a:ext cx="3421440" cy="1647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確認計畫後 DSH 就會開始執行；過程中有問題直接在對話追加指示，或切回 plan 模式重新規劃。完成後在介面看得到結果；長時間任務可用 goal 讓它分回合續跑，不用一直盯著螢幕。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完成後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會有聲音題示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69" name="內容版面配置區 7"/>
          <p:cNvPicPr/>
          <p:nvPr/>
        </p:nvPicPr>
        <p:blipFill>
          <a:blip r:embed="rId1"/>
          <a:stretch/>
        </p:blipFill>
        <p:spPr>
          <a:xfrm>
            <a:off x="5103720" y="1021680"/>
            <a:ext cx="6516360" cy="540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0" name="圖片 9"/>
          <p:cNvPicPr/>
          <p:nvPr/>
        </p:nvPicPr>
        <p:blipFill>
          <a:blip r:embed="rId2"/>
          <a:stretch/>
        </p:blipFill>
        <p:spPr>
          <a:xfrm>
            <a:off x="591120" y="2309040"/>
            <a:ext cx="4400640" cy="4115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1311120" y="142560"/>
            <a:ext cx="8610120" cy="57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跨工作階段知識沉澱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sldNum" idx="3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A63886EF-F766-44CF-89C2-BC5265423A1B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843480" y="714600"/>
            <a:ext cx="10889280" cy="560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AI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沒有記憶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——每個新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session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都是全新開始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上次修過的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bug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、做過的決策，下次可能重蹈覆轍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真正的記憶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寫在專案裡、下次會被讀到的東西：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AGENTS.md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：專案規則（進入必讀）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cairn/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LOG.md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：時間序日誌（做了什麼）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cairn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/&lt;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主題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&gt;.md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：知識專題（陷阱、根因、檢查清單）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實例：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cache bug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反覆發生 → 快取版本化＋回歸測試＋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知識專題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→ 根治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1311120" y="142560"/>
            <a:ext cx="8610120" cy="57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知識沉澱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檔案內容（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自動產生）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sldNum" idx="38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B6EAC117-B611-4B17-8E82-BDA9CFBA8E24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843480" y="714600"/>
            <a:ext cx="10812960" cy="57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~/tw-selfselect/cairn/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……….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回測資料完整性與快取陷阱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##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症狀（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2026-08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事件）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舊版策略的舊官方數字：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**+85.22%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、勝率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71.72%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、回撤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22%**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，乾淨資料重測後無法重現，實際為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**-13.05%**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舊數字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取決於當時快取狀態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——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同一份程式碼、不同的快取內容會得到完全不同的績效數字。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##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根因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價格快取混入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yfinance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還原價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`auto_adjust`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預設為調整後價格（除權除息調整），系統性偏低，造成進場價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訊號失真。已改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`auto_adjust=False`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使用原始價。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……..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610120" cy="57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費用分析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sldNum" idx="3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D5696718-D5F5-49AF-BEF2-C28C5A0BEED7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921600" y="1189800"/>
            <a:ext cx="4029120" cy="5058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PRO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約比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FLASH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貴四倍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Cache Hit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比 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Miss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便宜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(Deepseek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原廠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經銷商可能不同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同一對話不要常換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模型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一天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千萬個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token,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花費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1~2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毛美元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一個月不到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美元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只要充值即可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80" name="內容版面配置區 9"/>
          <p:cNvPicPr/>
          <p:nvPr/>
        </p:nvPicPr>
        <p:blipFill>
          <a:blip r:embed="rId1"/>
          <a:stretch/>
        </p:blipFill>
        <p:spPr>
          <a:xfrm>
            <a:off x="7085160" y="1066680"/>
            <a:ext cx="4181760" cy="312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1" name="圖片 7"/>
          <p:cNvPicPr/>
          <p:nvPr/>
        </p:nvPicPr>
        <p:blipFill>
          <a:blip r:embed="rId2"/>
          <a:stretch/>
        </p:blipFill>
        <p:spPr>
          <a:xfrm>
            <a:off x="2750400" y="1114200"/>
            <a:ext cx="4067280" cy="2219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圖片 12"/>
          <p:cNvPicPr/>
          <p:nvPr/>
        </p:nvPicPr>
        <p:blipFill>
          <a:blip r:embed="rId3"/>
          <a:stretch/>
        </p:blipFill>
        <p:spPr>
          <a:xfrm>
            <a:off x="5103720" y="4677840"/>
            <a:ext cx="6449040" cy="133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文字方塊 13"/>
          <p:cNvSpPr/>
          <p:nvPr/>
        </p:nvSpPr>
        <p:spPr>
          <a:xfrm>
            <a:off x="7313760" y="4317840"/>
            <a:ext cx="40867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Flash                      Pro  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455760" y="495360"/>
            <a:ext cx="518112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請自行練習使用</a:t>
            </a: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下指令</a:t>
            </a:r>
            <a:br>
              <a:rPr sz="4800"/>
            </a:b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1335</TotalTime>
  <Application>LibreOffice/26.2.4.2$Linux_X86_64 LibreOffice_project/620$Build-2</Application>
  <AppVersion>15.0000</AppVersion>
  <Words>1957</Words>
  <Paragraphs>163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zh-TW</dc:language>
  <cp:lastModifiedBy/>
  <dcterms:modified xsi:type="dcterms:W3CDTF">2026-08-20T15:32:45Z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24</vt:i4>
  </property>
</Properties>
</file>