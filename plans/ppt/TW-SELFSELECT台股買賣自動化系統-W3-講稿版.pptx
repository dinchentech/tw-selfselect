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6CCAF29-F1C4-4FDF-85EC-A011D7AC205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560" cy="342756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歡迎回來，這是第三堂課。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前兩週我們把環境建好了，也認識了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。這一週是整個課程的轉折點——我們要正式認識我們的「主力同事」：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。學會怎麼跟它下指令，之後所有程式都交給它寫。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【講師提示】強調這堂課是「人機協作」的開始，學員心態要從「學寫程式」轉為「學下指令」。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6B9E74-6565-4473-AF49-E66A1FAFC9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在開始之前，有幾個前置設定要先確認。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第一，請確定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可以正常啟動（本課程用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token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放在專案的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FINMIND_API_TOKEN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執行專案腳本時會直接讀到，不需要另外設定。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在專案根目錄啟動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dsh_web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（瀏覽器開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http://127.0.0.1:3080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）。一般任務直接對話；規劃階段用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模式，先確認計畫再執行。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確認每位學員的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都能正常回應（打一句「我們溝通都用繁中」看看）。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40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E3413F-171A-40F9-86A0-B3BF66F8B1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這一頁講模型選擇。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介面要換模型，就在右下角、輸入框旁邊的下拉選單——點開就能選。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本課程統一用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：一般問題夠用；真的比較複雜的任務，再換更大的模型。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再強調一次：同一段對話不要混用其他廠牌模型。不同模型對上下文的理解不一樣，換來換去邏輯容易亂掉；而且快取會失效，費用也跟著變高。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【講師提示】強調「同一對話不要混模型」，這是費用與品質的雙重關鍵。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41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102D773-8C5A-4B69-A62E-B6713F148C0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的常用操作整理成一張速查表，六件事。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第一，先打一句「我們溝通都用繁中」，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有回應，就代表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有接上。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第二，關掉瀏覽器分頁，介面就結束了；背景的伺服器還在跑，要停就在終端機按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Ctrl+C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第三，工作目錄就是啟動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的那個專案根，本專案是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，不需要額外初始化。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第四，技能（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skills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）直接用自然語言描述，例如「用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抓台積電月營收」，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會自己呼叫對應技能。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第五，想接續先前的對話，看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介面左側的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清單，點一下就回到那一段。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第六，在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裡執行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dsh_web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，瀏覽器開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http://127.0.0.1:3080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介面。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這張表之後每週都會用到，建議先抄下來或截圖。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【講師提示】這頁是操作速查表，建議讓學員抄下來或截圖，之後每週都會用到。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42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4E2F3A5-444B-4673-BEFA-2FDEF9E1C9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現在實際操作。第一步：把工作目錄開到專案根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；第二步：一般對話模式直接下指令；第三步：模型選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。三個步驟就完成開場設定。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【講師提示】現場示範三步驟，請學員跟著做。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3941CA-3269-48C5-BC17-0F84CDC536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接著，新增一個工作階段。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新增之後，第一句話建議先提醒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當工作根目錄。這樣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才能正確掃描專案檔案，針對你的專案回答問題——這跟一般聊天型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最大的不同就在這裡。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【講師提示】強調「工作根目錄」概念，這是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能回答專案問題的關鍵。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22F3DA-02B0-4A97-90CE-95925B8B861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來，下第一個真實指令。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輸入：「給我台積電今年一到六月的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線圖，放在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資料夾下」。建議前面加上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，執行會比較快。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？因為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是免費的股市資料庫，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透過這個技能可以直接取得台股歷史資料，不用自己慢慢抓。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【講師提示】這是學員第一次看到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產出圖表，放慢節奏，讓大家感受「一句話→一張圖」的過程。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5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58D239B-BC75-47FF-916D-19326B7DCF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這頁比較了用與不用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的差異。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大家可以看畫面上的對比——基本上兩邊畫出來的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線圖一樣，但是速度差很多：使用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只要二十三秒，沒用則要一分零一秒。差了三倍以上。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所以之後下指令，記得養成習慣：查股市資料，前面先加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【講師提示】用實際計時數據強調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的價值，養成學員的使用習慣。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46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BEE42C6-2919-42C1-9490-343176562D6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再來一個例子。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已經生成在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這是一個互動式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圖表，用瀏覽器直接開就能用。功能包含：滑鼠框選區域可以縮放；游標移到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線上可以看到當天的開高低收；下半部有半透明的成交量柱狀圖，紅漲綠跌；深色主題，總共一百一十六個交易日的資料。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【講師提示】現場直接開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示範縮放與懸停，讓學員看到「互動式圖表」不只是靜態圖片。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47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93CFDD-967F-46E4-93C1-B95D9FE2A8D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再挑戰一個：台股期貨。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輸入「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給我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到現在的台股期貨走勢圖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一樣幫你生成互動式圖表，功能跟剛剛聯發科那張一樣——縮放、懸停看數值、成交量柱狀圖。你看，不管是個股還是期貨，只要一句話，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都能處理。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【講師提示】這頁畫面內容若與上一頁雷同是投影片複製問題，講解以「期貨走勢圖」為主即可，不必糾結畫面上的文字。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48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5DE570-C9FD-4330-ADBA-F8E09AE96E0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使用的小技巧。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你生成出來的圖表檔案在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裡面，那要怎麼在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打開？很簡單——在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的檔案總管網址列輸入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wsl.localhost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，就能看到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的檔案系統，直接瀏覽取用。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另外你可能會發現有些檔案旁邊出現「同名的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.Zone.Identifier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檔案」——這是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用來存放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屬性給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看的標記，正常現象，不用理它。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【講師提示】現場示範從檔案總管開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wsl.localhost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，找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資料夾的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AB5174-7D75-4825-946F-1BE251EA146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接下來是重頭戲——讓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幫我們選股。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指令是：「用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年底一整年的股市資料，挑出當時十家最值得投資的股票，包含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，並列出它們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年的走勢圖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這是第一次的結果。大家可以看看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選出了什麼——不過，重點在下一頁。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【講師提示】先讓學員看結果，但提示「這個結果還不夠好」，製造懸念。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50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46E946-575E-4DD9-A687-328894FB78D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這是修正後的結果。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為什麼要修正？因為「怎麼選最值得投資」這個問題太模糊了——每個人對「值得」的定義不同。正確做法是：問一問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它的選股原則，然後跟它討論，把原則講清楚，再讓它重新選。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這正是使用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的核心心態：不是丟一個問題就結束，而是透過對話把問題定義清楚。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討論原則」的過程比結果重要，這是本課程的方法論核心。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8476C5-9772-417B-B058-8D7E517C97B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最後採用的選股原則。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先認識一個名詞：夏普比率。白話說，就是你每承擔一單位波動，換到多少超額報酬——是衡量「效率」的指標。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原則一：先過濾，再評分。過濾條件有兩個：日均成交量要大於等於一千張，確保股票流動性夠；全年交易日大於等於兩百天，確保資料完整。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二是純績效三維評分，總分等於：總報酬乘五十趴，加上夏普比率乘二十五趴，加上最大回撤的反向乘二十五趴。總報酬代表這段期間到底賺還是賠，是核心指標；夏普比率是效率指標；最大回撤代表從高點到低點最多賠多少，是心臟強度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原則三：不做主觀調整——產業偏好不加分，冷門但績效好不扣分，只讓數據決定排名，人只負責修正演算法缺陷，不手動調整排名。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【講師提示】這頁資訊量最大，建議放慢。三個原則可以配合畫面逐條講，強調「數據說話、人只修演算法」的紀律。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2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39F1D05-CA8D-4203-807A-F04BA6B715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補充一下反向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的知識。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的設計是「大盤跌多少，它就漲多少」。以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為例，它追蹤的是台灣五十指數的單日反向報酬：大盤漲百分之一，它跌百分之一；大盤跌百分之一，它漲百分之一。看畫面上的情境表就很清楚——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的漲跌永遠相反。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記住，是「單日」反向——這是反向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的特性，長期持有會因為複利計算產生誤差，所以它比較適合短線避險，不適合長期持有。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【講師提示】用「大盤跌→它漲」的口訣帶過，強調「單日反向」與「不適合長期持有」兩個重點。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53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F798EE3-C72B-43EA-9F7D-96567DC5C3F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這頁要提醒大家一個重點。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在台灣，反向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其實是少數——而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，元大台灣五十反一，就是台灣少數的反向元大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。它透過衍生性金融商品，追蹤台灣五十指數的單日反向報酬：大盤跌，它就漲，是看空台股的工具。詳細的標的清單，下一頁看。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【講師提示】強調「台灣反向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少、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是其中代表」，這是這頁的核心訊息。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8B94D6-95C6-4CA8-A337-5E4B67C3F21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這頁是台灣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的實用清單，分成兩部分。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上半部是反向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元大台灣五十反一，追蹤台灣五十指數；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00664R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00676R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是台股加權反一；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00648R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00668R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00670R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分別對應美股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S&amp;P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五百、道瓊、那斯達克的反向；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00636R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是陸股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下半部是常見的正向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，依類別分類：大盤型有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006208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00692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；高股息有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0056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00878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00919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00713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00900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；另外還有市值型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00690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、科技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0052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、金融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0055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ESG 00850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，以及直接追蹤大盤的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006204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【講師提示】這頁是參考清單，不必逐檔唸，帶過分類即可，提醒學員之後選股會用到。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55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D0A062-A1F3-4217-9DDD-D102A12F97A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除了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，我們也問了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，看它選股有什麼原則。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原則一，流動性過濾：二十日平均成交量要大於五百張，目的是剔除成交量過低的殭屍股，確保大資金進出時不會有嚴重滑價，實單能順利成交。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原則二，營收成長動能：月營收年增率大於零，而且月營收創近十二個月新高。月營收是台股特有、最即時的基本面指標——營收創新高代表公司正處於強烈的產業上升循環。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原則三，法人籌碼強度：投信或外資連續買超，而且買超張數佔成交量比例排全市場前列。用比例而不是張數，可以避免大型股偏誤，抓出法人正在默默認養的中小型波段飆股。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原則四，價格與估值控制：本益比低於同業均值，或股價站上季線且回檔不破——在動能強的股票中，優先挑估值還沒過度膨脹、技術面維持多頭的標的，當作最後的安全氣囊。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【講師提示】可以對比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兩種原則——一個純績效導向，一個基本面加籌碼導向，讓學員理解「不同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有不同選股哲學」。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6BCBB02-0AF6-4D52-89AF-630F055D7E3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當你的任務比較複雜時，可以用這個模式。你提出需求，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模式會先寫一份工作計畫（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Markdown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）給你看——先規劃，再執行。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計畫建好之後怎麼執行？確認計畫後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就會開始執行；過程中有問題直接在對話追加指示，或切回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模式重新規劃。完成後在介面看得到結果；長時間任務可用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讓它分回合續跑，不用一直盯著螢幕。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【講師提示】強調「先計畫再動手」是複雜任務的標準流程，跟寫程式前的設計圖概念一樣；現場示範一次「計畫→核准→執行」的完整循環，讓學員看到端到端長什麼樣。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1C84A84-E085-4B30-A758-30F79AB3D2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為什麼要講知識沉澱？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因為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沒有記憶——每個新的工作階段都是全新開始，上次修過的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，下次可能又踩一次。真正的記憶，是寫在專案裡、下次會被讀到的東西：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AGENTS.md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是規則入口，進入專案必讀；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cairn/LOG.md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記錄做了什麼；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底下的知識專題記錄陷阱與根因。而且這些檔案跟著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進版控，換機器、換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都還在。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我們的舊回測就實際發生過——同樣的快取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反覆出現好幾次，最後靠「快取版本化＋回歸測試＋知識專題」三管齊下才根治。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會失憶」的比喻讓學員理解為什麼要養成記錄習慣；強調這是工程師與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協作的關鍵紀律。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400AA6-C37D-4F07-B40B-BDB551C9632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這一頁，讓大家看看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實際幫我們產出的知識沉澱檔案。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畫面上是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~/tw-selfselect/cairn/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底下的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backtest-data-pitfalls.md——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自動產生的檔案。內容把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2026-08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「回測數字無法重現」拆成好幾類根因，並寫下現行的防護措施。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一開始是背景與症狀：舊官方數字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+85.22%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在乾淨資料下無法重現，實際只有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-13.05%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；接著一類一類列根因——價格快取混入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yfinance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還原價、回測與實盤共用快取導致長短歷史互相覆寫、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yfinance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對最新交易日回傳「只有量、沒有價」的半成品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棒。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每一類後面都接「實踐指南」：遇到這個症狀該跑哪支工具、修補前要備份到哪裡、舊資料為什麼不能亂動。最後是教訓，還有幾個還沒解決的開放問題。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重點是：這些內容不是老師手寫的，是修完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之後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自動沉澱下來的。下次開新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一進專案就會讀到，同樣的坑就不會再踩。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【講師提示】現場打開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與其下的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目錄，展示真實檔案（根目錄的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AGENTS.md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，以及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cairn/LOG.md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cairn/backtest-data-pitfalls.md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cairn/environment-scope.md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），讓學員知道之後他們的專案也會自動長出這些知識檔。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59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E1632C-69A0-4D57-BE20-0750E4136AD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最後講錢的事情——用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要花多少？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先看數據：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大約比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貴四倍；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Hit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便宜約五十倍——這是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原廠價格，經銷商可能不同。這解釋了為什麼我們強調「同一對話不要常換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模型」：一直換模型，快取一直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，費用就上去了。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實際花費呢？一天兩千萬個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，大約一到兩毛美元，一個月不到十美元。所以基本上只要充值就好，負擔很低。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【講師提示】用「兩千萬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才一兩毛美金」的具體數字打消學員對費用的疑慮，強調「不要混模型」是省錢關鍵。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60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7D9070E-207E-4EC3-BA9E-F257D01DA8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好，這堂課到這裡。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請大家自行練習使用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下指令——越熟練，之後的策略課程越輕鬆。我是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，信箱是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frank@dinchen.com.tw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，有問題歡迎寫信。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今天的功課：完成本週的四個指令練習——台積電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線、聯發科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線、期貨走勢圖、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選股。我們下次見！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【講師提示】收尾把功課清單唸一次，強調「熟練下指令」是之後所有週次的基礎。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61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A5558F-2F0A-4578-9381-E038688194D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4"/>
          <p:cNvSpPr/>
          <p:nvPr/>
        </p:nvSpPr>
        <p:spPr>
          <a:xfrm>
            <a:off x="6361200" y="1317240"/>
            <a:ext cx="5027760" cy="50277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7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05B9EC7-790C-4C8F-8091-DD953279B5B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28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FDA06631-3281-43E1-A1EF-682BD3164D7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6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320" cy="3961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520" cy="686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560" cy="388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560" cy="53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2"/>
          <p:cNvSpPr/>
          <p:nvPr/>
        </p:nvSpPr>
        <p:spPr>
          <a:xfrm>
            <a:off x="10975680" y="49870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3"/>
          <p:cNvSpPr/>
          <p:nvPr/>
        </p:nvSpPr>
        <p:spPr>
          <a:xfrm>
            <a:off x="10118880" y="35812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9"/>
          <p:cNvSpPr/>
          <p:nvPr/>
        </p:nvSpPr>
        <p:spPr>
          <a:xfrm>
            <a:off x="7026120" y="0"/>
            <a:ext cx="4460040" cy="1979640"/>
          </a:xfrm>
          <a:custGeom>
            <a:avLst/>
            <a:gdLst>
              <a:gd name="textAreaLeft" fmla="*/ 0 w 4460040"/>
              <a:gd name="textAreaRight" fmla="*/ 4461480 w 4460040"/>
              <a:gd name="textAreaTop" fmla="*/ 0 h 1979640"/>
              <a:gd name="textAreaBottom" fmla="*/ 1981080 h 197964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Rectangle 2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8ACAC3C-0BDB-489A-8EA6-DE30C271C593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9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280" cy="3503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16"/>
          <p:cNvSpPr/>
          <p:nvPr/>
        </p:nvSpPr>
        <p:spPr>
          <a:xfrm>
            <a:off x="7026120" y="0"/>
            <a:ext cx="4460040" cy="1979640"/>
          </a:xfrm>
          <a:custGeom>
            <a:avLst/>
            <a:gdLst>
              <a:gd name="textAreaLeft" fmla="*/ 0 w 4460040"/>
              <a:gd name="textAreaRight" fmla="*/ 4461480 w 4460040"/>
              <a:gd name="textAreaTop" fmla="*/ 0 h 1979640"/>
              <a:gd name="textAreaBottom" fmla="*/ 1981080 h 197964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Rectangle 1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Cross 5"/>
          <p:cNvSpPr/>
          <p:nvPr/>
        </p:nvSpPr>
        <p:spPr>
          <a:xfrm>
            <a:off x="6683040" y="139716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Cross 6"/>
          <p:cNvSpPr/>
          <p:nvPr/>
        </p:nvSpPr>
        <p:spPr>
          <a:xfrm>
            <a:off x="11085480" y="56386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9ED1E16-E1FD-49C8-B4C8-3F25D891319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40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40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Freeform: Shape 14"/>
          <p:cNvSpPr/>
          <p:nvPr/>
        </p:nvSpPr>
        <p:spPr>
          <a:xfrm>
            <a:off x="9958320" y="0"/>
            <a:ext cx="2229120" cy="1979640"/>
          </a:xfrm>
          <a:custGeom>
            <a:avLst/>
            <a:gdLst>
              <a:gd name="textAreaLeft" fmla="*/ 0 w 2229120"/>
              <a:gd name="textAreaRight" fmla="*/ 2230560 w 2229120"/>
              <a:gd name="textAreaTop" fmla="*/ 0 h 1979640"/>
              <a:gd name="textAreaBottom" fmla="*/ 1981080 h 197964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Rectangle 1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2"/>
          <p:cNvSpPr/>
          <p:nvPr/>
        </p:nvSpPr>
        <p:spPr>
          <a:xfrm>
            <a:off x="7846920" y="3808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4"/>
          <p:cNvSpPr/>
          <p:nvPr/>
        </p:nvSpPr>
        <p:spPr>
          <a:xfrm>
            <a:off x="8559720" y="10666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498A601-E258-41EC-866A-BFE6E85E10E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400" cy="426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400" cy="426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Freeform: Shape 8"/>
          <p:cNvSpPr/>
          <p:nvPr/>
        </p:nvSpPr>
        <p:spPr>
          <a:xfrm>
            <a:off x="2131920" y="0"/>
            <a:ext cx="7923240" cy="6856560"/>
          </a:xfrm>
          <a:custGeom>
            <a:avLst/>
            <a:gdLst>
              <a:gd name="textAreaLeft" fmla="*/ 0 w 7923240"/>
              <a:gd name="textAreaRight" fmla="*/ 7924680 w 7923240"/>
              <a:gd name="textAreaTop" fmla="*/ 0 h 6856560"/>
              <a:gd name="textAreaBottom" fmla="*/ 6858000 h 685656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Left Brace 7"/>
          <p:cNvSpPr/>
          <p:nvPr/>
        </p:nvSpPr>
        <p:spPr>
          <a:xfrm>
            <a:off x="5560920" y="2022120"/>
            <a:ext cx="836640" cy="281268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560" cy="58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040" cy="23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Freeform: Shape 12"/>
          <p:cNvSpPr/>
          <p:nvPr/>
        </p:nvSpPr>
        <p:spPr>
          <a:xfrm>
            <a:off x="0" y="1440"/>
            <a:ext cx="3426840" cy="6855120"/>
          </a:xfrm>
          <a:custGeom>
            <a:avLst/>
            <a:gdLst>
              <a:gd name="textAreaLeft" fmla="*/ 0 w 3426840"/>
              <a:gd name="textAreaRight" fmla="*/ 3428280 w 3426840"/>
              <a:gd name="textAreaTop" fmla="*/ 0 h 6855120"/>
              <a:gd name="textAreaBottom" fmla="*/ 6856560 h 685512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360" cy="529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360" cy="285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13"/>
          <p:cNvSpPr/>
          <p:nvPr/>
        </p:nvSpPr>
        <p:spPr>
          <a:xfrm>
            <a:off x="4837680" y="91440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Cross 14"/>
          <p:cNvSpPr/>
          <p:nvPr/>
        </p:nvSpPr>
        <p:spPr>
          <a:xfrm>
            <a:off x="3085200" y="569592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Left Brace 1"/>
          <p:cNvSpPr/>
          <p:nvPr/>
        </p:nvSpPr>
        <p:spPr>
          <a:xfrm>
            <a:off x="5560920" y="2022120"/>
            <a:ext cx="836640" cy="281268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Oval 6"/>
          <p:cNvSpPr/>
          <p:nvPr/>
        </p:nvSpPr>
        <p:spPr>
          <a:xfrm>
            <a:off x="6703920" y="1148400"/>
            <a:ext cx="4559760" cy="45597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1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4920" cy="566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ross 8"/>
          <p:cNvSpPr/>
          <p:nvPr/>
        </p:nvSpPr>
        <p:spPr>
          <a:xfrm>
            <a:off x="10818720" y="535320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0"/>
          <p:cNvSpPr/>
          <p:nvPr/>
        </p:nvSpPr>
        <p:spPr>
          <a:xfrm>
            <a:off x="6336000" y="80568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280" cy="403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280" cy="110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560" cy="5089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Oval 4"/>
          <p:cNvSpPr/>
          <p:nvPr/>
        </p:nvSpPr>
        <p:spPr>
          <a:xfrm>
            <a:off x="3274920" y="609480"/>
            <a:ext cx="5637240" cy="56372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Left Brace 7"/>
          <p:cNvSpPr/>
          <p:nvPr/>
        </p:nvSpPr>
        <p:spPr>
          <a:xfrm>
            <a:off x="5560920" y="2022120"/>
            <a:ext cx="836640" cy="281268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560" cy="58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040" cy="2812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3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Cross 8"/>
          <p:cNvSpPr/>
          <p:nvPr/>
        </p:nvSpPr>
        <p:spPr>
          <a:xfrm>
            <a:off x="8151840" y="567072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D1A86B7-36A3-4E11-9994-89603281206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560" cy="426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Cross 14"/>
          <p:cNvSpPr/>
          <p:nvPr/>
        </p:nvSpPr>
        <p:spPr>
          <a:xfrm>
            <a:off x="7351560" y="4419720"/>
            <a:ext cx="684360" cy="684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Freeform: Shape 4"/>
          <p:cNvSpPr/>
          <p:nvPr/>
        </p:nvSpPr>
        <p:spPr>
          <a:xfrm>
            <a:off x="8609040" y="-21960"/>
            <a:ext cx="3578400" cy="6900480"/>
          </a:xfrm>
          <a:custGeom>
            <a:avLst/>
            <a:gdLst>
              <a:gd name="textAreaLeft" fmla="*/ 0 w 3578400"/>
              <a:gd name="textAreaRight" fmla="*/ 3579840 w 3578400"/>
              <a:gd name="textAreaTop" fmla="*/ 0 h 6900480"/>
              <a:gd name="textAreaBottom" fmla="*/ 6901920 h 690048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val 4"/>
          <p:cNvSpPr/>
          <p:nvPr/>
        </p:nvSpPr>
        <p:spPr>
          <a:xfrm>
            <a:off x="6703920" y="838080"/>
            <a:ext cx="5027760" cy="50277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0" y="0"/>
            <a:ext cx="758880" cy="68565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82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49640" cy="380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4301C1C-F790-46D3-BE57-ACB95603CBB7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440" y="2592720"/>
            <a:ext cx="44182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240" y="5259960"/>
            <a:ext cx="1217880" cy="75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1960" cy="2687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5840" cy="528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0" name="Cross 2"/>
          <p:cNvSpPr/>
          <p:nvPr/>
        </p:nvSpPr>
        <p:spPr>
          <a:xfrm>
            <a:off x="7130160" y="3969360"/>
            <a:ext cx="639360" cy="639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91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600" cy="55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Cross 5"/>
          <p:cNvSpPr/>
          <p:nvPr/>
        </p:nvSpPr>
        <p:spPr>
          <a:xfrm>
            <a:off x="6368040" y="2407320"/>
            <a:ext cx="639360" cy="63936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7640" cy="438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560" cy="388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–W3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560" cy="53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991E275-E801-4D3C-B16F-4B3CA8E6610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請先確定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可以正常啟動（本課程用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deepseek-flash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放在專案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FINMIND_API_TOKEN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中先執行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在專案根目錄啟動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dsh_web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（即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pnpm dsh web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，瀏覽器開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http://127.0.0.1:3080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）；一般任務直接對話，重要或不可逆的動作先用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會先送計畫給你核准）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6" name=""/>
          <p:cNvPicPr/>
          <p:nvPr/>
        </p:nvPicPr>
        <p:blipFill>
          <a:blip r:embed="rId1"/>
          <a:stretch/>
        </p:blipFill>
        <p:spPr>
          <a:xfrm>
            <a:off x="4572000" y="3429000"/>
            <a:ext cx="7524720" cy="81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BFA14DB-0C50-45EF-95FF-40B1FCD432F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8680" y="1676520"/>
            <a:ext cx="3599640" cy="44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-324000" algn="l" defTabSz="914400">
              <a:lnSpc>
                <a:spcPct val="90000"/>
              </a:lnSpc>
              <a:spcBef>
                <a:spcPts val="1800"/>
              </a:spcBef>
              <a:spcAft>
                <a:spcPts val="1199"/>
              </a:spcAft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切換模型：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介面右下角、輸入框旁的下拉選單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-324000" algn="l" defTabSz="914400">
              <a:lnSpc>
                <a:spcPct val="90000"/>
              </a:lnSpc>
              <a:spcBef>
                <a:spcPts val="1800"/>
              </a:spcBef>
              <a:spcAft>
                <a:spcPts val="1199"/>
              </a:spcAft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本課程統一用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（一般問題夠用，複雜再換更大的模型）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-324000" algn="l" defTabSz="914400">
              <a:lnSpc>
                <a:spcPct val="90000"/>
              </a:lnSpc>
              <a:spcBef>
                <a:spcPts val="1800"/>
              </a:spcBef>
              <a:spcAft>
                <a:spcPts val="1199"/>
              </a:spcAft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同一段對話不要混用其他廠牌模型（邏輯容易亂掉、費用也會變高）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tretch/>
        </p:blipFill>
        <p:spPr>
          <a:xfrm>
            <a:off x="5100120" y="1676520"/>
            <a:ext cx="6799680" cy="355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110880"/>
            <a:ext cx="4913640" cy="64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36389567-8E58-46C8-8818-282E1D47014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04840" y="609480"/>
            <a:ext cx="4364280" cy="487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我們溝通都用繁中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回應代表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關閉瀏覽器分頁即結束（背景伺服器用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Ctrl+C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工作目錄＝啟動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的專案根（本專案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），不需要額外初始化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技能（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skills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）：直接用自然語言描述，例如「用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抓台積電月營收」，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會呼叫對應技能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介面左側的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清單可以直接接續先前的對話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中執行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dsh_web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會開啟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Web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介面（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http://127.0.0.1:3080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4" name=""/>
          <p:cNvPicPr/>
          <p:nvPr/>
        </p:nvPicPr>
        <p:blipFill>
          <a:blip r:embed="rId1"/>
          <a:stretch/>
        </p:blipFill>
        <p:spPr>
          <a:xfrm>
            <a:off x="6858000" y="-228600"/>
            <a:ext cx="2195280" cy="551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2"/>
          <a:stretch/>
        </p:blipFill>
        <p:spPr>
          <a:xfrm>
            <a:off x="3657600" y="5485680"/>
            <a:ext cx="7978680" cy="111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364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開啟專案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2B75C3E-D793-4BC6-9F73-E70B5B608EE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6437160" y="1333440"/>
            <a:ext cx="4910400" cy="460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-3240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開啟專案目錄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一般對話模式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開啟新對話</a:t>
            </a:r>
            <a:br>
              <a:rPr sz="1800"/>
            </a:b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模型選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deepseek-flash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FF6F729F-F912-4F87-B17B-ECB470AFA95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228600" y="2937960"/>
            <a:ext cx="10972080" cy="382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980640" cy="98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新增工作階段：工作根目錄設在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~/tw-selfselect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+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添加工作區可以增加新的工作目錄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739D576-68A9-4066-97B5-2274EF69C30F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766440" y="1600200"/>
            <a:ext cx="11348640" cy="457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118080" cy="91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給我台積電今年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線圖放在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前加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C05838AA-E1E0-4818-95BA-19CB0398C6C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5"/>
          <p:cNvPicPr/>
          <p:nvPr/>
        </p:nvPicPr>
        <p:blipFill>
          <a:blip r:embed="rId1"/>
          <a:stretch/>
        </p:blipFill>
        <p:spPr>
          <a:xfrm>
            <a:off x="1293840" y="1523880"/>
            <a:ext cx="9118080" cy="457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556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與沒使用的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基本上一樣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/findmind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(23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vs 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331704A7-3A23-43B5-96C0-DB690000D42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1" name="圖片 10"/>
          <p:cNvPicPr/>
          <p:nvPr/>
        </p:nvPicPr>
        <p:blipFill>
          <a:blip r:embed="rId1"/>
          <a:srcRect l="17664" t="0" r="3853" b="0"/>
          <a:stretch/>
        </p:blipFill>
        <p:spPr>
          <a:xfrm>
            <a:off x="1293840" y="2438280"/>
            <a:ext cx="4910400" cy="411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內容版面配置區 8"/>
          <p:cNvPicPr/>
          <p:nvPr/>
        </p:nvPicPr>
        <p:blipFill>
          <a:blip r:embed="rId2"/>
          <a:srcRect l="14393" t="0" r="7722" b="5"/>
          <a:stretch/>
        </p:blipFill>
        <p:spPr>
          <a:xfrm>
            <a:off x="6516720" y="2438280"/>
            <a:ext cx="4910400" cy="411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080" cy="68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D188D828-250F-45FC-B692-2C710FF988E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6" name="內容版面配置區 6"/>
          <p:cNvPicPr/>
          <p:nvPr/>
        </p:nvPicPr>
        <p:blipFill>
          <a:blip r:embed="rId1"/>
          <a:stretch/>
        </p:blipFill>
        <p:spPr>
          <a:xfrm>
            <a:off x="4993200" y="1828800"/>
            <a:ext cx="6891120" cy="403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676080" cy="68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2025~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現在的台股期貨走勢圖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34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1274AE2-6EC2-419E-B02C-DB17DE765B1C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6094440" y="2286000"/>
            <a:ext cx="556128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1" name="圖片 8"/>
          <p:cNvPicPr/>
          <p:nvPr/>
        </p:nvPicPr>
        <p:blipFill>
          <a:blip r:embed="rId1"/>
          <a:stretch/>
        </p:blipFill>
        <p:spPr>
          <a:xfrm>
            <a:off x="38160" y="990720"/>
            <a:ext cx="12187440" cy="586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304280" y="423720"/>
            <a:ext cx="997020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如何於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中的檔案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Zone Identifier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用來存放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屬性給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windwos)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3" name="內容版面配置區 6"/>
          <p:cNvPicPr/>
          <p:nvPr/>
        </p:nvPicPr>
        <p:blipFill>
          <a:blip r:embed="rId1"/>
          <a:stretch/>
        </p:blipFill>
        <p:spPr>
          <a:xfrm>
            <a:off x="1304280" y="1219320"/>
            <a:ext cx="9780480" cy="525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B7C70C1-6BF2-464F-B79C-084B70A9E2E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0200" cy="79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br>
              <a:rPr sz="3200"/>
            </a:br>
            <a:br>
              <a:rPr sz="3200"/>
            </a:b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第一次結果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6" name="圖片 7"/>
          <p:cNvPicPr/>
          <p:nvPr/>
        </p:nvPicPr>
        <p:blipFill>
          <a:blip r:embed="rId1"/>
          <a:stretch/>
        </p:blipFill>
        <p:spPr>
          <a:xfrm>
            <a:off x="1185480" y="1219320"/>
            <a:ext cx="10207800" cy="548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AD1C651-8718-45CC-AE76-1A80DAA5790F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19800" cy="99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修正結果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怎麼選最值得投資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問一問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再討論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560" cy="39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9" name="圖片 5"/>
          <p:cNvPicPr/>
          <p:nvPr/>
        </p:nvPicPr>
        <p:blipFill>
          <a:blip r:embed="rId1"/>
          <a:stretch/>
        </p:blipFill>
        <p:spPr>
          <a:xfrm>
            <a:off x="1258200" y="1371600"/>
            <a:ext cx="9826920" cy="528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E53B77-DC3F-46D8-8DFD-59EA4EC484CB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8160" cy="60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AI(Deepseek)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128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原則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不做主觀調整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產業偏好不加分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冷門但績效好不扣分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只讓數據決定排名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人只負責修正演算法缺陷，不手動調整排名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夏普比率（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Sharpe Ratio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白話：你每承擔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單位波動，換到多少超額報酬。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540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原則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，再評分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日均成交量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1,000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全年交易日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純績效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三維評分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50%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夏普比率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25%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x 25%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50%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這段期間到底是賺是賠？核心指標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夏普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單位波動換到多少報酬？效率指標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從高點到低點最多賠多少？心臟強度指標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778C5C7-8561-4ED3-BF8C-6BC05AEC940D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8160" cy="60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128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1066644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的設計是「大盤跌多少，它就漲多少」。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追蹤的是「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指數的單日反向報酬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情境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 (0050)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(00632R)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24BD041-E24F-4F05-8CC6-CC137D5B722E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311120" y="380880"/>
            <a:ext cx="1003932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1"/>
          <a:stretch/>
        </p:blipFill>
        <p:spPr>
          <a:xfrm>
            <a:off x="1311120" y="800280"/>
            <a:ext cx="10560240" cy="567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452F51D-0A7F-403D-A3DD-843705791FCD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293840" y="190440"/>
            <a:ext cx="8228160" cy="60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128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00632R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00664R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00648R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S&amp;P500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 500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國泰美國道瓊反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道瓊工業指數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00670R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 100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新華富時中國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陸股反向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/>
          </p:nvPr>
        </p:nvSpPr>
        <p:spPr>
          <a:xfrm>
            <a:off x="180000" y="1080000"/>
            <a:ext cx="7018920" cy="53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台灣正向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很多，以常見的分類：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類別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特色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0050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大權值股，最經典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富邦台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但內扣稍低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富邦公司治理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公司治理評鑑前段班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預測未來一年高股息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國泰永續高股息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高股息，人氣高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00919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群益台灣精選高息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季配息，選股邏輯不同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00713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元大高息低波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低波動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00900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富邦特選高股息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換股頻率高，追逐當下高息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市值型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兆豐藍籌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藍籌股精選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0055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MSCI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總體市場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006204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永豐臺灣加權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直接追蹤大盤加權指數</a:t>
            </a:r>
            <a:br>
              <a:rPr sz="1400"/>
            </a:b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39AF6F2-C1D4-4970-AC49-287EC824C3C1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293840" y="457200"/>
            <a:ext cx="8307000" cy="76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AI(Google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網頁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br>
              <a:rPr sz="3200"/>
            </a:br>
            <a:br>
              <a:rPr sz="3200"/>
            </a:b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就只看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的股市資料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選出值得投資的台股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你有甚麼簡單原則來選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440" y="1600200"/>
            <a:ext cx="5561280" cy="46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3.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法人籌碼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強度（跟隨大戶資金）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投信或外資連續買超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，且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籌碼買超強度在全市場排名前列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：單純看法人買超張數容易有大型股偏誤（如台積電動輒幾萬張）。改用「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買超張數佔成交量比例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」能有效抓出法人正在默默認養、中小型股本的波段飆股。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4.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價格與估值控制（避免追高套牢）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本益比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(PE)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低於同業均值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，或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股價位於季線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(60MA)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之上且回檔不破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：結合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TWSE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每日公告的個股本益比，在動能強勁的股票中，優先挑選估值尚未過度膨脹、技術面維持多頭排列的標的，作為最後的安全氣囊。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5400" cy="502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流動性過濾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（防範流動性風險）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日平均成交量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&gt; 500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：剔除成交量過低的「殭屍股」，確保資金在大進大出時不會產生嚴重的滑價，實單能夠順利成交。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營收成長動能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（基本面把關）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月營收年增率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(YoY) &gt; 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月營收創近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：月營收是台股特有且最即時的基本面指標（每月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號前公布）。營收創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個月新高代表公司正處於強烈的產業上升循環，通常會帶來實質的波段漲幅。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7ABE263-1C61-4DBD-8333-5E929EDFF42B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09040" cy="57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35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1175AEB-6220-4188-98D2-304C802B246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311120" y="1189800"/>
            <a:ext cx="2419560" cy="22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你提出需求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模式會先寫一份計畫（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）給你看，確認後才執行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8" name=""/>
          <p:cNvPicPr/>
          <p:nvPr/>
        </p:nvPicPr>
        <p:blipFill>
          <a:blip r:embed="rId1"/>
          <a:stretch/>
        </p:blipFill>
        <p:spPr>
          <a:xfrm>
            <a:off x="3960720" y="1521360"/>
            <a:ext cx="7877160" cy="259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"/>
          <p:cNvPicPr/>
          <p:nvPr/>
        </p:nvPicPr>
        <p:blipFill>
          <a:blip r:embed="rId2"/>
          <a:stretch/>
        </p:blipFill>
        <p:spPr>
          <a:xfrm>
            <a:off x="7372440" y="4343400"/>
            <a:ext cx="2456640" cy="21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5"/>
          <p:cNvSpPr/>
          <p:nvPr/>
        </p:nvSpPr>
        <p:spPr>
          <a:xfrm>
            <a:off x="1293840" y="609480"/>
            <a:ext cx="860904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模式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6"/>
          <p:cNvSpPr/>
          <p:nvPr/>
        </p:nvSpPr>
        <p:spPr>
          <a:xfrm>
            <a:off x="1220040" y="4343400"/>
            <a:ext cx="860904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defTabSz="914400">
              <a:lnSpc>
                <a:spcPct val="80000"/>
              </a:lnSpc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 工作權限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7"/>
          <p:cNvSpPr/>
          <p:nvPr/>
        </p:nvSpPr>
        <p:spPr>
          <a:xfrm>
            <a:off x="1371600" y="5029200"/>
            <a:ext cx="411408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31560" indent="-28584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一般使用工作區修改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1560" indent="-28584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要跨目錄修改時才用完全權限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09040" cy="57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跨工作階段知識沉澱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6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12FFBDBC-66EF-44F4-A3F6-01C7A9259CF2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88200" cy="560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沒有記憶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——每個新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都是全新開始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上次修過的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bug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、做過的決策，下次可能重蹈覆轍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真正的記憶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寫在專案裡、下次會被讀到的東西：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AGENTS.md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：專案規則（進入必讀）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cairn/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LOG.md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：時間序日誌（做了什麼）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/&lt;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主題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&gt;.md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：知識專題（陷阱、根因、檢查清單）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實例：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bug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反覆發生 → 快取版本化＋回歸測試＋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知識專題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→ 根治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09040" cy="57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知識沉澱檔案內容（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自動產生）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7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74086BB6-4E6A-4DA5-BE99-280C6B657C8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11880" cy="57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~/tw-selfselect/cairn/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……….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回測資料完整性與快取陷阱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症狀（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2026-08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事件）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舊版策略的舊官方數字：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**+85.22%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、勝率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71.72%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、回撤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22%**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，乾淨資料重測後無法重現，實際為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**-13.05%**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舊數字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取決於當時快取狀態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同一份程式碼、不同的快取內容會得到完全不同的績效數字。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根因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價格快取混入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還原價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預設為調整後價格（除權除息調整），系統性偏低，造成進場價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訊號失真。已改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`auto_adjust=False`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使用原始價。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……..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09040" cy="57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費用分析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38"/>
          </p:nvPr>
        </p:nvSpPr>
        <p:spPr>
          <a:xfrm>
            <a:off x="0" y="609480"/>
            <a:ext cx="758880" cy="37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A9830402-DE60-4304-BC06-38AB3759637C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921600" y="1189800"/>
            <a:ext cx="4028040" cy="505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約比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貴四倍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Hit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Miss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便宜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(Deepseek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經銷商可能不同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同一對話不要常換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一天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千萬個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token,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花費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1~2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毛美元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一個月不到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美元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只要充值即可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82" name="內容版面配置區 9"/>
          <p:cNvPicPr/>
          <p:nvPr/>
        </p:nvPicPr>
        <p:blipFill>
          <a:blip r:embed="rId1"/>
          <a:stretch/>
        </p:blipFill>
        <p:spPr>
          <a:xfrm>
            <a:off x="7085160" y="1066680"/>
            <a:ext cx="4180680" cy="312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圖片 7"/>
          <p:cNvPicPr/>
          <p:nvPr/>
        </p:nvPicPr>
        <p:blipFill>
          <a:blip r:embed="rId2"/>
          <a:stretch/>
        </p:blipFill>
        <p:spPr>
          <a:xfrm>
            <a:off x="2750400" y="1114200"/>
            <a:ext cx="4066200" cy="221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4" name="圖片 12"/>
          <p:cNvPicPr/>
          <p:nvPr/>
        </p:nvPicPr>
        <p:blipFill>
          <a:blip r:embed="rId3"/>
          <a:stretch/>
        </p:blipFill>
        <p:spPr>
          <a:xfrm>
            <a:off x="5103720" y="4677840"/>
            <a:ext cx="6447960" cy="133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文字方塊 13"/>
          <p:cNvSpPr/>
          <p:nvPr/>
        </p:nvSpPr>
        <p:spPr>
          <a:xfrm>
            <a:off x="7313760" y="4317840"/>
            <a:ext cx="4085640" cy="3679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Flash                      Pro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5760" y="495360"/>
            <a:ext cx="5180040" cy="58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請自行練習使用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下指令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040" cy="23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1396</TotalTime>
  <Application>LibreOffice/26.2.6.3$Windows_X86_64 LibreOffice_project/8221e31b3ac356a1623c672912a3d2b492f7e3d1</Application>
  <AppVersion>15.0000</AppVersion>
  <Words>1957</Words>
  <Paragraphs>163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2026-10-27T21:06:30Z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24</vt:i4>
  </property>
</Properties>
</file>