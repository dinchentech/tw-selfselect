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"/>
  <Override PartName="/ppt/media/image4.svg" ContentType="image/svg"/>
  <Override PartName="/ppt/media/image7.svg" ContentType="image/sv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4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customXml/item1.xml"/><Relationship Id="rId5" Type="http://schemas.openxmlformats.org/officeDocument/2006/relationships/customXml" Target="customXml/item2.xml"/><Relationship Id="rId6" Type="http://schemas.openxmlformats.org/officeDocument/2006/relationships/customXml" Target="customXml/item3.xml"/><Relationship Id="rId7" Type="http://schemas.microsoft.com/office/2020/02/relationships/classificationlabels" Target="docMetadata/LabelInfo.xml"/><Relationship Id="rId8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88825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useTimings="0"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zh-TW" sz="66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請按這裡移動投影片</a:t>
            </a:r>
            <a:endParaRPr lang="en-US" sz="66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請按這裡編輯備註格式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&lt;頁首&gt;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dt" idx="2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&lt;日期/時間&gt;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ftr" idx="2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6"/>
          <p:cNvSpPr>
            <a:spLocks noGrp="1"/>
          </p:cNvSpPr>
          <p:nvPr>
            <p:ph type="sldNum" idx="2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B6A68BC-4C95-4104-8683-674BD084F5F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&lt;編號&gt;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382680" y="685800"/>
            <a:ext cx="6092280" cy="342828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⏱ 建議時間：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30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歡迎回來，這是第三堂課。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前兩週我們把環境建好了，也認識了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Python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。這一週是整個課程的轉折點——我們要正式認識我們的「主力同事」：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DSH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。學會怎麼跟它下指令，之後所有程式都交給它寫。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【講師提示】強調這堂課是「人機協作」的開始，學員心態要從「學寫程式」轉為「學下指令」。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504FE1A-3991-44F3-AD8D-F4C8060C89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&lt;編號&gt;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⏱ 建議時間：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分鐘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在開始之前，有幾個前置設定要先確認。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第一，請確定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DSH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可以正常啟動（本課程用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deepseek-flash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）。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FinMind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API token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放在專案的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.env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裡（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FINMIND_API_TOKEN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）——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DSH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執行專案腳本時會直接讀到，不需要另外設定。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在專案根目錄啟動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dsh_web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（瀏覽器開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http://127.0.0.1:3080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）。一般任務直接對話；規劃階段用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plan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模式，先確認計畫再執行。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確認每位學員的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DSH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都能正常回應（打一句「我們溝通都用繁中」看看）。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40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8538196-9E80-46D6-8A14-E3906B3F3CF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&lt;編號&gt;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⏱ 建議時間：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分鐘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接下來講模型選擇。在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DSH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Web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介面可以切換模型；本課程統一用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deepseek-flash——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一般問題夠用，較複雜再換更大的模型。</a:t>
            </a:r>
            <a:br>
              <a:rPr sz="2000"/>
            </a:b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強烈建議同一段對話不要混用其他廠牌模型：不同模型的理解不同，混用容易讓邏輯亂掉，也影響費用。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【講師提示】強調「同一對話不要混模型」，這是費用與品質的雙重關鍵。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41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79AA8DA-014A-4303-9C49-B74CAC4148E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&lt;編號&gt;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⏱ 建議時間：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分鐘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這頁是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DSH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的常用操作速查：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① 啟動：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dsh_web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（＝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pnpm dsh web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）→ 瀏覽器開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http://127.0.0.1:3080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② 先打一句「我們溝通都用繁中」，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有回應就代表設定好了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③ 接續先前對話：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Web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介面左側的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session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清單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④ 技能（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skills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）：直接用自然語言描述，例如「用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finmind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抓台積電月營收」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⑤ 重要／不可逆的動作：先切到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plan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模式，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DSH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會先送計畫給你核准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⑥ 進度沉澱：寫進專案的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cairn/LOG.md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【講師提示】這頁是操作速查表，建議讓學員抄下來或截圖，之後每週都會用到。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42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23A9350-67BA-4829-8FE8-4911D10512F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&lt;編號&gt;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⏱ 建議時間：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分鐘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現在實際操作。第一步：把工作目錄開到專案根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~/tw-selfselect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；第二步：一般對話模式直接下指令；第三步：模型選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deepseek-flash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。三個步驟就完成開場設定。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【講師提示】現場示範三步驟，請學員跟著做。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43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DC31A69-43C1-41D2-B663-0E8D5BA6FBC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&lt;編號&gt;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⏱ 建議時間：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分鐘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接著，新增一個工作階段。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新增之後，第一句話建議先提醒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DSH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：用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WSL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~/tw-selfselect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當工作根目錄。這樣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才能正確掃描專案檔案，針對你的專案回答問題——這跟一般聊天型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最大的不同就在這裡。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【講師提示】強調「工作根目錄」概念，這是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DSH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能回答專案問題的關鍵。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44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040A2BE-F37A-4F30-94DD-F365E3B80E3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&lt;編號&gt;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⏱ 建議時間：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分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30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來，下第一個真實指令。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輸入：「給我台積電今年一到六月的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線圖，放在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img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資料夾下」。建議前面加上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/finmind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，執行會比較快。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為什麼用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/finmind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？因為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Finmind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是免費的股市資料庫，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透過這個技能可以直接取得台股歷史資料，不用自己慢慢抓。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【講師提示】這是學員第一次看到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產出圖表，放慢節奏，讓大家感受「一句話→一張圖」的過程。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45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2281207-90F9-42A7-98F6-E3F99DC2FA1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&lt;編號&gt;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⏱ 建議時間：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分鐘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這頁比較了用與不用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/finmind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的差異。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大家可以看畫面上的對比——基本上兩邊畫出來的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線圖一樣，但是速度差很多：使用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/finmind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只要二十三秒，沒用則要一分零一秒。差了三倍以上。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所以之後下指令，記得養成習慣：查股市資料，前面先加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/finmind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【講師提示】用實際計時數據強調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/finmind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的價值，養成學員的使用習慣。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46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753FB8F-87A3-4E07-A662-91696275D85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&lt;編號&gt;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⏱ 建議時間：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分鐘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再來一個例子。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已經生成在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tw-selfselect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img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資料夾裡。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這是一個互動式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HTML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圖表，用瀏覽器直接開就能用。功能包含：滑鼠框選區域可以縮放；游標移到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線上可以看到當天的開高低收；下半部有半透明的成交量柱狀圖，紅漲綠跌；深色主題，總共一百一十六個交易日的資料。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【講師提示】現場直接開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HTML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示範縮放與懸停，讓學員看到「互動式圖表」不只是靜態圖片。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47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9D3E752-97C6-4D8E-BA1F-15E8FAAC791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&lt;編號&gt;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⏱ 建議時間：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分鐘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再挑戰一個：台股期貨。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輸入「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/finmind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給我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2025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到現在的台股期貨走勢圖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HTML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，放在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img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下」。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一樣幫你生成互動式圖表，功能跟剛剛聯發科那張一樣——縮放、懸停看數值、成交量柱狀圖。你看，不管是個股還是期貨，只要一句話，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都能處理。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【講師提示】這頁畫面內容若與上一頁雷同是投影片複製問題，講解以「期貨走勢圖」為主即可，不必糾結畫面上的文字。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48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30A240B-302B-436A-92C6-AEBF354872D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&lt;編號&gt;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⏱ 建議時間：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分鐘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有個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Windows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使用的小技巧。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你生成出來的圖表檔案在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WSL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裡面，那要怎麼在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Windows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打開？很簡單——在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Windows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的檔案總管網址列輸入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wsl.localhost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，就能看到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WSL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的檔案系統，直接瀏覽取用。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另外你可能會發現有些檔案旁邊出現「同名的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.Zone.Identifier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檔案」——這是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Windows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用來存放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WSL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屬性給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Windows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看的標記，正常現象，不用理它。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【講師提示】現場示範從檔案總管開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wsl.localhost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，找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img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資料夾的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HTML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49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2F31BEE-0CD8-4EFC-AA9D-2EB391EF27B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&lt;編號&gt;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⏱ 建議時間：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分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30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接下來是重頭戲——讓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幫我們選股。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指令是：「用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/finmind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，就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2022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年底一整年的股市資料，挑出當時十家最值得投資的股票，包含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ETF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，並列出它們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2022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年的走勢圖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HTML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img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下」。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這是第一次的結果。大家可以看看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選出了什麼——不過，重點在下一頁。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【講師提示】先讓學員看結果，但提示「這個結果還不夠好」，製造懸念。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50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5C96572-DC77-4546-80EB-259F5FAEF2F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&lt;編號&gt;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⏱ 建議時間：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分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30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這是修正後的結果。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為什麼要修正？因為「怎麼選最值得投資」這個問題太模糊了——每個人對「值得」的定義不同。正確做法是：問一問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它的選股原則，然後跟它討論，把原則講清楚，再讓它重新選。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這正是使用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的核心心態：不是丟一個問題就結束，而是透過對話把問題定義清楚。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【講師提示】強調「跟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討論原則」的過程比結果重要，這是本課程的方法論核心。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51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351FB07-0A67-4F12-A310-B1E0CE3AC2E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&lt;編號&gt;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⏱ 建議時間：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分鐘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這頁是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最後採用的選股原則。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先認識一個名詞：夏普比率。白話說，就是你每承擔一單位波動，換到多少超額報酬——是衡量「效率」的指標。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原則一：先過濾，再評分。過濾條件有兩個：日均成交量要大於等於一千張，確保股票流動性夠；全年交易日大於等於兩百天，確保資料完整。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原則二是純績效三維評分，總分等於：總報酬乘五十趴，加上夏普比率乘二十五趴，加上最大回撤的反向乘二十五趴。總報酬代表這段期間到底賺還是賠，是核心指標；夏普比率是效率指標；最大回撤代表從高點到低點最多賠多少，是心臟強度指標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原則三：不做主觀調整——產業偏好不加分，冷門但績效好不扣分，只讓數據決定排名，人只負責修正演算法缺陷，不手動調整排名。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【講師提示】這頁資訊量最大，建議放慢。三個原則可以配合畫面逐條講，強調「數據說話、人只修演算法」的紀律。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52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62B70F6-67FA-4271-A343-A3600190249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&lt;編號&gt;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⏱ 建議時間：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分鐘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補充一下反向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ETF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的知識。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反向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ETF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的設計是「大盤跌多少，它就漲多少」。以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00632R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為例，它追蹤的是台灣五十指數的單日反向報酬：大盤漲百分之一，它跌百分之一；大盤跌百分之一，它漲百分之一。看畫面上的情境表就很清楚——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0050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與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00632R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的漲跌永遠相反。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記住，是「單日」反向——這是反向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ETF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的特性，長期持有會因為複利計算產生誤差，所以它比較適合短線避險，不適合長期持有。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【講師提示】用「大盤跌→它漲」的口訣帶過，強調「單日反向」與「不適合長期持有」兩個重點。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53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62A4DE7-DBE3-4725-807D-61EF8CAEB87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&lt;編號&gt;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⏱ 建議時間：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30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這頁要提醒大家一個重點。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在台灣，反向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ETF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其實是少數——而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00632R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，元大台灣五十反一，就是台灣少數的反向元大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ETF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。它透過衍生性金融商品，追蹤台灣五十指數的單日反向報酬：大盤跌，它就漲，是看空台股的工具。詳細的標的清單，下一頁看。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【講師提示】強調「台灣反向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ETF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少、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00632R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是其中代表」，這是這頁的核心訊息。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54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E992855-25BA-4C6C-9C06-6C1999B1F44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&lt;編號&gt;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⏱ 建議時間：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分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30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這頁是台灣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ETF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的實用清單，分成兩部分。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上半部是反向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ETF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00632R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元大台灣五十反一，追蹤台灣五十指數；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00664R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00676R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是台股加權反一；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00648R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00668R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00670R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分別對應美股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S&amp;P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五百、道瓊、那斯達克的反向；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00636R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是陸股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A50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反向。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下半部是常見的正向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ETF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，依類別分類：大盤型有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0050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006208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00692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；高股息有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0056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00878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00919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00713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00900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；另外還有市值型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00690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、科技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0052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、金融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0055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ESG 00850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，以及直接追蹤大盤的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006204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【講師提示】這頁是參考清單，不必逐檔唸，帶過分類即可，提醒學員之後選股會用到。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55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BDD2DA4-A4B3-4B2E-ABE0-7188B292316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&lt;編號&gt;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⏱ 建議時間：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分鐘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除了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Deepseek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，我們也問了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Google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，看它選股有什麼原則。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原則一，流動性過濾：二十日平均成交量要大於五百張，目的是剔除成交量過低的殭屍股，確保大資金進出時不會有嚴重滑價，實單能順利成交。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原則二，營收成長動能：月營收年增率大於零，而且月營收創近十二個月新高。月營收是台股特有、最即時的基本面指標——營收創新高代表公司正處於強烈的產業上升循環。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原則三，法人籌碼強度：投信或外資連續買超，而且買超張數佔成交量比例排全市場前列。用比例而不是張數，可以避免大型股偏誤，抓出法人正在默默認養的中小型波段飆股。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原則四，價格與估值控制：本益比低於同業均值，或股價站上季線且回檔不破——在動能強的股票中，優先挑估值還沒過度膨脹、技術面維持多頭的標的，當作最後的安全氣囊。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【講師提示】可以對比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Deepseek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與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Google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兩種原則——一個純績效導向，一個基本面加籌碼導向，讓學員理解「不同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有不同選股哲學」。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56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2AD7131-33AA-4DE8-9A22-7705FFEB1F1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&lt;編號&gt;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⏱ 建議時間：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分鐘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使用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DSH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plan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模式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當你的任務比較複雜時，可以用這個模式。你提出需求，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DSH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plan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模式會先寫一份工作計畫（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Markdown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）給你看——先規劃，再執行。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【講師提示】強調「先計畫再動手」是複雜任務的標準流程，跟寫程式前的設計圖概念一樣。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57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732D432-1FB1-42CC-9690-E961C226E95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&lt;編號&gt;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⏱ 建議時間：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分鐘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為什麼要講知識沉澱？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因為 AI 沒有記憶——每個新的工作階段都是全新開始，上次修過的 bug，下次可能又踩一次。真正的記憶，是寫在專案裡、下次會被讀到的東西：AGENTS.md 是規則入口，進入專案必讀；cairn/LOG.md 記錄做了什麼；cairn/ 底下的知識專題記錄陷阱與根因。而且這些檔案跟著 git 進版控，換機器、換 session 都還在。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我們的舊回測就實際發生過——同樣的快取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bug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反覆出現好幾次，最後靠「快取版本化＋回歸測試＋知識專題」三管齊下才根治。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【講師提示】用「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會失憶」的比喻讓學員理解為什麼要養成記錄習慣；強調這是工程師與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協作的關鍵紀律。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58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8ED6F0E-FC8E-49EE-8838-DA092A449EE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&lt;編號&gt;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⏱ 建議時間：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分鐘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這一頁，讓大家看看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DSH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實際幫我們產出的知識沉澱檔案。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畫面上是 ~/tw-selfselect/cairn/ 底下的 backtest-data-pitfalls.md——這是 DSH 自動產生的檔案。內容把 2026-08「回測數字無法重現」拆成好幾類根因，並寫下現行的防護措施。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一開始是背景與症狀：舊官方數字 +85.22% 在乾淨資料下無法重現，實際只有 -13.05%；接著一類一類列根因——價格快取混入 yfinance 還原價、回測與實盤共用快取導致長短歷史互相覆寫、yfinance 對最新交易日回傳「只有量、沒有價」的半成品 K 棒。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每一類後面都接「實踐指南」：遇到這個症狀該跑哪支工具、修補前要備份到哪裡、舊資料為什麼不能亂動。最後是教訓，還有幾個還沒解決的開放問題。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重點是：這些內容不是老師手寫的，是修完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bug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之後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DSH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自動沉澱下來的。下次開新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session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一進專案就會讀到，同樣的坑就不會再踩。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【講師提示】現場打開 ~/tw-selfselect 與其下的 cairn/ 目錄，展示真實檔案（根目錄的 AGENTS.md，以及 cairn/LOG.md、cairn/backtest-data-pitfalls.md、cairn/environment-scope.md），讓學員知道之後他們的專案也會自動長出這些知識檔。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59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3D886C9-8572-46C5-BCC3-400E31777D2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&lt;編號&gt;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⏱ 建議時間：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分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30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最後講錢的事情——用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要花多少？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先看數據：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大約比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FLASH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貴四倍；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Cache Hit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Miss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便宜約五十倍——這是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Deepseek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原廠價格，經銷商可能不同。這解釋了為什麼我們強調「同一對話不要常換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模型」：一直換模型，快取一直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miss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，費用就上去了。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實際花費呢？一天兩千萬個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token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，大約一到兩毛美元，一個月不到十美元。所以基本上只要充值就好，負擔很低。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【講師提示】用「兩千萬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token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才一兩毛美金」的具體數字打消學員對費用的疑慮，強調「不要混模型」是省錢關鍵。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60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425ABB2-4F66-4EC6-95E6-D770982635B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&lt;編號&gt;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920" cy="400860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⏱ 建議時間：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30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好，這堂課到這裡。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請大家自行練習使用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DSH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下指令——越熟練，之後的策略課程越輕鬆。我是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frank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，信箱是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frank@dinchen.com.tw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，有問題歡迎寫信。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今天的功課：完成本週的四個指令練習——台積電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線、聯發科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線、期貨走勢圖、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</a:t>
            </a: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選股。我們下次見！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【講師提示】收尾把功課清單唸一次，強調「熟練下指令」是之後所有週次的基礎。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61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AB5A896-C03C-4F53-A71D-2F6EB9A78F5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&lt;編號&gt;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標題及內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/>
          <p:nvPr/>
        </p:nvSpPr>
        <p:spPr>
          <a:xfrm>
            <a:off x="0" y="0"/>
            <a:ext cx="759600" cy="68572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ctr" blurRad="127080" rotWithShape="0" sx="102000" sy="10200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3" name="Cross 8"/>
          <p:cNvSpPr/>
          <p:nvPr/>
        </p:nvSpPr>
        <p:spPr>
          <a:xfrm>
            <a:off x="8151840" y="5670720"/>
            <a:ext cx="685080" cy="68508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36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ldNum" idx="1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2A5D3C4E-71F8-43B5-A257-66C73E1322B5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&lt;編號&gt;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ftr" idx="2"/>
          </p:nvPr>
        </p:nvSpPr>
        <p:spPr>
          <a:xfrm rot="16200000">
            <a:off x="-1829160" y="2592000"/>
            <a:ext cx="4419000" cy="75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3"/>
          </p:nvPr>
        </p:nvSpPr>
        <p:spPr>
          <a:xfrm rot="16200000">
            <a:off x="-228960" y="5259240"/>
            <a:ext cx="1218600" cy="75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&lt;日期/時間&gt;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1311120" y="2286000"/>
            <a:ext cx="4571280" cy="426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marL="59436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marL="77724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marL="96012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9" name="Cross 14"/>
          <p:cNvSpPr/>
          <p:nvPr/>
        </p:nvSpPr>
        <p:spPr>
          <a:xfrm>
            <a:off x="7351560" y="4419720"/>
            <a:ext cx="685080" cy="68508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0" name="Freeform: Shape 4"/>
          <p:cNvSpPr/>
          <p:nvPr/>
        </p:nvSpPr>
        <p:spPr>
          <a:xfrm>
            <a:off x="8609040" y="-21960"/>
            <a:ext cx="3579120" cy="6901200"/>
          </a:xfrm>
          <a:custGeom>
            <a:avLst/>
            <a:gdLst>
              <a:gd name="textAreaLeft" fmla="*/ 0 w 3579120"/>
              <a:gd name="textAreaRight" fmla="*/ 3579840 w 3579120"/>
              <a:gd name="textAreaTop" fmla="*/ 0 h 6901200"/>
              <a:gd name="textAreaBottom" fmla="*/ 6901920 h 6901200"/>
              <a:gd name="GluePoint1X" fmla="*/ 3450999 w 3579812"/>
              <a:gd name="GluePoint1Y" fmla="*/ 0 h 6901998"/>
              <a:gd name="GluePoint2X" fmla="*/ 3579812 w 3579812"/>
              <a:gd name="GluePoint2Y" fmla="*/ 3257 h 6901998"/>
              <a:gd name="GluePoint3X" fmla="*/ 3579812 w 3579812"/>
              <a:gd name="GluePoint3Y" fmla="*/ 6898741 h 6901998"/>
              <a:gd name="GluePoint4X" fmla="*/ 3450999 w 3579812"/>
              <a:gd name="GluePoint4Y" fmla="*/ 6901998 h 6901998"/>
              <a:gd name="GluePoint5X" fmla="*/ 0 w 3579812"/>
              <a:gd name="GluePoint5Y" fmla="*/ 3450999 h 6901998"/>
              <a:gd name="GluePoint6X" fmla="*/ 3450999 w 3579812"/>
              <a:gd name="GluePoint6Y" fmla="*/ 0 h 690199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 with Computer Monito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4"/>
          <p:cNvSpPr/>
          <p:nvPr/>
        </p:nvSpPr>
        <p:spPr>
          <a:xfrm>
            <a:off x="6703920" y="838080"/>
            <a:ext cx="5028480" cy="5028480"/>
          </a:xfrm>
          <a:prstGeom prst="ellipse">
            <a:avLst/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2" name="Rectangle 7"/>
          <p:cNvSpPr/>
          <p:nvPr/>
        </p:nvSpPr>
        <p:spPr>
          <a:xfrm>
            <a:off x="0" y="0"/>
            <a:ext cx="759600" cy="68572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ctr" blurRad="127080" rotWithShape="0" sx="102000" sy="10200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pic>
        <p:nvPicPr>
          <p:cNvPr id="13" name="Graphic 14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742080" y="1752480"/>
            <a:ext cx="4950360" cy="380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36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4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E8DC8F3A-1737-4D60-9CE3-E0299E59F916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&lt;編號&gt;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5"/>
          </p:nvPr>
        </p:nvSpPr>
        <p:spPr>
          <a:xfrm rot="16200000">
            <a:off x="-1829160" y="2592000"/>
            <a:ext cx="4419000" cy="75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dt" idx="6"/>
          </p:nvPr>
        </p:nvSpPr>
        <p:spPr>
          <a:xfrm rot="16200000">
            <a:off x="-228960" y="5259240"/>
            <a:ext cx="1218600" cy="75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&lt;日期/時間&gt;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1311120" y="2286000"/>
            <a:ext cx="4571280" cy="39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marL="59436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marL="77724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marL="96012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59436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77724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marL="96012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9" name="PlaceHolder 6"/>
          <p:cNvSpPr>
            <a:spLocks noGrp="1"/>
          </p:cNvSpPr>
          <p:nvPr>
            <p:ph type="body"/>
          </p:nvPr>
        </p:nvSpPr>
        <p:spPr>
          <a:xfrm>
            <a:off x="7045920" y="2057400"/>
            <a:ext cx="4342680" cy="268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45720"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marL="4572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按一下圖示以新增圖片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brea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8040" y="685800"/>
            <a:ext cx="5686560" cy="5288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48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1" name="Cross 2"/>
          <p:cNvSpPr/>
          <p:nvPr/>
        </p:nvSpPr>
        <p:spPr>
          <a:xfrm>
            <a:off x="7130160" y="3969360"/>
            <a:ext cx="640080" cy="64008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pic>
        <p:nvPicPr>
          <p:cNvPr id="22" name="Graphic 3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42412" b="0"/>
          <a:stretch/>
        </p:blipFill>
        <p:spPr>
          <a:xfrm>
            <a:off x="7134840" y="533520"/>
            <a:ext cx="5053320" cy="55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Cross 5"/>
          <p:cNvSpPr/>
          <p:nvPr/>
        </p:nvSpPr>
        <p:spPr>
          <a:xfrm>
            <a:off x="6368040" y="2407320"/>
            <a:ext cx="640080" cy="64008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119800" y="990720"/>
            <a:ext cx="4068360" cy="438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45720"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marL="4572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按一下圖示以新增圖片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 with Acc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4"/>
          <p:cNvSpPr/>
          <p:nvPr/>
        </p:nvSpPr>
        <p:spPr>
          <a:xfrm>
            <a:off x="6361200" y="1317240"/>
            <a:ext cx="5028480" cy="5028480"/>
          </a:xfrm>
          <a:prstGeom prst="ellipse">
            <a:avLst/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26" name="Rectangle 7"/>
          <p:cNvSpPr/>
          <p:nvPr/>
        </p:nvSpPr>
        <p:spPr>
          <a:xfrm>
            <a:off x="0" y="0"/>
            <a:ext cx="759600" cy="68572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ctr" blurRad="127080" rotWithShape="0" sx="102000" sy="10200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36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ldNum" idx="7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1C9FAD0B-2E67-499B-BB00-C93484F25DF4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&lt;編號&gt;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ftr" idx="8"/>
          </p:nvPr>
        </p:nvSpPr>
        <p:spPr>
          <a:xfrm rot="16200000">
            <a:off x="-1829160" y="2592000"/>
            <a:ext cx="4419000" cy="75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9"/>
          </p:nvPr>
        </p:nvSpPr>
        <p:spPr>
          <a:xfrm rot="16200000">
            <a:off x="-228960" y="5259240"/>
            <a:ext cx="1218600" cy="75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&lt;日期/時間&gt;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1311120" y="2286000"/>
            <a:ext cx="4571280" cy="39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lvl="1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lvl="2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lvl="3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lvl="4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651600" lvl="1" indent="-28584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880200" lvl="2" indent="-28584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1063080" lvl="3" indent="-28584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1245960" lvl="4" indent="-28584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body"/>
          </p:nvPr>
        </p:nvSpPr>
        <p:spPr>
          <a:xfrm>
            <a:off x="6094440" y="2286000"/>
            <a:ext cx="5562000" cy="39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914400">
              <a:lnSpc>
                <a:spcPct val="9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274320" indent="-228600" algn="l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按一下以編輯母片文字樣式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lvl="1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lvl="2" indent="-182880" algn="l" defTabSz="91440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第三層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lvl="3" indent="-182880" algn="l" defTabSz="91440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第四層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1097280" lvl="4" indent="-137160" algn="l" defTabSz="91440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第五層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and Tab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7"/>
          <p:cNvSpPr/>
          <p:nvPr/>
        </p:nvSpPr>
        <p:spPr>
          <a:xfrm>
            <a:off x="0" y="0"/>
            <a:ext cx="759600" cy="68572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ctr" blurRad="127080" rotWithShape="0" sx="102000" sy="10200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36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ldNum" idx="10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834A4770-C569-4DE5-957C-762BFA95C1CE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&lt;編號&gt;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ftr" idx="11"/>
          </p:nvPr>
        </p:nvSpPr>
        <p:spPr>
          <a:xfrm rot="16200000">
            <a:off x="-1829160" y="2592000"/>
            <a:ext cx="4419000" cy="75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2"/>
          </p:nvPr>
        </p:nvSpPr>
        <p:spPr>
          <a:xfrm rot="16200000">
            <a:off x="-228960" y="5259240"/>
            <a:ext cx="1218600" cy="75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&lt;日期/時間&gt;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1311120" y="2286000"/>
            <a:ext cx="4571280" cy="39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lvl="1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lvl="2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lvl="3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lvl="4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  <a:p>
            <a:pPr marL="331560" lvl="1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lvl="2" indent="-22860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lvl="3" indent="-22860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lvl="4" indent="-22860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6094440" y="2286000"/>
            <a:ext cx="5558040" cy="396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45720"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marL="4572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按一下圖示以新增表格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 ">
    <p:bg>
      <p:bgPr>
        <a:gradFill rotWithShape="0">
          <a:gsLst>
            <a:gs pos="0">
              <a:srgbClr val="B3CCE7">
                <a:alpha val="0"/>
              </a:srgbClr>
            </a:gs>
            <a:gs pos="100000">
              <a:srgbClr val="ACCBF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7" descr="A white circles on a black background&#10;&#10;Description automatically generated"/>
          <p:cNvPicPr/>
          <p:nvPr/>
        </p:nvPicPr>
        <p:blipFill>
          <a:blip r:embed="rId2"/>
          <a:srcRect l="0" t="11504" r="4106" b="14442"/>
          <a:stretch/>
        </p:blipFill>
        <p:spPr>
          <a:xfrm>
            <a:off x="3274920" y="0"/>
            <a:ext cx="8913240" cy="686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84360" y="1295280"/>
            <a:ext cx="10286280" cy="388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66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66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66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84360" y="5600880"/>
            <a:ext cx="10286280" cy="53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按一下以編輯母片文字樣式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3" name="Cross 2"/>
          <p:cNvSpPr/>
          <p:nvPr/>
        </p:nvSpPr>
        <p:spPr>
          <a:xfrm>
            <a:off x="10975680" y="4987080"/>
            <a:ext cx="685080" cy="68508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44" name="Cross 3"/>
          <p:cNvSpPr/>
          <p:nvPr/>
        </p:nvSpPr>
        <p:spPr>
          <a:xfrm>
            <a:off x="10118880" y="3581280"/>
            <a:ext cx="685080" cy="68508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reeform: Shape 9"/>
          <p:cNvSpPr/>
          <p:nvPr/>
        </p:nvSpPr>
        <p:spPr>
          <a:xfrm>
            <a:off x="7026120" y="0"/>
            <a:ext cx="4460760" cy="1980360"/>
          </a:xfrm>
          <a:custGeom>
            <a:avLst/>
            <a:gdLst>
              <a:gd name="textAreaLeft" fmla="*/ 0 w 4460760"/>
              <a:gd name="textAreaRight" fmla="*/ 4461480 w 4460760"/>
              <a:gd name="textAreaTop" fmla="*/ 0 h 1980360"/>
              <a:gd name="textAreaBottom" fmla="*/ 1981080 h 1980360"/>
              <a:gd name="GluePoint1X" fmla="*/ 0 w 4461334"/>
              <a:gd name="GluePoint1Y" fmla="*/ 0 h 1981200"/>
              <a:gd name="GluePoint2X" fmla="*/ 4461334 w 4461334"/>
              <a:gd name="GluePoint2Y" fmla="*/ 0 h 1981200"/>
              <a:gd name="GluePoint3X" fmla="*/ 4432897 w 4461334"/>
              <a:gd name="GluePoint3Y" fmla="*/ 186331 h 1981200"/>
              <a:gd name="GluePoint4X" fmla="*/ 2230667 w 4461334"/>
              <a:gd name="GluePoint4Y" fmla="*/ 1981200 h 1981200"/>
              <a:gd name="GluePoint5X" fmla="*/ 28437 w 4461334"/>
              <a:gd name="GluePoint5Y" fmla="*/ 186331 h 1981200"/>
              <a:gd name="GluePoint6X" fmla="*/ 0 w 4461334"/>
              <a:gd name="GluePoint6Y" fmla="*/ 0 h 1981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46" name="Rectangle 2"/>
          <p:cNvSpPr/>
          <p:nvPr/>
        </p:nvSpPr>
        <p:spPr>
          <a:xfrm>
            <a:off x="0" y="0"/>
            <a:ext cx="759600" cy="68572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ctr" blurRad="127080" rotWithShape="0" sx="102000" sy="10200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36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13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A622E92D-07B4-442C-ABFE-3C1AC5FFB108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&lt;編號&gt;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14"/>
          </p:nvPr>
        </p:nvSpPr>
        <p:spPr>
          <a:xfrm rot="16200000">
            <a:off x="-1829160" y="2592000"/>
            <a:ext cx="4419000" cy="75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15"/>
          </p:nvPr>
        </p:nvSpPr>
        <p:spPr>
          <a:xfrm rot="16200000">
            <a:off x="-228960" y="5259240"/>
            <a:ext cx="1218600" cy="75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&lt;日期/時間&gt;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1293840" y="2743200"/>
            <a:ext cx="10134000" cy="3504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按一下圖示以新增表格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16"/>
          <p:cNvSpPr/>
          <p:nvPr/>
        </p:nvSpPr>
        <p:spPr>
          <a:xfrm>
            <a:off x="7026120" y="0"/>
            <a:ext cx="4460760" cy="1980360"/>
          </a:xfrm>
          <a:custGeom>
            <a:avLst/>
            <a:gdLst>
              <a:gd name="textAreaLeft" fmla="*/ 0 w 4460760"/>
              <a:gd name="textAreaRight" fmla="*/ 4461480 w 4460760"/>
              <a:gd name="textAreaTop" fmla="*/ 0 h 1980360"/>
              <a:gd name="textAreaBottom" fmla="*/ 1981080 h 1980360"/>
              <a:gd name="GluePoint1X" fmla="*/ 0 w 4461334"/>
              <a:gd name="GluePoint1Y" fmla="*/ 0 h 1981200"/>
              <a:gd name="GluePoint2X" fmla="*/ 4461334 w 4461334"/>
              <a:gd name="GluePoint2Y" fmla="*/ 0 h 1981200"/>
              <a:gd name="GluePoint3X" fmla="*/ 4432897 w 4461334"/>
              <a:gd name="GluePoint3Y" fmla="*/ 186331 h 1981200"/>
              <a:gd name="GluePoint4X" fmla="*/ 2230667 w 4461334"/>
              <a:gd name="GluePoint4Y" fmla="*/ 1981200 h 1981200"/>
              <a:gd name="GluePoint5X" fmla="*/ 28437 w 4461334"/>
              <a:gd name="GluePoint5Y" fmla="*/ 186331 h 1981200"/>
              <a:gd name="GluePoint6X" fmla="*/ 0 w 4461334"/>
              <a:gd name="GluePoint6Y" fmla="*/ 0 h 1981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53" name="Rectangle 1"/>
          <p:cNvSpPr/>
          <p:nvPr/>
        </p:nvSpPr>
        <p:spPr>
          <a:xfrm>
            <a:off x="0" y="0"/>
            <a:ext cx="759600" cy="68572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ctr" blurRad="127080" rotWithShape="0" sx="102000" sy="10200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54" name="Cross 5"/>
          <p:cNvSpPr/>
          <p:nvPr/>
        </p:nvSpPr>
        <p:spPr>
          <a:xfrm>
            <a:off x="6683040" y="1397160"/>
            <a:ext cx="685080" cy="68508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55" name="Cross 6"/>
          <p:cNvSpPr/>
          <p:nvPr/>
        </p:nvSpPr>
        <p:spPr>
          <a:xfrm>
            <a:off x="11085480" y="5638680"/>
            <a:ext cx="685080" cy="68508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36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ldNum" idx="16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6BDAC1DB-C5F4-4BE5-BEDF-FF40B9E3781C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&lt;編號&gt;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17"/>
          </p:nvPr>
        </p:nvSpPr>
        <p:spPr>
          <a:xfrm rot="16200000">
            <a:off x="-1829160" y="2592000"/>
            <a:ext cx="4419000" cy="75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18"/>
          </p:nvPr>
        </p:nvSpPr>
        <p:spPr>
          <a:xfrm rot="16200000">
            <a:off x="-228960" y="5259240"/>
            <a:ext cx="1218600" cy="75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&lt;日期/時間&gt;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body"/>
          </p:nvPr>
        </p:nvSpPr>
        <p:spPr>
          <a:xfrm>
            <a:off x="1293840" y="2438280"/>
            <a:ext cx="491112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lvl="1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lvl="2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lvl="3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lvl="4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274320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lvl="1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lvl="2" indent="-18288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lvl="3" indent="-18288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1097280" lvl="4" indent="-13716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body"/>
          </p:nvPr>
        </p:nvSpPr>
        <p:spPr>
          <a:xfrm>
            <a:off x="6516720" y="2438280"/>
            <a:ext cx="491112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lvl="1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lvl="2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lvl="3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lvl="4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274320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lvl="1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lvl="2" indent="-18288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lvl="3" indent="-18288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1097280" lvl="4" indent="-13716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Freeform: Shape 14"/>
          <p:cNvSpPr/>
          <p:nvPr/>
        </p:nvSpPr>
        <p:spPr>
          <a:xfrm>
            <a:off x="9958320" y="0"/>
            <a:ext cx="2229840" cy="1980360"/>
          </a:xfrm>
          <a:custGeom>
            <a:avLst/>
            <a:gdLst>
              <a:gd name="textAreaLeft" fmla="*/ 0 w 2229840"/>
              <a:gd name="textAreaRight" fmla="*/ 2230560 w 2229840"/>
              <a:gd name="textAreaTop" fmla="*/ 0 h 1980360"/>
              <a:gd name="textAreaBottom" fmla="*/ 1981080 h 1980360"/>
              <a:gd name="GluePoint1X" fmla="*/ 0 w 2230666"/>
              <a:gd name="GluePoint1Y" fmla="*/ 0 h 1981200"/>
              <a:gd name="GluePoint2X" fmla="*/ 2230666 w 2230666"/>
              <a:gd name="GluePoint2Y" fmla="*/ 0 h 1981200"/>
              <a:gd name="GluePoint3X" fmla="*/ 2230666 w 2230666"/>
              <a:gd name="GluePoint3Y" fmla="*/ 1981200 h 1981200"/>
              <a:gd name="GluePoint4X" fmla="*/ 2029222 w 2230666"/>
              <a:gd name="GluePoint4Y" fmla="*/ 1972296 h 1981200"/>
              <a:gd name="GluePoint5X" fmla="*/ 28437 w 2230666"/>
              <a:gd name="GluePoint5Y" fmla="*/ 186331 h 1981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63" name="Rectangle 1"/>
          <p:cNvSpPr/>
          <p:nvPr/>
        </p:nvSpPr>
        <p:spPr>
          <a:xfrm>
            <a:off x="0" y="0"/>
            <a:ext cx="759600" cy="68572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ctr" blurRad="127080" rotWithShape="0" sx="102000" sy="102000">
              <a:srgbClr val="000000">
                <a:alpha val="10000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64" name="Cross 2"/>
          <p:cNvSpPr/>
          <p:nvPr/>
        </p:nvSpPr>
        <p:spPr>
          <a:xfrm>
            <a:off x="7846920" y="380880"/>
            <a:ext cx="685080" cy="68508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65" name="Cross 4"/>
          <p:cNvSpPr/>
          <p:nvPr/>
        </p:nvSpPr>
        <p:spPr>
          <a:xfrm>
            <a:off x="8559720" y="1066680"/>
            <a:ext cx="685080" cy="68508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36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ldNum" idx="19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fld id="{9860E50F-369C-408A-9159-3CE8C79CD622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&lt;編號&gt;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ftr" idx="20"/>
          </p:nvPr>
        </p:nvSpPr>
        <p:spPr>
          <a:xfrm rot="16200000">
            <a:off x="-1829160" y="2592000"/>
            <a:ext cx="4419000" cy="75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21"/>
          </p:nvPr>
        </p:nvSpPr>
        <p:spPr>
          <a:xfrm rot="16200000">
            <a:off x="-228960" y="5259240"/>
            <a:ext cx="1218600" cy="75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&lt;日期/時間&gt;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1293840" y="2286000"/>
            <a:ext cx="4911120" cy="426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marL="59436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marL="77724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marL="96012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indent="0" algn="l" defTabSz="914400">
              <a:lnSpc>
                <a:spcPct val="11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body"/>
          </p:nvPr>
        </p:nvSpPr>
        <p:spPr>
          <a:xfrm>
            <a:off x="6516720" y="2286000"/>
            <a:ext cx="4911120" cy="426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1pPr>
            <a:lvl2pPr lvl="1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2pPr>
            <a:lvl3pPr lvl="2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3pPr>
            <a:lvl4pPr lvl="3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4pPr>
            <a:lvl5pPr lvl="4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defRPr>
            </a:lvl5pPr>
          </a:lstStyle>
          <a:p>
            <a:pPr marL="274320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按一下以編輯母片文字樣式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lvl="1" indent="-22860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lvl="2" indent="-18288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第三層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lvl="3" indent="-18288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第四層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1097280" lvl="4" indent="-137160" algn="l" defTabSz="914400">
              <a:lnSpc>
                <a:spcPct val="110000"/>
              </a:lnSpc>
              <a:spcBef>
                <a:spcPts val="601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第五層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losing">
    <p:bg>
      <p:bgPr>
        <a:gradFill rotWithShape="0">
          <a:gsLst>
            <a:gs pos="0">
              <a:srgbClr val="B3CCE7">
                <a:alpha val="0"/>
              </a:srgbClr>
            </a:gs>
            <a:gs pos="100000">
              <a:srgbClr val="ACCBF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Freeform: Shape 8"/>
          <p:cNvSpPr/>
          <p:nvPr/>
        </p:nvSpPr>
        <p:spPr>
          <a:xfrm>
            <a:off x="2131920" y="0"/>
            <a:ext cx="7923960" cy="6857280"/>
          </a:xfrm>
          <a:custGeom>
            <a:avLst/>
            <a:gdLst>
              <a:gd name="textAreaLeft" fmla="*/ 0 w 7923960"/>
              <a:gd name="textAreaRight" fmla="*/ 7924680 w 7923960"/>
              <a:gd name="textAreaTop" fmla="*/ 0 h 6857280"/>
              <a:gd name="textAreaBottom" fmla="*/ 6858000 h 6857280"/>
              <a:gd name="GluePoint1X" fmla="*/ 1982890 w 7924800"/>
              <a:gd name="GluePoint1Y" fmla="*/ 0 h 6858000"/>
              <a:gd name="GluePoint2X" fmla="*/ 5941911 w 7924800"/>
              <a:gd name="GluePoint2Y" fmla="*/ 0 h 6858000"/>
              <a:gd name="GluePoint3X" fmla="*/ 6177816 w 7924800"/>
              <a:gd name="GluePoint3Y" fmla="*/ 143316 h 6858000"/>
              <a:gd name="GluePoint4X" fmla="*/ 7924800 w 7924800"/>
              <a:gd name="GluePoint4Y" fmla="*/ 3429000 h 6858000"/>
              <a:gd name="GluePoint5X" fmla="*/ 6017049 w 7924800"/>
              <a:gd name="GluePoint5Y" fmla="*/ 6817750 h 6858000"/>
              <a:gd name="GluePoint6X" fmla="*/ 5947047 w 7924800"/>
              <a:gd name="GluePoint6Y" fmla="*/ 6858000 h 6858000"/>
              <a:gd name="GluePoint7X" fmla="*/ 1977753 w 7924800"/>
              <a:gd name="GluePoint7Y" fmla="*/ 6858000 h 6858000"/>
              <a:gd name="GluePoint8X" fmla="*/ 1907752 w 7924800"/>
              <a:gd name="GluePoint8Y" fmla="*/ 6817750 h 6858000"/>
              <a:gd name="GluePoint9X" fmla="*/ 0 w 7924800"/>
              <a:gd name="GluePoint9Y" fmla="*/ 3429000 h 6858000"/>
              <a:gd name="GluePoint10X" fmla="*/ 1746985 w 7924800"/>
              <a:gd name="GluePoint10Y" fmla="*/ 143316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73" name="Left Brace 7"/>
          <p:cNvSpPr/>
          <p:nvPr/>
        </p:nvSpPr>
        <p:spPr>
          <a:xfrm>
            <a:off x="5560920" y="2022120"/>
            <a:ext cx="837360" cy="2813400"/>
          </a:xfrm>
          <a:prstGeom prst="leftBrace">
            <a:avLst>
              <a:gd name="adj1" fmla="val 34932"/>
              <a:gd name="adj2" fmla="val 50000"/>
            </a:avLst>
          </a:prstGeom>
          <a:noFill/>
          <a:ln w="28575"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31720" y="495360"/>
            <a:ext cx="4571280" cy="586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110000"/>
              </a:lnSpc>
              <a:buNone/>
              <a:tabLst>
                <a:tab pos="0" algn="l"/>
              </a:tabLst>
              <a:def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48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768360" y="2247840"/>
            <a:ext cx="4442760" cy="23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lstStyle>
            <a:lvl1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  <a:lvl2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2pPr>
            <a:lvl3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3pPr>
            <a:lvl4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4pPr>
            <a:lvl5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按一下以編輯母片文字樣式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第二層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第三層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第四層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第五層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"/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77" name="Freeform: Shape 12"/>
          <p:cNvSpPr/>
          <p:nvPr/>
        </p:nvSpPr>
        <p:spPr>
          <a:xfrm>
            <a:off x="0" y="1440"/>
            <a:ext cx="3427560" cy="6855840"/>
          </a:xfrm>
          <a:custGeom>
            <a:avLst/>
            <a:gdLst>
              <a:gd name="textAreaLeft" fmla="*/ 0 w 3427560"/>
              <a:gd name="textAreaRight" fmla="*/ 3428280 w 3427560"/>
              <a:gd name="textAreaTop" fmla="*/ 0 h 6855840"/>
              <a:gd name="textAreaBottom" fmla="*/ 6856560 h 6855840"/>
              <a:gd name="GluePoint1X" fmla="*/ 1 w 3428208"/>
              <a:gd name="GluePoint1Y" fmla="*/ 0 h 6856414"/>
              <a:gd name="GluePoint2X" fmla="*/ 3428208 w 3428208"/>
              <a:gd name="GluePoint2Y" fmla="*/ 3428207 h 6856414"/>
              <a:gd name="GluePoint3X" fmla="*/ 1 w 3428208"/>
              <a:gd name="GluePoint3Y" fmla="*/ 6856414 h 6856414"/>
              <a:gd name="GluePoint4X" fmla="*/ 0 w 3428208"/>
              <a:gd name="GluePoint4Y" fmla="*/ 6856414 h 6856414"/>
              <a:gd name="GluePoint5X" fmla="*/ 0 w 3428208"/>
              <a:gd name="GluePoint5Y" fmla="*/ 0 h 685641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988920" y="723960"/>
            <a:ext cx="4114080" cy="529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48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932520" y="1981080"/>
            <a:ext cx="4114080" cy="285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  <a:lvl2pPr marL="36576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2pPr>
            <a:lvl3pPr marL="5943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3pPr>
            <a:lvl4pPr marL="77724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4pPr>
            <a:lvl5pPr marL="96012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按一下以編輯母片文字樣式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第二層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第三層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第四層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第五層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80" name="Cross 13"/>
          <p:cNvSpPr/>
          <p:nvPr/>
        </p:nvSpPr>
        <p:spPr>
          <a:xfrm>
            <a:off x="4837680" y="914400"/>
            <a:ext cx="685080" cy="68508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81" name="Cross 14"/>
          <p:cNvSpPr/>
          <p:nvPr/>
        </p:nvSpPr>
        <p:spPr>
          <a:xfrm>
            <a:off x="3085200" y="5695920"/>
            <a:ext cx="685080" cy="68508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82" name="Left Brace 1"/>
          <p:cNvSpPr/>
          <p:nvPr/>
        </p:nvSpPr>
        <p:spPr>
          <a:xfrm>
            <a:off x="5560920" y="2022120"/>
            <a:ext cx="837360" cy="2813400"/>
          </a:xfrm>
          <a:prstGeom prst="leftBrace">
            <a:avLst>
              <a:gd name="adj1" fmla="val 34932"/>
              <a:gd name="adj2" fmla="val 50000"/>
            </a:avLst>
          </a:prstGeom>
          <a:noFill/>
          <a:ln w="28575"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ing with Phone im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Oval 6"/>
          <p:cNvSpPr/>
          <p:nvPr/>
        </p:nvSpPr>
        <p:spPr>
          <a:xfrm>
            <a:off x="6703920" y="1148400"/>
            <a:ext cx="4560480" cy="4560480"/>
          </a:xfrm>
          <a:prstGeom prst="ellipse">
            <a:avLst/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pic>
        <p:nvPicPr>
          <p:cNvPr id="84" name="Graphic 7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432200" y="598320"/>
            <a:ext cx="3095640" cy="566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Cross 8"/>
          <p:cNvSpPr/>
          <p:nvPr/>
        </p:nvSpPr>
        <p:spPr>
          <a:xfrm>
            <a:off x="10818720" y="5353200"/>
            <a:ext cx="685080" cy="68508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86" name="Cross 10"/>
          <p:cNvSpPr/>
          <p:nvPr/>
        </p:nvSpPr>
        <p:spPr>
          <a:xfrm>
            <a:off x="6336000" y="805680"/>
            <a:ext cx="685080" cy="685080"/>
          </a:xfrm>
          <a:prstGeom prst="plus">
            <a:avLst>
              <a:gd name="adj" fmla="val 39796"/>
            </a:avLst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8040" y="685800"/>
            <a:ext cx="6372000" cy="403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48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8040" y="4876920"/>
            <a:ext cx="6372000" cy="110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按一下以編輯母片文字樣式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7765200" y="883440"/>
            <a:ext cx="2438280" cy="5090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45720" indent="0" algn="l" defTabSz="914400">
              <a:lnSpc>
                <a:spcPct val="100000"/>
              </a:lnSpc>
              <a:buNone/>
              <a:tabLst>
                <a:tab pos="0" algn="l"/>
              </a:tabLst>
              <a:defRPr lang="zh-TW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defRPr>
            </a:lvl1pPr>
          </a:lstStyle>
          <a:p>
            <a:pPr marL="45720"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按一下圖示以新增圖片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+ Subtitle 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Oval 4"/>
          <p:cNvSpPr/>
          <p:nvPr/>
        </p:nvSpPr>
        <p:spPr>
          <a:xfrm>
            <a:off x="3274920" y="609480"/>
            <a:ext cx="5637960" cy="5637960"/>
          </a:xfrm>
          <a:prstGeom prst="ellipse">
            <a:avLst/>
          </a:prstGeom>
          <a:gradFill rotWithShape="0">
            <a:gsLst>
              <a:gs pos="0">
                <a:srgbClr val="B3CCE7">
                  <a:alpha val="0"/>
                </a:srgbClr>
              </a:gs>
              <a:gs pos="100000">
                <a:srgbClr val="ACCBF9"/>
              </a:gs>
            </a:gsLst>
            <a:lin ang="5400000"/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91" name="Left Brace 7"/>
          <p:cNvSpPr/>
          <p:nvPr/>
        </p:nvSpPr>
        <p:spPr>
          <a:xfrm>
            <a:off x="5560920" y="2022120"/>
            <a:ext cx="837360" cy="2813400"/>
          </a:xfrm>
          <a:prstGeom prst="leftBrace">
            <a:avLst>
              <a:gd name="adj1" fmla="val 34932"/>
              <a:gd name="adj2" fmla="val 50000"/>
            </a:avLst>
          </a:prstGeom>
          <a:noFill/>
          <a:ln w="28575"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31720" y="495360"/>
            <a:ext cx="4571280" cy="586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r" defTabSz="914400">
              <a:lnSpc>
                <a:spcPct val="110000"/>
              </a:lnSpc>
              <a:buNone/>
              <a:tabLst>
                <a:tab pos="0" algn="l"/>
              </a:tabLst>
              <a:def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按一下以編輯母片標題樣式</a:t>
            </a:r>
            <a:endParaRPr lang="en-US" sz="48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768360" y="2022120"/>
            <a:ext cx="4442760" cy="281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  <a:def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  <a:def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按一下以編輯母片文字樣式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274320" lvl="1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第二層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594360" lvl="2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第三層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777240" lvl="3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第四層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960120" lvl="4" indent="-2286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第五層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B3CCE7">
                <a:alpha val="0"/>
              </a:srgbClr>
            </a:gs>
            <a:gs pos="100000">
              <a:srgbClr val="ACCBF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84360" y="1295280"/>
            <a:ext cx="10286280" cy="388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6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TW-SELFSELECT –W3</a:t>
            </a:r>
            <a:br>
              <a:rPr sz="6600"/>
            </a:br>
            <a:r>
              <a:rPr lang="en-US" sz="66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 </a:t>
            </a:r>
            <a:r>
              <a:rPr lang="zh-TW" sz="66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台股買賣自動化系統</a:t>
            </a:r>
            <a:endParaRPr lang="en-US" sz="66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84360" y="5600880"/>
            <a:ext cx="10286280" cy="53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使用 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Python 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與 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DSH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36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關於 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DSH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ldNum" idx="25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</a:pPr>
            <a:fld id="{F051D773-5667-4600-89B1-82A0A43383D2}" type="slidenum"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2</a:t>
            </a:fld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1311120" y="2286000"/>
            <a:ext cx="4571280" cy="39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請先確定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DSH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可以正常啟動（本課程用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deepseek-flash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）；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FinMind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的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API token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放在專案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.env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的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FINMIND_API_TOKEN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wsl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中先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WSL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中先執行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activate_venv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在專案根目錄啟動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DSH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dsh_web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（即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pnpm dsh web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，瀏覽器開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http://127.0.0.1:3080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）；一般任務直接對話，重要或不可逆的動作先用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plan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模式（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DSH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會先送計畫給你核准）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05" name="TextBox 104"/>
          <p:cNvSpPr/>
          <p:nvPr/>
        </p:nvSpPr>
        <p:spPr>
          <a:xfrm>
            <a:off x="6094440" y="2286000"/>
            <a:ext cx="5562000" cy="396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r>
              <a:rPr lang="zh-TW" sz="1400" b="0" i="1" u="none" strike="noStrike">
                <a:solidFill>
                  <a:srgbClr val="999999"/>
                </a:solidFill>
                <a:effectLst/>
                <a:uFillTx/>
                <a:latin typeface="Arial"/>
              </a:rPr>
              <a:t>（</a:t>
            </a:r>
            <a:r>
              <a:rPr lang="en-US" sz="1400" b="0" i="1" u="none" strike="noStrike">
                <a:solidFill>
                  <a:srgbClr val="999999"/>
                </a:solidFill>
                <a:effectLst/>
                <a:uFillTx/>
                <a:latin typeface="Arial"/>
              </a:rPr>
              <a:t>DSH </a:t>
            </a:r>
            <a:r>
              <a:rPr lang="zh-TW" sz="1400" b="0" i="1" u="none" strike="noStrike">
                <a:solidFill>
                  <a:srgbClr val="999999"/>
                </a:solidFill>
                <a:effectLst/>
                <a:uFillTx/>
                <a:latin typeface="Arial"/>
              </a:rPr>
              <a:t>介面截圖待補）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"/>
          <p:cNvPicPr/>
          <p:nvPr/>
        </p:nvPicPr>
        <p:blipFill>
          <a:blip r:embed="rId1"/>
          <a:stretch/>
        </p:blipFill>
        <p:spPr>
          <a:xfrm>
            <a:off x="4572000" y="3429000"/>
            <a:ext cx="7525440" cy="818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36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關於 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DSH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ldNum" idx="26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</a:pPr>
            <a:fld id="{4AB37374-9EA7-4BB3-8B55-1C69CEAF9BAC}" type="slidenum"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3</a:t>
            </a:fld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1318680" y="1676520"/>
            <a:ext cx="1653120" cy="4495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-324000" algn="l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切換模型：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DSH Web 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介面</a:t>
            </a:r>
            <a:br>
              <a:rPr sz="2000"/>
            </a:b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本課程統一用 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deepseek-flash</a:t>
            </a:r>
            <a:br>
              <a:rPr sz="2000"/>
            </a:b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（同一段對話不要混用其他廠牌模型）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10" name="TextBox 110"/>
          <p:cNvSpPr/>
          <p:nvPr/>
        </p:nvSpPr>
        <p:spPr>
          <a:xfrm>
            <a:off x="6178680" y="1676520"/>
            <a:ext cx="5562000" cy="21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r>
              <a:rPr lang="zh-TW" sz="1400" b="0" i="1" u="none" strike="noStrike">
                <a:solidFill>
                  <a:srgbClr val="999999"/>
                </a:solidFill>
                <a:effectLst/>
                <a:uFillTx/>
                <a:latin typeface="Arial"/>
              </a:rPr>
              <a:t>（</a:t>
            </a:r>
            <a:r>
              <a:rPr lang="en-US" sz="1400" b="0" i="1" u="none" strike="noStrike">
                <a:solidFill>
                  <a:srgbClr val="999999"/>
                </a:solidFill>
                <a:effectLst/>
                <a:uFillTx/>
                <a:latin typeface="Arial"/>
              </a:rPr>
              <a:t>DSH </a:t>
            </a:r>
            <a:r>
              <a:rPr lang="zh-TW" sz="1400" b="0" i="1" u="none" strike="noStrike">
                <a:solidFill>
                  <a:srgbClr val="999999"/>
                </a:solidFill>
                <a:effectLst/>
                <a:uFillTx/>
                <a:latin typeface="Arial"/>
              </a:rPr>
              <a:t>介面截圖待補）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11"/>
          <p:cNvSpPr/>
          <p:nvPr/>
        </p:nvSpPr>
        <p:spPr>
          <a:xfrm>
            <a:off x="6157440" y="4035240"/>
            <a:ext cx="5603760" cy="22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r>
              <a:rPr lang="zh-TW" sz="1400" b="0" i="1" u="none" strike="noStrike">
                <a:solidFill>
                  <a:srgbClr val="999999"/>
                </a:solidFill>
                <a:effectLst/>
                <a:uFillTx/>
                <a:latin typeface="Arial"/>
              </a:rPr>
              <a:t>（</a:t>
            </a:r>
            <a:r>
              <a:rPr lang="en-US" sz="1400" b="0" i="1" u="none" strike="noStrike">
                <a:solidFill>
                  <a:srgbClr val="999999"/>
                </a:solidFill>
                <a:effectLst/>
                <a:uFillTx/>
                <a:latin typeface="Arial"/>
              </a:rPr>
              <a:t>DSH </a:t>
            </a:r>
            <a:r>
              <a:rPr lang="zh-TW" sz="1400" b="0" i="1" u="none" strike="noStrike">
                <a:solidFill>
                  <a:srgbClr val="999999"/>
                </a:solidFill>
                <a:effectLst/>
                <a:uFillTx/>
                <a:latin typeface="Arial"/>
              </a:rPr>
              <a:t>介面截圖待補）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"/>
          <p:cNvPicPr/>
          <p:nvPr/>
        </p:nvPicPr>
        <p:blipFill>
          <a:blip r:embed="rId1"/>
          <a:stretch/>
        </p:blipFill>
        <p:spPr>
          <a:xfrm>
            <a:off x="3123360" y="1676520"/>
            <a:ext cx="9221040" cy="4815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293840" y="110880"/>
            <a:ext cx="4914360" cy="65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關於 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DSH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ldNum" idx="27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</a:pPr>
            <a:fld id="{5E76C0BD-80BE-49E8-B1F9-993C3FFA1B36}" type="slidenum"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4</a:t>
            </a:fld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204840" y="609480"/>
            <a:ext cx="4365000" cy="487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打入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: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我們溝通都用繁中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,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確定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AI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回應代表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API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有接上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關閉瀏覽器分頁即結束（背景伺服器用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Ctrl+C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停）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工作目錄＝啟動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DSH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的專案根（本專案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~/tw-selfselect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），不需要額外初始化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技能（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skills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）：直接用自然語言描述，例如「用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finmind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抓台積電月營收」，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DSH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會呼叫對應技能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在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Web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介面左側的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session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清單可以直接接續先前的對話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WSL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中執行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dsh_web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會開啟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Web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介面（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http://127.0.0.1:3080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）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16" name="TextBox 115"/>
          <p:cNvSpPr/>
          <p:nvPr/>
        </p:nvSpPr>
        <p:spPr>
          <a:xfrm>
            <a:off x="4379760" y="627840"/>
            <a:ext cx="7603200" cy="30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r>
              <a:rPr lang="zh-TW" sz="1400" b="0" i="1" u="none" strike="noStrike">
                <a:solidFill>
                  <a:srgbClr val="999999"/>
                </a:solidFill>
                <a:effectLst/>
                <a:uFillTx/>
                <a:latin typeface="Arial"/>
              </a:rPr>
              <a:t>（</a:t>
            </a:r>
            <a:r>
              <a:rPr lang="en-US" sz="1400" b="0" i="1" u="none" strike="noStrike">
                <a:solidFill>
                  <a:srgbClr val="999999"/>
                </a:solidFill>
                <a:effectLst/>
                <a:uFillTx/>
                <a:latin typeface="Arial"/>
              </a:rPr>
              <a:t>DSH </a:t>
            </a:r>
            <a:r>
              <a:rPr lang="zh-TW" sz="1400" b="0" i="1" u="none" strike="noStrike">
                <a:solidFill>
                  <a:srgbClr val="999999"/>
                </a:solidFill>
                <a:effectLst/>
                <a:uFillTx/>
                <a:latin typeface="Arial"/>
              </a:rPr>
              <a:t>介面截圖待補）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116"/>
          <p:cNvSpPr/>
          <p:nvPr/>
        </p:nvSpPr>
        <p:spPr>
          <a:xfrm>
            <a:off x="5629320" y="3886200"/>
            <a:ext cx="5104800" cy="21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r>
              <a:rPr lang="zh-TW" sz="1400" b="0" i="1" u="none" strike="noStrike">
                <a:solidFill>
                  <a:srgbClr val="999999"/>
                </a:solidFill>
                <a:effectLst/>
                <a:uFillTx/>
                <a:latin typeface="Arial"/>
              </a:rPr>
              <a:t>（</a:t>
            </a:r>
            <a:r>
              <a:rPr lang="en-US" sz="1400" b="0" i="1" u="none" strike="noStrike">
                <a:solidFill>
                  <a:srgbClr val="999999"/>
                </a:solidFill>
                <a:effectLst/>
                <a:uFillTx/>
                <a:latin typeface="Arial"/>
              </a:rPr>
              <a:t>DSH </a:t>
            </a:r>
            <a:r>
              <a:rPr lang="zh-TW" sz="1400" b="0" i="1" u="none" strike="noStrike">
                <a:solidFill>
                  <a:srgbClr val="999999"/>
                </a:solidFill>
                <a:effectLst/>
                <a:uFillTx/>
                <a:latin typeface="Arial"/>
              </a:rPr>
              <a:t>介面截圖待補）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"/>
          <p:cNvPicPr/>
          <p:nvPr/>
        </p:nvPicPr>
        <p:blipFill>
          <a:blip r:embed="rId1"/>
          <a:stretch/>
        </p:blipFill>
        <p:spPr>
          <a:xfrm>
            <a:off x="6858000" y="-228600"/>
            <a:ext cx="2196000" cy="5518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"/>
          <p:cNvPicPr/>
          <p:nvPr/>
        </p:nvPicPr>
        <p:blipFill>
          <a:blip r:embed="rId2"/>
          <a:stretch/>
        </p:blipFill>
        <p:spPr>
          <a:xfrm>
            <a:off x="3657600" y="5485680"/>
            <a:ext cx="7979400" cy="1117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491436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開啟專案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ldNum" idx="28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fld id="{46BF5A8F-D246-4FAA-AECC-8240B11B1E4B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4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6437160" y="1333440"/>
            <a:ext cx="4911120" cy="4609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-32400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開啟專案目錄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~/tw-selfselect</a:t>
            </a:r>
            <a:br>
              <a:rPr sz="1800"/>
            </a:b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一般對話模式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.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按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+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開啟心對話</a:t>
            </a:r>
            <a:br>
              <a:rPr sz="1800"/>
            </a:b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模型選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deepseek-flash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sldNum" idx="29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fld id="{EE728908-9962-4974-9208-58615A510989}" type="slidenum"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4</a:t>
            </a:fld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TextBox 120"/>
          <p:cNvSpPr/>
          <p:nvPr/>
        </p:nvSpPr>
        <p:spPr>
          <a:xfrm>
            <a:off x="1065240" y="1333440"/>
            <a:ext cx="4911120" cy="263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r>
              <a:rPr lang="zh-TW" sz="1400" b="0" i="1" u="none" strike="noStrike">
                <a:solidFill>
                  <a:srgbClr val="999999"/>
                </a:solidFill>
                <a:effectLst/>
                <a:uFillTx/>
                <a:latin typeface="Arial"/>
              </a:rPr>
              <a:t>（</a:t>
            </a:r>
            <a:r>
              <a:rPr lang="en-US" sz="1400" b="0" i="1" u="none" strike="noStrike">
                <a:solidFill>
                  <a:srgbClr val="999999"/>
                </a:solidFill>
                <a:effectLst/>
                <a:uFillTx/>
                <a:latin typeface="Arial"/>
              </a:rPr>
              <a:t>DSH </a:t>
            </a:r>
            <a:r>
              <a:rPr lang="zh-TW" sz="1400" b="0" i="1" u="none" strike="noStrike">
                <a:solidFill>
                  <a:srgbClr val="999999"/>
                </a:solidFill>
                <a:effectLst/>
                <a:uFillTx/>
                <a:latin typeface="Arial"/>
              </a:rPr>
              <a:t>介面截圖待補）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"/>
          <p:cNvPicPr/>
          <p:nvPr/>
        </p:nvPicPr>
        <p:blipFill>
          <a:blip r:embed="rId1"/>
          <a:stretch/>
        </p:blipFill>
        <p:spPr>
          <a:xfrm>
            <a:off x="228600" y="2937960"/>
            <a:ext cx="10972800" cy="3821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1293840" y="304920"/>
            <a:ext cx="9981360" cy="99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新增工作階段：工作根目錄設在 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~/tw-selfselect</a:t>
            </a:r>
            <a:br>
              <a:rPr sz="3200"/>
            </a:b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按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+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添加工作區可以增加新的工作目錄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sldNum" idx="30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</a:pPr>
            <a:fld id="{C71B257D-E1F1-4435-949C-39E7A783B823}" type="slidenum"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6</a:t>
            </a:fld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TextBox 122"/>
          <p:cNvSpPr/>
          <p:nvPr/>
        </p:nvSpPr>
        <p:spPr>
          <a:xfrm>
            <a:off x="1330200" y="1219320"/>
            <a:ext cx="9781200" cy="525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r>
              <a:rPr lang="zh-TW" sz="1400" b="0" i="1" u="none" strike="noStrike">
                <a:solidFill>
                  <a:srgbClr val="999999"/>
                </a:solidFill>
                <a:effectLst/>
                <a:uFillTx/>
                <a:latin typeface="Arial"/>
              </a:rPr>
              <a:t>（</a:t>
            </a:r>
            <a:r>
              <a:rPr lang="en-US" sz="1400" b="0" i="1" u="none" strike="noStrike">
                <a:solidFill>
                  <a:srgbClr val="999999"/>
                </a:solidFill>
                <a:effectLst/>
                <a:uFillTx/>
                <a:latin typeface="Arial"/>
              </a:rPr>
              <a:t>DSH </a:t>
            </a:r>
            <a:r>
              <a:rPr lang="zh-TW" sz="1400" b="0" i="1" u="none" strike="noStrike">
                <a:solidFill>
                  <a:srgbClr val="999999"/>
                </a:solidFill>
                <a:effectLst/>
                <a:uFillTx/>
                <a:latin typeface="Arial"/>
              </a:rPr>
              <a:t>介面截圖待補）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"/>
          <p:cNvPicPr/>
          <p:nvPr/>
        </p:nvPicPr>
        <p:blipFill>
          <a:blip r:embed="rId1"/>
          <a:stretch/>
        </p:blipFill>
        <p:spPr>
          <a:xfrm>
            <a:off x="766440" y="1600200"/>
            <a:ext cx="11349360" cy="4572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911880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輸入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: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給我台積電今年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1~6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月的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K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線圖放在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img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下</a:t>
            </a:r>
            <a:br>
              <a:rPr sz="3200"/>
            </a:b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(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前加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/finmind 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執行會比較快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)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sldNum" idx="31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</a:pPr>
            <a:fld id="{B7DB3CDD-3225-448A-96E9-15EAB6217C10}" type="slidenum"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7</a:t>
            </a:fld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2" name="內容版面配置區 5"/>
          <p:cNvPicPr/>
          <p:nvPr/>
        </p:nvPicPr>
        <p:blipFill>
          <a:blip r:embed="rId1"/>
          <a:stretch/>
        </p:blipFill>
        <p:spPr>
          <a:xfrm>
            <a:off x="1293840" y="1523880"/>
            <a:ext cx="9118800" cy="4571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1028628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使用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/finmind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與沒使用的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K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線圖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-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基本上一樣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,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但是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/findmind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會比較快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(23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秒 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vs 1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分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1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秒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)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sldNum" idx="32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</a:pPr>
            <a:fld id="{5A384D75-28B6-46C1-9848-B07F90CE0371}" type="slidenum"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8</a:t>
            </a:fld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5" name="圖片 10"/>
          <p:cNvPicPr/>
          <p:nvPr/>
        </p:nvPicPr>
        <p:blipFill>
          <a:blip r:embed="rId1"/>
          <a:srcRect l="17664" t="0" r="3853" b="0"/>
          <a:stretch/>
        </p:blipFill>
        <p:spPr>
          <a:xfrm>
            <a:off x="1293840" y="2438280"/>
            <a:ext cx="4911120" cy="411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內容版面配置區 8"/>
          <p:cNvPicPr/>
          <p:nvPr/>
        </p:nvPicPr>
        <p:blipFill>
          <a:blip r:embed="rId2"/>
          <a:srcRect l="14393" t="0" r="7722" b="5"/>
          <a:stretch/>
        </p:blipFill>
        <p:spPr>
          <a:xfrm>
            <a:off x="6516720" y="2438280"/>
            <a:ext cx="4911120" cy="4114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9676800" cy="68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/finmind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給我聯發科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1~6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月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K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線圖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html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檔放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img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下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sldNum" idx="33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</a:pPr>
            <a:fld id="{D750886B-07A7-4AE2-BD90-0F6FAFC4B2B3}" type="slidenum"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9</a:t>
            </a:fld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303120" y="1905120"/>
            <a:ext cx="4571280" cy="39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已生成在 </a:t>
            </a:r>
            <a:r>
              <a:rPr lang="en-US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~/tw-selfselect/img/mtk_kline_2026_h1.html</a:t>
            </a:r>
            <a:r>
              <a:rPr lang="zh-TW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</a:t>
            </a:r>
            <a:r>
              <a:rPr lang="en-US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13KB</a:t>
            </a:r>
            <a:r>
              <a:rPr lang="zh-TW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）。</a:t>
            </a:r>
            <a:endParaRPr lang="en-US" sz="17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這是互動式 </a:t>
            </a:r>
            <a:r>
              <a:rPr lang="en-US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HTML </a:t>
            </a:r>
            <a:r>
              <a:rPr lang="zh-TW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圖表，用瀏覽器直接開就能用，功能包含：</a:t>
            </a:r>
            <a:endParaRPr lang="en-US" sz="17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縮放：滑鼠框選區域放大</a:t>
            </a:r>
            <a:endParaRPr lang="en-US" sz="17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懸停：游標移到 </a:t>
            </a:r>
            <a:r>
              <a:rPr lang="en-US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K </a:t>
            </a:r>
            <a:r>
              <a:rPr lang="zh-TW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線上看當日開高低收</a:t>
            </a:r>
            <a:endParaRPr lang="en-US" sz="17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成交量：下半部半透明柱狀圖，紅漲綠跌</a:t>
            </a:r>
            <a:endParaRPr lang="en-US" sz="17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深色主題，</a:t>
            </a:r>
            <a:r>
              <a:rPr lang="en-US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116 </a:t>
            </a:r>
            <a:r>
              <a:rPr lang="zh-TW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個交易日資料（</a:t>
            </a:r>
            <a:r>
              <a:rPr lang="en-US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1/2 ~ 6/30</a:t>
            </a:r>
            <a:r>
              <a:rPr lang="zh-TW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）</a:t>
            </a:r>
            <a:endParaRPr lang="en-US" sz="17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7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140" name="內容版面配置區 6"/>
          <p:cNvPicPr/>
          <p:nvPr/>
        </p:nvPicPr>
        <p:blipFill>
          <a:blip r:embed="rId1"/>
          <a:stretch/>
        </p:blipFill>
        <p:spPr>
          <a:xfrm>
            <a:off x="4993200" y="1828800"/>
            <a:ext cx="6891840" cy="4037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293840" y="304920"/>
            <a:ext cx="9676800" cy="68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/finmind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給我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2025~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現在的台股期貨走勢圖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html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放在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img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下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sldNum" idx="34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</a:pPr>
            <a:fld id="{1A0F068A-A17E-4556-B107-8E46CA01410E}" type="slidenum"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10</a:t>
            </a:fld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303120" y="1905120"/>
            <a:ext cx="4571280" cy="39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已生成在 </a:t>
            </a:r>
            <a:r>
              <a:rPr lang="en-US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~/tw-selfselect/img/mtk_kline_2026_h1.html</a:t>
            </a:r>
            <a:r>
              <a:rPr lang="zh-TW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</a:t>
            </a:r>
            <a:r>
              <a:rPr lang="en-US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13KB</a:t>
            </a:r>
            <a:r>
              <a:rPr lang="zh-TW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）。</a:t>
            </a:r>
            <a:endParaRPr lang="en-US" sz="17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這是互動式 </a:t>
            </a:r>
            <a:r>
              <a:rPr lang="en-US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HTML </a:t>
            </a:r>
            <a:r>
              <a:rPr lang="zh-TW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圖表，用瀏覽器直接開就能用，功能包含：</a:t>
            </a:r>
            <a:endParaRPr lang="en-US" sz="17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縮放：滑鼠框選區域放大</a:t>
            </a:r>
            <a:endParaRPr lang="en-US" sz="17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懸停：游標移到 </a:t>
            </a:r>
            <a:r>
              <a:rPr lang="en-US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K </a:t>
            </a:r>
            <a:r>
              <a:rPr lang="zh-TW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線上看當日開高低收</a:t>
            </a:r>
            <a:endParaRPr lang="en-US" sz="17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成交量：下半部半透明柱狀圖，紅漲綠跌</a:t>
            </a:r>
            <a:endParaRPr lang="en-US" sz="17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深色主題，</a:t>
            </a:r>
            <a:r>
              <a:rPr lang="en-US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116 </a:t>
            </a:r>
            <a:r>
              <a:rPr lang="zh-TW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個交易日資料（</a:t>
            </a:r>
            <a:r>
              <a:rPr lang="en-US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1/2 ~ 6/30</a:t>
            </a:r>
            <a:r>
              <a:rPr lang="zh-TW" sz="17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）</a:t>
            </a:r>
            <a:endParaRPr lang="en-US" sz="17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7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6094440" y="2286000"/>
            <a:ext cx="5562000" cy="39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800"/>
              </a:spcBef>
              <a:buNone/>
            </a:pP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145" name="圖片 8"/>
          <p:cNvPicPr/>
          <p:nvPr/>
        </p:nvPicPr>
        <p:blipFill>
          <a:blip r:embed="rId1"/>
          <a:stretch/>
        </p:blipFill>
        <p:spPr>
          <a:xfrm>
            <a:off x="38160" y="990720"/>
            <a:ext cx="12188160" cy="5866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1304280" y="423720"/>
            <a:ext cx="997092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如何於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windows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打開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wsl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中的檔案</a:t>
            </a:r>
            <a:br>
              <a:rPr sz="3200"/>
            </a:b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(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同名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Zone Identifier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用來存放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wsl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屬性給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windwos)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147" name="內容版面配置區 6"/>
          <p:cNvPicPr/>
          <p:nvPr/>
        </p:nvPicPr>
        <p:blipFill>
          <a:blip r:embed="rId1"/>
          <a:stretch/>
        </p:blipFill>
        <p:spPr>
          <a:xfrm>
            <a:off x="1304280" y="1219320"/>
            <a:ext cx="9781200" cy="52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3F75BC8C-7E4B-4436-A029-277DD4641DE0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1281240" y="151200"/>
            <a:ext cx="9970920" cy="79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/finmind, 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就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2022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年底一整年的股市資料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, 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挑出當時十家最值得投資的股票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(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含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ETF),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並列出其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2022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年走勢圖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html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於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img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下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(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第一次結果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)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1311120" y="2286000"/>
            <a:ext cx="4571280" cy="39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800"/>
              </a:spcBef>
              <a:buNone/>
            </a:pP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150" name="圖片 7"/>
          <p:cNvPicPr/>
          <p:nvPr/>
        </p:nvPicPr>
        <p:blipFill>
          <a:blip r:embed="rId1"/>
          <a:stretch/>
        </p:blipFill>
        <p:spPr>
          <a:xfrm>
            <a:off x="1185480" y="1219320"/>
            <a:ext cx="10208520" cy="548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3DEEBDD2-EAB9-4E9D-BDEF-BFC2E8070A99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1281240" y="151200"/>
            <a:ext cx="9970920" cy="79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/finmind, 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就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2022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年底一整年的股市資料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, 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挑出當時十家最值得投資的股票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(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含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ETF),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並列出其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2022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年走勢圖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html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於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img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下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(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修正結果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,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怎麼選最值得投資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?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問一問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,</a:t>
            </a:r>
            <a:r>
              <a:rPr lang="zh-TW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再討論</a:t>
            </a:r>
            <a:r>
              <a:rPr lang="en-US" sz="3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)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1311120" y="2286000"/>
            <a:ext cx="4571280" cy="39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800"/>
              </a:spcBef>
              <a:buNone/>
            </a:pP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153" name="圖片 5"/>
          <p:cNvPicPr/>
          <p:nvPr/>
        </p:nvPicPr>
        <p:blipFill>
          <a:blip r:embed="rId1"/>
          <a:stretch/>
        </p:blipFill>
        <p:spPr>
          <a:xfrm>
            <a:off x="1258200" y="1371600"/>
            <a:ext cx="9827640" cy="528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26268CD0-7739-4340-8EA4-C4A9A1EAFF82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8228880" cy="60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AI(Deepseek)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選股原則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6094440" y="1219320"/>
            <a:ext cx="5562000" cy="5028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74320" indent="-228600" algn="l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原則 </a:t>
            </a:r>
            <a:r>
              <a:rPr lang="en-US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3</a:t>
            </a:r>
            <a:r>
              <a:rPr lang="zh-TW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：</a:t>
            </a:r>
            <a:r>
              <a:rPr lang="zh-TW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</a:rPr>
              <a:t>不做主觀調整</a:t>
            </a:r>
            <a:br>
              <a:rPr sz="2000"/>
            </a:b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 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-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產業偏好不加分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-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冷門但績效好不扣分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-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只讓數據決定排名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-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人只負責修正演算法缺陷，不手動調整排名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註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: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夏普比率（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Sharpe Ratio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）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白話：你每承擔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1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單位波動，換到多少超額報酬。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836640" y="1219320"/>
            <a:ext cx="5046120" cy="5028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 原則 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1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先過濾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，再評分</a:t>
            </a:r>
            <a:br>
              <a:rPr sz="1800"/>
            </a:b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 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651600" lvl="1" indent="-28584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|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日均成交量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| &gt;= 1,000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張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651600" lvl="1" indent="-28584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|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全年交易日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| &gt;= 200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天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純績效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三維評分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651600" lvl="1" indent="-28584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總分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=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總報酬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x 50% +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夏普比率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x 25% +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最大回撤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(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反向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) x 25%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651600" lvl="1" indent="-28584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|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總報酬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| 50% |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這段期間到底是賺是賠？核心指標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|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651600" lvl="1" indent="-28584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|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夏普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比率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| 25% |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每承擔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1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單位波動換到多少報酬？效率指標 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651600" lvl="1" indent="-28584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|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最大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回撤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| 25% |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從高點到低點最多賠多少？心臟強度指標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|</a:t>
            </a:r>
            <a:br>
              <a:rPr sz="1800"/>
            </a:b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 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0800DB1B-1BA4-40D5-A997-361FC086B29F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8228880" cy="60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ETF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與反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ETF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6094440" y="1219320"/>
            <a:ext cx="5562000" cy="5028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800"/>
              </a:spcBef>
              <a:buNone/>
            </a:pP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836640" y="1219320"/>
            <a:ext cx="10667160" cy="5028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反向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ETF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的設計是「大盤跌多少，它就漲多少」。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00632R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追蹤的是「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台灣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50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指數的單日反向報酬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」：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情境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台灣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50 (0050)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台灣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50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反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1 (00632R)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大盤漲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+1%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漲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+1%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跌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-1%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大盤跌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-1%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跌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-1%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漲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+1%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230A4D93-B969-4197-9BAB-F3A945FD17F8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1311120" y="380880"/>
            <a:ext cx="1004004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反向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ETF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161" name="內容版面配置區 6"/>
          <p:cNvPicPr/>
          <p:nvPr/>
        </p:nvPicPr>
        <p:blipFill>
          <a:blip r:embed="rId1"/>
          <a:stretch/>
        </p:blipFill>
        <p:spPr>
          <a:xfrm>
            <a:off x="1311120" y="800280"/>
            <a:ext cx="10560960" cy="567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8C94DBF3-4DEB-439F-822E-24DF6F79DAEC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1293840" y="190440"/>
            <a:ext cx="8228880" cy="60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ETF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與反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ETF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6094440" y="1219320"/>
            <a:ext cx="5562000" cy="5028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74320" indent="-228600" algn="l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00632R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元大台灣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50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反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1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</a:rPr>
              <a:t>台灣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</a:rPr>
              <a:t>50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</a:rPr>
              <a:t>指數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</a:rPr>
              <a:t>台股反向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274320" indent="-228600" algn="l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00664R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國泰台灣加權反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1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發行量加權股價指數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台股反向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274320" indent="-228600" algn="l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00676R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富邦台灣加權反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1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發行量加權股價指數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台股反向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274320" indent="-228600" algn="l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00648R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元大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S&amp;P500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反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1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	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S&amp;P 500 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指數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美股反向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274320" indent="-228600" algn="l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00668R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國泰美國道瓊反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1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道瓊工業指數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美股反向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274320" indent="-228600" algn="l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00670R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富邦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NASDAQ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反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1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	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NASDAQ 100 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指數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</a:rPr>
              <a:t>美股反向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274320" indent="-228600" algn="l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00636R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國泰中國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A50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反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1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新華富時中國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A50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指數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</a:rPr>
              <a:t>陸股反向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/>
          </p:nvPr>
        </p:nvSpPr>
        <p:spPr>
          <a:xfrm>
            <a:off x="180000" y="1080000"/>
            <a:ext cx="7019640" cy="53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45720" indent="0" algn="l" defTabSz="914400">
              <a:lnSpc>
                <a:spcPts val="839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台灣正向 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ETF 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很多，以常見的分類：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ts val="839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類別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代號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名稱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特色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ts val="839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大盤型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0050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元大台灣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50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前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50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大權值股，最經典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ts val="839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006208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富邦台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50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同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0050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但內扣稍低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ts val="839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00692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富邦公司治理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公司治理評鑑前段班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ts val="839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高股息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0056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元大高股息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預測未來一年高股息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ts val="839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00878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國泰永續高股息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ESG+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高股息，人氣高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ts val="839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00919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群益台灣精選高息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季配息，選股邏輯不同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ts val="839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00713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元大高息低波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高股息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+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低波動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ts val="839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00900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富邦特選高股息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換股頻率高，追逐當下高息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ts val="839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市值型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00690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兆豐藍籌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30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藍籌股精選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30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檔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ts val="839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科技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0052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富邦科技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科技類股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ts val="839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金融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0055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元大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MSCI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金融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金融類股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ts val="839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ESG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00850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元大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ESG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永續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ESG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篩選</a:t>
            </a: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ts val="839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總體市場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006204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永豐臺灣加權</a:t>
            </a:r>
            <a:r>
              <a:rPr lang="en-US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	</a:t>
            </a:r>
            <a:r>
              <a:rPr lang="zh-TW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直接追蹤大盤加權指數</a:t>
            </a:r>
            <a:br>
              <a:rPr sz="1400"/>
            </a:br>
            <a:endParaRPr lang="en-US" sz="1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DCE9DD3B-6BC8-4E93-917E-718B351056A2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8228880" cy="60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AI(Google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網頁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)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選股原則</a:t>
            </a:r>
            <a:br>
              <a:rPr sz="3200"/>
            </a:br>
            <a:r>
              <a:rPr lang="zh-TW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就只看</a:t>
            </a:r>
            <a:r>
              <a:rPr lang="en-US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Finmind, TWSE</a:t>
            </a:r>
            <a:r>
              <a:rPr lang="zh-TW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的股市資料</a:t>
            </a:r>
            <a:r>
              <a:rPr lang="en-US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, </a:t>
            </a:r>
            <a:r>
              <a:rPr lang="zh-TW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選出值得投資的台股</a:t>
            </a:r>
            <a:r>
              <a:rPr lang="en-US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, </a:t>
            </a:r>
            <a:r>
              <a:rPr lang="zh-TW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你有甚麼簡單原則來選</a:t>
            </a:r>
            <a:r>
              <a:rPr lang="en-US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?</a:t>
            </a:r>
            <a:endParaRPr lang="en-US" sz="20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6094440" y="1600200"/>
            <a:ext cx="5562000" cy="4647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3.</a:t>
            </a:r>
            <a:r>
              <a:rPr lang="zh-TW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</a:rPr>
              <a:t>法人籌碼</a:t>
            </a:r>
            <a:r>
              <a:rPr lang="zh-TW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強度（跟隨大戶資金）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274320" indent="-228600" algn="l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篩選原則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：</a:t>
            </a:r>
            <a:r>
              <a:rPr lang="zh-TW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投信或外資連續買超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，且</a:t>
            </a:r>
            <a:r>
              <a:rPr lang="zh-TW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籌碼買超強度在全市場排名前列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。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274320" indent="-228600" algn="l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核心目的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：單純看法人買超張數容易有大型股偏誤（如台積電動輒幾萬張）。改用「</a:t>
            </a:r>
            <a:r>
              <a:rPr lang="zh-TW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買超張數佔成交量比例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」能有效抓出法人正在默默認養、中小型股本的波段飆股。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4. </a:t>
            </a:r>
            <a:r>
              <a:rPr lang="zh-TW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價格與估值控制（避免追高套牢）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274320" indent="-228600" algn="l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篩選原則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：</a:t>
            </a:r>
            <a:r>
              <a:rPr lang="zh-TW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</a:rPr>
              <a:t>本益比 </a:t>
            </a:r>
            <a:r>
              <a:rPr lang="en-US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</a:rPr>
              <a:t>(PE) </a:t>
            </a:r>
            <a:r>
              <a:rPr lang="zh-TW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低於同業均值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，或</a:t>
            </a:r>
            <a:r>
              <a:rPr lang="zh-TW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股價位於季線 </a:t>
            </a:r>
            <a:r>
              <a:rPr lang="en-US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(60MA) </a:t>
            </a:r>
            <a:r>
              <a:rPr lang="zh-TW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之上且回檔不破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。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274320" indent="-228600" algn="l" defTabSz="914400">
              <a:lnSpc>
                <a:spcPct val="9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20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核心目的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：結合 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TWSE 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每日公告的個股本益比，在動能強勁的股票中，優先挑選估值尚未過度膨脹、技術面維持多頭排列的標的，作為最後的安全氣囊。 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indent="0" algn="l" defTabSz="914400">
              <a:lnSpc>
                <a:spcPct val="9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/>
          </p:nvPr>
        </p:nvSpPr>
        <p:spPr>
          <a:xfrm>
            <a:off x="836640" y="1219320"/>
            <a:ext cx="5046120" cy="5028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1. 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流動性過濾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（防範流動性風險）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篩選原則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20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日平均成交量 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&gt; 500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張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核心目的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：剔除成交量過低的「殭屍股」，確保資金在大進大出時不會產生嚴重的滑價，實單能夠順利成交。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2. 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營收成長動能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（基本面把關）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篩選原則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月營收年增率 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(YoY) &gt; 0%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，且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月營收創近 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12 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個月新高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核心目的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：月營收是台股特有且最即時的基本面指標（每月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10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號前公布）。營收創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12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個月新高代表公司正處於強烈的產業上升循環，通常會帶來實質的波段漲幅。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A81FDA17-8F63-453A-87F5-A11365490617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8609760" cy="57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使用 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DSH 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的 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plan 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模式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sldNum" idx="35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</a:pPr>
            <a:fld id="{EBBD4958-556B-4B4C-A623-7AD00774711F}" type="slidenum"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&lt;編號&gt;</a:t>
            </a:fld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1311120" y="1189800"/>
            <a:ext cx="2420280" cy="2238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你提出需求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DSH 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的 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plan 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模式會先寫一份計畫（</a:t>
            </a: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Markdown</a:t>
            </a: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）給你看，確認後才執行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71" name="TextBox 164"/>
          <p:cNvSpPr/>
          <p:nvPr/>
        </p:nvSpPr>
        <p:spPr>
          <a:xfrm>
            <a:off x="3960720" y="1081440"/>
            <a:ext cx="7854120" cy="524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r>
              <a:rPr lang="zh-TW" sz="1400" b="0" i="1" u="none" strike="noStrike">
                <a:solidFill>
                  <a:srgbClr val="999999"/>
                </a:solidFill>
                <a:effectLst/>
                <a:uFillTx/>
                <a:latin typeface="Arial"/>
              </a:rPr>
              <a:t>（</a:t>
            </a:r>
            <a:r>
              <a:rPr lang="en-US" sz="1400" b="0" i="1" u="none" strike="noStrike">
                <a:solidFill>
                  <a:srgbClr val="999999"/>
                </a:solidFill>
                <a:effectLst/>
                <a:uFillTx/>
                <a:latin typeface="Arial"/>
              </a:rPr>
              <a:t>DSH </a:t>
            </a:r>
            <a:r>
              <a:rPr lang="zh-TW" sz="1400" b="0" i="1" u="none" strike="noStrike">
                <a:solidFill>
                  <a:srgbClr val="999999"/>
                </a:solidFill>
                <a:effectLst/>
                <a:uFillTx/>
                <a:latin typeface="Arial"/>
              </a:rPr>
              <a:t>介面截圖待補）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2" name=""/>
          <p:cNvPicPr/>
          <p:nvPr/>
        </p:nvPicPr>
        <p:blipFill>
          <a:blip r:embed="rId1"/>
          <a:stretch/>
        </p:blipFill>
        <p:spPr>
          <a:xfrm>
            <a:off x="3960720" y="1521360"/>
            <a:ext cx="7877880" cy="2593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3" name=""/>
          <p:cNvPicPr/>
          <p:nvPr/>
        </p:nvPicPr>
        <p:blipFill>
          <a:blip r:embed="rId2"/>
          <a:stretch/>
        </p:blipFill>
        <p:spPr>
          <a:xfrm>
            <a:off x="7372440" y="4343400"/>
            <a:ext cx="2457360" cy="212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PlaceHolder 5"/>
          <p:cNvSpPr txBox="1"/>
          <p:nvPr/>
        </p:nvSpPr>
        <p:spPr>
          <a:xfrm>
            <a:off x="1293840" y="609480"/>
            <a:ext cx="8609760" cy="57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使用 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DSH 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的 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plan 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模式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75" name="PlaceHolder 6"/>
          <p:cNvSpPr txBox="1"/>
          <p:nvPr/>
        </p:nvSpPr>
        <p:spPr>
          <a:xfrm>
            <a:off x="1220040" y="4343400"/>
            <a:ext cx="8609760" cy="57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使用 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DSH 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的 工作權限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76" name="PlaceHolder 7"/>
          <p:cNvSpPr txBox="1"/>
          <p:nvPr/>
        </p:nvSpPr>
        <p:spPr>
          <a:xfrm>
            <a:off x="1371600" y="5029200"/>
            <a:ext cx="4114800" cy="1552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31560" indent="-285840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一般使用工作區修改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要跨目錄修改時才用完全權限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defTabSz="914400">
              <a:lnSpc>
                <a:spcPct val="110000"/>
              </a:lnSpc>
              <a:spcBef>
                <a:spcPts val="1800"/>
              </a:spcBef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1311120" y="142560"/>
            <a:ext cx="8609760" cy="57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跨工作階段知識沉澱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sldNum" idx="36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</a:pPr>
            <a:fld id="{20E1E7DD-7669-490B-B6B7-71A7D982D3BA}" type="slidenum"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&lt;編號&gt;</a:t>
            </a:fld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/>
          </p:nvPr>
        </p:nvSpPr>
        <p:spPr>
          <a:xfrm>
            <a:off x="843480" y="714600"/>
            <a:ext cx="10888920" cy="560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AI 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沒有記憶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——每個新 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session 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都是全新開始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上次修過的 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bug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、做過的決策，下次可能重蹈覆轍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真正的記憶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 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= 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寫在專案裡、下次會被讀到的東西：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651600" lvl="1" indent="-28584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AGENTS.md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：專案規則（進入必讀）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651600" lvl="1" indent="-28584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cairn/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LOG.md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：時間序日誌（做了什麼）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651600" lvl="1" indent="-285840" algn="l" defTabSz="914400">
              <a:lnSpc>
                <a:spcPct val="110000"/>
              </a:lnSpc>
              <a:spcBef>
                <a:spcPts val="1001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cairn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/&lt;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主題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&gt;.md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：知識專題（陷阱、根因、檢查清單）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</a:pP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實例：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cache bug </a:t>
            </a:r>
            <a:r>
              <a:rPr lang="zh-TW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反覆發生 → 快取版本化＋回歸測試＋</a:t>
            </a:r>
            <a:r>
              <a:rPr lang="zh-TW" sz="24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知識專題</a:t>
            </a:r>
            <a:r>
              <a:rPr lang="en-U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 → 根治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1311120" y="142560"/>
            <a:ext cx="8609760" cy="57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知識沉澱檔案內容（</a:t>
            </a: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DSH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自動產生）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sldNum" idx="37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</a:pPr>
            <a:fld id="{316E6FDD-9AD3-41AF-BCBA-764836178774}" type="slidenum"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&lt;編號&gt;</a:t>
            </a:fld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/>
          </p:nvPr>
        </p:nvSpPr>
        <p:spPr>
          <a:xfrm>
            <a:off x="843480" y="714600"/>
            <a:ext cx="10812600" cy="57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~/tw-selfselect/cairn/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     ……….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# 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回測資料完整性與快取陷阱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## 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症狀（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2026-08 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事件）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-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舊版策略的舊官方數字：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**+85.22%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、勝率 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71.72%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、回撤 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22%**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，乾淨資料重測後無法重現，實際為 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**-13.05%**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-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舊數字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**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取決於當時快取狀態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**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——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同一份程式碼、不同的快取內容會得到完全不同的績效數字。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## 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根因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1. 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**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價格快取混入 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yfinance </a:t>
            </a:r>
            <a:r>
              <a:rPr lang="zh-TW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還原價</a:t>
            </a:r>
            <a:r>
              <a:rPr lang="en-US" sz="1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**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：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`auto_adjust`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預設為調整後價格（除權除息調整），系統性偏低，造成進場價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/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訊號失真。已改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`auto_adjust=False`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使用原始價。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……..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293840" y="609480"/>
            <a:ext cx="8609760" cy="579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AI</a:t>
            </a:r>
            <a:r>
              <a:rPr lang="zh-TW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費用分析</a:t>
            </a:r>
            <a:endParaRPr lang="en-US" sz="32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sldNum" idx="38"/>
          </p:nvPr>
        </p:nvSpPr>
        <p:spPr>
          <a:xfrm>
            <a:off x="0" y="609480"/>
            <a:ext cx="7596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914400">
              <a:lnSpc>
                <a:spcPct val="90000"/>
              </a:lnSpc>
              <a:spcAft>
                <a:spcPts val="601"/>
              </a:spcAft>
              <a:buNone/>
              <a:tabLst>
                <a:tab pos="0" algn="l"/>
              </a:tabLst>
            </a:pPr>
            <a:fld id="{F9CA96F8-C8BB-42C2-A146-AB6DBCA79E57}" type="slidenum"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&lt;編號&gt;</a:t>
            </a:fld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921600" y="1189800"/>
            <a:ext cx="4028760" cy="505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PRO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約比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FLASH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貴四倍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Cache Hit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比  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Miss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便宜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約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50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倍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(Deepseek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原廠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,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經銷商可能不同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)=&gt;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同一對話不要常換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AI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模型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31560" indent="-285840" algn="l" defTabSz="914400">
              <a:lnSpc>
                <a:spcPct val="110000"/>
              </a:lnSpc>
              <a:spcBef>
                <a:spcPts val="1800"/>
              </a:spcBef>
              <a:buClr>
                <a:srgbClr val="595959"/>
              </a:buClr>
              <a:buSzPct val="80000"/>
              <a:buFont typeface="Arial"/>
              <a:buChar char="•"/>
              <a:tabLst>
                <a:tab pos="0" algn="l"/>
              </a:tabLst>
            </a:pP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一天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2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千萬個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token,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花費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1~2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毛美元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, 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一個月不到</a:t>
            </a: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10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美元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365760" indent="0" algn="l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  <a:ea typeface="Century Gothic"/>
              </a:rPr>
              <a:t>=&gt;</a:t>
            </a:r>
            <a:r>
              <a:rPr lang="zh-TW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highlight>
                  <a:srgbClr val="FFFF00"/>
                </a:highlight>
                <a:uFillTx/>
                <a:latin typeface="Century Gothic"/>
                <a:ea typeface="Century Gothic"/>
              </a:rPr>
              <a:t>只要充值即可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186" name="內容版面配置區 9"/>
          <p:cNvPicPr/>
          <p:nvPr/>
        </p:nvPicPr>
        <p:blipFill>
          <a:blip r:embed="rId1"/>
          <a:stretch/>
        </p:blipFill>
        <p:spPr>
          <a:xfrm>
            <a:off x="7085160" y="1066680"/>
            <a:ext cx="4181400" cy="312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7" name="圖片 7"/>
          <p:cNvPicPr/>
          <p:nvPr/>
        </p:nvPicPr>
        <p:blipFill>
          <a:blip r:embed="rId2"/>
          <a:stretch/>
        </p:blipFill>
        <p:spPr>
          <a:xfrm>
            <a:off x="2750400" y="1114200"/>
            <a:ext cx="4066920" cy="2219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圖片 12"/>
          <p:cNvPicPr/>
          <p:nvPr/>
        </p:nvPicPr>
        <p:blipFill>
          <a:blip r:embed="rId3"/>
          <a:stretch/>
        </p:blipFill>
        <p:spPr>
          <a:xfrm>
            <a:off x="5103720" y="4677840"/>
            <a:ext cx="6448680" cy="133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文字方塊 13"/>
          <p:cNvSpPr/>
          <p:nvPr/>
        </p:nvSpPr>
        <p:spPr>
          <a:xfrm>
            <a:off x="7313760" y="4317840"/>
            <a:ext cx="4086360" cy="368640"/>
          </a:xfrm>
          <a:prstGeom prst="rect">
            <a:avLst/>
          </a:prstGeom>
          <a:noFill/>
          <a:ln w="0">
            <a:solidFill>
              <a:srgbClr val="ACCBF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Flash                      Pro  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5760" y="495360"/>
            <a:ext cx="5180760" cy="586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r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請自行練習使用</a:t>
            </a:r>
            <a:r>
              <a:rPr lang="en-US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DSH</a:t>
            </a:r>
            <a:r>
              <a:rPr lang="zh-TW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下指令</a:t>
            </a:r>
            <a:br>
              <a:rPr sz="4800"/>
            </a:br>
            <a:r>
              <a:rPr lang="en-US" sz="48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Thank you</a:t>
            </a:r>
            <a:endParaRPr lang="en-US" sz="4800" b="1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6768360" y="2247840"/>
            <a:ext cx="4442760" cy="23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r>
              <a:rPr lang="en-US" sz="2000" b="0" u="none" spc="31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frank@dinchen.com.tw</a:t>
            </a: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  <a:p>
            <a:pPr marL="45720" indent="0" algn="l" defTabSz="914400">
              <a:lnSpc>
                <a:spcPct val="11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2000" b="0" u="none" spc="31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Custom 174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 pitchFamily="0" charset="1"/>
        <a:ea typeface=""/>
        <a:cs typeface=""/>
      </a:majorFont>
      <a:minorFont>
        <a:latin typeface="Century Gothic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050606-E255-48B6-AE23-CE03A589EB2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  <ds:schemaRef ds:uri="71af3243-3dd4-4a8d-8c0d-dd76da1f02a5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{01E1B3A5-1AE4-4177-BC3F-C596D532C00B}TFf1460845-8e07-4b92-9183-e15be13008a218dbe6a5_win32-cc1095971745</Template>
  <TotalTime>1378</TotalTime>
  <Application>LibreOffice/26.2.6.3$Windows_X86_64 LibreOffice_project/8221e31b3ac356a1623c672912a3d2b492f7e3d1</Application>
  <AppVersion>15.0000</AppVersion>
  <Words>1957</Words>
  <Paragraphs>163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2026-07-14T08:04:07Z</dcterms:created>
  <dc:creator>宜軒 謝</dc:creator>
  <dc:description/>
  <dc:language>zh-TW</dc:language>
  <cp:lastModifiedBy/>
  <dcterms:modified xsi:type="dcterms:W3CDTF">2026-10-27T00:18:11Z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lications">
    <vt:lpwstr/>
  </property>
  <property fmtid="{D5CDD505-2E9C-101B-9397-08002B2CF9AE}" pid="3" name="CampaignTags">
    <vt:lpwstr/>
  </property>
  <property fmtid="{D5CDD505-2E9C-101B-9397-08002B2CF9AE}" pid="4" name="CategoryTags">
    <vt:lpwstr/>
  </property>
  <property fmtid="{D5CDD505-2E9C-101B-9397-08002B2CF9AE}" pid="5" name="ContentTypeId">
    <vt:lpwstr>0x01010079F111ED35F8CC479449609E8A0923A6</vt:lpwstr>
  </property>
  <property fmtid="{D5CDD505-2E9C-101B-9397-08002B2CF9AE}" pid="6" name="FeatureTags">
    <vt:lpwstr/>
  </property>
  <property fmtid="{D5CDD505-2E9C-101B-9397-08002B2CF9AE}" pid="7" name="HiddenCategoryTags">
    <vt:lpwstr/>
  </property>
  <property fmtid="{D5CDD505-2E9C-101B-9397-08002B2CF9AE}" pid="8" name="InternalTags">
    <vt:lpwstr/>
  </property>
  <property fmtid="{D5CDD505-2E9C-101B-9397-08002B2CF9AE}" pid="9" name="LocalizationTags">
    <vt:lpwstr/>
  </property>
  <property fmtid="{D5CDD505-2E9C-101B-9397-08002B2CF9AE}" pid="10" name="MediaServiceImageTags">
    <vt:lpwstr/>
  </property>
  <property fmtid="{D5CDD505-2E9C-101B-9397-08002B2CF9AE}" pid="11" name="Notes">
    <vt:i4>1</vt:i4>
  </property>
  <property fmtid="{D5CDD505-2E9C-101B-9397-08002B2CF9AE}" pid="12" name="Order">
    <vt:r8>74069400</vt:r8>
  </property>
  <property fmtid="{D5CDD505-2E9C-101B-9397-08002B2CF9AE}" pid="13" name="PresentationFormat">
    <vt:lpwstr>自訂</vt:lpwstr>
  </property>
  <property fmtid="{D5CDD505-2E9C-101B-9397-08002B2CF9AE}" pid="14" name="ScenarioTags">
    <vt:lpwstr/>
  </property>
  <property fmtid="{D5CDD505-2E9C-101B-9397-08002B2CF9AE}" pid="15" name="Slides">
    <vt:i4>24</vt:i4>
  </property>
</Properties>
</file>