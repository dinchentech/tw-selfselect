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2.svg" ContentType="image/svg"/>
  <Override PartName="/ppt/media/image4.svg" ContentType="image/svg"/>
  <Override PartName="/ppt/media/image6.svg" ContentType="image/sv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15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customXml/item1.xml"/><Relationship Id="rId5" Type="http://schemas.openxmlformats.org/officeDocument/2006/relationships/customXml" Target="customXml/item2.xml"/><Relationship Id="rId6" Type="http://schemas.openxmlformats.org/officeDocument/2006/relationships/customXml" Target="customXml/item3.xml"/><Relationship Id="rId7" Type="http://schemas.microsoft.com/office/2020/02/relationships/classificationlabels" Target="docMetadata/LabelInfo.xml"/><Relationship Id="rId8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</p:sldIdLst>
  <p:sldSz cx="12188825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useTimings="0"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4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presProps" Target="pres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5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請按這裡移動投影片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zh-TW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請按這裡編輯備註格式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 type="dt" idx="2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5"/>
          <p:cNvSpPr>
            <a:spLocks noGrp="1"/>
          </p:cNvSpPr>
          <p:nvPr>
            <p:ph type="ftr" idx="2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PlaceHolder 6"/>
          <p:cNvSpPr>
            <a:spLocks noGrp="1"/>
          </p:cNvSpPr>
          <p:nvPr>
            <p:ph type="sldNum" idx="2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A349297-7364-4A75-8CA1-BDBE01D129B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17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建議時間：30 秒</a:t>
            </a:r>
          </a:p>
          <a:p/>
          <a:p>
            <a:r>
              <a:t>歡迎回來，這是第六堂課，也是最後一堂課。</a:t>
            </a:r>
          </a:p>
          <a:p>
            <a:r>
              <a:t>前五週，我們把策略、回測、選股都搞定了。這一週是驗收週——我們要實際把系統部署到雲端主機，用真金白銀跑實盤。全部跑通，你就正式畢業了。</a:t>
            </a:r>
          </a:p>
          <a:p/>
          <a:p>
            <a:r>
              <a:t>【講師提示】這週是收穫週，強調「完成部署=課程完成」，給學員儀式感。</a:t>
            </a:r>
          </a:p>
        </p:txBody>
      </p:sp>
      <p:sp>
        <p:nvSpPr>
          <p:cNvPr id="175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599D22-BAE3-42F8-ACD3-7C4E2AC0475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17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分鐘</a:t>
            </a:r>
          </a:p>
          <a:p/>
          <a:p>
            <a:r>
              <a:t>先看實盤的完整流程，五個步驟。</a:t>
            </a:r>
          </a:p>
          <a:p>
            <a:r>
              <a:t>第一步，先跑選股程式，決定要選哪些股、以及資金怎麼分配。</a:t>
            </a:r>
          </a:p>
          <a:p>
            <a:r>
              <a:t>第二步，讓 AI 幫你產生 .env 設定檔。這裡有兩個提醒：如果是更新，請確定是否要刪除舊的實盤資料；如果更新但不刪舊資料，請確定隔天九點程式有沒有自動清倉那些決定不再持有的股票。</a:t>
            </a:r>
          </a:p>
          <a:p>
            <a:r>
              <a:t>第三步，準備好玉山 API 憑證——p12 檔和金鑰。注意：模擬 API 的金鑰是 config.simulation.ini，實盤 API 金鑰是 config.ini；玉山規定，必須先用模擬 API 下單成功，才能申請實盤 API。另外要設定好玉山 API 的白名單。</a:t>
            </a:r>
          </a:p>
          <a:p>
            <a:r>
              <a:t>第四步，設定雲端主機：確認靜態 IP；如果主機停機中，要先開啟；執行驗證之後，才能部署到 VM。</a:t>
            </a:r>
          </a:p>
          <a:p>
            <a:r>
              <a:t>第五步，部署：在專案根目錄執行 ./deploy_source.sh（人工執行）——它會先跑 preflight 測試、建 image、透過 SSH 直傳到 VM、載入後重啟容器，最後比對版本指紋。注意：如果 VM 非開機時間，部署完要手動關機，否則下一個開機時間不會自行開機。</a:t>
            </a:r>
          </a:p>
          <a:p/>
          <a:p>
            <a:r>
              <a:t>【講師提示】五步驟總覽頁，先建立流程圖概念，之後逐頁細講。</a:t>
            </a:r>
          </a:p>
        </p:txBody>
      </p:sp>
      <p:sp>
        <p:nvSpPr>
          <p:cNvPr id="178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2C5D2B2-24B6-4205-91F4-8256622EA69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 30 秒</a:t>
            </a:r>
          </a:p>
          <a:p/>
          <a:p>
            <a:r>
              <a:t>再談選股——這一頁直接看目前線上每天實際在跑的「每月自動選股流程」。整條流程只有兩個交易日：每月第 1 個交易日（D1）選股、第 2 個交易日（D2）買進，由 .env 的 SELFSELECT_AUTO=1 開啟。</a:t>
            </a:r>
          </a:p>
          <a:p>
            <a:r>
              <a:t>D1 下午 13:36 到 13:55，容器裡的主程式會叫 scripts/monthly_selfselect_run.py：先補資料（重建市值排名、把價格快取補到最近交易日；盤中會跳過補價，避免寫入還沒定案的 K 棒），再呼叫 monthly_rebalance_picker.py 選股，然後改寫 .env（先備份到 backups/），最後發 Telegram 通知。改 .env 是在容器內做的、用的就是實盤持股，所以「已持倉一律保留」這條規則不會判錯。</a:t>
            </a:r>
          </a:p>
          <a:p>
            <a:r>
              <a:t>D1 晚上到 D2 13:25 之前，你都可以插手：對名單有意見，用 --exclude 做宣告式剔除；不要手改 .env 的名單——因為重跑時程式會依選股結果重算，手動改的內容會被蓋掉。</a:t>
            </a:r>
          </a:p>
          <a:p>
            <a:r>
              <a:t>D2 早上 08:05 到 08:39 還有一次補跑：如果 D1 剛好 VM 關機、逾時或失敗，程式會在這個時窗補做。為什麼要趕在 08:40 之前？因為 .env 的生效點是每天 08:40 的熱重載，補跑寫入後才來得及在 D2 生效。同一時窗內最多重試三次。</a:t>
            </a:r>
          </a:p>
          <a:p>
            <a:r>
              <a:t>D2 13:25 到 13:30，immediate 模式用收盤前窗口買進新名單，滿倉不重複買。</a:t>
            </a:r>
          </a:p>
          <a:p>
            <a:r>
              <a:t>選股本身有四道濾網：第一，誠實候選池——用歷史股本乘當季股價還原「當時的市值前一百」，避免倖存者偏差；第二，法人確認——近 15 日法人合計買超才算數；第三，過熱剔除——離 52 週高點太近、今年漲太多、本益比太高，任兩項命中就剔除；第四，總數上限 N——只補「N 減掉已持倉」的檔數，預設 5 檔，每檔資金是腿額度除以 N。</a:t>
            </a:r>
          </a:p>
          <a:p>
            <a:r>
              <a:t>安全帶：預設 dry-run，--apply 才寫檔並自動備份；程式絕對不會刪掉已持倉的股票——否則下一個交易日開盤的孤兒清倉會把它賣掉；keep_wait 條目視為人工管理，不增不刪；基準日若是舊的，會拒絕寫入。</a:t>
            </a:r>
          </a:p>
          <a:p/>
          <a:p>
            <a:r>
              <a:t>【講師提示】這頁是「每月作業」的總覽，講清楚兩件事：①時間點（D1 選、D2 買、D2 早上補跑）②四道濾網。可強調「人只要在 D2 前看過名單就好」，其他都自動。</a:t>
            </a:r>
          </a:p>
        </p:txBody>
      </p:sp>
      <p:sp>
        <p:nvSpPr>
          <p:cNvPr id="181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3756CC8-7A40-4DB8-A52A-904E54FBE70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1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 30 秒</a:t>
            </a:r>
          </a:p>
          <a:p/>
          <a:p>
            <a:r>
              <a:t>先講「潛力股掃描」現在的定位：它是**參考用**，不是自動選股。舊的 find_catalyst_stocks.py 已經移除，評分邏輯留在選股程式庫的 catalyst_score()，用近 130 個交易日、前後各 65 天算四個分數：盤整品質、突破力道、量能確認、動能延續；但實盤每月選股的 catalyst_weight 預設是 0，所以這些分數不會影響買賣。</a:t>
            </a:r>
          </a:p>
          <a:p>
            <a:r>
              <a:t>那要怎麼用？看到適合的潛力股，就自己用 keep_wait 進場：在 .env 加一條 PC_&lt;代號&gt;，strategy 填 keep_wait，設定進場上限價 max_entry_price、初始股數 initial_shares，再加碼幅度與停利層級。keep_wait 是「低接＋加碼＋分層停利」的手動管理型策略，價格到才買、漲到才賣。</a:t>
            </a:r>
          </a:p>
          <a:p>
            <a:r>
              <a:t>有個好處：每月選股程式**不增不刪 keep_wait 條目**，所以手動加的持股不會被自動汰換；要移除也得自己刪，才不會被孤兒清倉影響。</a:t>
            </a:r>
          </a:p>
          <a:p>
            <a:r>
              <a:t>最後提醒：催化劑分數高只代表「有潛力」，不是買進訊號，還是要看基本面與風險。</a:t>
            </a:r>
          </a:p>
          <a:p/>
          <a:p>
            <a:r>
              <a:t>【講師提示】把「掃描＝參考、進場＝keep_wait 手動」講成兩段式流程；並提醒 keep_wait 條目不受每月換股影響。</a:t>
            </a:r>
          </a:p>
        </p:txBody>
      </p:sp>
      <p:sp>
        <p:nvSpPr>
          <p:cNvPr id="184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FB015A2-380D-44D7-9819-A5A2000D937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分鐘</a:t>
            </a:r>
          </a:p>
          <a:p/>
          <a:p>
            <a:r>
              <a:t>這頁用目前五檔自選股實際算一次催化劑分數（資料到 2026-10-23）。</a:t>
            </a:r>
          </a:p>
          <a:p>
            <a:r>
              <a:t>表格四欄分別是盤整品質、突破力道、量能確認、動能延續，最後一欄是加權後的綜合分數。</a:t>
            </a:r>
          </a:p>
          <a:p>
            <a:r>
              <a:t>看 6505：盤整 0 分——它根本沒在盤整；但突破力道滿分、動能也不錯，綜合 0.67 最高。1802 剛好相反：盤整、突破、量能都低，只有動能滿分，綜合 0.34 最低。</a:t>
            </a:r>
          </a:p>
          <a:p>
            <a:r>
              <a:t>這說明催化劑分數抓的是「盤整後突破」的型態；像 6505 已經漲了一大段，分數高但風險也高。</a:t>
            </a:r>
          </a:p>
          <a:p>
            <a:r>
              <a:t>再提醒一次：實盤選股的 catalyst_weight 是 0，這張表不會影響買賣，只是讓你理解選股程式裡有這個維度。</a:t>
            </a:r>
          </a:p>
          <a:p/>
          <a:p>
            <a:r>
              <a:t>【講師提示】用 6505 與 1802 對照講「高分不代表好買點」，呼應前一頁的「發現≠買入」。</a:t>
            </a:r>
          </a:p>
        </p:txBody>
      </p:sp>
      <p:sp>
        <p:nvSpPr>
          <p:cNvPr id="187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127E4C5-2191-464A-A9A0-5E54F8CEF4E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 30 秒</a:t>
            </a:r>
          </a:p>
          <a:p/>
          <a:p>
            <a:r>
              <a:t>這一頁講「選股引擎」現在長什麼樣子，重點放在 **N 怎麼設**。入口是 scripts/monthly_rebalance_picker.py，每個月由 monthly_selfselect_run.py 呼叫。</a:t>
            </a:r>
          </a:p>
          <a:p>
            <a:r>
              <a:t>它有兩種風險組：normal 是布林、均線、VWAP、突破；high_profit 只留均線和突破（高風險池；名稱不代表報酬較高，改名原因見第 8 頁）。評分用 score_stock()：動能權重最重（2.0，看 21 日漲幅），技術面看離 MA20、MA60 的正偏離，穩定度看波動，催化劑權重 0（實盤不啟用）。</a:t>
            </a:r>
          </a:p>
          <a:p>
            <a:r>
              <a:t>候選池是誠實池：--pool-n 決定「從幾檔裡挑」，預設 100；本專案的 .env 目前設 SELFSELECT_POOL_N=50。挑完再過三道濾網：法人確認（近 15 日買超）、過熱剔除（離 52 週高 7%、YTD 100%、本益比 45，命中兩項就剔除）、總數上限。</a:t>
            </a:r>
          </a:p>
          <a:p>
            <a:r>
              <a:t>**N 怎麼設**：N 是「持股檔數」，設定在 .env 的 SELFSELECT_TOP_N，預設 5。程式把過濾後的候選依評分排序，只買最強的 N 檔；每檔資金是 SELFSELECT_LEG_PCT ÷ N（預設 100 ÷ 5 ＝ 每檔 20%）。所以想改成 3 檔，就把 SELFSELECT_TOP_N 設 3，每檔自動變 33.3%；資金級距的建議檔數在後面第 19 頁有表。</a:t>
            </a:r>
          </a:p>
          <a:p>
            <a:r>
              <a:t>這裡最容易搞混的是兩個 N：--pool-n 是候選池大小（從幾檔挑），SELFSELECT_TOP_N 是持股數（留幾檔）。S7、S8 表格裡的 N＝50 是「候選池」，持股數一直都固定 top 5。</a:t>
            </a:r>
          </a:p>
          <a:p>
            <a:r>
              <a:t>輸出會印出賣出／維持／買入、每檔 fixed／auto 策略、可貼進 .env 的 PC_ 設定，並寫 logs/monthly_pick.json。</a:t>
            </a:r>
          </a:p>
          <a:p/>
          <a:p>
            <a:r>
              <a:t>【講師提示】把兩個 N 分清楚：池大小（--pool-n）vs 持股數（SELFSELECT_TOP_N）；並用「N=3 → alloc 33.3%」當例子。</a:t>
            </a:r>
          </a:p>
        </p:txBody>
      </p:sp>
      <p:sp>
        <p:nvSpPr>
          <p:cNvPr id="190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894FBBB-B1EF-4A03-9760-B5D3267D0A6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 30 秒</a:t>
            </a:r>
          </a:p>
          <a:p/>
          <a:p>
            <a:r>
              <a:t>選股池大小 N 的比較，用現行快取重跑：正常組、2022-2025、五十萬、每月換股、含手續費與證交稅。</a:t>
            </a:r>
          </a:p>
          <a:p>
            <a:r>
              <a:t>N 等於五十：終值七十九萬五、總報酬正五十九點一趴，2022 負二十點五七趴，最大回撤負二十九點二趴。</a:t>
            </a:r>
          </a:p>
          <a:p>
            <a:r>
              <a:t>N 等於一百：終值六十二萬二、正二十四點四趴，回撤負四十七趴。</a:t>
            </a:r>
          </a:p>
          <a:p>
            <a:r>
              <a:t>N 等於一百五十：終值六十七萬一、正三十四點二趴，2022 跌最多。</a:t>
            </a:r>
          </a:p>
          <a:p>
            <a:r>
              <a:t>但同一段期間，0050 買進持有是正九十九點八五趴——三個 N 全部輸給它。</a:t>
            </a:r>
          </a:p>
          <a:p>
            <a:r>
              <a:t>這裡有一個必須講清楚的數字：**五十萬是名目本金，不是全額投入**。實測平均資金利用率只有七成多（七十二到七十九趴），實際平均只動用三十三到四十二萬，尖峰才滿倉；0050 則是買了就一直 100% 曝險。所以表面上策略輸給 0050，但策略的錢沒有全用上——每單位投入資金的報酬其實比表面數字好，只是現金沒用掉就是機會成本。這也是策略說明第六點五節的硬規則：報酬一定要附資金利用率。</a:t>
            </a:r>
          </a:p>
          <a:p>
            <a:r>
              <a:t>要重跑的人：回測指令是 POOL_N=50 python scripts/backtest_plan2_monthly_3group.py；實盤每月選股用 scripts/monthly_rebalance_picker.py --pool-n 50。</a:t>
            </a:r>
          </a:p>
          <a:p/>
          <a:p>
            <a:r>
              <a:t>【講師提示】先講「三個 N 都輸 0050」，再補「但利用率只有七成多」這個口徑，兩個都要講，才是誠實的比較。</a:t>
            </a:r>
          </a:p>
        </p:txBody>
      </p:sp>
      <p:sp>
        <p:nvSpPr>
          <p:cNvPr id="193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4B79B4A-7D9A-4731-8633-7C91099CC1E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1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 30 秒</a:t>
            </a:r>
          </a:p>
          <a:p/>
          <a:p>
            <a:r>
              <a:t>現行兩個風險組的年度比較（都是 N=50、2022-2025、五十萬、每月換股）。</a:t>
            </a:r>
          </a:p>
          <a:p>
            <a:r>
              <a:t>正常組：總報酬正五十九點一趴；2022 負二十點五七、2023 正三十四點六一、2024 正七點七、2025 正四十點六。</a:t>
            </a:r>
          </a:p>
          <a:p>
            <a:r>
              <a:t>高風險組（代號 high_profit）：總報酬正二十五點一趴；2022 負二十一點五三、2023 正四十六點六六、2024 負四點五九、2025 正十六點三一。</a:t>
            </a:r>
          </a:p>
          <a:p>
            <a:r>
              <a:t>先講名稱：以前叫「高獲利組」，但 2022-2025 的實際報酬比正常組少一半以上，叫高獲利名實不符，所以改叫「高風險組」——它只留均線和突破兩支順勢策略，波動比較大，不代表報酬比較高。</a:t>
            </a:r>
          </a:p>
          <a:p>
            <a:r>
              <a:t>結論：高風險組在 AI 爆發年（2023）衝得更高，但 2024、2025 都落後，四年總報酬只有正常組的四成多；而且兩組都沒有贏過同一段期間的 0050 買進持有（正九十九點八五趴）。</a:t>
            </a:r>
          </a:p>
          <a:p>
            <a:r>
              <a:t>口徑也要記住：兩組平均資金利用率約七成九／七成六——50 萬不是全部壓在股票上；0050 則是 100% 曝險。</a:t>
            </a:r>
          </a:p>
          <a:p/>
          <a:p>
            <a:r>
              <a:t>【講師提示】先解釋「高獲利」改名的原因（名實不符），再講兩組都輸 0050 與資金利用率。</a:t>
            </a:r>
          </a:p>
        </p:txBody>
      </p:sp>
      <p:sp>
        <p:nvSpPr>
          <p:cNvPr id="196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66990DA-5C51-4EF3-93AF-0E0B5FAF9DC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200" cy="4525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r>
              <a:t>⏱ 建議時間：2 分 30 秒</a:t>
            </a:r>
          </a:p>
          <a:p/>
          <a:p>
            <a:r>
              <a:t>很多人記得「我們的策略長期年化 20% 以上」，這一頁把數字跟方法交代清楚，而且只看「自選股」這一部分。</a:t>
            </a:r>
          </a:p>
          <a:p>
            <a:r>
              <a:t>母專案 tw_autotrader 用 8 檔自選股（每檔綁一個策略），同一個組合，用三種選股方式跑 2022 到 2025：</a:t>
            </a:r>
          </a:p>
          <a:p>
            <a:r>
              <a:t>第一種固定池：年初買定這 8 檔、四年都不換，正七十七點六趴、年化十五點四趴——其實輸給同期 0050。</a:t>
            </a:r>
          </a:p>
          <a:p>
            <a:r>
              <a:t>第二種機械化：每年底檢討一次，照 Rule 0 到 3 的硬規則汰弱留強，完全不靠人判斷，正一百九十五點五趴、年化三十一點一趴。</a:t>
            </a:r>
          </a:p>
          <a:p>
            <a:r>
              <a:t>第三種手工、也就是人工檢討：一樣每年檢討，但換不換由人看市場資訊決定，正一百五十七點二趴、年化二十六點六趴。母專案自己的評語是：機械式報酬最高，但換股偏積極；人工版比較穩健。</a:t>
            </a:r>
          </a:p>
          <a:p>
            <a:r>
              <a:t>定期定額每月兩萬、四年九十六萬：固定池只有正三十九點七趴，機械化逐年檢討可以到正一百二十六趴。</a:t>
            </a:r>
          </a:p>
          <a:p>
            <a:r>
              <a:t>那跟我們現在的每月自選股差在哪？看下面這張表：</a:t>
            </a:r>
          </a:p>
          <a:p>
            <a:r>
              <a:t>選股來源：母專案是人工先挑好的 8 檔；我們是每月用「當時市值前 50 大」的誠實池，靠評分取最強 5 檔，沒有人為挑選。</a:t>
            </a:r>
          </a:p>
          <a:p>
            <a:r>
              <a:t>換股頻率：母專案一年一次；我們一個月一次，D1 選股、D2 換股。</a:t>
            </a:r>
          </a:p>
          <a:p>
            <a:r>
              <a:t>怎麼決定：母專案是 Rule 0 到 3 的硬規則；我們是動能二點零、技術面零點三、穩定度零點五的評分，再加法人確認跟過熱剔除。</a:t>
            </a:r>
          </a:p>
          <a:p>
            <a:r>
              <a:t>進場：我們是選股日收盤價就買滿。</a:t>
            </a:r>
          </a:p>
          <a:p>
            <a:r>
              <a:t>結果：我們 2022 到 2025 是正五十九點一趴、年化十二點三，平均只動用七成九的資金、最大回撤負二十九點二趴。</a:t>
            </a:r>
          </a:p>
          <a:p>
            <a:r>
              <a:t>但要提醒：這兩個數字不能直接比——資料源不一樣（我們是 FinMind 跟證交所，母專案是 Yahoo）、換股頻率不一樣，而且母專案腳本沒帶進本專案，重跑不出來。真正能同口徑比的只有 0050：同期含費用正九十九點九趴。</a:t>
            </a:r>
          </a:p>
          <a:p>
            <a:r>
              <a:t>所以「年化 20% 以上」是母專案自選股加逐年汰弱留強那個版本，不是我們現在每月選股的數字。</a:t>
            </a:r>
          </a:p>
          <a:p/>
          <a:p>
            <a:r>
              <a:t>【講師提示】把「年化 20%+」正確歸因到「母專案自選股＋逐年檢討」；三種方式的差別是「換不換、幾年換一次、誰決定」，比較表的重點是「我們每月一次、全規則化、可重跑」。</a:t>
            </a:r>
          </a:p>
        </p:txBody>
      </p:sp>
      <p:sp>
        <p:nvSpPr>
          <p:cNvPr id="199" name="PlaceHolder 3"/>
          <p:cNvSpPr>
            <a:spLocks noGrp="1"/>
          </p:cNvSpPr>
          <p:nvPr>
            <p:ph type="sldNum" idx="35"/>
          </p:nvPr>
        </p:nvSpPr>
        <p:spPr>
          <a:xfrm>
            <a:off x="4399200" y="9555480"/>
            <a:ext cx="3372480" cy="502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D35B326-2A56-47FD-997C-110FD819345A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0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 30 秒</a:t>
            </a:r>
          </a:p>
          <a:p/>
          <a:p>
            <a:r>
              <a:t>這頁是 0050 與每季選股的回測比較圖。</a:t>
            </a:r>
          </a:p>
          <a:p>
            <a:r>
              <a:t>大家看這張圖——把 0050 買入持有，跟我們的每季選股策略放在一起比較。可以看到每季選股的累積績效明顯優於 0050，尤其在多頭年份差距拉開。</a:t>
            </a:r>
          </a:p>
          <a:p>
            <a:r>
              <a:t>為什麼能贏？下一頁的詳細選股過程，還有倒數第二頁「為何我們每季選股能勝 0050」會完整解釋四個因素——這裡先讓大家對「長期跑贏大盤」有視覺印象。</a:t>
            </a:r>
          </a:p>
          <a:p/>
          <a:p>
            <a:r>
              <a:t>【講師提示】指著圖中的兩條績效曲線對比講解，強調「贏家組合+複利」的直觀效果。</a:t>
            </a:r>
          </a:p>
        </p:txBody>
      </p:sp>
      <p:sp>
        <p:nvSpPr>
          <p:cNvPr id="202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A91A9CCA-436B-4F17-AAE9-6F573B633C9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分鐘</a:t>
            </a:r>
          </a:p>
          <a:p/>
          <a:p>
            <a:r>
              <a:t>接下來進入部署環節。第一步：打開雲端主機。</a:t>
            </a:r>
          </a:p>
          <a:p>
            <a:r>
              <a:t>打開控制台——前提是你已經申請好雲端主機（第一週的功課）。畫面是 Google Cloud 控制台的登入與總覽。</a:t>
            </a:r>
          </a:p>
          <a:p/>
          <a:p>
            <a:r>
              <a:t>【講師提示】操作示範頁，確認學員都能登入控制台。</a:t>
            </a:r>
          </a:p>
        </p:txBody>
      </p:sp>
      <p:sp>
        <p:nvSpPr>
          <p:cNvPr id="205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B80A45B-FDEC-44BD-86B8-BE370EAF5C2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分鐘</a:t>
            </a:r>
          </a:p>
          <a:p/>
          <a:p>
            <a:r>
              <a:t>進入 VM 管理頁面。</a:t>
            </a:r>
          </a:p>
          <a:p>
            <a:r>
              <a:t>點 Compute Engine，查看 VM 執行個體——建議加入捷徑，之後每天都會用到。點擊你的 VM，就會進入管理頁：VM 的啟動、停止都在這一頁控制；SSH 也在這裡進入；外部 IP 在這裡顯示。</a:t>
            </a:r>
          </a:p>
          <a:p/>
          <a:p>
            <a:r>
              <a:t>【講師提示】示範啟動 VM 並確認狀態，提醒學員「開機要提前」，因為排程開機有時間點。</a:t>
            </a:r>
          </a:p>
        </p:txBody>
      </p:sp>
      <p:sp>
        <p:nvSpPr>
          <p:cNvPr id="208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CD511AE-D564-4D7A-A4DA-2357F752F27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 30 秒</a:t>
            </a:r>
          </a:p>
          <a:p/>
          <a:p>
            <a:r>
              <a:t>進入 WSL 做 GCP 認證。</a:t>
            </a:r>
          </a:p>
          <a:p>
            <a:r>
              <a:t>先於 CMD 中輸入 wsl -d ubuntu 進入 WSL；然後在 WSL 中啟用虛擬環境：activate_venv；再進行 GCP 認證：輸入 VM_auth。</a:t>
            </a:r>
          </a:p>
          <a:p>
            <a:r>
              <a:t>這時會跳到 Chrome 選擇你的 Google 帳戶，出現 SDK 要存取你的帳戶，點擊允許。回到 WSL，會看到訊息：「You are now logged in as」，後面是你的帳號，目前專案是 tw-selfselect——代表認證成功。</a:t>
            </a:r>
          </a:p>
          <a:p/>
          <a:p>
            <a:r>
              <a:t>【講師提示】逐步示範，確認每個學員都看到登入成功的訊息。</a:t>
            </a:r>
          </a:p>
        </p:txBody>
      </p:sp>
      <p:sp>
        <p:nvSpPr>
          <p:cNvPr id="211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CC2F44C-211F-46FA-B2F4-083DCCD5BCB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 30 秒</a:t>
            </a:r>
          </a:p>
          <a:p/>
          <a:p>
            <a:r>
              <a:t>認證完成，開始部署。</a:t>
            </a:r>
          </a:p>
          <a:p>
            <a:r>
              <a:t>在專案根目錄執行 ./deploy_source.sh：它會先跑 preflight 測試（紅燈就中止），接著在本機建 Docker image、透過 SSH 直傳到 VM 載入、重啟容器，最後比對 core/version.py 的版本指紋，不符就中止並印出容器日誌。本專案原始碼全部公開，直接源碼部署（沒有加密版／源碼版之分）。</a:t>
            </a:r>
          </a:p>
          <a:p/>
          <a:p>
            <a:r>
              <a:t>【講師提示】強調「部署前測試、部署後驗指紋」兩道關卡，這是避免上錯版本的關鍵。</a:t>
            </a:r>
          </a:p>
        </p:txBody>
      </p:sp>
      <p:sp>
        <p:nvSpPr>
          <p:cNvPr id="214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EFD1F0B-4EB2-43B0-80C0-8AD2A3AEAE20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分鐘</a:t>
            </a:r>
          </a:p>
          <a:p/>
          <a:p>
            <a:r>
              <a:t>部署程式到 VM——整個編譯、壓縮、上傳歷時需數分鐘。</a:t>
            </a:r>
          </a:p>
          <a:p>
            <a:r>
              <a:t>畫面上是部署過程的輸出——編譯、打包、上傳、驗證，一步步跑。這個過程需要耐心等，跑完會有完成訊息。</a:t>
            </a:r>
          </a:p>
          <a:p/>
          <a:p>
            <a:r>
              <a:t>【講師提示】示範部署並等待完成，期間可以講解部署腳本做了哪些事。</a:t>
            </a:r>
          </a:p>
        </p:txBody>
      </p:sp>
      <p:sp>
        <p:nvSpPr>
          <p:cNvPr id="217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E6082AD-DCFC-4382-8BB5-DC48428D29B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分鐘</a:t>
            </a:r>
          </a:p>
          <a:p/>
          <a:p>
            <a:r>
              <a:t>部署完成後，檢查 VM 日誌。</a:t>
            </a:r>
          </a:p>
          <a:p>
            <a:r>
              <a:t>在 WSL 輸入 VM_log 查看 VM 的運行日誌。如果有問題，會顯示出錯誤訊息——這是診斷的第一站。</a:t>
            </a:r>
          </a:p>
          <a:p/>
          <a:p>
            <a:r>
              <a:t>【講師提示】示範查看日誌，教會學員讀常見錯誤訊息。</a:t>
            </a:r>
          </a:p>
        </p:txBody>
      </p:sp>
      <p:sp>
        <p:nvSpPr>
          <p:cNvPr id="220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9C201662-2913-4D43-8E35-6180546F2EA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 30 秒</a:t>
            </a:r>
          </a:p>
          <a:p/>
          <a:p>
            <a:r>
              <a:t>部署完成後，程式會在 Telegram 上回報。</a:t>
            </a:r>
          </a:p>
          <a:p>
            <a:r>
              <a:t>VM 開機後，程式會向你的 Telegram 發送「你的 TG ID is running」訊息——先檢查一下版本和 Build 日期，是不是你 deploy 的版本。</a:t>
            </a:r>
          </a:p>
          <a:p>
            <a:r>
              <a:t>原始碼都在 GitHub：把第十到十一行的 SYS_TELEGRAM_BOT 和 SYS_TELEGRAM_CHAT_ID 的值改掉，改成你自己的 Telegram bot 與 chat ID。另外，休眠前程式會發送持倉報告。</a:t>
            </a:r>
          </a:p>
          <a:p/>
          <a:p>
            <a:r>
              <a:t>【講師提示】確認學員都收到 Telegram 訊息，這是「系統活著」的第一個證據。</a:t>
            </a:r>
          </a:p>
        </p:txBody>
      </p:sp>
      <p:sp>
        <p:nvSpPr>
          <p:cNvPr id="223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CA63267-45C4-4F73-B9D3-621F2E0962EA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分鐘</a:t>
            </a:r>
          </a:p>
          <a:p/>
          <a:p>
            <a:r>
              <a:t>系統上線前，最後認識一下風險控管。</a:t>
            </a:r>
          </a:p>
          <a:p>
            <a:r>
              <a:t>風險參數在 .env 檔案中設定，基本上使用預設即可：初始資金，預設五十萬；單筆交易最大風險，百分之二；每日最大可接受虧損，百分之三；每日總交易次數上限，五次；每檔股票每日交易次數上限，一次，零代表無限制。</a:t>
            </a:r>
          </a:p>
          <a:p>
            <a:r>
              <a:t>風控功能：單筆風險限制，動態計算部位大小；每日虧損上限，達上限後停止交易；交易次數限制，避免過度交易；漲跌停過濾，跳過流動性枯竭的標的。</a:t>
            </a:r>
          </a:p>
          <a:p/>
          <a:p>
            <a:r>
              <a:t>【講師提示】強調「預設即可」——系統的風控設計已經過驗證，不需要自己亂調。</a:t>
            </a:r>
          </a:p>
        </p:txBody>
      </p:sp>
      <p:sp>
        <p:nvSpPr>
          <p:cNvPr id="226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28C5DD5-A02E-410A-8004-E3F2FAB21524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&lt;編號&gt;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建議時間：2 分鐘</a:t>
            </a:r>
          </a:p>
          <a:p/>
          <a:p>
            <a:r>
              <a:t>最後一堂課，把五個策略的適用情境做個總整理。</a:t>
            </a:r>
          </a:p>
        </p:txBody>
      </p:sp>
      <p:sp>
        <p:nvSpPr>
          <p:cNvPr id="229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D0708FC-BD15-49CC-88E1-3796DD458FCD}" type="slidenum"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ptos"/>
                <a:ea typeface="+mn-ea"/>
              </a:rPr>
              <a:t>&lt;編號&gt;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 30 秒</a:t>
            </a:r>
          </a:p>
          <a:p/>
          <a:p>
            <a:r>
              <a:t>持股數目怎麼決定？</a:t>
            </a:r>
          </a:p>
          <a:p>
            <a:r>
              <a:t>原則很簡單：資金越大，分散越多檔。九十萬適用四檔配置。</a:t>
            </a:r>
          </a:p>
          <a:p/>
          <a:p>
            <a:r>
              <a:t>【講師提示】讓學員用自己實際的資金套入級距，確定持股數。</a:t>
            </a:r>
          </a:p>
        </p:txBody>
      </p:sp>
      <p:sp>
        <p:nvSpPr>
          <p:cNvPr id="232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33343DD-1467-48ED-8A53-72E9B2DB691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3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 30 秒</a:t>
            </a:r>
          </a:p>
          <a:p/>
          <a:p>
            <a:r>
              <a:t>這頁是整個使用流程總覽：選股在本機跑、VM 只負責下單。</a:t>
            </a:r>
          </a:p>
          <a:p>
            <a:r>
              <a:t>第一，部署一次：執行 deploy_source.sh，會先跑測試、建 image、SSH 直傳、載入後重啟容器並驗指紋。</a:t>
            </a:r>
          </a:p>
          <a:p>
            <a:r>
              <a:t>第二，本機準備一次：gcloud auth login（alias VM_auth），再把 VM 的 cache 拉回本機（VM_sync_cache）。</a:t>
            </a:r>
          </a:p>
          <a:p>
            <a:r>
              <a:t>第三，每次選股都在本機：VM_pick 先看 .env diff，確認後 VM_sync_env 寫入本機 .env 並推回 VM，容器一分鐘內熱重載；第一次還沒有任何持股，用 VM_pick_first。</a:t>
            </a:r>
          </a:p>
          <a:p>
            <a:r>
              <a:t>第四，買進：immediate 模式下一個交易日 13:25–13:30 買滿；signal 模式等策略買訊。</a:t>
            </a:r>
          </a:p>
          <a:p>
            <a:r>
              <a:t>第五，之後每月由 VM 上的排程自動跑（SELFSELECT_AUTO=1）。</a:t>
            </a:r>
          </a:p>
          <a:p>
            <a:r>
              <a:t>最後用 VM_hold、performance.csv、Telegram 與對帳腳本確認。</a:t>
            </a:r>
          </a:p>
          <a:p/>
          <a:p>
            <a:r>
              <a:t>【講師提示】強調「本機選股、VM 下單」的分工；alias 很短，讓學員不用背長指令。</a:t>
            </a:r>
          </a:p>
        </p:txBody>
      </p:sp>
      <p:sp>
        <p:nvSpPr>
          <p:cNvPr id="235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46C4537-3E65-4953-9369-A13507977652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 30 秒</a:t>
            </a:r>
          </a:p>
          <a:p/>
          <a:p>
            <a:r>
              <a:t>這頁把單一持股從買到賣講完。買進後由策略管理進出：auto 會把成交當下的策略鎖住，持有期間不換。</a:t>
            </a:r>
          </a:p>
          <a:p>
            <a:r>
              <a:t>賣出有三個來源：策略賣訊、孤兒清倉、人工。賣掉之後名額不會馬上補，資金留現金到下一個 D1；同一檔如果還在名單裡，月中策略再出買訊仍可重新進場。</a:t>
            </a:r>
          </a:p>
          <a:p/>
          <a:p>
            <a:r>
              <a:t>【講師提示】搭配前一頁「賣出後不補選」一起講，學員最常誤會的就是「賣掉會自動補一檔」。</a:t>
            </a:r>
          </a:p>
        </p:txBody>
      </p:sp>
      <p:sp>
        <p:nvSpPr>
          <p:cNvPr id="238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76A5467-27BB-4056-B734-ACB98DEDCFD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4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建議時間：1 分鐘</a:t>
            </a:r>
          </a:p>
          <a:p/>
          <a:p>
            <a:r>
              <a:t>這一頁回答常見誤解：賣掉之後會不會馬上補一檔？不會。自選股是月頻換股，名單只在 D1 重算；賣出的空缺就留現金到下一次選股日。</a:t>
            </a:r>
          </a:p>
          <a:p>
            <a:r>
              <a:t>兩個例外：第一，該檔如果還在名單裡，月中它的策略再出買訊可以重新進場；第二，immediate 的強制進場每檔只有第一次（logs/selfselect_filled.json），之後都靠策略訊號。</a:t>
            </a:r>
          </a:p>
          <a:p>
            <a:r>
              <a:t>每日的「買入不足補足」只補已持有但不足的部位，空倉不會建倉，所以不會拿來補名額。</a:t>
            </a:r>
          </a:p>
          <a:p/>
          <a:p>
            <a:r>
              <a:t>【講師提示】強調「月頻換股＝不追高補位」是為了省交易成本；代價是資金會閒置一小段時間。</a:t>
            </a:r>
          </a:p>
        </p:txBody>
      </p:sp>
      <p:sp>
        <p:nvSpPr>
          <p:cNvPr id="241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88C4662F-4C09-4E80-B26E-5582A14B2573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sldImg"/>
          </p:nvPr>
        </p:nvSpPr>
        <p:spPr>
          <a:xfrm>
            <a:off x="382680" y="685800"/>
            <a:ext cx="6091920" cy="3427920"/>
          </a:xfrm>
          <a:prstGeom prst="rect">
            <a:avLst/>
          </a:prstGeom>
          <a:ln w="0">
            <a:noFill/>
          </a:ln>
        </p:spPr>
      </p:sp>
      <p:sp>
        <p:nvSpPr>
          <p:cNvPr id="24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r>
              <a:t>⏱ 建議時間：30 秒</a:t>
            </a:r>
          </a:p>
          <a:p/>
          <a:p>
            <a:r>
              <a:t>本課程結束！</a:t>
            </a:r>
          </a:p>
          <a:p>
            <a:r>
              <a:t>六週的課程到這裡畫下句點——從環境建置、策略認識、回測驗證、選股，到今天的實盤部署，你已經具備了完整的能力。我是 frank，信箱 frank@dinchen.com.tw，有任何問題歡迎寫信。</a:t>
            </a:r>
          </a:p>
          <a:p>
            <a:r>
              <a:t>記住：先用回測驗證、再小額實盤、最後才放大資金。祝大家投資順利，謝謝！</a:t>
            </a:r>
          </a:p>
          <a:p/>
          <a:p>
            <a:r>
              <a:t>【講師提示】畢業收尾，儀式感拉滿——可以邀請學員分享六週心得。</a:t>
            </a:r>
          </a:p>
        </p:txBody>
      </p:sp>
      <p:sp>
        <p:nvSpPr>
          <p:cNvPr id="244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07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60F36B6-F2B8-4D92-8EDB-78A7D585B8D1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&lt;編號&gt;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4"/>
          <p:cNvSpPr/>
          <p:nvPr/>
        </p:nvSpPr>
        <p:spPr>
          <a:xfrm>
            <a:off x="9958320" y="0"/>
            <a:ext cx="2229480" cy="1980000"/>
          </a:xfrm>
          <a:custGeom>
            <a:avLst/>
            <a:gdLst>
              <a:gd name="textAreaLeft" fmla="*/ 0 w 2229480"/>
              <a:gd name="textAreaRight" fmla="*/ 2230560 w 2229480"/>
              <a:gd name="textAreaTop" fmla="*/ 0 h 1980000"/>
              <a:gd name="textAreaBottom" fmla="*/ 1981080 h 1980000"/>
              <a:gd name="GluePoint1X" fmla="*/ 0 w 2230666"/>
              <a:gd name="GluePoint1Y" fmla="*/ 0 h 1981200"/>
              <a:gd name="GluePoint2X" fmla="*/ 2230666 w 2230666"/>
              <a:gd name="GluePoint2Y" fmla="*/ 0 h 1981200"/>
              <a:gd name="GluePoint3X" fmla="*/ 2230666 w 2230666"/>
              <a:gd name="GluePoint3Y" fmla="*/ 1981200 h 1981200"/>
              <a:gd name="GluePoint4X" fmla="*/ 2029222 w 2230666"/>
              <a:gd name="GluePoint4Y" fmla="*/ 1972296 h 1981200"/>
              <a:gd name="GluePoint5X" fmla="*/ 28437 w 2230666"/>
              <a:gd name="GluePoint5Y" fmla="*/ 186331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Cross 2"/>
          <p:cNvSpPr/>
          <p:nvPr/>
        </p:nvSpPr>
        <p:spPr>
          <a:xfrm>
            <a:off x="7846920" y="3808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" name="Cross 4"/>
          <p:cNvSpPr/>
          <p:nvPr/>
        </p:nvSpPr>
        <p:spPr>
          <a:xfrm>
            <a:off x="8559720" y="1066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1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C163975F-7C96-4719-8E52-AA7EFEDB4AE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ftr" idx="2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dt" idx="3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body"/>
          </p:nvPr>
        </p:nvSpPr>
        <p:spPr>
          <a:xfrm>
            <a:off x="129384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" name="PlaceHolder 6"/>
          <p:cNvSpPr>
            <a:spLocks noGrp="1"/>
          </p:cNvSpPr>
          <p:nvPr>
            <p:ph type="body"/>
          </p:nvPr>
        </p:nvSpPr>
        <p:spPr>
          <a:xfrm>
            <a:off x="6516720" y="2286000"/>
            <a:ext cx="491076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losing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: Shape 8"/>
          <p:cNvSpPr/>
          <p:nvPr/>
        </p:nvSpPr>
        <p:spPr>
          <a:xfrm>
            <a:off x="2131920" y="0"/>
            <a:ext cx="7923600" cy="6856920"/>
          </a:xfrm>
          <a:custGeom>
            <a:avLst/>
            <a:gdLst>
              <a:gd name="textAreaLeft" fmla="*/ 0 w 7923600"/>
              <a:gd name="textAreaRight" fmla="*/ 7924680 w 7923600"/>
              <a:gd name="textAreaTop" fmla="*/ 0 h 6856920"/>
              <a:gd name="textAreaBottom" fmla="*/ 6858000 h 6856920"/>
              <a:gd name="GluePoint1X" fmla="*/ 1982890 w 7924800"/>
              <a:gd name="GluePoint1Y" fmla="*/ 0 h 6858000"/>
              <a:gd name="GluePoint2X" fmla="*/ 5941911 w 7924800"/>
              <a:gd name="GluePoint2Y" fmla="*/ 0 h 6858000"/>
              <a:gd name="GluePoint3X" fmla="*/ 6177816 w 7924800"/>
              <a:gd name="GluePoint3Y" fmla="*/ 143316 h 6858000"/>
              <a:gd name="GluePoint4X" fmla="*/ 7924800 w 7924800"/>
              <a:gd name="GluePoint4Y" fmla="*/ 3429000 h 6858000"/>
              <a:gd name="GluePoint5X" fmla="*/ 6017049 w 7924800"/>
              <a:gd name="GluePoint5Y" fmla="*/ 6817750 h 6858000"/>
              <a:gd name="GluePoint6X" fmla="*/ 5947047 w 7924800"/>
              <a:gd name="GluePoint6Y" fmla="*/ 6858000 h 6858000"/>
              <a:gd name="GluePoint7X" fmla="*/ 1977753 w 7924800"/>
              <a:gd name="GluePoint7Y" fmla="*/ 6858000 h 6858000"/>
              <a:gd name="GluePoint8X" fmla="*/ 1907752 w 7924800"/>
              <a:gd name="GluePoint8Y" fmla="*/ 6817750 h 6858000"/>
              <a:gd name="GluePoint9X" fmla="*/ 0 w 7924800"/>
              <a:gd name="GluePoint9Y" fmla="*/ 3429000 h 6858000"/>
              <a:gd name="GluePoint10X" fmla="*/ 1746985 w 7924800"/>
              <a:gd name="GluePoint10Y" fmla="*/ 143316 h 68580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</a:cxnLst>
            <a:rect l="textAreaLeft" t="textAreaTop" r="textAreaRight" b="textAreaBottom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3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768360" y="2247840"/>
            <a:ext cx="444240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 fontScale="92500" lnSpcReduction="9999"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7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7" name="Freeform: Shape 12"/>
          <p:cNvSpPr/>
          <p:nvPr/>
        </p:nvSpPr>
        <p:spPr>
          <a:xfrm>
            <a:off x="0" y="1440"/>
            <a:ext cx="3427200" cy="6855480"/>
          </a:xfrm>
          <a:custGeom>
            <a:avLst/>
            <a:gdLst>
              <a:gd name="textAreaLeft" fmla="*/ 0 w 3427200"/>
              <a:gd name="textAreaRight" fmla="*/ 3428280 w 3427200"/>
              <a:gd name="textAreaTop" fmla="*/ 0 h 6855480"/>
              <a:gd name="textAreaBottom" fmla="*/ 6856560 h 6855480"/>
              <a:gd name="GluePoint1X" fmla="*/ 1 w 3428208"/>
              <a:gd name="GluePoint1Y" fmla="*/ 0 h 6856414"/>
              <a:gd name="GluePoint2X" fmla="*/ 3428208 w 3428208"/>
              <a:gd name="GluePoint2Y" fmla="*/ 3428207 h 6856414"/>
              <a:gd name="GluePoint3X" fmla="*/ 1 w 3428208"/>
              <a:gd name="GluePoint3Y" fmla="*/ 6856414 h 6856414"/>
              <a:gd name="GluePoint4X" fmla="*/ 0 w 3428208"/>
              <a:gd name="GluePoint4Y" fmla="*/ 6856414 h 6856414"/>
              <a:gd name="GluePoint5X" fmla="*/ 0 w 3428208"/>
              <a:gd name="GluePoint5Y" fmla="*/ 0 h 685641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</a:cxnLst>
            <a:rect l="textAreaLeft" t="textAreaTop" r="textAreaRight" b="textAreaBottom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FFFFFF"/>
              </a:gs>
              <a:gs pos="100000">
                <a:srgbClr val="FFFFFF">
                  <a:alpha val="0"/>
                </a:srgbClr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988920" y="723960"/>
            <a:ext cx="4113720" cy="5294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932520" y="1981080"/>
            <a:ext cx="4113720" cy="285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9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0" name="Cross 13"/>
          <p:cNvSpPr/>
          <p:nvPr/>
        </p:nvSpPr>
        <p:spPr>
          <a:xfrm>
            <a:off x="4837680" y="9144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1" name="Cross 14"/>
          <p:cNvSpPr/>
          <p:nvPr/>
        </p:nvSpPr>
        <p:spPr>
          <a:xfrm>
            <a:off x="3085200" y="56959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2" name="Left Brace 1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ing with Phone imag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 6"/>
          <p:cNvSpPr/>
          <p:nvPr/>
        </p:nvSpPr>
        <p:spPr>
          <a:xfrm>
            <a:off x="6703920" y="1148400"/>
            <a:ext cx="4560120" cy="4560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24" name="Graphic 7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7432200" y="598320"/>
            <a:ext cx="3095280" cy="5660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" name="Cross 8"/>
          <p:cNvSpPr/>
          <p:nvPr/>
        </p:nvSpPr>
        <p:spPr>
          <a:xfrm>
            <a:off x="10818720" y="535320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6" name="Cross 10"/>
          <p:cNvSpPr/>
          <p:nvPr/>
        </p:nvSpPr>
        <p:spPr>
          <a:xfrm>
            <a:off x="6336000" y="805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6371640" cy="4037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608040" y="4876920"/>
            <a:ext cx="6371640" cy="1103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7765200" y="883440"/>
            <a:ext cx="2437920" cy="5090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+ Subtitle 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Oval 4"/>
          <p:cNvSpPr/>
          <p:nvPr/>
        </p:nvSpPr>
        <p:spPr>
          <a:xfrm>
            <a:off x="3274920" y="609480"/>
            <a:ext cx="5637600" cy="563760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1" name="Left Brace 7"/>
          <p:cNvSpPr/>
          <p:nvPr/>
        </p:nvSpPr>
        <p:spPr>
          <a:xfrm>
            <a:off x="5560920" y="2022120"/>
            <a:ext cx="837000" cy="2813040"/>
          </a:xfrm>
          <a:prstGeom prst="leftBrace">
            <a:avLst>
              <a:gd name="adj1" fmla="val 34932"/>
              <a:gd name="adj2" fmla="val 50000"/>
            </a:avLst>
          </a:prstGeom>
          <a:noFill/>
          <a:ln w="28575">
            <a:solidFill>
              <a:srgbClr val="2626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5709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indent="0" algn="r" defTabSz="914400">
              <a:lnSpc>
                <a:spcPct val="11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6768360" y="2022120"/>
            <a:ext cx="4442400" cy="281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274320" lvl="1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標題及內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5" name="Cross 8"/>
          <p:cNvSpPr/>
          <p:nvPr/>
        </p:nvSpPr>
        <p:spPr>
          <a:xfrm>
            <a:off x="8151840" y="5670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sldNum" idx="4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998C165B-F14A-4164-8DBF-2E37765055E2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5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dt" idx="6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4266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1" name="Cross 14"/>
          <p:cNvSpPr/>
          <p:nvPr/>
        </p:nvSpPr>
        <p:spPr>
          <a:xfrm>
            <a:off x="7351560" y="441972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2" name="Freeform: Shape 4"/>
          <p:cNvSpPr/>
          <p:nvPr/>
        </p:nvSpPr>
        <p:spPr>
          <a:xfrm>
            <a:off x="8609040" y="-21960"/>
            <a:ext cx="3578760" cy="6900840"/>
          </a:xfrm>
          <a:custGeom>
            <a:avLst/>
            <a:gdLst>
              <a:gd name="textAreaLeft" fmla="*/ 0 w 3578760"/>
              <a:gd name="textAreaRight" fmla="*/ 3579840 w 3578760"/>
              <a:gd name="textAreaTop" fmla="*/ 0 h 6900840"/>
              <a:gd name="textAreaBottom" fmla="*/ 6901920 h 6900840"/>
              <a:gd name="GluePoint1X" fmla="*/ 3450999 w 3579812"/>
              <a:gd name="GluePoint1Y" fmla="*/ 0 h 6901998"/>
              <a:gd name="GluePoint2X" fmla="*/ 3579812 w 3579812"/>
              <a:gd name="GluePoint2Y" fmla="*/ 3257 h 6901998"/>
              <a:gd name="GluePoint3X" fmla="*/ 3579812 w 3579812"/>
              <a:gd name="GluePoint3Y" fmla="*/ 6898741 h 6901998"/>
              <a:gd name="GluePoint4X" fmla="*/ 3450999 w 3579812"/>
              <a:gd name="GluePoint4Y" fmla="*/ 6901998 h 6901998"/>
              <a:gd name="GluePoint5X" fmla="*/ 0 w 3579812"/>
              <a:gd name="GluePoint5Y" fmla="*/ 3450999 h 6901998"/>
              <a:gd name="GluePoint6X" fmla="*/ 3450999 w 3579812"/>
              <a:gd name="GluePoint6Y" fmla="*/ 0 h 6901998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and Content with Computer Monit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Oval 4"/>
          <p:cNvSpPr/>
          <p:nvPr/>
        </p:nvSpPr>
        <p:spPr>
          <a:xfrm>
            <a:off x="6703920" y="83808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4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45" name="Graphic 14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6742080" y="1752480"/>
            <a:ext cx="4950000" cy="3808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ldNum" idx="7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893CF28D-EE98-467D-BE5F-ADEDAA1078DD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8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9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365760" indent="0" algn="l" defTabSz="914400">
              <a:lnSpc>
                <a:spcPct val="11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59436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77724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  <a:p>
            <a:pPr marL="960120" indent="0" algn="l" defTabSz="914400">
              <a:lnSpc>
                <a:spcPct val="110000"/>
              </a:lnSpc>
              <a:spcBef>
                <a:spcPts val="601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body"/>
          </p:nvPr>
        </p:nvSpPr>
        <p:spPr>
          <a:xfrm>
            <a:off x="7045920" y="2057400"/>
            <a:ext cx="4342320" cy="2687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brea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608040" y="685800"/>
            <a:ext cx="5686200" cy="5287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53" name="Cross 2"/>
          <p:cNvSpPr/>
          <p:nvPr/>
        </p:nvSpPr>
        <p:spPr>
          <a:xfrm>
            <a:off x="7130160" y="396936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54" name="Graphic 3"/>
          <p:cNvPicPr/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0" t="0" r="42412" b="0"/>
          <a:stretch/>
        </p:blipFill>
        <p:spPr>
          <a:xfrm>
            <a:off x="7134840" y="533520"/>
            <a:ext cx="5052960" cy="5586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Cross 5"/>
          <p:cNvSpPr/>
          <p:nvPr/>
        </p:nvSpPr>
        <p:spPr>
          <a:xfrm>
            <a:off x="6368040" y="2407320"/>
            <a:ext cx="639720" cy="639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8119800" y="990720"/>
            <a:ext cx="4068000" cy="438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lt1"/>
                </a:solidFill>
                <a:effectLst/>
                <a:uFillTx/>
                <a:latin typeface="Century Gothic"/>
              </a:rPr>
              <a:t>按一下圖示以新增圖片</a:t>
            </a:r>
            <a:endParaRPr lang="en-US" sz="1800" b="0" u="none" strike="noStrike">
              <a:solidFill>
                <a:schemeClr val="lt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with Acc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Oval 4"/>
          <p:cNvSpPr/>
          <p:nvPr/>
        </p:nvSpPr>
        <p:spPr>
          <a:xfrm>
            <a:off x="6361200" y="1317240"/>
            <a:ext cx="5028120" cy="5028120"/>
          </a:xfrm>
          <a:prstGeom prst="ellipse">
            <a:avLst/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8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ldNum" idx="10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64D1829E-D80B-4503-807A-67164BDE4FDF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ftr" idx="11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dt" idx="12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651600" lvl="1" indent="-28584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880200" lvl="2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63080" lvl="3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245960" lvl="4" indent="-28584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4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6164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  <a:lvl2pPr lvl="1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2pPr>
            <a:lvl3pPr lvl="2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3pPr>
            <a:lvl4pPr lvl="3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4pPr>
            <a:lvl5pPr lvl="4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5pPr>
          </a:lstStyle>
          <a:p>
            <a:pPr marL="274320" indent="-228600" algn="l" defTabSz="914400">
              <a:lnSpc>
                <a:spcPct val="9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20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0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6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第三層</a:t>
            </a:r>
            <a:endParaRPr lang="en-US" sz="16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第四層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9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第五層</a:t>
            </a:r>
            <a:endParaRPr lang="en-US" sz="1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and 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Rectangle 7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sldNum" idx="13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D35B647D-4F2C-40EB-AD9F-E007CA103D09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ftr" idx="14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15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body"/>
          </p:nvPr>
        </p:nvSpPr>
        <p:spPr>
          <a:xfrm>
            <a:off x="1311120" y="2286000"/>
            <a:ext cx="4570920" cy="3961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331560" lvl="1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2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3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4" indent="-22860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body"/>
          </p:nvPr>
        </p:nvSpPr>
        <p:spPr>
          <a:xfrm>
            <a:off x="6094440" y="2286000"/>
            <a:ext cx="5557680" cy="3961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45720"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 Only "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7" descr="A white circles on a black background&#10;&#10;Description automatically generated"/>
          <p:cNvPicPr/>
          <p:nvPr/>
        </p:nvPicPr>
        <p:blipFill>
          <a:blip r:embed="rId2"/>
          <a:srcRect l="0" t="11504" r="4106" b="14442"/>
          <a:stretch/>
        </p:blipFill>
        <p:spPr>
          <a:xfrm>
            <a:off x="3274920" y="0"/>
            <a:ext cx="8912880" cy="6866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5920" cy="388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684360" y="5600880"/>
            <a:ext cx="1028592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  <a:def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按一下以編輯母片文字樣式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75" name="Cross 2"/>
          <p:cNvSpPr/>
          <p:nvPr/>
        </p:nvSpPr>
        <p:spPr>
          <a:xfrm>
            <a:off x="10975680" y="49870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6" name="Cross 3"/>
          <p:cNvSpPr/>
          <p:nvPr/>
        </p:nvSpPr>
        <p:spPr>
          <a:xfrm>
            <a:off x="10118880" y="35812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FFFFFF">
                  <a:alpha val="0"/>
                </a:srgbClr>
              </a:gs>
              <a:gs pos="100000">
                <a:srgbClr val="FFFFFF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ab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Freeform: Shape 9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8" name="Rectangle 2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sldNum" idx="16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A98BF108-0ECB-4802-AC52-315FD7F60FD0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ftr" idx="17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dt" idx="18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5"/>
          <p:cNvSpPr>
            <a:spLocks noGrp="1"/>
          </p:cNvSpPr>
          <p:nvPr>
            <p:ph type="body"/>
          </p:nvPr>
        </p:nvSpPr>
        <p:spPr>
          <a:xfrm>
            <a:off x="1293840" y="2743200"/>
            <a:ext cx="10133640" cy="35042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按一下圖示以新增表格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nten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Freeform: Shape 16"/>
          <p:cNvSpPr/>
          <p:nvPr/>
        </p:nvSpPr>
        <p:spPr>
          <a:xfrm>
            <a:off x="7026120" y="0"/>
            <a:ext cx="4460400" cy="1980000"/>
          </a:xfrm>
          <a:custGeom>
            <a:avLst/>
            <a:gdLst>
              <a:gd name="textAreaLeft" fmla="*/ 0 w 4460400"/>
              <a:gd name="textAreaRight" fmla="*/ 4461480 w 4460400"/>
              <a:gd name="textAreaTop" fmla="*/ 0 h 1980000"/>
              <a:gd name="textAreaBottom" fmla="*/ 1981080 h 1980000"/>
              <a:gd name="GluePoint1X" fmla="*/ 0 w 4461334"/>
              <a:gd name="GluePoint1Y" fmla="*/ 0 h 1981200"/>
              <a:gd name="GluePoint2X" fmla="*/ 4461334 w 4461334"/>
              <a:gd name="GluePoint2Y" fmla="*/ 0 h 1981200"/>
              <a:gd name="GluePoint3X" fmla="*/ 4432897 w 4461334"/>
              <a:gd name="GluePoint3Y" fmla="*/ 186331 h 1981200"/>
              <a:gd name="GluePoint4X" fmla="*/ 2230667 w 4461334"/>
              <a:gd name="GluePoint4Y" fmla="*/ 1981200 h 1981200"/>
              <a:gd name="GluePoint5X" fmla="*/ 28437 w 4461334"/>
              <a:gd name="GluePoint5Y" fmla="*/ 186331 h 1981200"/>
              <a:gd name="GluePoint6X" fmla="*/ 0 w 4461334"/>
              <a:gd name="GluePoint6Y" fmla="*/ 0 h 1981200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</a:cxnLst>
            <a:rect l="textAreaLeft" t="textAreaTop" r="textAreaRight" b="textAreaBottom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5" name="Rectangle 1"/>
          <p:cNvSpPr/>
          <p:nvPr/>
        </p:nvSpPr>
        <p:spPr>
          <a:xfrm>
            <a:off x="0" y="0"/>
            <a:ext cx="759240" cy="68569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algn="ctr" blurRad="127080" rotWithShape="0" sx="102000" sy="102000">
              <a:srgbClr val="000000">
                <a:alpha val="10000"/>
              </a:srgb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6" name="Cross 5"/>
          <p:cNvSpPr/>
          <p:nvPr/>
        </p:nvSpPr>
        <p:spPr>
          <a:xfrm>
            <a:off x="6683040" y="139716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7" name="Cross 6"/>
          <p:cNvSpPr/>
          <p:nvPr/>
        </p:nvSpPr>
        <p:spPr>
          <a:xfrm>
            <a:off x="11085480" y="5638680"/>
            <a:ext cx="684720" cy="684720"/>
          </a:xfrm>
          <a:prstGeom prst="plus">
            <a:avLst>
              <a:gd name="adj" fmla="val 39796"/>
            </a:avLst>
          </a:prstGeom>
          <a:gradFill rotWithShape="0">
            <a:gsLst>
              <a:gs pos="0">
                <a:srgbClr val="B3CCE7">
                  <a:alpha val="0"/>
                </a:srgbClr>
              </a:gs>
              <a:gs pos="100000">
                <a:srgbClr val="ACCBF9"/>
              </a:gs>
            </a:gsLst>
            <a:lin ang="5400000"/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144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indent="0" algn="l" defTabSz="914400">
              <a:lnSpc>
                <a:spcPct val="80000"/>
              </a:lnSpc>
              <a:buNone/>
              <a:tabLst>
                <a:tab pos="0" algn="l"/>
              </a:tabLst>
              <a:def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defRPr>
            </a:lvl1pPr>
          </a:lstStyle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按一下以編輯母片標題樣式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sldNum" idx="19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fld id="{3209ABB7-C1E1-4E62-BCD3-0F2A651EB701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&lt;編號&gt;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ftr" idx="20"/>
          </p:nvPr>
        </p:nvSpPr>
        <p:spPr>
          <a:xfrm rot="16200000">
            <a:off x="-1828800" y="2592360"/>
            <a:ext cx="44186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&lt;頁尾&gt;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dt" idx="21"/>
          </p:nvPr>
        </p:nvSpPr>
        <p:spPr>
          <a:xfrm rot="16200000">
            <a:off x="-228600" y="5259600"/>
            <a:ext cx="1218240" cy="759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&lt;日期/時間&gt;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129384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6516720" y="2438280"/>
            <a:ext cx="4910760" cy="4113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>
            <a:lvl1pPr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1pPr>
            <a:lvl2pPr lvl="1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2pPr>
            <a:lvl3pPr lvl="2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3pPr>
            <a:lvl4pPr lvl="3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4pPr>
            <a:lvl5pPr lvl="4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  <a:def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defRPr>
            </a:lvl5pPr>
          </a:lstStyle>
          <a:p>
            <a:pPr marL="274320" indent="-22860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按一下以編輯母片文字樣式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594360" lvl="1" indent="-228600" algn="l" defTabSz="914400">
              <a:lnSpc>
                <a:spcPct val="110000"/>
              </a:lnSpc>
              <a:spcBef>
                <a:spcPts val="10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第二層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777240" lvl="2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第三層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960120" lvl="3" indent="-18288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第四層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1097280" lvl="4" indent="-137160" algn="l" defTabSz="914400">
              <a:lnSpc>
                <a:spcPct val="110000"/>
              </a:lnSpc>
              <a:spcBef>
                <a:spcPts val="601"/>
              </a:spcBef>
              <a:buClr>
                <a:srgbClr val="595959"/>
              </a:buClr>
              <a:buSzPct val="80000"/>
              <a:buFont typeface="Arial"/>
              <a:buChar char="•"/>
            </a:pPr>
            <a:r>
              <a:rPr lang="zh-TW" sz="18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第五層</a:t>
            </a:r>
            <a:endParaRPr lang="en-US" sz="18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請按這裡編輯題名文字格式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請按這裡編輯大綱文字格式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第二個大綱層次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第三個大綱層次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第四個大綱層次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第五個大綱層次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第六個大綱層次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zh-TW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第七個大綱層次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hyperlink" Target="https://github.com/dinchentech/tw-selfselect/blob/main/&#31574;&#30053;&#35498;&#26126;.md#10-&#27599;&#26376;&#36984;&#32929;&#27969;&#31243;&#33258;&#36984;&#32929;&#33151;" TargetMode="External"/><Relationship Id="rId3" Type="http://schemas.openxmlformats.org/officeDocument/2006/relationships/slideLayout" Target="../slideLayouts/slideLayout10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hyperlink" Target="https://www.google.com/aclk?sa=L&amp;ai=DChsSEwiUhubO7eKVAxU5w0wCHerhME0YACICCAEQARoCdG0&amp;ae=2&amp;co=1&amp;ase=2&amp;gclid=Cj0KCQjwjvfSBhDpARIsAEiOpStLL3ocVbWor7TT-paWwnXrBWkySiBTr2HLLxGIJfe1DWouae1iEooaAg-rEALw_wcB&amp;cid=CAAS0wHkaFYsyD76o9FhZVaAbgEbIgyj2JwWdm7Pbnm20kmK2YhYylAH9Rc4248IGKw7U64R2siBmG7A0vsAReXfxWDhD1JysQBah12rJ_GAN3gL5DKyvI7-faNU6hppi8dN-mo_q6IupQ1vD19G5TLOkoO7kP51EJJ6RiSKdFJ-P3bhtJFzJ0AI2tbaiXXxz4MQE413pVsFoiRuLnmBCvPPpTi-BUZdKJSxBcUT-00WBi6WL5JYoQ-extA0fvCyNsG1vOY2LJbg8z2N1bWPBj3EC7FviDLw&amp;cce=2&amp;category=acrcp_v1_71&amp;sig=AOD64_34PgiU4ihFvxpue8fl7DXDlGWyiw&amp;q&amp;nis=4&amp;adurl&amp;ved=2ahUKEwj-g-DO7eKVAxWgbvUHHUcZNIIQ0Qx6BAgcEAE" TargetMode="Externa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10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0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slideLayout" Target="../slideLayouts/slideLayout10.xm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image" Target="../media/image19.png"/><Relationship Id="rId3" Type="http://schemas.openxmlformats.org/officeDocument/2006/relationships/slideLayout" Target="../slideLayouts/slideLayout10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gradFill rotWithShape="0">
          <a:gsLst>
            <a:gs pos="0">
              <a:srgbClr val="B3CCE7">
                <a:alpha val="0"/>
              </a:srgbClr>
            </a:gs>
            <a:gs pos="100000">
              <a:srgbClr val="ACCBF9"/>
            </a:gs>
          </a:gsLst>
          <a:lin ang="54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84360" y="1295280"/>
            <a:ext cx="10285920" cy="3885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TW-SELFSELECT-W6 </a:t>
            </a:r>
            <a:br>
              <a:rPr sz="6600"/>
            </a:br>
            <a:r>
              <a:rPr lang="en-US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 </a:t>
            </a:r>
            <a:r>
              <a:rPr lang="zh-TW" sz="66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台股買賣自動化系統</a:t>
            </a:r>
            <a:endParaRPr lang="en-US" sz="66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684360" y="5600880"/>
            <a:ext cx="1028592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9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2400" b="0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實盤</a:t>
            </a:r>
            <a:endParaRPr lang="en-US" sz="2400" b="0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1370160" y="338400"/>
            <a:ext cx="998100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實盤交易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sldNum" idx="25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1E3B424A-8CA0-4EB9-B28D-0B078EFFE4C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2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graphicFrame>
        <p:nvGraphicFramePr>
          <p:cNvPr id="106" name="表格 13"/>
          <p:cNvGraphicFramePr/>
          <p:nvPr/>
        </p:nvGraphicFramePr>
        <p:xfrm>
          <a:off x="944640" y="914400"/>
          <a:ext cx="10511280" cy="5776920"/>
        </p:xfrm>
        <a:graphic>
          <a:graphicData uri="http://schemas.openxmlformats.org/drawingml/2006/table">
            <a:tbl>
              <a:tblPr/>
              <a:tblGrid>
                <a:gridCol w="1074240"/>
                <a:gridCol w="9437400"/>
              </a:tblGrid>
              <a:tr h="991440">
                <a:tc>
                  <a:txBody>
                    <a:bodyPr lIns="113760" tIns="113760" rIns="113760" bIns="113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27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entury Gothic"/>
                        </a:rPr>
                        <a:t>1</a:t>
                      </a:r>
                      <a:endParaRPr lang="en-US" sz="2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3760" marR="113760" marT="113760" marB="113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noFill/>
                      <a:prstDash val="solid"/>
                    </a:lnT>
                    <a:lnB w="648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13760" tIns="113760" rIns="113760" bIns="113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先跑</a:t>
                      </a: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選股</a:t>
                      </a: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程式決定要選那些股及資本</a:t>
                      </a:r>
                      <a:endParaRPr lang="en-U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3760" marR="113760" marT="113760" marB="113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noFill/>
                      <a:prstDash val="solid"/>
                    </a:lnT>
                    <a:lnB w="6480">
                      <a:noFill/>
                      <a:prstDash val="solid"/>
                    </a:lnB>
                    <a:noFill/>
                  </a:tcPr>
                </a:tc>
              </a:tr>
              <a:tr h="991440">
                <a:tc>
                  <a:txBody>
                    <a:bodyPr lIns="113760" tIns="113760" rIns="113760" bIns="113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27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entury Gothic"/>
                        </a:rPr>
                        <a:t>2</a:t>
                      </a:r>
                      <a:endParaRPr lang="en-US" sz="2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3760" marR="113760" marT="113760" marB="113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noFill/>
                      <a:prstDash val="solid"/>
                    </a:lnT>
                    <a:lnB w="648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13760" tIns="113760" rIns="113760" bIns="113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讓</a:t>
                      </a:r>
                      <a:r>
                        <a:rPr lang="en-US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AI </a:t>
                      </a: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幫你產生</a:t>
                      </a:r>
                      <a:r>
                        <a:rPr lang="en-US" sz="17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.env</a:t>
                      </a: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檔</a:t>
                      </a:r>
                      <a:endParaRPr lang="en-U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743040" lvl="1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"/>
                      </a:pP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如果是更新</a:t>
                      </a:r>
                      <a:r>
                        <a:rPr lang="en-US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, </a:t>
                      </a: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請確定是否要</a:t>
                      </a: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刪除舊的實盤資料</a:t>
                      </a:r>
                      <a:endParaRPr lang="en-U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743040" lvl="1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"/>
                      </a:pP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如果是更新但沒有要刪除舊實盤資訊</a:t>
                      </a:r>
                      <a:r>
                        <a:rPr lang="en-US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,</a:t>
                      </a: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請確定隔天</a:t>
                      </a:r>
                      <a:r>
                        <a:rPr lang="en-US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9</a:t>
                      </a: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點程式有沒有</a:t>
                      </a: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自動清倉</a:t>
                      </a: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那些決定不再持有的股票</a:t>
                      </a:r>
                      <a:endParaRPr lang="en-U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3760" marR="113760" marT="113760" marB="113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noFill/>
                      <a:prstDash val="solid"/>
                    </a:lnT>
                    <a:lnB w="6480">
                      <a:noFill/>
                      <a:prstDash val="solid"/>
                    </a:lnB>
                    <a:noFill/>
                  </a:tcPr>
                </a:tc>
              </a:tr>
              <a:tr h="991440">
                <a:tc>
                  <a:txBody>
                    <a:bodyPr lIns="113760" tIns="113760" rIns="113760" bIns="113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27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entury Gothic"/>
                        </a:rPr>
                        <a:t>3</a:t>
                      </a:r>
                      <a:endParaRPr lang="en-US" sz="2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3760" marR="113760" marT="113760" marB="113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noFill/>
                      <a:prstDash val="solid"/>
                    </a:lnT>
                    <a:lnB w="648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13760" tIns="113760" rIns="113760" bIns="113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準備好玉山</a:t>
                      </a:r>
                      <a:r>
                        <a:rPr lang="en-US" sz="17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API</a:t>
                      </a: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憑證</a:t>
                      </a:r>
                      <a:r>
                        <a:rPr lang="en-US" sz="17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(p12</a:t>
                      </a: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檔</a:t>
                      </a:r>
                      <a:r>
                        <a:rPr lang="en-US" sz="17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)</a:t>
                      </a: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及</a:t>
                      </a:r>
                      <a:r>
                        <a:rPr lang="en-US" sz="17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key</a:t>
                      </a:r>
                      <a:r>
                        <a:rPr lang="en-US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:</a:t>
                      </a:r>
                      <a:endParaRPr lang="en-U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743040" lvl="1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"/>
                      </a:pP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模擬</a:t>
                      </a:r>
                      <a:r>
                        <a:rPr lang="en-US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API key</a:t>
                      </a: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是</a:t>
                      </a:r>
                      <a:r>
                        <a:rPr lang="en-US" sz="17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config.simulation.ini</a:t>
                      </a:r>
                      <a:endParaRPr lang="en-U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743040" lvl="1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"/>
                      </a:pP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實盤</a:t>
                      </a:r>
                      <a:r>
                        <a:rPr lang="en-US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API key</a:t>
                      </a: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是</a:t>
                      </a:r>
                      <a:r>
                        <a:rPr lang="en-US" sz="17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config.ini</a:t>
                      </a:r>
                      <a:r>
                        <a:rPr lang="en-US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(</a:t>
                      </a: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玉山規定必須先用模擬</a:t>
                      </a:r>
                      <a:r>
                        <a:rPr lang="en-US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API</a:t>
                      </a: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下單成功才能申請實盤</a:t>
                      </a:r>
                      <a:r>
                        <a:rPr lang="en-US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API)</a:t>
                      </a:r>
                      <a:endParaRPr lang="en-U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743040" lvl="1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"/>
                      </a:pP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設定好玉山 </a:t>
                      </a:r>
                      <a:r>
                        <a:rPr lang="en-US" sz="17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API</a:t>
                      </a:r>
                      <a:r>
                        <a:rPr lang="zh-TW" sz="17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白名單</a:t>
                      </a:r>
                      <a:endParaRPr lang="en-U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3760" marR="113760" marT="113760" marB="113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noFill/>
                      <a:prstDash val="solid"/>
                    </a:lnT>
                    <a:lnB w="6480">
                      <a:noFill/>
                      <a:prstDash val="solid"/>
                    </a:lnB>
                    <a:noFill/>
                  </a:tcPr>
                </a:tc>
              </a:tr>
              <a:tr h="991440">
                <a:tc>
                  <a:txBody>
                    <a:bodyPr lIns="113760" tIns="113760" rIns="113760" bIns="113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27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entury Gothic"/>
                        </a:rPr>
                        <a:t>4</a:t>
                      </a:r>
                      <a:endParaRPr lang="en-US" sz="2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3760" marR="113760" marT="113760" marB="113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noFill/>
                      <a:prstDash val="solid"/>
                    </a:lnT>
                    <a:lnB w="648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13760" tIns="113760" rIns="113760" bIns="113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設定雲端主機</a:t>
                      </a:r>
                      <a:r>
                        <a:rPr lang="en-US" sz="1700" b="0" u="none" strike="noStrike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Century Gothic"/>
                        </a:rPr>
                        <a:t>GCP:</a:t>
                      </a:r>
                      <a:endParaRPr lang="en-U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743040" lvl="1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"/>
                      </a:pP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靜態</a:t>
                      </a:r>
                      <a:r>
                        <a:rPr lang="en-US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IP</a:t>
                      </a:r>
                      <a:endParaRPr lang="en-U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743040" lvl="1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"/>
                      </a:pP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若停機中</a:t>
                      </a:r>
                      <a:r>
                        <a:rPr lang="en-US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,</a:t>
                      </a: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要先</a:t>
                      </a:r>
                      <a:r>
                        <a:rPr lang="zh-TW" sz="17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開啟</a:t>
                      </a:r>
                      <a:endParaRPr lang="en-U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743040" lvl="1" indent="-28584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Wingdings" charset="2"/>
                        <a:buChar char=""/>
                      </a:pP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執行</a:t>
                      </a:r>
                      <a:r>
                        <a:rPr lang="zh-TW" sz="17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驗證</a:t>
                      </a:r>
                      <a:r>
                        <a:rPr lang="en-US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,</a:t>
                      </a:r>
                      <a:r>
                        <a:rPr lang="zh-TW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才能上傳</a:t>
                      </a:r>
                      <a:r>
                        <a:rPr lang="en-US" sz="17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VM</a:t>
                      </a:r>
                      <a:endParaRPr lang="en-US" sz="1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3760" marR="113760" marT="113760" marB="113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noFill/>
                      <a:prstDash val="solid"/>
                    </a:lnT>
                    <a:lnB w="6480">
                      <a:noFill/>
                      <a:prstDash val="solid"/>
                    </a:lnB>
                    <a:noFill/>
                  </a:tcPr>
                </a:tc>
              </a:tr>
              <a:tr h="991440">
                <a:tc>
                  <a:txBody>
                    <a:bodyPr lIns="113760" tIns="113760" rIns="113760" bIns="11376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2700" b="1" u="none" strike="noStrike">
                          <a:solidFill>
                            <a:schemeClr val="accent1"/>
                          </a:solidFill>
                          <a:effectLst/>
                          <a:uFillTx/>
                          <a:latin typeface="Century Gothic"/>
                        </a:rPr>
                        <a:t>5</a:t>
                      </a:r>
                      <a:endParaRPr lang="en-US" sz="27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3760" marR="113760" marT="113760" marB="113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noFill/>
                      <a:prstDash val="solid"/>
                    </a:lnT>
                    <a:lnB w="648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113760" tIns="113760" rIns="113760" bIns="113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Deploy: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zh-TW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執行 </a:t>
                      </a: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./deploy_source.sh</a:t>
                      </a:r>
                      <a:r>
                        <a:rPr lang="zh-TW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（含 </a:t>
                      </a: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preflight </a:t>
                      </a:r>
                      <a:r>
                        <a:rPr lang="zh-TW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測試 → </a:t>
                      </a: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build → SSH </a:t>
                      </a:r>
                      <a:r>
                        <a:rPr lang="zh-TW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直傳 → 驗指紋）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VM </a:t>
                      </a:r>
                      <a:r>
                        <a:rPr lang="zh-TW" sz="12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Century Gothic"/>
                        </a:rPr>
                        <a:t>非開機時間部署完要手動關機（否則下次排程不會自動開機）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13760" marR="113760" marT="113760" marB="11376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6480">
                      <a:noFill/>
                      <a:prstDash val="solid"/>
                    </a:lnT>
                    <a:lnB w="6480">
                      <a:noFill/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43820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再談選股：每月自動選股流程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455760" y="1523880"/>
            <a:ext cx="11276640" cy="4723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每月自動選股：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D1 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選股 → 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D2 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買進（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.env 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設 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SELFSELECT_AUTO=1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① D1 13:36–13:55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　程式：補資料 → 選股 → 改寫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.env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（先備份）→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Telegram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通知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② D1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晚～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D2 13:25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　你（可選）：對名單有意見用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--exclude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宣告式剔除，別手改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.env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③ D2 08:05–08:39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　程式：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D1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沒跑成功（關機／逾時）才補跑，跑完觸發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08:40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熱重載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④ D2 13:25–13:30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　程式：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immediate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買進新名單（滿倉不重複買）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指令：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scripts/monthly_selfselect_run.py →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內部呼叫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monthly_rebalance_picker.py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選股四道濾網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誠實候選池（當時市值前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100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，歷史股本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×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當季股價）→ 法人確認（近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15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日買超）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→ 過熱剔除（離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52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週高點 ≤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7%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、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YTD ≤100%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、本益比 ≤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45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，命中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項）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→ 總數上限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N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（只補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N−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已持倉，預設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5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檔；每檔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alloc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＝腿額度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÷ N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安全帶：預設 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dry-run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；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--apply 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才寫檔（自動備份）；絕不刪已持倉；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keep_wait 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不增不刪；基準日落後拒絕寫入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0707C091-11C8-4C08-A82F-A9B59BBB6432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7619040" cy="684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潛力股掃瞄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1311120" y="1295280"/>
            <a:ext cx="10420920" cy="495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潛力股掃描（催化劑評分）：參考用，不會自動買進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舊的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find_catalyst_stocks.py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已移除；評分邏輯是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scripts/stock_selector_grid.py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的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catalyst_score()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（近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130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個交易日＝前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65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天盤整＋後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65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天突破）。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評分權重：盤整品質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20%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／突破力道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35%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／量能確認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15%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／動能延續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30%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；實盤選股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catalyst_weight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預設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0 ⇒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不會自動選它。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看到合適的潛力股 ⇒ 手動用 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keep_wait 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進場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① 在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.env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加一條：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PC_&lt;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代號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&gt;={"strategy":"keep_wait","alloc":15,"max_entry_price":580,"initial_shares":12}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② keep_wait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＝低接＋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DCA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加碼＋分層停利；進場上限、加碼幅度、停利層級都寫在同一條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JSON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（策略說明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§9.5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／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§9.6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③ 選股程式不增不刪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keep_wait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條目（人工管理）⇒ 加進去就不會被每月換股汰換；要移除自己刪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⚠️ 高分只是「有潛力」，不是買進訊號；仍要先研究基本面，再決定要不要納入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703C7DA4-B680-4B2E-AA92-47B16A392802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sldNum" idx="26"/>
          </p:nvPr>
        </p:nvSpPr>
        <p:spPr>
          <a:xfrm>
            <a:off x="0" y="609480"/>
            <a:ext cx="759240" cy="379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defRPr>
            </a:lvl1pPr>
          </a:lstStyle>
          <a:p>
            <a:pPr indent="0" algn="ctr" defTabSz="914400">
              <a:lnSpc>
                <a:spcPct val="100000"/>
              </a:lnSpc>
              <a:spcAft>
                <a:spcPts val="601"/>
              </a:spcAft>
              <a:buNone/>
              <a:tabLst>
                <a:tab pos="0" algn="l"/>
              </a:tabLst>
            </a:pPr>
            <a:fld id="{2107DD5A-78A5-46C2-828F-1BB32362CDEE}" type="slidenum"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entury Gothic"/>
              </a:rPr>
              <a:t>4</a:t>
            </a:fld>
            <a:endParaRPr lang="en-US" sz="2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TextBox 112"/>
          <p:cNvSpPr/>
          <p:nvPr/>
        </p:nvSpPr>
        <p:spPr>
          <a:xfrm>
            <a:off x="1293840" y="609480"/>
            <a:ext cx="89992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zh-TW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催化劑分數實算（目前自選股，</a:t>
            </a: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2026-10-23</a:t>
            </a:r>
            <a:r>
              <a:rPr lang="zh-TW" sz="32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）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13" name="Table 113"/>
          <p:cNvGraphicFramePr/>
          <p:nvPr/>
        </p:nvGraphicFramePr>
        <p:xfrm>
          <a:off x="1311120" y="1523880"/>
          <a:ext cx="9898920" cy="2399760"/>
        </p:xfrm>
        <a:graphic>
          <a:graphicData uri="http://schemas.openxmlformats.org/drawingml/2006/table">
            <a:tbl>
              <a:tblPr/>
              <a:tblGrid>
                <a:gridCol w="1499760"/>
                <a:gridCol w="1699920"/>
                <a:gridCol w="1699920"/>
                <a:gridCol w="1699920"/>
                <a:gridCol w="1699920"/>
                <a:gridCol w="1599840"/>
              </a:tblGrid>
              <a:tr h="39996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TW" sz="16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代號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TW" sz="16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盤整品質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TW" sz="16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突破力道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TW" sz="16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量能確認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TW" sz="16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動能延續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zh-TW" sz="16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綜合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996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6505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0.00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1.00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0.41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0.87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0.67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996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1301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0.00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0.66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0.22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0.62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0.45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996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1101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0.79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0.24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0.28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0.30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0.37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996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4938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0.36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0.33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0.14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0.53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0.37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9960"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1802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0.14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0.00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0.09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1.00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6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</a:rPr>
                        <a:t>0.34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4" name="TextBox 114"/>
          <p:cNvSpPr/>
          <p:nvPr/>
        </p:nvSpPr>
        <p:spPr>
          <a:xfrm>
            <a:off x="1311120" y="4449960"/>
            <a:ext cx="9899280" cy="139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zh-TW" sz="16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以本機快取（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2026-10-23 </a:t>
            </a:r>
            <a:r>
              <a:rPr lang="zh-TW" sz="16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收盤）跑 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catalyst_score()</a:t>
            </a:r>
            <a:r>
              <a:rPr lang="zh-TW" sz="16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：近 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130 </a:t>
            </a:r>
            <a:r>
              <a:rPr lang="zh-TW" sz="16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個交易日、前 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65 </a:t>
            </a:r>
            <a:r>
              <a:rPr lang="zh-TW" sz="16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天盤整＋後 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65 </a:t>
            </a:r>
            <a:r>
              <a:rPr lang="zh-TW" sz="16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天突破。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zh-TW" sz="16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實盤每月選股 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catalyst_weight </a:t>
            </a:r>
            <a:r>
              <a:rPr lang="zh-TW" sz="16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預設 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0</a:t>
            </a:r>
            <a:r>
              <a:rPr lang="zh-TW" sz="16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，這欄不影響排序——高分只是「有潛力」，不是買進訊號；要進場請手動用 </a:t>
            </a:r>
            <a:r>
              <a:rPr lang="en-US" sz="16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keep_wait</a:t>
            </a:r>
            <a:r>
              <a:rPr lang="zh-TW" sz="1600" b="0" u="none" strike="noStrike">
                <a:solidFill>
                  <a:srgbClr val="333333"/>
                </a:solidFill>
                <a:effectLst/>
                <a:uFillTx/>
                <a:latin typeface="Arial"/>
              </a:rPr>
              <a:t>（見上一頁）。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82872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62500" lnSpcReduction="1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選股引擎：每月一次</a:t>
            </a:r>
            <a:br>
              <a:rPr sz="3200"/>
            </a:b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1311120" y="1066680"/>
            <a:ext cx="10039680" cy="5180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選股入口：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scripts/monthly_rebalance_picker.py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（每月由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monthly_selfselect_run.py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呼叫）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兩種風險組：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normal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＝布林／均線／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VWAP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／突破；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high_profit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＝均線／突破（高風險，名稱不代表報酬較高）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評分：動能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2.0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（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21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日）＋技術面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0.3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（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MA20/MA60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）＋穩定度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0.5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＋催化劑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0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（實盤停用）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候選池與濾網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候選池：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--pool-n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（預設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100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；本專案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SELFSELECT_POOL_N=50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）＝誠實池「從幾檔挑」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法人確認（近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15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日買超）／過熱剔除（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7%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・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100%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・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45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，命中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項）／總數上限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N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（持股檔數）怎麼設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・</a:t>
            </a:r>
            <a:r>
              <a:rPr lang="en-US" sz="1800" b="0" u="none" strike="noStrike">
                <a:solidFill>
                  <a:srgbClr val="222222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N</a:t>
            </a:r>
            <a:r>
              <a:rPr lang="zh-TW" sz="1800" b="0" u="none" strike="noStrike">
                <a:solidFill>
                  <a:srgbClr val="222222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＝</a:t>
            </a:r>
            <a:r>
              <a:rPr lang="en-US" sz="1800" b="0" u="none" strike="noStrike">
                <a:solidFill>
                  <a:srgbClr val="222222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SELFSELECT_TOP_N</a:t>
            </a:r>
            <a:r>
              <a:rPr lang="zh-TW" sz="1800" b="0" u="none" strike="noStrike">
                <a:solidFill>
                  <a:srgbClr val="222222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（</a:t>
            </a:r>
            <a:r>
              <a:rPr lang="en-US" sz="1800" b="0" u="none" strike="noStrike">
                <a:solidFill>
                  <a:srgbClr val="222222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.env</a:t>
            </a:r>
            <a:r>
              <a:rPr lang="zh-TW" sz="1800" b="0" u="none" strike="noStrike">
                <a:solidFill>
                  <a:srgbClr val="222222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；預設 </a:t>
            </a:r>
            <a:r>
              <a:rPr lang="en-US" sz="1800" b="0" u="none" strike="noStrike">
                <a:solidFill>
                  <a:srgbClr val="222222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5</a:t>
            </a:r>
            <a:r>
              <a:rPr lang="zh-TW" sz="1800" b="0" u="none" strike="noStrike">
                <a:solidFill>
                  <a:srgbClr val="222222"/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）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；評分排序後只買「最強的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N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檔」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・每檔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alloc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＝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SELFSELECT_LEG_PCT ÷ N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（預設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100 ÷ 5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＝ 每檔 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20%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・別搞混：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--pool-n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是候選池（從幾檔挑）；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N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是持股數（留幾檔）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輸出：賣出／維持／買入、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fixed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／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auto 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策略、可貼進 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.env 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的 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PC_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、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logs/monthly_pick.json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0ED17F7A-9C47-4D06-91CE-7149DCF3AC44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動能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候選人前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N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名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887400" cy="502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N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終值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總報酬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2022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特點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50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NT$795,512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+59.10%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-20.57%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最高報酬（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MDD -29.2%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100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NT$622,189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+24.44%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-21.68%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回撤最大（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MDD -47.1%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150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NT$670,734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+34.15%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-35.10%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	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2022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跌最多（</a:t>
            </a: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-35.1%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0050 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買進持有（同期＝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2022-01-01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～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2025-12-31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、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50 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萬全額）：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+99.85%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（年化 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+18.91%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、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MDD -34.0%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→ 三個 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N 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都輸給 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0050 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買進持有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口徑：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50 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萬是名目本金，平均資金利用率 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72–79%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（實際平均只動用約 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33–42 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萬）；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0050 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是 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100% 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曝險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4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資料來源：</a:t>
            </a:r>
            <a:r>
              <a:rPr lang="en-US" sz="14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backtest_plan2_monthly_3group.py</a:t>
            </a:r>
            <a:r>
              <a:rPr lang="zh-TW" sz="14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（正常組、</a:t>
            </a:r>
            <a:r>
              <a:rPr lang="en-US" sz="14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2022-2025</a:t>
            </a:r>
            <a:r>
              <a:rPr lang="zh-TW" sz="14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、</a:t>
            </a:r>
            <a:r>
              <a:rPr lang="en-US" sz="14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NT$500,000</a:t>
            </a:r>
            <a:r>
              <a:rPr lang="zh-TW" sz="14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、持股固定 </a:t>
            </a:r>
            <a:r>
              <a:rPr lang="en-US" sz="14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top 5</a:t>
            </a:r>
            <a:r>
              <a:rPr lang="zh-TW" sz="14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）｜回測 </a:t>
            </a:r>
            <a:r>
              <a:rPr lang="en-US" sz="14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POOL_N</a:t>
            </a:r>
            <a:r>
              <a:rPr lang="zh-TW" sz="14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／實盤 </a:t>
            </a:r>
            <a:r>
              <a:rPr lang="en-US" sz="14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SELFSELECT_POOL_N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24BE769C-4C4B-47DE-852E-B4C0538A258E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491400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-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正常組與高風險組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887400" cy="502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正常組 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N=50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（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+59.10%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2022: -20.57%   ←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熊市如實下跌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2023: +34.61% ← AI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爆發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2024: +7.70%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2025: +40.60%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高風險組 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N=50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（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+25.01%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）＝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&gt;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爆發年衝力更大、常態年落後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2022: -21.53%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2023: +46.66% ← AI </a:t>
            </a:r>
            <a:r>
              <a:rPr lang="zh-TW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爆發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2024: -4.59%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2025: +16.31%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0050 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買進持有（同期＝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2022-01-01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～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2025-12-31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）：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+99.85% ← 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兩組都輸給它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口徑：平均資金利用率 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79.1%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／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76.1%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（不是滿倉）；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0050 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是 </a:t>
            </a:r>
            <a:r>
              <a:rPr lang="en-US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100% </a:t>
            </a:r>
            <a:r>
              <a:rPr lang="zh-TW" sz="1800" b="1" u="none" strike="noStrike">
                <a:solidFill>
                  <a:srgbClr val="222222"/>
                </a:solidFill>
                <a:effectLst/>
                <a:uFillTx/>
                <a:latin typeface="Century Gothic"/>
              </a:rPr>
              <a:t>曝險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1EBC39C0-C260-444C-9717-32655CB59E5F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438560" cy="608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母專案自選股回測（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2022-2025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）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9887760" cy="16000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 wrap="square">
            <a:noAutofit/>
          </a:bodyPr>
          <a:p>
            <a:pPr>
              <a:spcAft>
                <a:spcPts val="200"/>
              </a:spcAft>
            </a:pPr>
            <a:r>
              <a:rPr sz="1200" b="1"/>
              <a:t>母專案 tw_autotrader 的 8 檔自選股組合（2022-2025、Yahoo、含手續費）——三種選股方式：</a:t>
            </a:r>
          </a:p>
          <a:p>
            <a:pPr>
              <a:spcAft>
                <a:spcPts val="200"/>
              </a:spcAft>
            </a:pPr>
            <a:r>
              <a:rPr sz="1200" b="0"/>
              <a:t>① 固定池：年初買定 8 檔，四年都不換 → +77.6%（年化 15.4%）；輸給同期 0050</a:t>
            </a:r>
          </a:p>
          <a:p>
            <a:pPr>
              <a:spcAft>
                <a:spcPts val="200"/>
              </a:spcAft>
            </a:pPr>
            <a:r>
              <a:rPr sz="1200" b="0"/>
              <a:t>② 機械化：每年底照 Rule 0–3 硬規則汰弱留強、零主觀判斷 → +195.5%（年化 31.1%）</a:t>
            </a:r>
          </a:p>
          <a:p>
            <a:pPr>
              <a:spcAft>
                <a:spcPts val="200"/>
              </a:spcAft>
            </a:pPr>
            <a:r>
              <a:rPr sz="1200" b="0"/>
              <a:t>③ 手工（人工）：每年看市場資訊由人決定換不換 → +157.2%（年化 26.6%）</a:t>
            </a:r>
          </a:p>
          <a:p>
            <a:pPr>
              <a:spcAft>
                <a:spcPts val="200"/>
              </a:spcAft>
            </a:pPr>
            <a:r>
              <a:rPr sz="1100" b="0"/>
              <a:t>DCA 每月 2 萬（4 年 96 萬）：固定池 +39.7%、機械化 +126%｜0050：Lumpsum +164.1%、DCA +89.7%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837C335A-7CFA-4B58-8E1F-ABE0EC6AE5C2}" type="slidenum">
              <a:t>9</a:t>
            </a:fld>
          </a:p>
        </p:txBody>
      </p:sp>
      <p:graphicFrame>
        <p:nvGraphicFramePr>
          <p:cNvPr id="123" name="Table 122"/>
          <p:cNvGraphicFramePr>
            <a:graphicFrameLocks noGrp="1"/>
          </p:cNvGraphicFramePr>
          <p:nvPr/>
        </p:nvGraphicFramePr>
        <p:xfrm>
          <a:off x="1066800" y="2900000"/>
          <a:ext cx="10100000" cy="295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0000"/>
                <a:gridCol w="4300000"/>
                <a:gridCol w="3700000"/>
              </a:tblGrid>
              <a:tr h="421428">
                <a:tc>
                  <a:txBody>
                    <a:bodyPr/>
                    <a:lstStyle/>
                    <a:p/>
                  </a:txBody>
                  <a:tcPr marT="20000" marB="20000"/>
                </a:tc>
                <a:tc>
                  <a:txBody>
                    <a:bodyPr/>
                    <a:lstStyle/>
                    <a:p>
                      <a:r>
                        <a:rPr sz="950" b="1"/>
                        <a:t>本專案・每月自選股</a:t>
                      </a:r>
                    </a:p>
                  </a:txBody>
                  <a:tcPr marT="20000" marB="20000"/>
                </a:tc>
                <a:tc>
                  <a:txBody>
                    <a:bodyPr/>
                    <a:lstStyle/>
                    <a:p>
                      <a:r>
                        <a:rPr sz="950" b="1"/>
                        <a:t>母專案・機械化逐年檢討</a:t>
                      </a:r>
                    </a:p>
                  </a:txBody>
                  <a:tcPr marT="20000" marB="20000"/>
                </a:tc>
              </a:tr>
              <a:tr h="421428">
                <a:tc>
                  <a:txBody>
                    <a:bodyPr/>
                    <a:lstStyle/>
                    <a:p>
                      <a:r>
                        <a:rPr sz="900" b="1"/>
                        <a:t>選股來源</a:t>
                      </a:r>
                    </a:p>
                  </a:txBody>
                  <a:tcPr marT="20000" marB="20000"/>
                </a:tc>
                <a:tc>
                  <a:txBody>
                    <a:bodyPr/>
                    <a:lstStyle/>
                    <a:p>
                      <a:r>
                        <a:rPr sz="900" b="0"/>
                        <a:t>每月由「當時市值前 50 大」誠實池評分，取最強 5 檔</a:t>
                      </a:r>
                    </a:p>
                  </a:txBody>
                  <a:tcPr marT="20000" marB="20000"/>
                </a:tc>
                <a:tc>
                  <a:txBody>
                    <a:bodyPr/>
                    <a:lstStyle/>
                    <a:p>
                      <a:r>
                        <a:rPr sz="900" b="0"/>
                        <a:t>人工先挑好的 8 檔自選股（每檔綁一個策略）</a:t>
                      </a:r>
                    </a:p>
                  </a:txBody>
                  <a:tcPr marT="20000" marB="20000"/>
                </a:tc>
              </a:tr>
              <a:tr h="421428">
                <a:tc>
                  <a:txBody>
                    <a:bodyPr/>
                    <a:lstStyle/>
                    <a:p>
                      <a:r>
                        <a:rPr sz="900" b="1"/>
                        <a:t>換股頻率</a:t>
                      </a:r>
                    </a:p>
                  </a:txBody>
                  <a:tcPr marT="20000" marB="20000"/>
                </a:tc>
                <a:tc>
                  <a:txBody>
                    <a:bodyPr/>
                    <a:lstStyle/>
                    <a:p>
                      <a:r>
                        <a:rPr sz="900" b="0"/>
                        <a:t>每月一次（D1 選股、D2 換股）</a:t>
                      </a:r>
                    </a:p>
                  </a:txBody>
                  <a:tcPr marT="20000" marB="20000"/>
                </a:tc>
                <a:tc>
                  <a:txBody>
                    <a:bodyPr/>
                    <a:lstStyle/>
                    <a:p>
                      <a:r>
                        <a:rPr sz="900" b="0"/>
                        <a:t>每年底一次</a:t>
                      </a:r>
                    </a:p>
                  </a:txBody>
                  <a:tcPr marT="20000" marB="20000"/>
                </a:tc>
              </a:tr>
              <a:tr h="421428">
                <a:tc>
                  <a:txBody>
                    <a:bodyPr/>
                    <a:lstStyle/>
                    <a:p>
                      <a:r>
                        <a:rPr sz="900" b="1"/>
                        <a:t>怎麼決定</a:t>
                      </a:r>
                    </a:p>
                  </a:txBody>
                  <a:tcPr marT="20000" marB="20000"/>
                </a:tc>
                <a:tc>
                  <a:txBody>
                    <a:bodyPr/>
                    <a:lstStyle/>
                    <a:p>
                      <a:r>
                        <a:rPr sz="900" b="0"/>
                        <a:t>評分（動能 2.0＋技術面 0.3＋穩定度 0.5）＋法人確認＋過熱剔除</a:t>
                      </a:r>
                    </a:p>
                  </a:txBody>
                  <a:tcPr marT="20000" marB="20000"/>
                </a:tc>
                <a:tc>
                  <a:txBody>
                    <a:bodyPr/>
                    <a:lstStyle/>
                    <a:p>
                      <a:r>
                        <a:rPr sz="900" b="0"/>
                        <a:t>Rule 0–3 硬規則汰弱留強，零主觀判斷</a:t>
                      </a:r>
                    </a:p>
                  </a:txBody>
                  <a:tcPr marT="20000" marB="20000"/>
                </a:tc>
              </a:tr>
              <a:tr h="421428">
                <a:tc>
                  <a:txBody>
                    <a:bodyPr/>
                    <a:lstStyle/>
                    <a:p>
                      <a:r>
                        <a:rPr sz="900" b="1"/>
                        <a:t>進場</a:t>
                      </a:r>
                    </a:p>
                  </a:txBody>
                  <a:tcPr marT="20000" marB="20000"/>
                </a:tc>
                <a:tc>
                  <a:txBody>
                    <a:bodyPr/>
                    <a:lstStyle/>
                    <a:p>
                      <a:r>
                        <a:rPr sz="900" b="0"/>
                        <a:t>選股日收盤價買滿（EXEC=immediate）</a:t>
                      </a:r>
                    </a:p>
                  </a:txBody>
                  <a:tcPr marT="20000" marB="20000"/>
                </a:tc>
                <a:tc>
                  <a:txBody>
                    <a:bodyPr/>
                    <a:lstStyle/>
                    <a:p>
                      <a:r>
                        <a:rPr sz="900" b="0"/>
                        <a:t>換股日進場</a:t>
                      </a:r>
                    </a:p>
                  </a:txBody>
                  <a:tcPr marT="20000" marB="20000"/>
                </a:tc>
              </a:tr>
              <a:tr h="421428">
                <a:tc>
                  <a:txBody>
                    <a:bodyPr/>
                    <a:lstStyle/>
                    <a:p>
                      <a:r>
                        <a:rPr sz="900" b="1"/>
                        <a:t>2022-2025（50 萬、含費用）</a:t>
                      </a:r>
                    </a:p>
                  </a:txBody>
                  <a:tcPr marT="20000" marB="20000"/>
                </a:tc>
                <a:tc>
                  <a:txBody>
                    <a:bodyPr/>
                    <a:lstStyle/>
                    <a:p>
                      <a:r>
                        <a:rPr sz="900" b="0"/>
                        <a:t>+59.1%（年化 12.3%、MDD −29.2%、利用率 79%）</a:t>
                      </a:r>
                    </a:p>
                  </a:txBody>
                  <a:tcPr marT="20000" marB="20000"/>
                </a:tc>
                <a:tc>
                  <a:txBody>
                    <a:bodyPr/>
                    <a:lstStyle/>
                    <a:p>
                      <a:r>
                        <a:rPr sz="900" b="0"/>
                        <a:t>+195.5%（年化 31.1%、利用率 61%）</a:t>
                      </a:r>
                    </a:p>
                  </a:txBody>
                  <a:tcPr marT="20000" marB="20000"/>
                </a:tc>
              </a:tr>
              <a:tr h="421432">
                <a:tc>
                  <a:txBody>
                    <a:bodyPr/>
                    <a:lstStyle/>
                    <a:p>
                      <a:r>
                        <a:rPr sz="900" b="1"/>
                        <a:t>能不能重跑</a:t>
                      </a:r>
                    </a:p>
                  </a:txBody>
                  <a:tcPr marT="20000" marB="20000"/>
                </a:tc>
                <a:tc>
                  <a:txBody>
                    <a:bodyPr/>
                    <a:lstStyle/>
                    <a:p>
                      <a:r>
                        <a:rPr sz="900" b="0"/>
                        <a:t>可以：POOL_N=50 一行指令</a:t>
                      </a:r>
                    </a:p>
                  </a:txBody>
                  <a:tcPr marT="20000" marB="20000"/>
                </a:tc>
                <a:tc>
                  <a:txBody>
                    <a:bodyPr/>
                    <a:lstStyle/>
                    <a:p>
                      <a:r>
                        <a:rPr sz="900" b="0"/>
                        <a:t>不行：腳本沒帶進本專案</a:t>
                      </a:r>
                    </a:p>
                  </a:txBody>
                  <a:tcPr marT="20000" marB="20000"/>
                </a:tc>
              </a:tr>
            </a:tbl>
          </a:graphicData>
        </a:graphic>
      </p:graphicFrame>
      <p:sp>
        <p:nvSpPr>
          <p:cNvPr id="124" name="TextBox 123"/>
          <p:cNvSpPr txBox="1"/>
          <p:nvPr/>
        </p:nvSpPr>
        <p:spPr>
          <a:xfrm>
            <a:off x="1066800" y="6180000"/>
            <a:ext cx="101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/>
              <a:t>※ 兩者不能直接比（資料源 FinMind/TWSE vs Yahoo、換股頻率、母專案腳本未帶入）；能同口徑比的只有 0050：同期 +99.9%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1324800" y="280440"/>
            <a:ext cx="491400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選股的差異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24" name="內容版面配置區 6"/>
          <p:cNvPicPr/>
          <p:nvPr/>
        </p:nvPicPr>
        <p:blipFill>
          <a:blip r:embed="rId1"/>
          <a:stretch/>
        </p:blipFill>
        <p:spPr>
          <a:xfrm>
            <a:off x="1446120" y="981360"/>
            <a:ext cx="9219240" cy="335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文字方塊 29"/>
          <p:cNvSpPr/>
          <p:nvPr/>
        </p:nvSpPr>
        <p:spPr>
          <a:xfrm>
            <a:off x="1446120" y="4610520"/>
            <a:ext cx="9219240" cy="36828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spAutoFit/>
          </a:bodyPr>
          <a:p>
            <a:pPr defTabSz="914400">
              <a:lnSpc>
                <a:spcPct val="100000"/>
              </a:lnSpc>
            </a:pPr>
            <a:r>
              <a:rPr lang="zh-TW" sz="1800" b="0" u="sng" strike="noStrike">
                <a:solidFill>
                  <a:schemeClr val="dk1"/>
                </a:solidFill>
                <a:effectLst/>
                <a:uFillTx/>
                <a:latin typeface="Century Gothic"/>
                <a:hlinkClick r:id="rId2"/>
              </a:rPr>
              <a:t>詳細選股過程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3543FB4D-382F-4354-AF19-07C287C162DA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1302480" y="304920"/>
            <a:ext cx="1035828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打開</a:t>
            </a:r>
            <a:r>
              <a:rPr lang="zh-TW" sz="3200" b="1" u="sng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hlinkClick r:id="rId1"/>
              </a:rPr>
              <a:t>雲端主機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/>
          </p:nvPr>
        </p:nvSpPr>
        <p:spPr>
          <a:xfrm>
            <a:off x="1311120" y="914400"/>
            <a:ext cx="10341000" cy="533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31560" indent="-285840" algn="l" defTabSz="914400">
              <a:lnSpc>
                <a:spcPct val="110000"/>
              </a:lnSpc>
              <a:spcBef>
                <a:spcPts val="1800"/>
              </a:spcBef>
              <a:buClr>
                <a:srgbClr val="595959"/>
              </a:buClr>
              <a:buSzPct val="80000"/>
              <a:buFont typeface="Arial"/>
              <a:buChar char="•"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打開控制台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(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必須先申請好雲端主機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)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128" name="圖片 6"/>
          <p:cNvPicPr/>
          <p:nvPr/>
        </p:nvPicPr>
        <p:blipFill>
          <a:blip r:embed="rId2"/>
          <a:stretch/>
        </p:blipFill>
        <p:spPr>
          <a:xfrm>
            <a:off x="6094440" y="177120"/>
            <a:ext cx="3808800" cy="1473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9" name="文字方塊 7"/>
          <p:cNvSpPr/>
          <p:nvPr/>
        </p:nvSpPr>
        <p:spPr>
          <a:xfrm>
            <a:off x="6094440" y="914400"/>
            <a:ext cx="5713920" cy="5409000"/>
          </a:xfrm>
          <a:prstGeom prst="rect">
            <a:avLst/>
          </a:prstGeom>
          <a:noFill/>
          <a:ln w="0">
            <a:solidFill>
              <a:srgbClr val="ACCBF9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 anchorCtr="1">
            <a:sp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130" name="圖片 9"/>
          <p:cNvPicPr/>
          <p:nvPr/>
        </p:nvPicPr>
        <p:blipFill>
          <a:blip r:embed="rId3"/>
          <a:stretch/>
        </p:blipFill>
        <p:spPr>
          <a:xfrm>
            <a:off x="1311120" y="1670760"/>
            <a:ext cx="10589040" cy="5105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B184F137-F0B0-4D70-83A1-90D35C781C39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title"/>
          </p:nvPr>
        </p:nvSpPr>
        <p:spPr>
          <a:xfrm>
            <a:off x="1293840" y="273240"/>
            <a:ext cx="1035828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點</a:t>
            </a:r>
            <a:r>
              <a:rPr lang="en-US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Compute Engine=&gt;</a:t>
            </a: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查看</a:t>
            </a:r>
            <a:r>
              <a:rPr lang="en-US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VM</a:t>
            </a: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執行個體</a:t>
            </a:r>
            <a:r>
              <a:rPr lang="en-US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(</a:t>
            </a:r>
            <a:r>
              <a:rPr lang="zh-TW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建議加入捷徑</a:t>
            </a:r>
            <a:r>
              <a:rPr lang="en-US" sz="2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2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32" name="內容版面配置區 6"/>
          <p:cNvPicPr/>
          <p:nvPr/>
        </p:nvPicPr>
        <p:blipFill>
          <a:blip r:embed="rId1"/>
          <a:stretch/>
        </p:blipFill>
        <p:spPr>
          <a:xfrm>
            <a:off x="1370160" y="830880"/>
            <a:ext cx="9847080" cy="2579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標題 1"/>
          <p:cNvSpPr/>
          <p:nvPr/>
        </p:nvSpPr>
        <p:spPr>
          <a:xfrm>
            <a:off x="1313640" y="3664080"/>
            <a:ext cx="10358280" cy="6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defTabSz="914400">
              <a:lnSpc>
                <a:spcPct val="80000"/>
              </a:lnSpc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點擊你的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VM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" name="圖片 9"/>
          <p:cNvPicPr/>
          <p:nvPr/>
        </p:nvPicPr>
        <p:blipFill>
          <a:blip r:embed="rId2"/>
          <a:stretch/>
        </p:blipFill>
        <p:spPr>
          <a:xfrm>
            <a:off x="780120" y="4114800"/>
            <a:ext cx="11144880" cy="1561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標題 1"/>
          <p:cNvSpPr/>
          <p:nvPr/>
        </p:nvSpPr>
        <p:spPr>
          <a:xfrm>
            <a:off x="1173240" y="5887440"/>
            <a:ext cx="10358280" cy="6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9999"/>
          </a:bodyPr>
          <a:p>
            <a:pPr defTabSz="914400">
              <a:lnSpc>
                <a:spcPct val="80000"/>
              </a:lnSpc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VM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啟動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停止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都在本頁控制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 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SSH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也於此進入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外部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</a:rPr>
              <a:t>IP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於此顯示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FF6CD992-46FB-49BF-929B-03F92F71DCEB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28592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進入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wsl-enable Google Cloud SDK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/>
          </p:nvPr>
        </p:nvSpPr>
        <p:spPr>
          <a:xfrm>
            <a:off x="1311120" y="1295280"/>
            <a:ext cx="10285920" cy="5333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85000" lnSpcReduction="19999"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先於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cmd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:wsl -d ubuntu</a:t>
            </a:r>
            <a:br>
              <a:rPr sz="1800"/>
            </a:b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再於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中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enable venv: activate_venv</a:t>
            </a:r>
            <a:br>
              <a:rPr sz="1800"/>
            </a:b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再進行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GCP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認證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:VM_auth</a:t>
            </a:r>
            <a:br>
              <a:rPr sz="1800"/>
            </a:b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br>
              <a:rPr sz="1800"/>
            </a:b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這時候會跳到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chrome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選擇你的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google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帳戶</a:t>
            </a:r>
            <a:br>
              <a:rPr sz="1800"/>
            </a:b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然後出現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SDK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要存取你的帳戶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,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點擊允許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</a:t>
            </a:r>
            <a:br>
              <a:rPr sz="1800"/>
            </a:br>
            <a:br>
              <a:rPr sz="1800"/>
            </a:br>
            <a:br>
              <a:rPr sz="1800"/>
            </a:br>
            <a:br>
              <a:rPr sz="1800"/>
            </a:br>
            <a:br>
              <a:rPr sz="1800"/>
            </a:br>
            <a:br>
              <a:rPr sz="1800"/>
            </a:br>
            <a:br>
              <a:rPr sz="1800"/>
            </a:br>
            <a:br>
              <a:rPr sz="1800"/>
            </a:b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此時可以回到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wsl: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會有以下訊息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=&gt;</a:t>
            </a:r>
            <a:br>
              <a:rPr sz="1800"/>
            </a:br>
            <a:br>
              <a:rPr sz="1800"/>
            </a:br>
            <a:br>
              <a:rPr sz="1800"/>
            </a:b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“You are now logged in as [frank@dinchen.com.tw].</a:t>
            </a:r>
            <a:br>
              <a:rPr sz="1800"/>
            </a:b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Your current project is [tw-selfselect].  You can change this setting by running:”</a:t>
            </a:r>
            <a:br>
              <a:rPr sz="1800"/>
            </a:b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pic>
        <p:nvPicPr>
          <p:cNvPr id="138" name="圖片 6"/>
          <p:cNvPicPr/>
          <p:nvPr/>
        </p:nvPicPr>
        <p:blipFill>
          <a:blip r:embed="rId1"/>
          <a:stretch/>
        </p:blipFill>
        <p:spPr>
          <a:xfrm>
            <a:off x="1446120" y="2057400"/>
            <a:ext cx="4433040" cy="1141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9" name="圖片 8"/>
          <p:cNvPicPr/>
          <p:nvPr/>
        </p:nvPicPr>
        <p:blipFill>
          <a:blip r:embed="rId2"/>
          <a:stretch/>
        </p:blipFill>
        <p:spPr>
          <a:xfrm>
            <a:off x="6437160" y="1523880"/>
            <a:ext cx="4795920" cy="35438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0" name="圖片 10"/>
          <p:cNvPicPr/>
          <p:nvPr/>
        </p:nvPicPr>
        <p:blipFill>
          <a:blip r:embed="rId3"/>
          <a:stretch/>
        </p:blipFill>
        <p:spPr>
          <a:xfrm>
            <a:off x="1480680" y="3733920"/>
            <a:ext cx="4461840" cy="1261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5B259FC9-70AC-43F6-9E76-889670FBCDD1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35828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佈署程式到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VM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1311120" y="1219320"/>
            <a:ext cx="10116000" cy="5028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在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WSL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~/tw-selfselect/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目錄執行：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./deploy_source.sh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preflight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測試 → 建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image → SSH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直傳 →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載入 → 重啟容器 → 驗證指紋）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不再有加密版／源碼版兩種腳本——本專案一律源碼部署。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B389929E-7B94-4B70-931D-DB46991DA611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35828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佈署程式到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VM(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整個編譯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壓縮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/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上傳歷時需數分鐘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)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4" name="內容版面配置區 6"/>
          <p:cNvPicPr/>
          <p:nvPr/>
        </p:nvPicPr>
        <p:blipFill>
          <a:blip r:embed="rId1"/>
          <a:stretch/>
        </p:blipFill>
        <p:spPr>
          <a:xfrm>
            <a:off x="1293840" y="1295280"/>
            <a:ext cx="9834480" cy="4988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ED79B31A-A4D7-40EA-9FAE-140A90B43CA6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10133640" cy="608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wsl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輸入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:VM_log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pic>
        <p:nvPicPr>
          <p:cNvPr id="146" name="內容版面配置區 6"/>
          <p:cNvPicPr/>
          <p:nvPr/>
        </p:nvPicPr>
        <p:blipFill>
          <a:blip r:embed="rId1"/>
          <a:stretch/>
        </p:blipFill>
        <p:spPr>
          <a:xfrm>
            <a:off x="1446120" y="1219320"/>
            <a:ext cx="7390440" cy="3753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" name="標題 1"/>
          <p:cNvSpPr/>
          <p:nvPr/>
        </p:nvSpPr>
        <p:spPr>
          <a:xfrm>
            <a:off x="1330200" y="5278680"/>
            <a:ext cx="10133640" cy="60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defTabSz="914400">
              <a:lnSpc>
                <a:spcPct val="80000"/>
              </a:lnSpc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如果有問題</a:t>
            </a: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,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會顯示出錯誤訊息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E94897A9-E1DA-46EB-8547-7DB5DA84AA31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1293840" y="228600"/>
            <a:ext cx="1035828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US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TG</a:t>
            </a: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上的回報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/>
          </p:nvPr>
        </p:nvSpPr>
        <p:spPr>
          <a:xfrm>
            <a:off x="760320" y="781200"/>
            <a:ext cx="5121720" cy="5180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原始碼公開：把第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10~11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行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SYS_TELEGRAM_BOT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／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SYS_TELEGRAM_CHAT_ID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的值改成你自己的即可</a:t>
            </a:r>
            <a:br>
              <a:rPr sz="1800"/>
            </a:br>
            <a:br>
              <a:rPr sz="1800"/>
            </a:br>
            <a:br>
              <a:rPr sz="1800"/>
            </a:br>
            <a:br>
              <a:rPr sz="1800"/>
            </a:br>
            <a:br>
              <a:rPr sz="1800"/>
            </a:b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graphicFrame>
        <p:nvGraphicFramePr>
          <p:cNvPr id="150" name="表格版面配置區 4"/>
          <p:cNvGraphicFramePr/>
          <p:nvPr/>
        </p:nvGraphicFramePr>
        <p:xfrm>
          <a:off x="6094440" y="781200"/>
          <a:ext cx="5558040" cy="5686560"/>
        </p:xfrm>
        <a:graphic>
          <a:graphicData uri="http://schemas.openxmlformats.org/drawingml/2006/table">
            <a:tbl>
              <a:tblPr/>
              <a:tblGrid>
                <a:gridCol w="5558400"/>
              </a:tblGrid>
              <a:tr h="5686560">
                <a:tc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 w="12240">
                      <a:noFill/>
                      <a:prstDash val="solid"/>
                    </a:lnL>
                    <a:lnR w="12240">
                      <a:noFill/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solidFill>
                      <a:srgbClr val="729FCF"/>
                    </a:solidFill>
                  </a:tcPr>
                </a:tc>
              </a:tr>
            </a:tbl>
          </a:graphicData>
        </a:graphic>
      </p:graphicFrame>
      <p:pic>
        <p:nvPicPr>
          <p:cNvPr id="151" name="圖片 8"/>
          <p:cNvPicPr/>
          <p:nvPr/>
        </p:nvPicPr>
        <p:blipFill>
          <a:blip r:embed="rId1"/>
          <a:stretch/>
        </p:blipFill>
        <p:spPr>
          <a:xfrm>
            <a:off x="768240" y="2895480"/>
            <a:ext cx="4771440" cy="3876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2" name="圖片 12"/>
          <p:cNvPicPr/>
          <p:nvPr/>
        </p:nvPicPr>
        <p:blipFill>
          <a:blip r:embed="rId2"/>
          <a:stretch/>
        </p:blipFill>
        <p:spPr>
          <a:xfrm>
            <a:off x="6094440" y="2600280"/>
            <a:ext cx="4314240" cy="4171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30311FC0-CD1E-44A5-B227-269C72FCF8AD}" type="slidenum">
              <a:t>17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 0"/>
          <p:cNvSpPr/>
          <p:nvPr/>
        </p:nvSpPr>
        <p:spPr>
          <a:xfrm>
            <a:off x="747360" y="22356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風險控管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"/>
          <p:cNvSpPr/>
          <p:nvPr/>
        </p:nvSpPr>
        <p:spPr>
          <a:xfrm>
            <a:off x="717120" y="73872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風險參數設定</a:t>
            </a:r>
            <a:r>
              <a:rPr lang="en-US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(</a:t>
            </a: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基本上使用預設即可</a:t>
            </a:r>
            <a:r>
              <a:rPr lang="en-US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)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"/>
          <p:cNvSpPr/>
          <p:nvPr/>
        </p:nvSpPr>
        <p:spPr>
          <a:xfrm>
            <a:off x="723600" y="1076400"/>
            <a:ext cx="11227320" cy="41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30000"/>
              </a:lnSpc>
            </a:pP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在 </a:t>
            </a:r>
            <a:r>
              <a:rPr lang="en-US" sz="185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Consolas"/>
                <a:ea typeface="Consolas"/>
              </a:rPr>
              <a:t>.env</a:t>
            </a:r>
            <a:r>
              <a:rPr lang="en-US" sz="2170" b="0" u="none" strike="noStrike">
                <a:solidFill>
                  <a:srgbClr val="1F2328"/>
                </a:solidFill>
                <a:effectLst/>
                <a:highlight>
                  <a:srgbClr val="FFFF00"/>
                </a:highlight>
                <a:uFillTx/>
                <a:latin typeface="Yu Gothic UI"/>
                <a:ea typeface="Yu Gothic UI"/>
              </a:rPr>
              <a:t>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檔案中設定：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56" name="Table 0"/>
          <p:cNvGraphicFramePr/>
          <p:nvPr/>
        </p:nvGraphicFramePr>
        <p:xfrm>
          <a:off x="687240" y="1633680"/>
          <a:ext cx="10957680" cy="2695680"/>
        </p:xfrm>
        <a:graphic>
          <a:graphicData uri="http://schemas.openxmlformats.org/drawingml/2006/table">
            <a:tbl>
              <a:tblPr/>
              <a:tblGrid>
                <a:gridCol w="4129200"/>
                <a:gridCol w="1279800"/>
                <a:gridCol w="554904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參數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預設值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說明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F0F1F3"/>
                          </a:highlight>
                          <a:uFillTx/>
                          <a:latin typeface="Consolas"/>
                          <a:ea typeface="Consolas"/>
                        </a:rPr>
                        <a:t>INITIAL_CAPITAL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F0F1F3"/>
                          </a:highlight>
                          <a:uFillTx/>
                          <a:latin typeface="Consolas"/>
                          <a:ea typeface="Consolas"/>
                        </a:rPr>
                        <a:t>500000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初始資金（台幣）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E8EBEE"/>
                          </a:highlight>
                          <a:uFillTx/>
                          <a:latin typeface="Consolas"/>
                          <a:ea typeface="Consolas"/>
                        </a:rPr>
                        <a:t>MAX_RISK_PER_TRADE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E8EBEE"/>
                          </a:highlight>
                          <a:uFillTx/>
                          <a:latin typeface="Consolas"/>
                          <a:ea typeface="Consolas"/>
                        </a:rPr>
                        <a:t>0.02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單筆交易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Yu Gothic UI"/>
                          <a:ea typeface="Yu Gothic UI"/>
                        </a:rPr>
                        <a:t>最大風險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2%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F0F1F3"/>
                          </a:highlight>
                          <a:uFillTx/>
                          <a:latin typeface="Consolas"/>
                          <a:ea typeface="Consolas"/>
                        </a:rPr>
                        <a:t>MAX_DAILY_LOSS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F0F1F3"/>
                          </a:highlight>
                          <a:uFillTx/>
                          <a:latin typeface="Consolas"/>
                          <a:ea typeface="Consolas"/>
                        </a:rPr>
                        <a:t>0.03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每日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Yu Gothic UI"/>
                          <a:ea typeface="Yu Gothic UI"/>
                        </a:rPr>
                        <a:t>最大可接受虧損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3%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E8EBEE"/>
                          </a:highlight>
                          <a:uFillTx/>
                          <a:latin typeface="Consolas"/>
                          <a:ea typeface="Consolas"/>
                        </a:rPr>
                        <a:t>MAX_DAILY_TRADES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E8EBEE"/>
                          </a:highlight>
                          <a:uFillTx/>
                          <a:latin typeface="Consolas"/>
                          <a:ea typeface="Consolas"/>
                        </a:rPr>
                        <a:t>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Yu Gothic UI"/>
                          <a:ea typeface="Yu Gothic UI"/>
                        </a:rPr>
                        <a:t>每日總交易次數上限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F0F1F3"/>
                          </a:highlight>
                          <a:uFillTx/>
                          <a:latin typeface="Consolas"/>
                          <a:ea typeface="Consolas"/>
                        </a:rPr>
                        <a:t>MAX_DAILY_TRADES_PER_SYMBOL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F0F1F3"/>
                          </a:highlight>
                          <a:uFillTx/>
                          <a:latin typeface="Consolas"/>
                          <a:ea typeface="Consola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每檔股票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Yu Gothic UI"/>
                          <a:ea typeface="Yu Gothic UI"/>
                        </a:rPr>
                        <a:t>每日交易次數上限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0=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無限制）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7" name="Text 3"/>
          <p:cNvSpPr/>
          <p:nvPr/>
        </p:nvSpPr>
        <p:spPr>
          <a:xfrm>
            <a:off x="747360" y="4330800"/>
            <a:ext cx="11287800" cy="3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040">
              <a:lnSpc>
                <a:spcPct val="109000"/>
              </a:lnSpc>
            </a:pPr>
            <a:r>
              <a:rPr lang="zh-TW" sz="239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風險控管功能</a:t>
            </a:r>
            <a:endParaRPr lang="en-US" sz="23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4"/>
          <p:cNvSpPr/>
          <p:nvPr/>
        </p:nvSpPr>
        <p:spPr>
          <a:xfrm>
            <a:off x="717120" y="4965480"/>
            <a:ext cx="10692720" cy="26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單筆風險限制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：動態計算部位大小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每日虧損上限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：達上限後停止交易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交易次數限制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：避免過度交易（全域 </a:t>
            </a:r>
            <a:r>
              <a:rPr lang="en-US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+ 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每檔每日上限）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2720" indent="-342720" defTabSz="914040">
              <a:lnSpc>
                <a:spcPct val="125000"/>
              </a:lnSpc>
              <a:buClr>
                <a:srgbClr val="1F2328"/>
              </a:buClr>
              <a:buFont typeface="Symbol" charset="2"/>
              <a:buChar char=""/>
            </a:pPr>
            <a:r>
              <a:rPr lang="zh-TW" sz="217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漲跌停過濾</a:t>
            </a:r>
            <a:r>
              <a:rPr lang="zh-TW" sz="2170" b="0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：跳過流動性枯竭標的</a:t>
            </a:r>
            <a:endParaRPr lang="en-US" sz="2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155"/>
          <p:cNvSpPr/>
          <p:nvPr/>
        </p:nvSpPr>
        <p:spPr>
          <a:xfrm>
            <a:off x="0" y="609480"/>
            <a:ext cx="59940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entury Gothic"/>
              </a:rPr>
              <a:t>17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Text 0"/>
          <p:cNvSpPr/>
          <p:nvPr/>
        </p:nvSpPr>
        <p:spPr>
          <a:xfrm>
            <a:off x="684360" y="457200"/>
            <a:ext cx="11287800" cy="55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107640" anchor="t">
            <a:noAutofit/>
          </a:bodyPr>
          <a:p>
            <a:pPr defTabSz="914040">
              <a:lnSpc>
                <a:spcPct val="109000"/>
              </a:lnSpc>
            </a:pP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Segoe UI"/>
                <a:ea typeface="Segoe UI"/>
              </a:rPr>
              <a:t>📈</a:t>
            </a:r>
            <a:r>
              <a:rPr lang="en-US" sz="2830" b="1" u="none" strike="noStrike">
                <a:solidFill>
                  <a:srgbClr val="1F2328"/>
                </a:solidFill>
                <a:effectLst/>
                <a:uFillTx/>
                <a:latin typeface="Yu Gothic UI"/>
                <a:ea typeface="Yu Gothic UI"/>
              </a:rPr>
              <a:t> 策略選擇建議</a:t>
            </a:r>
            <a:endParaRPr lang="en-US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61" name="Table 0"/>
          <p:cNvGraphicFramePr/>
          <p:nvPr/>
        </p:nvGraphicFramePr>
        <p:xfrm>
          <a:off x="698040" y="1046880"/>
          <a:ext cx="10857240" cy="2916720"/>
        </p:xfrm>
        <a:graphic>
          <a:graphicData uri="http://schemas.openxmlformats.org/drawingml/2006/table">
            <a:tbl>
              <a:tblPr/>
              <a:tblGrid>
                <a:gridCol w="2134080"/>
                <a:gridCol w="3572640"/>
                <a:gridCol w="5150880"/>
              </a:tblGrid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市場環境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推薦策略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algn="ctr"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參數調整建議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震盪市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VWAP 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偏離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F0F1F3"/>
                          </a:highlight>
                          <a:uFillTx/>
                          <a:latin typeface="Consolas"/>
                          <a:ea typeface="Consolas"/>
                        </a:rPr>
                        <a:t>sigma_mult=1.2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（更敏感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,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更多交易）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震盪市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布林反轉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E8EBEE"/>
                          </a:highlight>
                          <a:uFillTx/>
                          <a:latin typeface="Consolas"/>
                          <a:ea typeface="Consolas"/>
                        </a:rPr>
                        <a:t>std_dev=1.8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（更窄通道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,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更多訊號）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趨勢市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均線交叉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F0F1F3"/>
                          </a:highlight>
                          <a:uFillTx/>
                          <a:latin typeface="Consolas"/>
                          <a:ea typeface="Consolas"/>
                        </a:rPr>
                        <a:t>fast=5,slow=20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更快反應</a:t>
                      </a:r>
                      <a:r>
                        <a:rPr lang="en-US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,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適合短線趨勢）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45320"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Yu Gothic UI"/>
                          <a:ea typeface="Yu Gothic UI"/>
                        </a:rPr>
                        <a:t>趨勢啟動</a:t>
                      </a:r>
                      <a:r>
                        <a:rPr lang="en-US" sz="2200" b="1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Yu Gothic UI"/>
                          <a:ea typeface="Yu Gothic UI"/>
                        </a:rPr>
                        <a:t>(</a:t>
                      </a:r>
                      <a:r>
                        <a:rPr lang="zh-TW" sz="2200" b="1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Yu Gothic UI"/>
                          <a:ea typeface="Yu Gothic UI"/>
                        </a:rPr>
                        <a:t>短期</a:t>
                      </a:r>
                      <a:r>
                        <a:rPr lang="en-US" sz="2200" b="1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FFFF00"/>
                          </a:highlight>
                          <a:uFillTx/>
                          <a:latin typeface="Yu Gothic UI"/>
                          <a:ea typeface="Yu Gothic UI"/>
                        </a:rPr>
                        <a:t>)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突破交易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 lIns="123480" tIns="56880" rIns="123480" bIns="56880" anchor="t">
                      <a:noAutofit/>
                    </a:bodyPr>
                    <a:p>
                      <a:pPr defTabSz="91404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0" u="none" strike="noStrike">
                          <a:solidFill>
                            <a:srgbClr val="1F2328"/>
                          </a:solidFill>
                          <a:effectLst/>
                          <a:highlight>
                            <a:srgbClr val="E8EBEE"/>
                          </a:highlight>
                          <a:uFillTx/>
                          <a:latin typeface="Consolas"/>
                          <a:ea typeface="Consolas"/>
                        </a:rPr>
                        <a:t>lookback=15</a:t>
                      </a:r>
                      <a:r>
                        <a:rPr lang="zh-TW" sz="2200" b="0" u="none" strike="noStrike">
                          <a:solidFill>
                            <a:srgbClr val="1F2328"/>
                          </a:solidFill>
                          <a:effectLst/>
                          <a:uFillTx/>
                          <a:latin typeface="Yu Gothic UI"/>
                          <a:ea typeface="Yu Gothic UI"/>
                        </a:rPr>
                        <a:t>（更短回溯）</a:t>
                      </a:r>
                      <a:endParaRPr lang="en-US" sz="2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23480" marR="123480" marT="56880" marB="56880">
                    <a:lnL w="12240">
                      <a:solidFill>
                        <a:srgbClr val="D1D9E0"/>
                      </a:solidFill>
                      <a:prstDash val="solid"/>
                    </a:lnL>
                    <a:lnR w="12240">
                      <a:solidFill>
                        <a:srgbClr val="D1D9E0"/>
                      </a:solidFill>
                      <a:prstDash val="solid"/>
                    </a:lnR>
                    <a:lnT w="12240">
                      <a:solidFill>
                        <a:srgbClr val="D1D9E0"/>
                      </a:solidFill>
                      <a:prstDash val="solid"/>
                    </a:lnT>
                    <a:lnB w="12240">
                      <a:solidFill>
                        <a:srgbClr val="D1D9E0"/>
                      </a:solidFill>
                      <a:prstDash val="solid"/>
                    </a:lnB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162" name="TextBox 157"/>
          <p:cNvSpPr/>
          <p:nvPr/>
        </p:nvSpPr>
        <p:spPr>
          <a:xfrm>
            <a:off x="0" y="609480"/>
            <a:ext cx="599400" cy="3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Century Gothic"/>
              </a:rPr>
              <a:t>18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98100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關於持股數目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/>
          </p:nvPr>
        </p:nvSpPr>
        <p:spPr>
          <a:xfrm>
            <a:off x="1311120" y="1295280"/>
            <a:ext cx="10268280" cy="495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💰 起始資金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 NT$900,000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（從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.env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自動讀取）</a:t>
            </a:r>
            <a:br>
              <a:rPr sz="1800"/>
            </a:b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📋 建議持股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: top 4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檔（可用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--top-n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手動指定）</a:t>
            </a:r>
            <a:br>
              <a:rPr sz="1800"/>
            </a:b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#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手動指定資金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200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萬、選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6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</a:t>
            </a:r>
            <a:br>
              <a:rPr sz="1800"/>
            </a:b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python scripts/stock_selector_grid.py --recommend --capital 2000000 --top-n 6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資金級距與建議檔數：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&lt; NT$200K   → 2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NT$200K~500K → 3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NT$500K~1,000K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→ 4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highlight>
                  <a:srgbClr val="FFFF00"/>
                </a:highlight>
                <a:uFillTx/>
                <a:latin typeface="Century Gothic"/>
                <a:ea typeface="Century Gothic"/>
              </a:rPr>
              <a:t>檔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（你現在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900K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，適用這個）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NT$1,000K~2,000K → 5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&gt; NT$2,000K → 6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檔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3E5349EA-9E13-49A3-97E8-47EA9CE96C30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98100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從第一次執行到每月自動（完整流程）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/>
          </p:nvPr>
        </p:nvSpPr>
        <p:spPr>
          <a:xfrm>
            <a:off x="1311120" y="1295280"/>
            <a:ext cx="10268280" cy="495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① 部署（一次）：本機執行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./deploy_source.sh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preflight → build → SSH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直傳 →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載入 → 驗指紋）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② 本機準備（一次）：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VM_auth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gcloud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登入）→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VM_sync_cache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（把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cache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拉回本機）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③ 選股（本機，每次）：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 VM_pick     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.env diff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dry-run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；首次空倉用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VM_pick_first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      VM_sync_env 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寫入本機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.env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＋ 推回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（容器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分鐘內熱重載）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④ 第一筆買進：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immediate ⇒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下一個交易日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13:25–13:30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買滿；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signal ⇒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等策略買訊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⑤ 每月自動（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SELFSELECT_AUTO=1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D1 13:36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選股 →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D2 13:25–13:30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買新名單（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上自動）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⑥ 驗證：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VM_hold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／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performance.csv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／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Telegram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；對帳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reconcile_broker_books.py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CCCE5C2F-C203-41B4-A5F1-6C207D3FEA4B}" type="slidenum">
              <a:t>21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98100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一檔股票的生命週期：買進 → 持有 → 賣出 → 汰換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/>
          </p:nvPr>
        </p:nvSpPr>
        <p:spPr>
          <a:xfrm>
            <a:off x="1311120" y="1295280"/>
            <a:ext cx="10268280" cy="495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• 買進：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immediate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（名單出現後第一個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13:25–13:30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窗口，每檔一次）或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signal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（等策略買訊）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• 持有：依策略訊號；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auto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在成交當下鎖定策略（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logs/auto_resolved.json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），持有期間不換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• 賣出：① 策略賣訊（含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keep_wait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停利） ② 孤兒清倉（不在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PC_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名單） ③ 人工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• 賣到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股：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auto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釋放鎖定；同檔仍在名單 ⇒ 月中可靠訊號再進場（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immediate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不會再強制）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• 名額不即時補：資金留現金等下一個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D1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；未再選中的條目在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D1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汰換刪除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• keep_wait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：人工管理，選股程式不增不刪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EDD58A08-4044-4215-971D-F3179BDD0AE0}" type="slidenum">
              <a:t>22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1293840" y="609480"/>
            <a:ext cx="9981000" cy="53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 defTabSz="914400">
              <a:lnSpc>
                <a:spcPct val="80000"/>
              </a:lnSpc>
              <a:buNone/>
              <a:tabLst>
                <a:tab pos="0" algn="l"/>
              </a:tabLst>
            </a:pPr>
            <a:r>
              <a:rPr lang="zh-TW" sz="32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賣出後會立刻補選嗎？</a:t>
            </a:r>
            <a:endParaRPr lang="en-US" sz="32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1311120" y="1295280"/>
            <a:ext cx="10268280" cy="4951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不會——月頻換股，名單在下次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D1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才重算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• 任何原因賣到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0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股（策略賣訊／停利／孤兒清倉）→ 不會立即補選；資金留現金等下一個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D1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• 該檔還在 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.env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名單內：月中仍監控，策略再出買訊可以重新進場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• immediate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的強制進場「每檔一生一次」（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logs/selfselect_filled.json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）；之後一律靠訊號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• 每日補足只補「已持有但不足」的部位，空倉不建倉 ⇒ 不會拿來補名額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• --exclude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、孤兒清倉不改名單；</a:t>
            </a:r>
            <a:r>
              <a:rPr lang="en-US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keep_wait </a:t>
            </a:r>
            <a:r>
              <a:rPr lang="zh-TW" sz="1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  <a:ea typeface="Century Gothic"/>
              </a:rPr>
              <a:t>人工管理不受限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entury Gothic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3"/>
          </p:nvPr>
        </p:nvSpPr>
        <p:spPr/>
        <p:txBody>
          <a:bodyPr/>
          <a:p>
            <a:fld id="{5237A5EF-F42B-4242-8B95-C1796AEF3A83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531720" y="495360"/>
            <a:ext cx="4887720" cy="5866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rmAutofit/>
          </a:bodyPr>
          <a:p>
            <a:pPr indent="0" algn="r" defTabSz="914400">
              <a:lnSpc>
                <a:spcPct val="110000"/>
              </a:lnSpc>
              <a:buNone/>
              <a:tabLst>
                <a:tab pos="0" algn="l"/>
              </a:tabLst>
            </a:pP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本課程結束</a:t>
            </a: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!</a:t>
            </a:r>
            <a:br>
              <a:rPr sz="4800"/>
            </a:br>
            <a:r>
              <a:rPr lang="en-US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Thank you</a:t>
            </a:r>
            <a:r>
              <a:rPr lang="zh-TW" sz="4800" b="1" u="none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！</a:t>
            </a:r>
            <a:endParaRPr lang="en-US" sz="4800" b="1" u="none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6768360" y="2247840"/>
            <a:ext cx="4442400" cy="2399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2000" b="0" u="none" spc="31" strike="noStrike">
                <a:solidFill>
                  <a:schemeClr val="dk1">
                    <a:lumMod val="85000"/>
                    <a:lumOff val="15000"/>
                  </a:schemeClr>
                </a:solidFill>
                <a:effectLst/>
                <a:uFillTx/>
                <a:latin typeface="Century Gothic"/>
              </a:rPr>
              <a:t>frank@dinchen.com.tw</a:t>
            </a: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  <a:p>
            <a:pPr marL="45720" indent="0" algn="l" defTabSz="914400">
              <a:lnSpc>
                <a:spcPct val="110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en-US" sz="2000" b="0" u="none" spc="31" strike="noStrike">
              <a:solidFill>
                <a:schemeClr val="dk1">
                  <a:lumMod val="85000"/>
                  <a:lumOff val="15000"/>
                </a:schemeClr>
              </a:solidFill>
              <a:effectLst/>
              <a:uFillTx/>
              <a:latin typeface="Century Gothic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 174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 pitchFamily="0" charset="1"/>
        <a:ea typeface=""/>
        <a:cs typeface=""/>
      </a:majorFont>
      <a:minorFont>
        <a:latin typeface="Century Gothic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2479</TotalTime>
  <Application>LibreOffice/26.2.6.3$Windows_X86_64 LibreOffice_project/8221e31b3ac356a1623c672912a3d2b492f7e3d1</Application>
  <AppVersion>15.0000</AppVersion>
  <Words>2199</Words>
  <Paragraphs>178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2026-07-14T08:04:07Z</dcterms:created>
  <dc:creator>宜軒 謝</dc:creator>
  <dc:description/>
  <dc:language>en-US</dc:language>
  <cp:lastModifiedBy/>
  <dcterms:modified xsi:type="dcterms:W3CDTF">2026-10-28T08:22:12Z</dcterms:modified>
  <cp:revision>11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lications">
    <vt:lpwstr/>
  </property>
  <property fmtid="{D5CDD505-2E9C-101B-9397-08002B2CF9AE}" pid="3" name="CampaignTags">
    <vt:lpwstr/>
  </property>
  <property fmtid="{D5CDD505-2E9C-101B-9397-08002B2CF9AE}" pid="4" name="CategoryTags">
    <vt:lpwstr/>
  </property>
  <property fmtid="{D5CDD505-2E9C-101B-9397-08002B2CF9AE}" pid="5" name="ContentTypeId">
    <vt:lpwstr>0x01010079F111ED35F8CC479449609E8A0923A6</vt:lpwstr>
  </property>
  <property fmtid="{D5CDD505-2E9C-101B-9397-08002B2CF9AE}" pid="6" name="FeatureTags">
    <vt:lpwstr/>
  </property>
  <property fmtid="{D5CDD505-2E9C-101B-9397-08002B2CF9AE}" pid="7" name="HiddenCategoryTags">
    <vt:lpwstr/>
  </property>
  <property fmtid="{D5CDD505-2E9C-101B-9397-08002B2CF9AE}" pid="8" name="InternalTags">
    <vt:lpwstr/>
  </property>
  <property fmtid="{D5CDD505-2E9C-101B-9397-08002B2CF9AE}" pid="9" name="LocalizationTags">
    <vt:lpwstr/>
  </property>
  <property fmtid="{D5CDD505-2E9C-101B-9397-08002B2CF9AE}" pid="10" name="MediaServiceImageTags">
    <vt:lpwstr/>
  </property>
  <property fmtid="{D5CDD505-2E9C-101B-9397-08002B2CF9AE}" pid="11" name="Notes">
    <vt:i4>3</vt:i4>
  </property>
  <property fmtid="{D5CDD505-2E9C-101B-9397-08002B2CF9AE}" pid="12" name="Order">
    <vt:r8>74069400</vt:r8>
  </property>
  <property fmtid="{D5CDD505-2E9C-101B-9397-08002B2CF9AE}" pid="13" name="PresentationFormat">
    <vt:lpwstr>自訂</vt:lpwstr>
  </property>
  <property fmtid="{D5CDD505-2E9C-101B-9397-08002B2CF9AE}" pid="14" name="ScenarioTags">
    <vt:lpwstr/>
  </property>
  <property fmtid="{D5CDD505-2E9C-101B-9397-08002B2CF9AE}" pid="15" name="Slides">
    <vt:i4>21</vt:i4>
  </property>
</Properties>
</file>