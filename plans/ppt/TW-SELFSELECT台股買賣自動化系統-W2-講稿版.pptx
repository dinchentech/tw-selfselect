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.svg" ContentType="image/svg"/>
  <Override PartName="/ppt/media/image5.svg" ContentType="image/svg"/>
  <Override PartName="/ppt/media/image7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4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microsoft.com/office/2020/02/relationships/classificationlabels" Target="docMetadata/LabelInfo.xml"/><Relationship Id="rId5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4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請按這裡移動投影片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請按這裡編輯備註格式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&lt;頁首&gt;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 type="dt" idx="2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5"/>
          <p:cNvSpPr>
            <a:spLocks noGrp="1"/>
          </p:cNvSpPr>
          <p:nvPr>
            <p:ph type="ftr" idx="2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6"/>
          <p:cNvSpPr>
            <a:spLocks noGrp="1"/>
          </p:cNvSpPr>
          <p:nvPr>
            <p:ph type="sldNum" idx="2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7D4517D-39EA-4B08-A575-A0408BBD0AB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建議時間：30 秒</a:t>
            </a:r>
          </a:p>
          <a:p/>
          <a:p>
            <a:r>
              <a:t>歡迎回來，這是 TW-SELFSELECT 台股買賣自動化系統的第二堂課。</a:t>
            </a:r>
          </a:p>
          <a:p>
            <a:r>
              <a:t>上週我們把 Gcloud 雲端主機和帳號都申請好了，這週要做兩件事：第一，把我們的 WSL 開發環境恢復起來；第二，認識一下 Python——不用怕，這堂課不會叫你寫程式，而是要讓你看得懂程式。</a:t>
            </a:r>
          </a:p>
          <a:p/>
          <a:p>
            <a:r>
              <a:t>【講師提示】可以先問學員上週作業是否完成（Gcloud、五個帳號），沒完成的提醒課後補。</a:t>
            </a:r>
          </a:p>
        </p:txBody>
      </p:sp>
      <p:sp>
        <p:nvSpPr>
          <p:cNvPr id="194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A447945-A16F-4990-8039-E6BCA8AECE0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建議時間：3 分鐘</a:t>
            </a:r>
          </a:p>
          <a:p/>
          <a:p>
            <a:r>
              <a:t>第一件事，恢復 WSL 環境。</a:t>
            </a:r>
          </a:p>
          <a:p>
            <a:r>
              <a:t>請依照 WSL 恢復說明文件中的恢復步驟，把 WSL 系統建立起來。其他安裝程式，學員需要自己準備——例如把必要的 ini.example 複製成 config.simulation.ini、準備 P12 檔等等。</a:t>
            </a:r>
          </a:p>
          <a:p>
            <a:r>
              <a:t>接下來很重要：請清除原來的 tw-selfselect 資料夾底下的 .git。如果你要修改程式，我強烈建議你自己申請一個 Git 帳戶，把程式放到你自己的版本控制底下——這樣改壞了還可以還原。</a:t>
            </a:r>
          </a:p>
          <a:p>
            <a:r>
              <a:t>然後打開 cmd.exe，輸入 wsl -d ubuntu 進入 Linux 環境。進去之後，你應該會看到電腦出現 Linux 盤，代表 WSL 已經正常運作。</a:t>
            </a:r>
          </a:p>
          <a:p/>
          <a:p>
            <a:r>
              <a:t>【講師提示】操作型頁面，建議現場示範：WSL 恢復檔解壓 → 刪 .git → 開 cmd 進 wsl。學員最容易卡在 P12 檔與 ini 設定，提醒照文件做。</a:t>
            </a:r>
          </a:p>
        </p:txBody>
      </p:sp>
      <p:sp>
        <p:nvSpPr>
          <p:cNvPr id="197" name="PlaceHolder 3"/>
          <p:cNvSpPr>
            <a:spLocks noGrp="1"/>
          </p:cNvSpPr>
          <p:nvPr>
            <p:ph type="sldNum" idx="35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AC1996E-1D98-4EF6-BD0F-3ED2F047150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建議時間：2 分鐘</a:t>
            </a:r>
          </a:p>
          <a:p/>
          <a:p>
            <a:r>
              <a:t>這頁是給完全沒有程式基礎的同學。</a:t>
            </a:r>
          </a:p>
          <a:p>
            <a:r>
              <a:t>電腦語言，就是人與電腦溝通的工具。常見的有 C、C++、Python，還有圖形化的 Scratch。電腦語言必須遵守嚴格的文法，就像我們講話要遵守語法一樣，差一個字、錯一個標點，電腦就聽不懂。</a:t>
            </a:r>
          </a:p>
          <a:p>
            <a:r>
              <a:t>不過好消息是：**我們不必自己會寫 Python 程式**——AI 會幫我們寫。我們要做的，是當 AI 寫出程式之後，至少看得懂它在做什麼，這樣出了問題才方便除錯。</a:t>
            </a:r>
          </a:p>
          <a:p>
            <a:r>
              <a:t>這堂課我們會快速認識 Python 語法的六個基本元素：資料型態、變數、運算子、控制結構、函式，以及資料結構。</a:t>
            </a:r>
          </a:p>
          <a:p/>
          <a:p>
            <a:r>
              <a:t>【講師提示】這段是心理建設，語氣放輕鬆。強調「看懂」而非「會寫」，降低學員焦慮。</a:t>
            </a:r>
          </a:p>
        </p:txBody>
      </p:sp>
      <p:sp>
        <p:nvSpPr>
          <p:cNvPr id="200" name="PlaceHolder 3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8015ED0-C4DD-4792-94D4-32608C2087A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建議時間：1 分 30 秒</a:t>
            </a:r>
          </a:p>
          <a:p/>
          <a:p>
            <a:r>
              <a:t>第一個元素，資料型態。</a:t>
            </a:r>
          </a:p>
          <a:p>
            <a:r>
              <a:t>Python 用資料型態來分類與儲存不同資料的基本格式。最常見的有四種：</a:t>
            </a:r>
          </a:p>
          <a:p>
            <a:r>
              <a:t>整數 int，例如 10、負五；浮點數 float，例如 3.14；字串 str，就是用單引號或雙引號包覆的文字，例如 Hello；還有布林值 bool，只有 True 真、和 False 偽，兩種值。</a:t>
            </a:r>
          </a:p>
          <a:p>
            <a:r>
              <a:t>你可以把資料型態想成不同的盒子：整數盒裝整數、字串盒裝文字、布林盒裝是或否——程式就是靠這些盒子來分類處理資料。</a:t>
            </a:r>
          </a:p>
          <a:p/>
          <a:p>
            <a:r>
              <a:t>【講師提示】舉生活例子：體重 70 是 int、70.5 是 float、名字是 str、「今天有沒有漲停」是 bool。</a:t>
            </a:r>
          </a:p>
        </p:txBody>
      </p:sp>
      <p:sp>
        <p:nvSpPr>
          <p:cNvPr id="203" name="PlaceHolder 3"/>
          <p:cNvSpPr>
            <a:spLocks noGrp="1"/>
          </p:cNvSpPr>
          <p:nvPr>
            <p:ph type="sldNum" idx="37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5193B92-2B81-40B0-A4D1-2FB180A63FE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建議時間：2 分鐘</a:t>
            </a:r>
          </a:p>
          <a:p/>
          <a:p>
            <a:r>
              <a:t>第二個元素，變數。</a:t>
            </a:r>
          </a:p>
          <a:p>
            <a:r>
              <a:t>變數是用來存放資料的標籤或容器。Python 是動態型別——宣告變數時不需要指定型態，直接賦值就可以了，例如 x 等於 5。命名規則上，必須以字母或底線開頭，而且區分大小寫，A 和 a 是兩個不同的變數。</a:t>
            </a:r>
          </a:p>
          <a:p>
            <a:r>
              <a:t>第三個元素，運算子。</a:t>
            </a:r>
          </a:p>
          <a:p>
            <a:r>
              <a:t>運算子是用來對資料進行運算與邏輯判斷的符號。算術運算子有加減乘除、整除、取餘數、次方；比較運算子有等於、不等於、大於小於這些；邏輯運算子有 and 且、or 或、not 非。</a:t>
            </a:r>
          </a:p>
          <a:p/>
          <a:p>
            <a:r>
              <a:t>【講師提示】可以現場互動：「3 整除 2 等於多少？餘數呢？」讓學員動腦，確認他們跟上。</a:t>
            </a:r>
          </a:p>
        </p:txBody>
      </p:sp>
      <p:sp>
        <p:nvSpPr>
          <p:cNvPr id="206" name="PlaceHolder 3"/>
          <p:cNvSpPr>
            <a:spLocks noGrp="1"/>
          </p:cNvSpPr>
          <p:nvPr>
            <p:ph type="sldNum" idx="38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CC8EEA6-E328-49EB-81D8-4351CDB06F8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建議時間：2 分鐘</a:t>
            </a:r>
          </a:p>
          <a:p/>
          <a:p>
            <a:r>
              <a:t>第四個元素，控制結構。</a:t>
            </a:r>
          </a:p>
          <a:p>
            <a:r>
              <a:t>控制結構決定程式執行的流程。最重要的有兩種：條件判斷 if-elif-else，依據條件是否成立，決定執行哪一段程式碼——就像「如果收盤價大於買進價就賣出，否則繼續持有」；還有迴圈，重複執行特定程式碼——for 迴圈走訪固定範圍，while 迴圈在條件成立時持續執行。</a:t>
            </a:r>
          </a:p>
          <a:p>
            <a:r>
              <a:t>第五個元素，內建資料結構。</a:t>
            </a:r>
          </a:p>
          <a:p>
            <a:r>
              <a:t>資料結構是用來組織大量資料的容器。串列 List，可變動、有順序，例如一號二號加蘋果；元組 Tuple，不可變動、有順序；字典 Dictionary，是鍵值對結構，例如姓名對應 Alice、年齡對應二十五；集合 Set，無序且不重複。</a:t>
            </a:r>
          </a:p>
          <a:p/>
          <a:p>
            <a:r>
              <a:t>【講師提示】強調「條件判斷+迴圈」就是策略邏輯的核心——之後看 AI 寫的策略程式，90% 都在這兩種結構裡。</a:t>
            </a:r>
          </a:p>
        </p:txBody>
      </p:sp>
      <p:sp>
        <p:nvSpPr>
          <p:cNvPr id="209" name="PlaceHolder 3"/>
          <p:cNvSpPr>
            <a:spLocks noGrp="1"/>
          </p:cNvSpPr>
          <p:nvPr>
            <p:ph type="sldNum" idx="39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A5116BE-3F0A-4E82-82BF-CE308727123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建議時間：2 分 30 秒</a:t>
            </a:r>
          </a:p>
          <a:p/>
          <a:p>
            <a:r>
              <a:t>第六個元素，函式。</a:t>
            </a:r>
          </a:p>
          <a:p>
            <a:r>
              <a:t>函式是把重複使用的程式碼包裝成獨立區塊。使用 def 關鍵字定義，可以接收參數，並透過 return 回傳結果。你可以把函式想成一個「加工機器」：丟原料進去，吐出成品。</a:t>
            </a:r>
          </a:p>
          <a:p>
            <a:r>
              <a:t>接下來實際操作：在 WSL 底下，先執行 activate_venv 啟動虛擬環境，然後打開 PyCharm。左邊展開 python_basic 資料夾，點擊 week-01-calc-return.py 這個檔案，打開左下方的 terminal，然後點右上方綠色三角形左邊的下拉選單，選 current file，再點綠色三角形執行，或按 Debug。</a:t>
            </a:r>
          </a:p>
          <a:p/>
          <a:p>
            <a:r>
              <a:t>【講師提示】建議現場示範完整流程：activate_venv → PyCharm → 開檔 → RUN。這是學員第一次實際執行程式，成功跑出結果的瞬間很重要。</a:t>
            </a:r>
          </a:p>
        </p:txBody>
      </p:sp>
      <p:sp>
        <p:nvSpPr>
          <p:cNvPr id="212" name="PlaceHolder 3"/>
          <p:cNvSpPr>
            <a:spLocks noGrp="1"/>
          </p:cNvSpPr>
          <p:nvPr>
            <p:ph type="sldNum" idx="40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62DD76F-D7F4-49A0-A67A-46959A8A8AB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建議時間：1 分 30 秒</a:t>
            </a:r>
          </a:p>
          <a:p/>
          <a:p>
            <a:r>
              <a:t>現在畫面這張圖，就是 week-01-calc-return.py 的程式內容，以及執行後的結果。</a:t>
            </a:r>
          </a:p>
          <a:p>
            <a:r>
              <a:t>大家可以看到，這支程式做的事情是：計算報酬率。它用到了我們剛剛講的資料型態——有浮點數、有字串；也用了變數存放價格；還用到了運算子做除法運算。</a:t>
            </a:r>
          </a:p>
          <a:p>
            <a:r>
              <a:t>下方是執行結果的 Terminal 輸出——程式跑完之後，在終端機印出了計算出來的報酬率數字。大家可以對照上方的 print 指令，找出每一行輸出是從哪一行程式印出來的。從輸入價格到輸出結果，整個流程就是：資料進到變數，經過運算子計算，最後印出來。</a:t>
            </a:r>
          </a:p>
          <a:p>
            <a:r>
              <a:t>你看，現在你已經看得懂一部分了——就算不會寫，也能猜出每一行在做什麼。這就是這堂課的目的：讓你看得懂 AI 寫的程式。</a:t>
            </a:r>
          </a:p>
          <a:p>
            <a:r>
              <a:t>如果大家執行之後，畫面上的結果跟這張圖不一樣，或是出現紅色的錯誤訊息，先別緊張——最常見的原因就是 TAB 沒對齊，我們後面會講怎麼處理。</a:t>
            </a:r>
          </a:p>
          <a:p/>
          <a:p>
            <a:r>
              <a:t>【講師提示】對照程式與 Terminal 輸出逐行帶過，指出 int/float/變數/運算子/print 的對應位置，強調「看得懂→能查錯」的流程。</a:t>
            </a:r>
          </a:p>
        </p:txBody>
      </p:sp>
      <p:sp>
        <p:nvSpPr>
          <p:cNvPr id="215" name="PlaceHolder 3"/>
          <p:cNvSpPr>
            <a:spLocks noGrp="1"/>
          </p:cNvSpPr>
          <p:nvPr>
            <p:ph type="sldNum" idx="41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F293E89-3D82-42B7-9D15-4B3E29BFEF3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建議時間：1 分鐘</a:t>
            </a:r>
          </a:p>
          <a:p/>
          <a:p>
            <a:r>
              <a:t>這是一個 PyCharm 偵錯的畫面。</a:t>
            </a:r>
          </a:p>
          <a:p>
            <a:r>
              <a:t>上方程式區顯示程式執行到斷點——也就是紅點的位置；下方變數觀察視窗，顯示目前執行到這裡、每個變數的值。左上方綠色三角形可以執行，紅色方塊可以停止，中間的綠色圓箭頭可以繼續執行。</a:t>
            </a:r>
          </a:p>
          <a:p>
            <a:r>
              <a:t>偵錯的用途，是讓你看清楚程式每一行執行前後，變數到底是什麼值——當 AI 寫的程式卡在某個地方找不到原因時，用這個畫面就能很快告訴 AI：程式是卡在哪裡。</a:t>
            </a:r>
          </a:p>
          <a:p/>
          <a:p>
            <a:r>
              <a:t>【講師提示】指著斷點紅點、變數觀察視窗、播放控制三個區域逐項說明，強調「人提供卡點資訊、AI 找問題」的分工。</a:t>
            </a:r>
          </a:p>
        </p:txBody>
      </p:sp>
      <p:sp>
        <p:nvSpPr>
          <p:cNvPr id="218" name="PlaceHolder 3"/>
          <p:cNvSpPr>
            <a:spLocks noGrp="1"/>
          </p:cNvSpPr>
          <p:nvPr>
            <p:ph type="sldNum" idx="42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C88FFC3-08FF-4C37-AFF4-25FE3E8477F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2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建議時間：1 分 30 秒</a:t>
            </a:r>
          </a:p>
          <a:p/>
          <a:p>
            <a:r>
              <a:t>這頁有三個重點。</a:t>
            </a:r>
          </a:p>
          <a:p>
            <a:r>
              <a:t>第一，有興趣學 Python 的同學，可以自行練習其他 Python W2 到 W8 的課程，這是給想深入的人。</a:t>
            </a:r>
          </a:p>
          <a:p>
            <a:r>
              <a:t>第二，基本上 TW-SELFSELECT 的所有程式，都是由 AI 也就是 DSH 完成的——你不需要自己從零寫程式，你要做的是「看得懂」和「會下指令」。</a:t>
            </a:r>
          </a:p>
          <a:p>
            <a:r>
              <a:t>第三，這頁新增了 PyCharm 偵錯的介紹。如果你想更深入了解 Python，可以繼續往下看怎麼用 PyCharm 進行偵錯。大部分的時候，DSH 有辦法自行找問題並修改更正；只有極少數程式會卡死在某一個地方一直找不到原因，這時候人為使用 PyCharm 就能很快告訴 AI：程式是卡在哪裡。</a:t>
            </a:r>
          </a:p>
          <a:p/>
          <a:p>
            <a:r>
              <a:t>【講師提示】本頁是後半段偵錯課程的引子，強調「人機協作偵錯」的分工——AI 找問題，人提供卡點資訊。</a:t>
            </a:r>
          </a:p>
        </p:txBody>
      </p:sp>
      <p:sp>
        <p:nvSpPr>
          <p:cNvPr id="221" name="PlaceHolder 3"/>
          <p:cNvSpPr>
            <a:spLocks noGrp="1"/>
          </p:cNvSpPr>
          <p:nvPr>
            <p:ph type="sldNum" idx="43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4E619A3-0358-4F89-B1FF-2F7A4515B47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建議時間：1 分鐘</a:t>
            </a:r>
          </a:p>
          <a:p/>
          <a:p>
            <a:r>
              <a:t>接下來三頁，先讓大家了解系統的整體架構。</a:t>
            </a:r>
          </a:p>
          <a:p>
            <a:r>
              <a:t>第一層，Local，也就是你的 WSL 開發環境：所有程式碼的源頭，也是唯一有 Git repo 的地方。裡面放著主程式、策略與核心模組、scripts/（含一鍵部署的 deploy_source.sh）、.env、esun_sdk（whl 進版控，p12 與 ini 不進）、Dockerfile 與 docker-compose.yml。</a:t>
            </a:r>
          </a:p>
          <a:p>
            <a:r>
              <a:t>要部署時執行 ./deploy_source.sh：本機先跑 preflight 測試，再建 Docker image，透過 SSH 直傳到 VM 載入並重啟容器，最後比對版本指紋確認是這次建的版本。</a:t>
            </a:r>
          </a:p>
          <a:p/>
          <a:p>
            <a:r>
              <a:t>【講師提示】架構圖頁，配合投影片的圖示講解，讓學員對「程式從哪來」有概念。</a:t>
            </a:r>
          </a:p>
        </p:txBody>
      </p:sp>
      <p:sp>
        <p:nvSpPr>
          <p:cNvPr id="224" name="PlaceHolder 3"/>
          <p:cNvSpPr>
            <a:spLocks noGrp="1"/>
          </p:cNvSpPr>
          <p:nvPr>
            <p:ph type="sldNum" idx="44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C45FA6C-27DE-431D-9950-B007EFC5ADF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建議時間：1 分鐘</a:t>
            </a:r>
          </a:p>
          <a:p/>
          <a:p>
            <a:r>
              <a:t>第二層，GCP VM，也就是雲端主機（實例名稱可自取，本文以 tw-selfselect 為例；asia-east1-b）。</a:t>
            </a:r>
          </a:p>
          <a:p>
            <a:r>
              <a:t>VM 上的目錄是 ~/tw-selfselect/，它不是開發環境、也不是 git repo，只放執行需要的東西：.env、docker-compose.yml，以及 logs、backups、cache 這些每天會寫入的活資料。舊專案目錄（遷移前）原樣保留，出問題可以一行指令回滾。</a:t>
            </a:r>
          </a:p>
          <a:p>
            <a:r>
              <a:t>部署由本機的 deploy_source.sh 完成；VM 端只需要 docker compose up 啟動容器。</a:t>
            </a:r>
          </a:p>
          <a:p/>
          <a:p>
            <a:r>
              <a:t>【講師提示】強調「VM 是倉庫不是車間」——不要直接在 VM 上改程式。</a:t>
            </a:r>
          </a:p>
        </p:txBody>
      </p:sp>
      <p:sp>
        <p:nvSpPr>
          <p:cNvPr id="227" name="PlaceHolder 3"/>
          <p:cNvSpPr>
            <a:spLocks noGrp="1"/>
          </p:cNvSpPr>
          <p:nvPr>
            <p:ph type="sldNum" idx="45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5F34A5A-C51B-4A4D-A613-5729F800306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建議時間：1 分鐘</a:t>
            </a:r>
          </a:p>
          <a:p/>
          <a:p>
            <a:r>
              <a:t>第三層，Docker 容器——程式實際執行的地方。</a:t>
            </a:r>
          </a:p>
          <a:p>
            <a:r>
              <a:t>容器 tw_selfselect_bot 是 python 3.11 的精簡環境，主程式在裡面實際執行。映像在建置時把程式碼複製進 /app，所以容器裡的程式是「照片副本」——你在 VM 上改檔案，不會影響已經建好的映像。</a:t>
            </a:r>
          </a:p>
          <a:p>
            <a:r>
              <a:t>玉山 SDK 也在映像內（whl、config ini、p12）。關鍵設計是掛載：容器內的 logs、.env、backups、cache 四個目錄，都指向 VM 上的實體目錄，設定即時生效、日誌與資料也不會因為容器重啟而消失。</a:t>
            </a:r>
          </a:p>
          <a:p/>
          <a:p>
            <a:r>
              <a:t>【講師提示】強調「映像不可變、資料可掛載」的 Docker 設計哲學。</a:t>
            </a:r>
          </a:p>
        </p:txBody>
      </p:sp>
      <p:sp>
        <p:nvSpPr>
          <p:cNvPr id="230" name="PlaceHolder 3"/>
          <p:cNvSpPr>
            <a:spLocks noGrp="1"/>
          </p:cNvSpPr>
          <p:nvPr>
            <p:ph type="sldNum" idx="46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47D59CA-A92B-49D1-9D3D-F72D82974EF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3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建議時間：1 分 30 秒</a:t>
            </a:r>
          </a:p>
          <a:p/>
          <a:p>
            <a:r>
              <a:t>這頁把三層關係總結成白話。</a:t>
            </a:r>
          </a:p>
          <a:p>
            <a:r>
              <a:t>第一層 Local 開發層：唯一有 Git repo 的地方、程式碼的源頭；放著主程式、scripts/、.env、esun_sdk、Dockerfile。</a:t>
            </a:r>
          </a:p>
          <a:p>
            <a:r>
              <a:t>第二層 GCP VM 部署層：用 ./deploy_source.sh 部署（本機建 image、SSH 直傳、VM 載入），目錄是 ~/tw-selfselect；VM 上的 .env、logs、cache 是「活資料」，程式每天在寫；舊目錄保留可回滾。</a:t>
            </a:r>
          </a:p>
          <a:p>
            <a:r>
              <a:t>第三層 Docker 容器：tw_selfselect_bot 透過四個掛載跟 VM 即時連線。</a:t>
            </a:r>
          </a:p>
          <a:p/>
          <a:p>
            <a:r>
              <a:t>【講師提示】本頁是架構概念的核心，放慢講。</a:t>
            </a:r>
          </a:p>
        </p:txBody>
      </p:sp>
      <p:sp>
        <p:nvSpPr>
          <p:cNvPr id="233" name="PlaceHolder 3"/>
          <p:cNvSpPr>
            <a:spLocks noGrp="1"/>
          </p:cNvSpPr>
          <p:nvPr>
            <p:ph type="sldNum" idx="47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1A1118F-D43F-4841-A86F-1C710E41493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建議時間：1 分 30 秒</a:t>
            </a:r>
          </a:p>
          <a:p/>
          <a:p>
            <a:r>
              <a:t>第三層，Docker 容器執行層。</a:t>
            </a:r>
          </a:p>
          <a:p>
            <a:r>
              <a:t>docker compose up 啟動容器，主程式 python selfselect_trader.py 在容器內實際執行。映像由本機 deploy_source.sh 建置後直傳到 VM，容器內是程式碼的不可變副本——改 VM 上的檔案不會影響已建好的映像——但透過掛載，設定與資料跟 VM 即時連線。</a:t>
            </a:r>
          </a:p>
          <a:p>
            <a:r>
              <a:t>容器內的 .env 對應 VM 的 .env，設定即時生效，改 .env 不用重建映像；logs 對應 logs，日誌寫入 VM，容器銷毀不丟；backups 對應 backups，自動備份 .env；cache 對應 cache，存放歷史股本與選股快取。</a:t>
            </a:r>
          </a:p>
          <a:p>
            <a:r>
              <a:t>這四個掛載是系統穩定運作的關鍵——容器可以隨時重建，但資料永遠留在 VM 上。</a:t>
            </a:r>
          </a:p>
          <a:p/>
          <a:p>
            <a:r>
              <a:t>【講師提示】指著表格講，強調「容器可毀、資料不丟」的可靠性設計。</a:t>
            </a:r>
          </a:p>
        </p:txBody>
      </p:sp>
      <p:sp>
        <p:nvSpPr>
          <p:cNvPr id="236" name="PlaceHolder 3"/>
          <p:cNvSpPr>
            <a:spLocks noGrp="1"/>
          </p:cNvSpPr>
          <p:nvPr>
            <p:ph type="sldNum" idx="48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F414EC9-DA5E-41B0-AEB6-1F7A97498C3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3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建議時間：1 分鐘</a:t>
            </a:r>
          </a:p>
          <a:p/>
          <a:p>
            <a:r>
              <a:t>這頁講修改流程與白話總結。</a:t>
            </a:r>
          </a:p>
          <a:p>
            <a:r>
              <a:t>修改流程三句話：改程式碼在 Local 改，然後執行 ./deploy_source.sh（會先跑測試、建 image、SSH 直傳、載入、驗指紋）；改設定直接編輯 VM 的 ~/tw-selfselect/.env，主程式熱重載（最慢一分鐘）；看日誌用 docker logs tw_selfselect_bot。</a:t>
            </a:r>
          </a:p>
          <a:p>
            <a:r>
              <a:t>白話總結：Local 是開發車間，VM 是雲端的倉庫，Docker 是倉庫裡的封閉作業員。</a:t>
            </a:r>
          </a:p>
          <a:p/>
          <a:p>
            <a:r>
              <a:t>【講師提示】白話總結是讓學員記住架構的關鍵，可以請學員複述。</a:t>
            </a:r>
          </a:p>
        </p:txBody>
      </p:sp>
      <p:sp>
        <p:nvSpPr>
          <p:cNvPr id="239" name="PlaceHolder 3"/>
          <p:cNvSpPr>
            <a:spLocks noGrp="1"/>
          </p:cNvSpPr>
          <p:nvPr>
            <p:ph type="sldNum" idx="49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FDB55A-31D1-499F-A29C-6163423BFA8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建議時間：1 分鐘</a:t>
            </a:r>
          </a:p>
          <a:p/>
          <a:p>
            <a:r>
              <a:t>這頁是常用指令速查。</a:t>
            </a:r>
          </a:p>
          <a:p>
            <a:r>
              <a:t>Local 部署只跑 ./deploy_source.sh（人工執行，內含 preflight 測試與指紋驗證）。VM 重啟容器：docker compose down 再 up。看日誌：docker logs 加容器名稱，看最後三十行，也可以用 VM_log。看容器狀態 docker ps；SSH 進 VM 用 gcloud compute ssh tw-selfselect（名稱需與 .env 的 SYNC_VM_NAME 一致）。</a:t>
            </a:r>
          </a:p>
          <a:p>
            <a:r>
              <a:t>本專案原始碼全部公開，直接用 ./deploy_source.sh 源碼部署（沒有加密版／源碼版之分）。</a:t>
            </a:r>
          </a:p>
          <a:p/>
          <a:p>
            <a:r>
              <a:t>【講師提示】指令速查頁，簡短帶過，提醒學員之後會常用。</a:t>
            </a:r>
          </a:p>
        </p:txBody>
      </p:sp>
      <p:sp>
        <p:nvSpPr>
          <p:cNvPr id="242" name="PlaceHolder 3"/>
          <p:cNvSpPr>
            <a:spLocks noGrp="1"/>
          </p:cNvSpPr>
          <p:nvPr>
            <p:ph type="sldNum" idx="50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8CD8EA3-890A-43EE-A8DD-F8A05FEE80A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建議時間：1 分 30 秒</a:t>
            </a:r>
          </a:p>
          <a:p/>
          <a:p>
            <a:r>
              <a:t>接下來進入本週的重點實作：程式卡死怎麼辦？</a:t>
            </a:r>
          </a:p>
          <a:p>
            <a:r>
              <a:t>首先了解系統架構：當程式在 Docker 內卡死時，很難檢查——因為你沒辦法直接在容器裡中斷它。因此，由 Local 來執行會比較好查。</a:t>
            </a:r>
          </a:p>
          <a:p>
            <a:r>
              <a:t>Local 跟 Docker 內最重要的差異：Docker 到玉山 API 存取資料的 IP 是靜態 IP，而且已經在玉山證券網站設定過白名單。如果你要在 Local 偵錯玉山下單 API 的程式，你一樣要把 Local 電腦的 IP 設為固定 IP，然後也必須把這個 IP 加到玉山 API 網站的白名單。</a:t>
            </a:r>
          </a:p>
          <a:p>
            <a:r>
              <a:t>以下是使用 WSL 內 PyCharm 來偵錯的流程：先於 WSL 的 tw-selfselect 目錄中輸入 pycharm，開啟專案。</a:t>
            </a:r>
          </a:p>
          <a:p/>
          <a:p>
            <a:r>
              <a:t>【講師提示】本頁是偵錯課程的開場，強調「Docker 卡死難查、Local 好查」與「白名單 IP」兩個重點。</a:t>
            </a:r>
          </a:p>
        </p:txBody>
      </p:sp>
      <p:sp>
        <p:nvSpPr>
          <p:cNvPr id="245" name="PlaceHolder 3"/>
          <p:cNvSpPr>
            <a:spLocks noGrp="1"/>
          </p:cNvSpPr>
          <p:nvPr>
            <p:ph type="sldNum" idx="51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6D8AAD8-FB38-42D0-A9E2-9646FE05414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建議時間：1 分 30 秒</a:t>
            </a:r>
          </a:p>
          <a:p/>
          <a:p>
            <a:r>
              <a:t>實際操作：打開 PyCharm 並定位主程式。</a:t>
            </a:r>
          </a:p>
          <a:p>
            <a:r>
              <a:t>打開 PyCharm 後，把滑鼠游標移到左上的 icon 上，icon 會顯示功能名稱。打開 Project，快捷鍵是 Alt 加一，還有 Structure，快捷鍵是 Alt 加七。這時候你可以看到左上方的專案目錄。</a:t>
            </a:r>
          </a:p>
          <a:p>
            <a:r>
              <a:t>用滑鼠中間滾輪上下移動，找出 selfselect_trader.py 並雙擊，就會顯示源碼於右邊視窗。Project 視窗下面是 Structure，是目前源碼工作區的程式元素——函式、變數等等。</a:t>
            </a:r>
          </a:p>
          <a:p>
            <a:r>
              <a:t>再把滑鼠游標移到左下的 icon 點擊 Terminal，快捷鍵是 Alt 加 F12，打開 Terminal 視窗。請注意 Terminal 出現：括號 venv，frank 帳號，tw-selfselect 目錄。如果前面沒有括號 venv，請在 Terminal 中執行 activate_venv 來啟用 .venv 目錄下的虛擬環境。</a:t>
            </a:r>
          </a:p>
          <a:p/>
          <a:p>
            <a:r>
              <a:t>【講師提示】操作示範頁，確認每位學員的 Terminal 都有 (.venv) 前綴。</a:t>
            </a:r>
          </a:p>
        </p:txBody>
      </p:sp>
      <p:sp>
        <p:nvSpPr>
          <p:cNvPr id="248" name="PlaceHolder 3"/>
          <p:cNvSpPr>
            <a:spLocks noGrp="1"/>
          </p:cNvSpPr>
          <p:nvPr>
            <p:ph type="sldNum" idx="52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A043634-0D02-4B89-A8B5-64C288B9C3B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建議時間：1 分鐘</a:t>
            </a:r>
          </a:p>
          <a:p/>
          <a:p>
            <a:r>
              <a:t>設定 Debug Configuration，選擇執行的 Python 版本。</a:t>
            </a:r>
          </a:p>
          <a:p>
            <a:r>
              <a:t>在右上方 selfselect_trader 檔名旁邊，點下向下箭頭，選 Edit Configuration。在 Run 或 Debug Configurations 對話框中，選擇你要執行的 Python 版本——要選 .venv 內的版本，這樣環境才跟系統一致。</a:t>
            </a:r>
          </a:p>
          <a:p/>
          <a:p>
            <a:r>
              <a:t>【講師提示】強調「選 .venv 的 Python」——用錯直譯器是常見錯誤。</a:t>
            </a:r>
          </a:p>
        </p:txBody>
      </p:sp>
      <p:sp>
        <p:nvSpPr>
          <p:cNvPr id="251" name="PlaceHolder 3"/>
          <p:cNvSpPr>
            <a:spLocks noGrp="1"/>
          </p:cNvSpPr>
          <p:nvPr>
            <p:ph type="sldNum" idx="53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C548576-8E66-4C04-B13E-68F53DA01B2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建議時間：1 分 30 秒</a:t>
            </a:r>
          </a:p>
          <a:p/>
          <a:p>
            <a:r>
              <a:t>設定要執行的 Script 與 .env 檔。</a:t>
            </a:r>
          </a:p>
          <a:p>
            <a:r>
              <a:t>Script 檔就是我們要執行的 .py 程式——這裡就是 selfselect_trader.py。.env 檔就是我們執行這個 py 程式時的環境變數設定檔。</a:t>
            </a:r>
          </a:p>
          <a:p>
            <a:r>
              <a:t>重點：不同程式可以用不同的 .env 檔——不像 Windows 不方便修改環境變數，在 Linux 環境用 .env 檔管理設定非常方便。確定後先按 Apply，再按 OK。</a:t>
            </a:r>
          </a:p>
          <a:p/>
          <a:p>
            <a:r>
              <a:t>【講師提示】強調 .env 機制的優點，這也解釋了為什麼系統把設定都放在 .env。</a:t>
            </a:r>
          </a:p>
        </p:txBody>
      </p:sp>
      <p:sp>
        <p:nvSpPr>
          <p:cNvPr id="254" name="PlaceHolder 3"/>
          <p:cNvSpPr>
            <a:spLocks noGrp="1"/>
          </p:cNvSpPr>
          <p:nvPr>
            <p:ph type="sldNum" idx="54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3BD4112-32F9-4A09-8934-586C93C31DE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建議時間：1 分鐘</a:t>
            </a:r>
          </a:p>
          <a:p/>
          <a:p>
            <a:r>
              <a:t>設定執行斷點。</a:t>
            </a:r>
          </a:p>
          <a:p>
            <a:r>
              <a:t>斷點，就是設定程式執行到這一行時停下來。設定不同斷點，可以知道程式執行的過程。</a:t>
            </a:r>
          </a:p>
          <a:p>
            <a:r>
              <a:t>操作方式：打開源碼視窗，於左邊行號欄，例如第一百九十二行，點擊即可設置斷點——會出現紅點。</a:t>
            </a:r>
          </a:p>
          <a:p/>
          <a:p>
            <a:r>
              <a:t>【講師提示】示範設斷點，說明「紅點=程式會停在這」。</a:t>
            </a:r>
          </a:p>
        </p:txBody>
      </p:sp>
      <p:sp>
        <p:nvSpPr>
          <p:cNvPr id="257" name="PlaceHolder 3"/>
          <p:cNvSpPr>
            <a:spLocks noGrp="1"/>
          </p:cNvSpPr>
          <p:nvPr>
            <p:ph type="sldNum" idx="55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337CB4F-C0D2-49C7-B34E-BA21F27E25B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建議時間：1 分 30 秒</a:t>
            </a:r>
          </a:p>
          <a:p/>
          <a:p>
            <a:r>
              <a:t>開始偵錯。</a:t>
            </a:r>
          </a:p>
          <a:p>
            <a:r>
              <a:t>點擊 selfselect_trader 旁的小蟲 icon，快捷鍵 Shift 加 F9，即可開始偵錯。左圖顯示程式順利停在第一百九十二行。</a:t>
            </a:r>
          </a:p>
          <a:p>
            <a:r>
              <a:t>左下方自動切到 Debug 視窗，快捷鍵 Alt 加五。左下方左邊，顯示目前停在哪一個執行緒的哪一行——一般程式可能有多個執行緒並行，目前是 Main Thread 的 192 行。左下方右邊，顯示目前變數的值，例如 某個變數 等於整數五。</a:t>
            </a:r>
          </a:p>
          <a:p>
            <a:r>
              <a:t>左下視窗上方有 RERUN、STOP 等圖示，下一張說明。</a:t>
            </a:r>
          </a:p>
          <a:p/>
          <a:p>
            <a:r>
              <a:t>【講師提示】示範完整偵錯啟動，確認學員都看到變數視窗。</a:t>
            </a:r>
          </a:p>
        </p:txBody>
      </p:sp>
      <p:sp>
        <p:nvSpPr>
          <p:cNvPr id="260" name="PlaceHolder 3"/>
          <p:cNvSpPr>
            <a:spLocks noGrp="1"/>
          </p:cNvSpPr>
          <p:nvPr>
            <p:ph type="sldNum" idx="56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998274F-268F-49D8-B240-300F80848AA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建議時間：2 分鐘</a:t>
            </a:r>
          </a:p>
          <a:p/>
          <a:p>
            <a:r>
              <a:t>這頁是 Debug 的流程控制，最核心的一頁。</a:t>
            </a:r>
          </a:p>
          <a:p>
            <a:r>
              <a:t>第一個，Step Over，快捷鍵 F8，步過：執行目前這一行，不進入函式內部，函式一次跑完。</a:t>
            </a:r>
          </a:p>
          <a:p>
            <a:r>
              <a:t>第二個，Step Into，快捷鍵 F7，步入：執行目前這一行，進入函式內部逐步看。</a:t>
            </a:r>
          </a:p>
          <a:p>
            <a:r>
              <a:t>第三個，Step Out，快捷鍵 Shift 加 F8，步出：從目前函式直接跳回呼叫它的上一層。</a:t>
            </a:r>
          </a:p>
          <a:p>
            <a:r>
              <a:t>第四個，Resume，快捷鍵 F9，繼續：恢復正常執行，直到下一個中斷點或程式結束。第五個，Stop，快捷鍵 Ctrl 加 F2，停止：終止 Debug 執行。</a:t>
            </a:r>
          </a:p>
          <a:p>
            <a:r>
              <a:t>三個註記：第一，注意 Step Over 與 Step Into 的差異——一個不進函式、一個進函式；第二，最右邊是右斜線加紅圈，是暫時停用斷點；第三，左上方也有 Resume、Restart、Stop 可以選。</a:t>
            </a:r>
          </a:p>
          <a:p/>
          <a:p>
            <a:r>
              <a:t>【講師提示】本頁是偵錯操作的核心，放慢講。可以現場示範 F8 與 F7 的差異給學員看。</a:t>
            </a:r>
          </a:p>
        </p:txBody>
      </p:sp>
      <p:sp>
        <p:nvSpPr>
          <p:cNvPr id="263" name="PlaceHolder 3"/>
          <p:cNvSpPr>
            <a:spLocks noGrp="1"/>
          </p:cNvSpPr>
          <p:nvPr>
            <p:ph type="sldNum" idx="57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0299BE4-3C3F-435F-8372-494600A72BF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建議時間：1 分鐘</a:t>
            </a:r>
          </a:p>
          <a:p/>
          <a:p>
            <a:r>
              <a:t>Debug 停止時，怎麼觀察變數？</a:t>
            </a:r>
          </a:p>
          <a:p>
            <a:r>
              <a:t>第一種方式：在源碼視窗把滑鼠移到變數上，例如圖中的 today_str_init，就能即時顯示它的值。</a:t>
            </a:r>
          </a:p>
          <a:p>
            <a:r>
              <a:t>第二種方式：下方的變數視窗，也有目前源碼的變數顯示。變數左邊有箭頭的，可以點一下展開，看內部的結構。</a:t>
            </a:r>
          </a:p>
          <a:p/>
          <a:p>
            <a:r>
              <a:t>【講師提示】示範 hover 與展開變數，這是「告訴 AI 卡在哪」的重要能力。</a:t>
            </a:r>
          </a:p>
        </p:txBody>
      </p:sp>
      <p:sp>
        <p:nvSpPr>
          <p:cNvPr id="266" name="PlaceHolder 3"/>
          <p:cNvSpPr>
            <a:spLocks noGrp="1"/>
          </p:cNvSpPr>
          <p:nvPr>
            <p:ph type="sldNum" idx="58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6D2095E-8A0E-48EB-8C63-9B4DBD876C6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建議時間：1 分鐘</a:t>
            </a:r>
          </a:p>
          <a:p/>
          <a:p>
            <a:r>
              <a:t>關於 PAUSE 的注意事項。</a:t>
            </a:r>
          </a:p>
          <a:p>
            <a:r>
              <a:t>程式跑到休眠狀態時，選擇 Resume 讓程式繼續跑。左下右上 Tab 點 Console，可以發現程式順利執行到最後休眠。</a:t>
            </a:r>
          </a:p>
          <a:p>
            <a:r>
              <a:t>這時候無法 PAUSE 暫停程式——因為已經休眠，只能 STOP 終止。所以 PAUSE 按鈕是用來暫停「正在執行中」的程式，不是暫停休眠狀態。</a:t>
            </a:r>
          </a:p>
          <a:p/>
          <a:p>
            <a:r>
              <a:t>【講師提示】這個細節容易誤解，強調「休眠無法 PAUSE、只能 STOP」。</a:t>
            </a:r>
          </a:p>
        </p:txBody>
      </p:sp>
      <p:sp>
        <p:nvSpPr>
          <p:cNvPr id="269" name="PlaceHolder 3"/>
          <p:cNvSpPr>
            <a:spLocks noGrp="1"/>
          </p:cNvSpPr>
          <p:nvPr>
            <p:ph type="sldNum" idx="59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CE732FF-9735-43E2-AE09-3283780318E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建議時間：1 分 30 秒</a:t>
            </a:r>
          </a:p>
          <a:p/>
          <a:p>
            <a:r>
              <a:t>最後，整理卡死處理的完整流程。</a:t>
            </a:r>
          </a:p>
          <a:p>
            <a:r>
              <a:t>當程式卡死時，由 AI 來查比較費時——因為 AI 無法執行 PyCharm，無法把強制執行中的程式停下來。因此，使用者可以先於 Local 的 WSL 環境，使用 PyCharm 來偵錯。</a:t>
            </a:r>
          </a:p>
          <a:p>
            <a:r>
              <a:t>卡死停下來之後，告訴 AI 目前停下的行號，以及相關的變數值，就能很快協助 AI 找出卡死的原因。</a:t>
            </a:r>
          </a:p>
          <a:p>
            <a:r>
              <a:t>一般來說，只要程式不卡死，AI 都能經由自己寫測試程式、修改程式、加上必要的 log 檔案，收集 AI 要判斷的資訊，就能排除程式的 bug。只有「一卡死就卡個數十分鐘」的特殊狀況，沒有使用者協助時會比較花費時間偵錯。</a:t>
            </a:r>
          </a:p>
          <a:p/>
          <a:p>
            <a:r>
              <a:t>【講師提示】本頁總結「人機協作偵錯」的完整分工——人提供卡點，AI 找原因。這是本週最重要的實務流程。</a:t>
            </a:r>
          </a:p>
        </p:txBody>
      </p:sp>
      <p:sp>
        <p:nvSpPr>
          <p:cNvPr id="272" name="PlaceHolder 3"/>
          <p:cNvSpPr>
            <a:spLocks noGrp="1"/>
          </p:cNvSpPr>
          <p:nvPr>
            <p:ph type="sldNum" idx="60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681A484-3191-4CA6-9705-00222BB03B6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建議時間：30 秒</a:t>
            </a:r>
          </a:p>
          <a:p/>
          <a:p>
            <a:r>
              <a:t>好，今天的課程到這裡。</a:t>
            </a:r>
          </a:p>
          <a:p>
            <a:r>
              <a:t>我是 frank，信箱是 frank@dinchen.com.tw，有任何問題歡迎寫信給我。</a:t>
            </a:r>
          </a:p>
          <a:p>
            <a:r>
              <a:t>今天的功課：把 WSL 環境恢復好、跑一次 week-01-calc-return.py 成功看到結果；進階的同學，練習用 PyCharm 設定斷點偵錯。下週我們會開始講 DSH 與系統設定。我們下次見！</a:t>
            </a:r>
          </a:p>
          <a:p/>
          <a:p>
            <a:r>
              <a:t>【講師提示】收尾明快，把兩個功課再唸一次。</a:t>
            </a:r>
          </a:p>
        </p:txBody>
      </p:sp>
      <p:sp>
        <p:nvSpPr>
          <p:cNvPr id="275" name="PlaceHolder 3"/>
          <p:cNvSpPr>
            <a:spLocks noGrp="1"/>
          </p:cNvSpPr>
          <p:nvPr>
            <p:ph type="sldNum" idx="61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4AEAF31-1906-4BBB-8216-40779C66944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 descr="A white circles on a black background&#10;&#10;Description automatically generated"/>
          <p:cNvPicPr/>
          <p:nvPr/>
        </p:nvPicPr>
        <p:blipFill>
          <a:blip r:embed="rId2"/>
          <a:srcRect l="0" t="11504" r="4106" b="14442"/>
          <a:stretch/>
        </p:blipFill>
        <p:spPr>
          <a:xfrm>
            <a:off x="3274920" y="0"/>
            <a:ext cx="8913240" cy="686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280" cy="388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62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2"/>
          <p:cNvSpPr/>
          <p:nvPr/>
        </p:nvSpPr>
        <p:spPr>
          <a:xfrm>
            <a:off x="10975680" y="49870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Cross 3"/>
          <p:cNvSpPr/>
          <p:nvPr/>
        </p:nvSpPr>
        <p:spPr>
          <a:xfrm>
            <a:off x="10118880" y="35812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with Computer Monit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4"/>
          <p:cNvSpPr/>
          <p:nvPr/>
        </p:nvSpPr>
        <p:spPr>
          <a:xfrm>
            <a:off x="6703920" y="838080"/>
            <a:ext cx="5028480" cy="502848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9" name="Graphic 14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742080" y="1752480"/>
            <a:ext cx="4950360" cy="3809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29665E24-1756-4229-9519-6E2A0DEC0AE5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dt" idx="3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2680" cy="2687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brea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560" cy="5288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Cross 2"/>
          <p:cNvSpPr/>
          <p:nvPr/>
        </p:nvSpPr>
        <p:spPr>
          <a:xfrm>
            <a:off x="7130160" y="3969360"/>
            <a:ext cx="640080" cy="640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18" name="Graphic 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0" r="42412" b="0"/>
          <a:stretch/>
        </p:blipFill>
        <p:spPr>
          <a:xfrm>
            <a:off x="7134840" y="533520"/>
            <a:ext cx="5053320" cy="55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Cross 5"/>
          <p:cNvSpPr/>
          <p:nvPr/>
        </p:nvSpPr>
        <p:spPr>
          <a:xfrm>
            <a:off x="6368040" y="2407320"/>
            <a:ext cx="640080" cy="640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360" cy="438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with Acc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val 4"/>
          <p:cNvSpPr/>
          <p:nvPr/>
        </p:nvSpPr>
        <p:spPr>
          <a:xfrm>
            <a:off x="6361200" y="1317240"/>
            <a:ext cx="5028480" cy="502848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2" name="Rectangle 7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692EC9E1-31C6-4785-BFFE-335821182EE7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6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200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and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7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1A14FBDA-112E-4763-BAE3-0CDFB0E70EB3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9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8040" cy="39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Freeform: Shape 9"/>
          <p:cNvSpPr/>
          <p:nvPr/>
        </p:nvSpPr>
        <p:spPr>
          <a:xfrm>
            <a:off x="7026120" y="0"/>
            <a:ext cx="4460760" cy="1980360"/>
          </a:xfrm>
          <a:custGeom>
            <a:avLst/>
            <a:gdLst>
              <a:gd name="textAreaLeft" fmla="*/ 0 w 4460760"/>
              <a:gd name="textAreaRight" fmla="*/ 4461480 w 4460760"/>
              <a:gd name="textAreaTop" fmla="*/ 0 h 1980360"/>
              <a:gd name="textAreaBottom" fmla="*/ 1981080 h 198036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Rectangle 2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834B0AB0-0014-43DD-A9FA-7B16C5CC5BC5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2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4000" cy="3504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22860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22860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Freeform: Shape 16"/>
          <p:cNvSpPr/>
          <p:nvPr/>
        </p:nvSpPr>
        <p:spPr>
          <a:xfrm>
            <a:off x="7026120" y="0"/>
            <a:ext cx="4460760" cy="1980360"/>
          </a:xfrm>
          <a:custGeom>
            <a:avLst/>
            <a:gdLst>
              <a:gd name="textAreaLeft" fmla="*/ 0 w 4460760"/>
              <a:gd name="textAreaRight" fmla="*/ 4461480 w 4460760"/>
              <a:gd name="textAreaTop" fmla="*/ 0 h 1980360"/>
              <a:gd name="textAreaBottom" fmla="*/ 1981080 h 198036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Rectangle 1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5" name="Cross 5"/>
          <p:cNvSpPr/>
          <p:nvPr/>
        </p:nvSpPr>
        <p:spPr>
          <a:xfrm>
            <a:off x="6683040" y="139716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6" name="Cross 6"/>
          <p:cNvSpPr/>
          <p:nvPr/>
        </p:nvSpPr>
        <p:spPr>
          <a:xfrm>
            <a:off x="11085480" y="56386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A9FD8F1C-E712-4454-9183-59242767AFEE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15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112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112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Freeform: Shape 14"/>
          <p:cNvSpPr/>
          <p:nvPr/>
        </p:nvSpPr>
        <p:spPr>
          <a:xfrm>
            <a:off x="9958320" y="0"/>
            <a:ext cx="2229840" cy="1980360"/>
          </a:xfrm>
          <a:custGeom>
            <a:avLst/>
            <a:gdLst>
              <a:gd name="textAreaLeft" fmla="*/ 0 w 2229840"/>
              <a:gd name="textAreaRight" fmla="*/ 2230560 w 2229840"/>
              <a:gd name="textAreaTop" fmla="*/ 0 h 1980360"/>
              <a:gd name="textAreaBottom" fmla="*/ 1981080 h 198036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4" name="Rectangle 1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5" name="Cross 2"/>
          <p:cNvSpPr/>
          <p:nvPr/>
        </p:nvSpPr>
        <p:spPr>
          <a:xfrm>
            <a:off x="7846920" y="3808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6" name="Cross 4"/>
          <p:cNvSpPr/>
          <p:nvPr/>
        </p:nvSpPr>
        <p:spPr>
          <a:xfrm>
            <a:off x="8559720" y="10666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ED69E01E-F6AB-458B-BA5D-76E82D8D50EB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dt" idx="18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112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112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Freeform: Shape 8"/>
          <p:cNvSpPr/>
          <p:nvPr/>
        </p:nvSpPr>
        <p:spPr>
          <a:xfrm>
            <a:off x="2131920" y="0"/>
            <a:ext cx="7923960" cy="6857280"/>
          </a:xfrm>
          <a:custGeom>
            <a:avLst/>
            <a:gdLst>
              <a:gd name="textAreaLeft" fmla="*/ 0 w 7923960"/>
              <a:gd name="textAreaRight" fmla="*/ 7924680 w 7923960"/>
              <a:gd name="textAreaTop" fmla="*/ 0 h 6857280"/>
              <a:gd name="textAreaBottom" fmla="*/ 6858000 h 685728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Left Brace 7"/>
          <p:cNvSpPr/>
          <p:nvPr/>
        </p:nvSpPr>
        <p:spPr>
          <a:xfrm>
            <a:off x="5560920" y="2022120"/>
            <a:ext cx="837360" cy="281340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280" cy="586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2760" cy="23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7"/>
          <p:cNvSpPr/>
          <p:nvPr/>
        </p:nvSpPr>
        <p:spPr>
          <a:xfrm>
            <a:off x="0" y="0"/>
            <a:ext cx="12188160" cy="685728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8" name="Freeform: Shape 12"/>
          <p:cNvSpPr/>
          <p:nvPr/>
        </p:nvSpPr>
        <p:spPr>
          <a:xfrm>
            <a:off x="0" y="1440"/>
            <a:ext cx="3427560" cy="6855840"/>
          </a:xfrm>
          <a:custGeom>
            <a:avLst/>
            <a:gdLst>
              <a:gd name="textAreaLeft" fmla="*/ 0 w 3427560"/>
              <a:gd name="textAreaRight" fmla="*/ 3428280 w 3427560"/>
              <a:gd name="textAreaTop" fmla="*/ 0 h 6855840"/>
              <a:gd name="textAreaBottom" fmla="*/ 6856560 h 685584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4080" cy="5295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4080" cy="285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1" name="Cross 13"/>
          <p:cNvSpPr/>
          <p:nvPr/>
        </p:nvSpPr>
        <p:spPr>
          <a:xfrm>
            <a:off x="4837680" y="91440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2" name="Cross 14"/>
          <p:cNvSpPr/>
          <p:nvPr/>
        </p:nvSpPr>
        <p:spPr>
          <a:xfrm>
            <a:off x="3085200" y="569592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3" name="Left Brace 1"/>
          <p:cNvSpPr/>
          <p:nvPr/>
        </p:nvSpPr>
        <p:spPr>
          <a:xfrm>
            <a:off x="5560920" y="2022120"/>
            <a:ext cx="837360" cy="281340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ing with Phone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Oval 6"/>
          <p:cNvSpPr/>
          <p:nvPr/>
        </p:nvSpPr>
        <p:spPr>
          <a:xfrm>
            <a:off x="6703920" y="1148400"/>
            <a:ext cx="4560480" cy="456048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75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432200" y="598320"/>
            <a:ext cx="3095640" cy="566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Cross 8"/>
          <p:cNvSpPr/>
          <p:nvPr/>
        </p:nvSpPr>
        <p:spPr>
          <a:xfrm>
            <a:off x="10818720" y="535320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7" name="Cross 10"/>
          <p:cNvSpPr/>
          <p:nvPr/>
        </p:nvSpPr>
        <p:spPr>
          <a:xfrm>
            <a:off x="6336000" y="8056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2000" cy="4037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2000" cy="110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8280" cy="5090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+ Subtitle 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Oval 4"/>
          <p:cNvSpPr/>
          <p:nvPr/>
        </p:nvSpPr>
        <p:spPr>
          <a:xfrm>
            <a:off x="3274920" y="609480"/>
            <a:ext cx="5637960" cy="563796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2" name="Left Brace 7"/>
          <p:cNvSpPr/>
          <p:nvPr/>
        </p:nvSpPr>
        <p:spPr>
          <a:xfrm>
            <a:off x="5560920" y="2022120"/>
            <a:ext cx="837360" cy="281340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280" cy="586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2760" cy="28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標題及內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3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Cross 8"/>
          <p:cNvSpPr/>
          <p:nvPr/>
        </p:nvSpPr>
        <p:spPr>
          <a:xfrm>
            <a:off x="8151840" y="567072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920B1DBC-BB42-485F-BDC1-4E00600CE9EE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dt" idx="21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2" name="Cross 14"/>
          <p:cNvSpPr/>
          <p:nvPr/>
        </p:nvSpPr>
        <p:spPr>
          <a:xfrm>
            <a:off x="7351560" y="441972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Freeform: Shape 4"/>
          <p:cNvSpPr/>
          <p:nvPr/>
        </p:nvSpPr>
        <p:spPr>
          <a:xfrm>
            <a:off x="8609040" y="-21960"/>
            <a:ext cx="3579120" cy="6901200"/>
          </a:xfrm>
          <a:custGeom>
            <a:avLst/>
            <a:gdLst>
              <a:gd name="textAreaLeft" fmla="*/ 0 w 3579120"/>
              <a:gd name="textAreaRight" fmla="*/ 3579840 w 3579120"/>
              <a:gd name="textAreaTop" fmla="*/ 0 h 6901200"/>
              <a:gd name="textAreaBottom" fmla="*/ 6901920 h 690120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dinchentech/tw-selfselect/blob/main/WSL&#24674;&#24489;.md" TargetMode="External"/><Relationship Id="rId2" Type="http://schemas.openxmlformats.org/officeDocument/2006/relationships/hyperlink" Target="https://github.com/dinchentech/tw-selfselect/blob/main/WSL&#24674;&#24489;.md" TargetMode="External"/><Relationship Id="rId3" Type="http://schemas.openxmlformats.org/officeDocument/2006/relationships/hyperlink" Target="https://github.com/dinchentech/tw-selfselect/blob/main/WSL&#24674;&#24489;.md" TargetMode="External"/><Relationship Id="rId4" Type="http://schemas.openxmlformats.org/officeDocument/2006/relationships/hyperlink" Target="https://github.com/dinchentech/tw-selfselect/blob/main/python_basic/&#38928;&#20808;&#28310;&#20633;.MD" TargetMode="External"/><Relationship Id="rId5" Type="http://schemas.openxmlformats.org/officeDocument/2006/relationships/hyperlink" Target="https://github.com/" TargetMode="External"/><Relationship Id="rId6" Type="http://schemas.openxmlformats.org/officeDocument/2006/relationships/hyperlink" Target="https://github.com/" TargetMode="External"/><Relationship Id="rId7" Type="http://schemas.openxmlformats.org/officeDocument/2006/relationships/hyperlink" Target="https://github.com/dinchentech/tw-selfselect/blob/main/python_basic/1-wsl-guide.md" TargetMode="External"/><Relationship Id="rId8" Type="http://schemas.openxmlformats.org/officeDocument/2006/relationships/hyperlink" Target="https://github.com/dinchentech/tw-selfselect/blob/main/python_basic/1-wsl-guide.md" TargetMode="External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slideLayout" Target="../slideLayouts/slideLayout13.xml"/><Relationship Id="rId1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280" cy="388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 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-W2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62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1293840" y="266760"/>
            <a:ext cx="792396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47500" lnSpcReduction="1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恢復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1293840" y="685800"/>
            <a:ext cx="10344960" cy="5637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ts val="2160"/>
              </a:lnSpc>
              <a:spcBef>
                <a:spcPts val="1800"/>
              </a:spcBef>
              <a:spcAft>
                <a:spcPts val="201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依照</a:t>
            </a:r>
            <a:r>
              <a:rPr lang="en-US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1"/>
              </a:rPr>
              <a:t>WSL</a:t>
            </a:r>
            <a:r>
              <a:rPr lang="zh-TW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2"/>
              </a:rPr>
              <a:t>恢復</a:t>
            </a:r>
            <a:r>
              <a:rPr lang="en-US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3"/>
              </a:rPr>
              <a:t>.md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中的恢復步驟把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系統建立起來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其他</a:t>
            </a:r>
            <a:r>
              <a:rPr lang="zh-TW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4"/>
              </a:rPr>
              <a:t>安裝程式</a:t>
            </a:r>
            <a:endParaRPr lang="en-US" sz="13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spcBef>
                <a:spcPts val="1800"/>
              </a:spcBef>
              <a:spcAft>
                <a:spcPts val="201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3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學員需要自己準備的</a:t>
            </a:r>
            <a:r>
              <a:rPr lang="en-US" sz="13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3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複製必要的</a:t>
            </a:r>
            <a:r>
              <a:rPr lang="en-US" sz="13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ini.example</a:t>
            </a:r>
            <a:r>
              <a:rPr lang="zh-TW" sz="13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config.simulation.ini,P12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檔…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..</a:t>
            </a:r>
            <a:endParaRPr lang="en-US" sz="13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spcBef>
                <a:spcPts val="1800"/>
              </a:spcBef>
              <a:spcAft>
                <a:spcPts val="201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清除原來的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~/tw-selfselect/.git, 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強烈建議自己申請一個</a:t>
            </a:r>
            <a:r>
              <a:rPr lang="en-US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5"/>
              </a:rPr>
              <a:t>git</a:t>
            </a:r>
            <a:r>
              <a:rPr lang="zh-TW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6"/>
              </a:rPr>
              <a:t>帳戶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如果你要修改程式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3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spcBef>
                <a:spcPts val="1800"/>
              </a:spcBef>
              <a:spcAft>
                <a:spcPts val="201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cmd.exe:  wsl –d ubuntu (</a:t>
            </a:r>
            <a:r>
              <a:rPr lang="en-US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7"/>
              </a:rPr>
              <a:t>wsl</a:t>
            </a:r>
            <a:r>
              <a:rPr lang="zh-TW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8"/>
              </a:rPr>
              <a:t>簡易說明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3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spcAft>
                <a:spcPts val="201"/>
              </a:spcAft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spcAft>
                <a:spcPts val="201"/>
              </a:spcAft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spcAft>
                <a:spcPts val="201"/>
              </a:spcAft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spcAft>
                <a:spcPts val="201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電腦有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Linux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盤出現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3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spcAft>
                <a:spcPts val="201"/>
              </a:spcAft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spcAft>
                <a:spcPts val="201"/>
              </a:spcAft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04" name="圖片 7"/>
          <p:cNvPicPr/>
          <p:nvPr/>
        </p:nvPicPr>
        <p:blipFill>
          <a:blip r:embed="rId9"/>
          <a:stretch/>
        </p:blipFill>
        <p:spPr>
          <a:xfrm>
            <a:off x="1630080" y="3913560"/>
            <a:ext cx="9672480" cy="2331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" name="Picture 105" descr="wsl_terminal.png"/>
          <p:cNvPicPr/>
          <p:nvPr/>
        </p:nvPicPr>
        <p:blipFill>
          <a:blip r:embed="rId10"/>
          <a:stretch/>
        </p:blipFill>
        <p:spPr>
          <a:xfrm>
            <a:off x="1630080" y="2121480"/>
            <a:ext cx="9672480" cy="1508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D705E669-207A-4307-95ED-1DB07EE5B6B3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488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如果你沒有學過電腦編程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080" cy="533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電腦語言是人與電腦溝通的工具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常見有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C,C++,Python, Scratch(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圖形化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電腦語言必須遵守嚴格的電腦文法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我們不必會寫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但是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寫出來的能看懂會方便查錯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語法的元素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資料型態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變數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控制結構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函式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與資料結構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BE1E3C19-AF8C-46E2-A72E-59C7EC2E22CF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488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080" cy="533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資料型態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(Data Types)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用來分類與儲存不同資料的基本格式：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整數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(int)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10, -5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浮點數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(float)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3.14, 0.0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字串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(str)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：用單引號或雙引號包覆的文字，例如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"Hello"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布林值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(bool)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：只有 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True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 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False 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偽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兩種值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D3B6A670-2BAE-40F3-82A4-6590BF5705DA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488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080" cy="533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變數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(Variables)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用來存放資料的標籤或容器：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動態型別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：宣告變數時不需要指定型態，直接賦值即可（例如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 = 5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命名規則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：必須以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字母或底線開頭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區分大小寫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運算子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(Operators)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用來對資料進行運算與邏輯判斷的符號：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算術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+, -, *, 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（除法）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//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（整除）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（取餘數）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（次方）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比較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==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（等於）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!=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（不等於）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&gt;, &lt;, &gt;=, &lt;=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邏輯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and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（且）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or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（或）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not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（非）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53E1D481-119D-47DA-A073-3813C0103E73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488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080" cy="533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控制結構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(Control Structures)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決定程式執行流程的語法：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條件判斷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(if-elif-else)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：依據條件是否成立，決定執行哪一段程式碼。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(Loops)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：重複執行特定程式碼，包含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for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迴圈（走訪固定範圍）與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while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迴圈（條件成立時持續執行）。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內建資料結構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(Data Structures)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用來組織與管理大量資料的容器：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串列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(List)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動、有順序的資料集合，例如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[1, 2, "apple"]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元組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(Tuple)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不可變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動、有順序的資料集合，例如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(10, 20)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字典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(Dictionary)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鍵值對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(Key-Value)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的結構，例如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{"name": "Alice", "age": 25}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集合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(Set)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無序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且不重複的資料集合，例如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{1, 2, 3}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C786B64A-CAFB-4AD5-9FE2-620497F08A57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488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080" cy="533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6.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函式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(Functions)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將重複使用的程式碼包裝成獨立區塊：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使用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def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關鍵字定義，可以接收參數並透過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return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回傳結果。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下執行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activate_venv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打開左邊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python_basic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python_basic/week-01-calc_return.py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打開左下方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terminal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點擊右上方綠三角左邊選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current file,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再點擊綠三角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(RUN)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</a:t>
            </a: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7F5A09B9-A91E-4EE2-B0B3-38C6F34F0082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28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8" name="圖片 5"/>
          <p:cNvPicPr/>
          <p:nvPr/>
        </p:nvPicPr>
        <p:blipFill>
          <a:blip r:embed="rId1"/>
          <a:stretch/>
        </p:blipFill>
        <p:spPr>
          <a:xfrm>
            <a:off x="0" y="609480"/>
            <a:ext cx="12188160" cy="624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" name="文字方塊 1"/>
          <p:cNvSpPr/>
          <p:nvPr/>
        </p:nvSpPr>
        <p:spPr>
          <a:xfrm>
            <a:off x="1607040" y="230760"/>
            <a:ext cx="106293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這個是執行結果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,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請看下方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Terminal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的輸出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,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上方則是程式區的程式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,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看看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print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的指令跟下方對應的輸出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270AFF21-A7A2-41FC-B51D-33502BA45F59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/>
          </p:nvPr>
        </p:nvSpPr>
        <p:spPr>
          <a:xfrm>
            <a:off x="1311120" y="2286000"/>
            <a:ext cx="457128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21" name="圖片 5"/>
          <p:cNvPicPr/>
          <p:nvPr/>
        </p:nvPicPr>
        <p:blipFill>
          <a:blip r:embed="rId1"/>
          <a:stretch/>
        </p:blipFill>
        <p:spPr>
          <a:xfrm>
            <a:off x="511920" y="731520"/>
            <a:ext cx="11658600" cy="5955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文字方塊 1"/>
          <p:cNvSpPr/>
          <p:nvPr/>
        </p:nvSpPr>
        <p:spPr>
          <a:xfrm>
            <a:off x="685800" y="228600"/>
            <a:ext cx="113198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這是一個偵錯的畫面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,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上方程式區顯示程式執行到斷點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(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紅點處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),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下方則是變數觀察出顯示目前程式執行到這裡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的值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,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左上方綠三角可以執行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,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紅方塊可以停止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,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中間綠圓箭頭可以繼續執行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F921CDC5-B73A-432B-8D49-2AF24E91B691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438560" cy="91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有興趣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的人可以自行練習其他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PythonW2~W8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課程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1311120" y="1447920"/>
            <a:ext cx="10344960" cy="510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基本上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TW-SELFSELECT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所有編程由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 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完成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偶而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會發生 格式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TAB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沒對齊可以於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中選取沒對齊段落加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TAB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shiftTAB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如果你想更深入了解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可以在往下瞭解怎樣使用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進行偵錯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大部分的時候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有辦法自行找問題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並修改更正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只有極少數程式會卡死在某一個地方而一直找不到原因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這時候人為使用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就能很快告訴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程式是卡在哪裡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3A31AEB3-1356-4A27-8686-4AEDDE929042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2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:Local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2680" cy="533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①  LOCAL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（你的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 / Windows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開發環境（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Git repo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）：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~/tw-selfselect/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- selfselect_trader.py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（主程式源碼）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- strategies/ core/ data/ utils/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- scripts/deploy_source.sh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（一鍵部署）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- .env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（設定；不進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git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- esun_sdk/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whl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（進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git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）、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p12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／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ini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（不進）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- Dockerfile / docker-compose.yml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▼ ./deploy_source.sh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（人工執行）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preflight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測試 →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 build → SSH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直傳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image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E8E452CD-E1F1-42F0-A591-541FE4487D25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2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:VM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2680" cy="533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Century Gothic"/>
              </a:rPr>
              <a:t>②  GCP VM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Century Gothic"/>
              </a:rPr>
              <a:t>（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Century Gothic"/>
              </a:rPr>
              <a:t>Google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Century Gothic"/>
              </a:rPr>
              <a:t>雲端主機）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Century Gothic"/>
              </a:rPr>
              <a:t>   實例：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Century Gothic"/>
              </a:rPr>
              <a:t>tw-selfselect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Century Gothic"/>
              </a:rPr>
              <a:t>（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Century Gothic"/>
              </a:rPr>
              <a:t>asia-east1-b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Century Gothic"/>
              </a:rPr>
              <a:t>；名稱可自取）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Century Gothic"/>
              </a:rPr>
              <a:t>   部署目錄（非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Century Gothic"/>
              </a:rPr>
              <a:t>git repo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Century Gothic"/>
              </a:rPr>
              <a:t>）：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Century Gothic"/>
              </a:rPr>
              <a:t>~/tw-selfselect/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Century Gothic"/>
              </a:rPr>
              <a:t>     - .env / docker-compose.yml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Century Gothic"/>
              </a:rPr>
              <a:t>     - logs/  backups/  cache/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Century Gothic"/>
              </a:rPr>
              <a:t>（活資料）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Century Gothic"/>
              </a:rPr>
              <a:t>     -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Century Gothic"/>
              </a:rPr>
              <a:t>舊專案目錄（遷移前的目錄，保留可回滾）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Century Gothic"/>
              </a:rPr>
              <a:t>   ▼ docker compose up -d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Century Gothic"/>
              </a:rPr>
              <a:t>     容器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Century Gothic"/>
              </a:rPr>
              <a:t>tw_selfselect_bot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DDB350CE-D5C4-4463-9F33-107B9AA2603A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2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:Docker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容器內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單純環境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2680" cy="533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③  DOCKER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容器（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內）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tw_selfselect_bot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python:3.11-slim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/app/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：映像內複製的程式碼（不可變）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- selfselect_trader.py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（實際執行）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- strategies/ core/ data/ utils/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- esun_sdk/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whl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＋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config ini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＋ 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p12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掛載：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/app/.env  /app/logs  /app/backups  /app/cache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   → VM 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實體目錄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CMD</a:t>
            </a: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 selfselect_trader.py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A06D2911-57A1-49E3-8E90-D816033D9B95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2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2680" cy="533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三層關係說明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① Local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（開發層）— 你的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唯一有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Git repo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的地方，所有程式碼的「源頭」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放著：主程式源碼、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scripts/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（含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deploy_source.sh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）、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.env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esun_sdk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whl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git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；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p12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／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ini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不進）、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Dockerfile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② GCP VM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（部署層）— 雲端主機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部署方式：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./deploy_source.sh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（本機建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image → SSH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直傳 →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載入 → 驗指紋）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目錄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~/tw-selfselect/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（非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git repo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）；舊專案目錄（遷移前目錄）保留可回滾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注意：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上的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.env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logs/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cache/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是「活資料」——程式每天在寫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③ Docker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容器（執行層）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tw_selfselect_bot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透過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個掛載目錄與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即時連線；映像不可變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F5DD752A-3018-41FD-A3E7-AE4A9AC418FF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2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graphicFrame>
        <p:nvGraphicFramePr>
          <p:cNvPr id="134" name="內容版面配置區 4"/>
          <p:cNvGraphicFramePr/>
          <p:nvPr/>
        </p:nvGraphicFramePr>
        <p:xfrm>
          <a:off x="1522440" y="3135600"/>
          <a:ext cx="9471240" cy="2194200"/>
        </p:xfrm>
        <a:graphic>
          <a:graphicData uri="http://schemas.openxmlformats.org/drawingml/2006/table">
            <a:tbl>
              <a:tblPr/>
              <a:tblGrid>
                <a:gridCol w="3157200"/>
                <a:gridCol w="3157200"/>
                <a:gridCol w="3157200"/>
              </a:tblGrid>
              <a:tr h="426600">
                <a:tc>
                  <a:txBody>
                    <a:bodyPr lIns="68400" tIns="0" rIns="68400" bIns="0" anchor="b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容器內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tIns="0" rIns="68400" bIns="0" anchor="b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→ VM </a:t>
                      </a: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上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tIns="0" rIns="68400" bIns="0" anchor="b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用途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</a:tr>
              <a:tr h="426600">
                <a:tc>
                  <a:txBody>
                    <a:bodyPr lIns="68400" tIns="0" rIns="6840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/app/.env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 lIns="68400" tIns="0" rIns="6840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./.env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 lIns="68400" tIns="0" rIns="6840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設定即時生效（改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 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.env 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不用重建映像）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</a:tr>
              <a:tr h="426600">
                <a:tc>
                  <a:txBody>
                    <a:bodyPr lIns="68400" tIns="0" rIns="6840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/app/logs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 lIns="68400" tIns="0" rIns="6840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./logs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tIns="0" rIns="6840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日誌寫入 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VM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，容器銷毀不丟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</a:tr>
              <a:tr h="426600">
                <a:tc>
                  <a:txBody>
                    <a:bodyPr lIns="68400" tIns="0" rIns="6840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/app/backups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 lIns="68400" tIns="0" rIns="6840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./backups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 lIns="68400" tIns="0" rIns="6840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.env 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備份（自動備份）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</a:tr>
              <a:tr h="426600">
                <a:tc>
                  <a:txBody>
                    <a:bodyPr lIns="68400" tIns="0" rIns="6840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/app/cache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 lIns="68400" tIns="0" rIns="6840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./cache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tIns="0" rIns="6840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歷史股本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選股快取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35" name="文字方塊 6"/>
          <p:cNvSpPr/>
          <p:nvPr/>
        </p:nvSpPr>
        <p:spPr>
          <a:xfrm>
            <a:off x="1522440" y="1295280"/>
            <a:ext cx="9752760" cy="168696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③ Docker </a:t>
            </a:r>
            <a:r>
              <a:rPr lang="zh-TW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容器（執行層）—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VM </a:t>
            </a:r>
            <a:r>
              <a:rPr lang="zh-TW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內部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docker compose up -d </a:t>
            </a:r>
            <a:r>
              <a:rPr lang="zh-TW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啟動容器，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CMD: python selfselect_trader.py </a:t>
            </a:r>
            <a:r>
              <a:rPr lang="zh-TW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在容器內實際執行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映像（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image</a:t>
            </a:r>
            <a:r>
              <a:rPr lang="zh-TW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）由本機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./deploy_source.sh </a:t>
            </a:r>
            <a:r>
              <a:rPr lang="zh-TW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建置後直傳到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VM——</a:t>
            </a:r>
            <a:r>
              <a:rPr lang="zh-TW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容器內的程式是「照片副本」，改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VM </a:t>
            </a:r>
            <a:r>
              <a:rPr lang="zh-TW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上的檔案不會影響已建的映像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關鍵設計（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volumes </a:t>
            </a:r>
            <a:r>
              <a:rPr lang="zh-TW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掛載）：容器內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4 </a:t>
            </a:r>
            <a:r>
              <a:rPr lang="zh-TW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個目錄指向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VM </a:t>
            </a:r>
            <a:r>
              <a:rPr lang="zh-TW" sz="20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實體目錄：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C09941A4-EF85-49CA-BF4E-7391DCD5BE00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2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608040" y="1143000"/>
            <a:ext cx="10438560" cy="540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修改流程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改程式碼（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）→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./deploy_source.sh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（人工執行：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preflight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測試 →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build → SSH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直傳 →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載入 → 驗指紋）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改設定（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.env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）→ 編輯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~/tw-selfselect/.env →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主程式熱重載（最慢約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分鐘）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看日誌 →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sudo docker logs tw_selfselect_bot --tail 30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（或直接用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VM_log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別名）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白話總結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 =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你的「開發車間」，改程式的地方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=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雲端的「倉庫」，放著要跑的檔案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每天產生的資料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 =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倉庫裡的「封閉作業員」，只照著映像裡的程式碼跑，但設定和資料透過掛載跟倉庫即時連線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3AC4F101-7FE9-4F87-A42F-8F146FE13B7B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2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1158120" y="1295280"/>
            <a:ext cx="10438560" cy="540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常用指令速查</a:t>
            </a:r>
            <a:endParaRPr lang="en-US" sz="2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 Local</a:t>
            </a:r>
            <a:r>
              <a:rPr lang="zh-TW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：部署（人工執行；內含 </a:t>
            </a: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preflight </a:t>
            </a:r>
            <a:r>
              <a:rPr lang="zh-TW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測試與指紋驗證）</a:t>
            </a:r>
            <a:endParaRPr lang="en-US" sz="2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./deploy_source.sh</a:t>
            </a:r>
            <a:endParaRPr lang="en-US" sz="2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 VM</a:t>
            </a:r>
            <a:r>
              <a:rPr lang="zh-TW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：重啟容器</a:t>
            </a:r>
            <a:endParaRPr lang="en-US" sz="2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cd ~/tw-selfselect &amp;&amp; sudo docker compose down &amp;&amp; sudo docker compose up -d</a:t>
            </a:r>
            <a:endParaRPr lang="en-US" sz="2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 VM</a:t>
            </a:r>
            <a:r>
              <a:rPr lang="zh-TW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：看日誌（也可以用 </a:t>
            </a: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VM_log </a:t>
            </a:r>
            <a:r>
              <a:rPr lang="zh-TW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別名）</a:t>
            </a:r>
            <a:endParaRPr lang="en-US" sz="2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sudo docker logs tw_selfselect_bot --tail 30</a:t>
            </a:r>
            <a:endParaRPr lang="en-US" sz="2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 VM</a:t>
            </a:r>
            <a:r>
              <a:rPr lang="zh-TW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：看容器狀態</a:t>
            </a:r>
            <a:endParaRPr lang="en-US" sz="2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sudo docker ps</a:t>
            </a:r>
            <a:endParaRPr lang="en-US" sz="2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 Local</a:t>
            </a:r>
            <a:r>
              <a:rPr lang="zh-TW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SSH </a:t>
            </a:r>
            <a:r>
              <a:rPr lang="zh-TW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 </a:t>
            </a: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</a:t>
            </a:r>
            <a:endParaRPr lang="en-US" sz="2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gcloud compute ssh tw-selfselect --zone=asia-east1-b   # </a:t>
            </a:r>
            <a:r>
              <a:rPr lang="zh-TW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名稱需與 </a:t>
            </a: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.env </a:t>
            </a:r>
            <a:r>
              <a:rPr lang="zh-TW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 </a:t>
            </a: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SYNC_VM_NAME </a:t>
            </a:r>
            <a:r>
              <a:rPr lang="zh-TW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一致</a:t>
            </a:r>
            <a:endParaRPr lang="en-US" sz="2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 </a:t>
            </a:r>
            <a:r>
              <a:rPr lang="zh-TW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本機 </a:t>
            </a: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alias</a:t>
            </a:r>
            <a:r>
              <a:rPr lang="zh-TW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.bashrc</a:t>
            </a:r>
            <a:r>
              <a:rPr lang="zh-TW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2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 VM_pick</a:t>
            </a:r>
            <a:r>
              <a:rPr lang="zh-TW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／</a:t>
            </a: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VM_sync_env</a:t>
            </a:r>
            <a:r>
              <a:rPr lang="zh-TW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／</a:t>
            </a: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VM_push_env</a:t>
            </a:r>
            <a:r>
              <a:rPr lang="zh-TW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／</a:t>
            </a: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VM_pick_first</a:t>
            </a:r>
            <a:r>
              <a:rPr lang="zh-TW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／</a:t>
            </a: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VM_sync_cache</a:t>
            </a:r>
            <a:r>
              <a:rPr lang="zh-TW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／</a:t>
            </a: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VM_log</a:t>
            </a:r>
            <a:r>
              <a:rPr lang="zh-TW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／</a:t>
            </a:r>
            <a:r>
              <a:rPr lang="en-US" sz="2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VM_hold</a:t>
            </a:r>
            <a:endParaRPr lang="en-US" sz="2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172C7067-BC08-4A30-A617-DF7422D8A3DA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13400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當程式卡死的時候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=&gt;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421280" cy="533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首先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我們了解一下系統架構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當程式在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內卡死時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很難檢查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因此由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來執行比較好查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內最重要的差異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到玉山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存取資料的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是靜態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且已經於玉山證卷網站設定過白名單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如果你要在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 debug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玉山下單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你一樣要把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你的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電腦的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設為固定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然後也必須把這個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加到玉山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的網站內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以下是使用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來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的流程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先於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tw-selfselect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目錄中輸入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5A8CE520-A2B5-4E0C-B4D7-E3A74C22F4C7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4761720" cy="68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51DE0CE2-7F12-4151-AC38-F1F6A7EE6E29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19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4" name="內容版面配置區 5"/>
          <p:cNvPicPr/>
          <p:nvPr/>
        </p:nvPicPr>
        <p:blipFill>
          <a:blip r:embed="rId1"/>
          <a:stretch/>
        </p:blipFill>
        <p:spPr>
          <a:xfrm>
            <a:off x="1032480" y="685800"/>
            <a:ext cx="5200200" cy="556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PlaceHolder 3"/>
          <p:cNvSpPr>
            <a:spLocks noGrp="1"/>
          </p:cNvSpPr>
          <p:nvPr>
            <p:ph/>
          </p:nvPr>
        </p:nvSpPr>
        <p:spPr>
          <a:xfrm>
            <a:off x="6361200" y="838080"/>
            <a:ext cx="5562000" cy="533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把滑鼠游標移到左上的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會顯示功能名稱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Project(ALT +1)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Structure(ALT+7),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這時候你可以看到左上方的專案目錄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用滑鼠中間滾輪上下移動找出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selfselect_trader.py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並双擊就會顯示源碼於右邊視窗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Project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視窗下是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Strurcture,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是目前源碼工作區的程式元素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(function,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,…)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把滑鼠游標移到左下的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上點擊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Terminal(ALT+F12),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視窗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請注意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出現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(.venv) frank@DESKTOP-EUEMD3C:~/tw-selfselect$</a:t>
            </a:r>
            <a:br>
              <a:rPr sz="2000"/>
            </a:b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如果沒有前面的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(.venv),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中執行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activate_venv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enable .venv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目錄下的虛擬環境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466760" cy="68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 config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選擇執行的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版本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8CF73A4C-F2DB-49C5-804D-CFA6133016BD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20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6361200" y="838080"/>
            <a:ext cx="5562000" cy="1751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在右上方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檔名旁邊點下向下箭頭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Edit Configuration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9" name="內容版面配置區 7"/>
          <p:cNvPicPr/>
          <p:nvPr/>
        </p:nvPicPr>
        <p:blipFill>
          <a:blip r:embed="rId1"/>
          <a:stretch/>
        </p:blipFill>
        <p:spPr>
          <a:xfrm>
            <a:off x="836640" y="718920"/>
            <a:ext cx="4571280" cy="1892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0" name="圖片 9"/>
          <p:cNvPicPr/>
          <p:nvPr/>
        </p:nvPicPr>
        <p:blipFill>
          <a:blip r:embed="rId2"/>
          <a:stretch/>
        </p:blipFill>
        <p:spPr>
          <a:xfrm>
            <a:off x="836640" y="3014640"/>
            <a:ext cx="7648920" cy="271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Content Placeholder 4"/>
          <p:cNvSpPr/>
          <p:nvPr/>
        </p:nvSpPr>
        <p:spPr>
          <a:xfrm>
            <a:off x="8685360" y="3014640"/>
            <a:ext cx="3134160" cy="175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RUN/DEBUG Configurations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選擇你要執行的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版本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.venv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內的版本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771680" cy="68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 config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RUN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Script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及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907FD87E-501B-48D9-BEDD-EB826A9B97ED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21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Content Placeholder 4"/>
          <p:cNvSpPr/>
          <p:nvPr/>
        </p:nvSpPr>
        <p:spPr>
          <a:xfrm>
            <a:off x="7008840" y="1143000"/>
            <a:ext cx="4810320" cy="362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Script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檔就是我們要執行的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檔就是我們執行這個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程式時的環境變數設定檔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不同程式可以用不同的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不用像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windows,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不方便修改環境變數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確定後先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Apply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OK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5" name="內容版面配置區 14"/>
          <p:cNvPicPr/>
          <p:nvPr/>
        </p:nvPicPr>
        <p:blipFill>
          <a:blip r:embed="rId1"/>
          <a:stretch/>
        </p:blipFill>
        <p:spPr>
          <a:xfrm>
            <a:off x="760320" y="990720"/>
            <a:ext cx="5955840" cy="5409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設定執行斷點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07839287-EA5B-4362-B7EF-A20DD9498A48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22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8" name="內容版面配置區 6"/>
          <p:cNvPicPr/>
          <p:nvPr/>
        </p:nvPicPr>
        <p:blipFill>
          <a:blip r:embed="rId1"/>
          <a:srcRect l="0" t="0" r="24203" b="0"/>
          <a:stretch/>
        </p:blipFill>
        <p:spPr>
          <a:xfrm>
            <a:off x="760320" y="1295280"/>
            <a:ext cx="5877360" cy="492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Content Placeholder 4"/>
          <p:cNvSpPr/>
          <p:nvPr/>
        </p:nvSpPr>
        <p:spPr>
          <a:xfrm>
            <a:off x="6778800" y="1324080"/>
            <a:ext cx="491112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設定斷點可以讓程式執行到這一行時停止下來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設定不同斷點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可以知道程式執行的過程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打開源碼視窗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於左邊行號欄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(192)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點擊即可設置斷點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紅點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1279440" y="343080"/>
            <a:ext cx="4914360" cy="64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開始偵錯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(DEBUG)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FC0FA853-1F71-4C7D-A5F2-F768E80D00F3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23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Content Placeholder 4"/>
          <p:cNvSpPr/>
          <p:nvPr/>
        </p:nvSpPr>
        <p:spPr>
          <a:xfrm>
            <a:off x="6780240" y="1247760"/>
            <a:ext cx="4911120" cy="10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selfselect_trader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旁的小蟲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icon(Shift+F9)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即可開始偵錯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3" name="內容版面配置區 9"/>
          <p:cNvPicPr/>
          <p:nvPr/>
        </p:nvPicPr>
        <p:blipFill>
          <a:blip r:embed="rId1"/>
          <a:stretch/>
        </p:blipFill>
        <p:spPr>
          <a:xfrm>
            <a:off x="842400" y="2666880"/>
            <a:ext cx="5711400" cy="3809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4" name="圖片 7"/>
          <p:cNvPicPr/>
          <p:nvPr/>
        </p:nvPicPr>
        <p:blipFill>
          <a:blip r:embed="rId2"/>
          <a:stretch/>
        </p:blipFill>
        <p:spPr>
          <a:xfrm>
            <a:off x="842400" y="914400"/>
            <a:ext cx="5648400" cy="159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Content Placeholder 4"/>
          <p:cNvSpPr/>
          <p:nvPr/>
        </p:nvSpPr>
        <p:spPr>
          <a:xfrm>
            <a:off x="6856560" y="2590920"/>
            <a:ext cx="4911120" cy="38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lnSpcReduction="9999"/>
          </a:bodyPr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左圖顯示順利停在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左下方自動切到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視窗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(ALT+5)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左下方左邊顯示目前停在哪一個執行序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一般程式可能有多個執行序並行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的哪一行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目前是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MianThread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左下方右邊顯示目前變數的值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如某個變數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=(int)5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左下視窗上方有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RERUN/STOP/… ICON,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下一張說明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8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8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771680" cy="68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的流程控制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ldNum" idx="30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4598CB0B-7941-41CB-8395-0E41F6ED8ED8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24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1293840" y="2562480"/>
            <a:ext cx="1011636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核心控制（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工具列）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按鈕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快捷鍵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作用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Over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（步過）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F8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執行目前這一行，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不進入函式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內部（函式一次跑完）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Into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（步入）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F7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執行目前這一行，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進入函式內部逐步看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Out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（步出）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Shift+F8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從目前函式直接跳回呼叫它的上一層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Resume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（繼續）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F9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恢復正常執行，直到下一個中斷點或程式結束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Stop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（停止）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Ctrl+F2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終止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註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:1.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請注意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Over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Into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的差異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最右邊是右斜線加紅圈是暫時停用斷點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左上方也有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RESUME/RESTART/STOP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可以選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9" name="文字方塊 8"/>
          <p:cNvSpPr/>
          <p:nvPr/>
        </p:nvSpPr>
        <p:spPr>
          <a:xfrm>
            <a:off x="1598760" y="1143000"/>
            <a:ext cx="9371880" cy="5328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sp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170" name="圖片 10"/>
          <p:cNvPicPr/>
          <p:nvPr/>
        </p:nvPicPr>
        <p:blipFill>
          <a:blip r:embed="rId1"/>
          <a:stretch/>
        </p:blipFill>
        <p:spPr>
          <a:xfrm>
            <a:off x="1598760" y="797400"/>
            <a:ext cx="7009560" cy="99396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71" name="直線單箭頭接點 13"/>
          <p:cNvCxnSpPr/>
          <p:nvPr/>
        </p:nvCxnSpPr>
        <p:spPr>
          <a:xfrm flipV="1">
            <a:off x="3427200" y="1523880"/>
            <a:ext cx="1220040" cy="2096280"/>
          </a:xfrm>
          <a:prstGeom prst="straightConnector1">
            <a:avLst/>
          </a:prstGeom>
          <a:ln w="0">
            <a:solidFill>
              <a:srgbClr val="FF0000"/>
            </a:solidFill>
            <a:tailEnd len="med" type="triangle" w="med"/>
          </a:ln>
        </p:spPr>
      </p:cxnSp>
      <p:cxnSp>
        <p:nvCxnSpPr>
          <p:cNvPr id="172" name="直線單箭頭接點 16"/>
          <p:cNvCxnSpPr/>
          <p:nvPr/>
        </p:nvCxnSpPr>
        <p:spPr>
          <a:xfrm flipV="1">
            <a:off x="3350880" y="1409400"/>
            <a:ext cx="1982160" cy="2629800"/>
          </a:xfrm>
          <a:prstGeom prst="straightConnector1">
            <a:avLst/>
          </a:prstGeom>
          <a:ln w="0">
            <a:solidFill>
              <a:srgbClr val="FF0000"/>
            </a:solidFill>
            <a:tailEnd len="med" type="triangle" w="med"/>
          </a:ln>
        </p:spPr>
      </p:cxnSp>
      <p:cxnSp>
        <p:nvCxnSpPr>
          <p:cNvPr id="173" name="直線單箭頭接點 18"/>
          <p:cNvCxnSpPr/>
          <p:nvPr/>
        </p:nvCxnSpPr>
        <p:spPr>
          <a:xfrm flipV="1">
            <a:off x="3427200" y="1523880"/>
            <a:ext cx="3201120" cy="3048840"/>
          </a:xfrm>
          <a:prstGeom prst="straightConnector1">
            <a:avLst/>
          </a:prstGeom>
          <a:ln w="0">
            <a:solidFill>
              <a:srgbClr val="FF0000"/>
            </a:solidFill>
            <a:tailEnd len="med" type="triangle" w="med"/>
          </a:ln>
        </p:spPr>
      </p:cxnSp>
      <p:cxnSp>
        <p:nvCxnSpPr>
          <p:cNvPr id="174" name="直線單箭頭接點 20"/>
          <p:cNvCxnSpPr/>
          <p:nvPr/>
        </p:nvCxnSpPr>
        <p:spPr>
          <a:xfrm flipV="1">
            <a:off x="3274920" y="1676160"/>
            <a:ext cx="153000" cy="3429720"/>
          </a:xfrm>
          <a:prstGeom prst="straightConnector1">
            <a:avLst/>
          </a:prstGeom>
          <a:ln w="0">
            <a:solidFill>
              <a:srgbClr val="FF0000"/>
            </a:solidFill>
            <a:tailEnd len="med" type="triangle" w="med"/>
          </a:ln>
        </p:spPr>
      </p:cxnSp>
      <p:cxnSp>
        <p:nvCxnSpPr>
          <p:cNvPr id="175" name="直線單箭頭接點 22"/>
          <p:cNvCxnSpPr/>
          <p:nvPr/>
        </p:nvCxnSpPr>
        <p:spPr>
          <a:xfrm flipV="1">
            <a:off x="2360520" y="1676160"/>
            <a:ext cx="381600" cy="3886920"/>
          </a:xfrm>
          <a:prstGeom prst="straightConnector1">
            <a:avLst/>
          </a:prstGeom>
          <a:ln w="0">
            <a:solidFill>
              <a:srgbClr val="FF0000"/>
            </a:solidFill>
            <a:tailEnd len="med" type="triangle" w="med"/>
          </a:ln>
        </p:spPr>
      </p:cxnSp>
      <p:pic>
        <p:nvPicPr>
          <p:cNvPr id="176" name="圖片 27"/>
          <p:cNvPicPr/>
          <p:nvPr/>
        </p:nvPicPr>
        <p:blipFill>
          <a:blip r:embed="rId2"/>
          <a:stretch/>
        </p:blipFill>
        <p:spPr>
          <a:xfrm>
            <a:off x="5798880" y="5715000"/>
            <a:ext cx="2809440" cy="704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變數的觀察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sldNum" idx="31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375F24CF-9510-4EDB-A223-54B40BCBCBAF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25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9" name="內容版面配置區 10"/>
          <p:cNvPicPr/>
          <p:nvPr/>
        </p:nvPicPr>
        <p:blipFill>
          <a:blip r:embed="rId1"/>
          <a:srcRect l="0" t="0" r="3080" b="0"/>
          <a:stretch/>
        </p:blipFill>
        <p:spPr>
          <a:xfrm>
            <a:off x="379440" y="1295280"/>
            <a:ext cx="5889960" cy="5104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0" name="Content Placeholder 4"/>
          <p:cNvSpPr/>
          <p:nvPr/>
        </p:nvSpPr>
        <p:spPr>
          <a:xfrm>
            <a:off x="6246720" y="1447920"/>
            <a:ext cx="5562000" cy="39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停止時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在源碼視窗把滑鼠移到變數上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如左圖的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today_str_init)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就能即時顯示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下方的變數視窗也有目前源碼的變數顯示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變數左邊有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&gt;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箭頭的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可以點一下展開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強制停止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(PAUSE)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82" name="PlaceHolder 2"/>
          <p:cNvSpPr>
            <a:spLocks noGrp="1"/>
          </p:cNvSpPr>
          <p:nvPr>
            <p:ph type="sldNum" idx="32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3981853F-161C-499C-9603-30F485E5F22F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26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Content Placeholder 4"/>
          <p:cNvSpPr/>
          <p:nvPr/>
        </p:nvSpPr>
        <p:spPr>
          <a:xfrm>
            <a:off x="8075520" y="1390680"/>
            <a:ext cx="3733200" cy="39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RESUME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讓程式繼續跑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左下右上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TAB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點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Console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可以發現程式順利執行到最後休眠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ct val="90000"/>
              </a:lnSpc>
              <a:spcBef>
                <a:spcPts val="1800"/>
              </a:spcBef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這時候無法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PAUSE(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暫停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因為已經休眠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只能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STOP(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終止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4" name="內容版面配置區 7"/>
          <p:cNvPicPr/>
          <p:nvPr/>
        </p:nvPicPr>
        <p:blipFill>
          <a:blip r:embed="rId1"/>
          <a:stretch/>
        </p:blipFill>
        <p:spPr>
          <a:xfrm>
            <a:off x="797040" y="1343160"/>
            <a:ext cx="7161120" cy="396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5" name="文字方塊 5"/>
          <p:cNvSpPr/>
          <p:nvPr/>
        </p:nvSpPr>
        <p:spPr>
          <a:xfrm>
            <a:off x="3286080" y="596520"/>
            <a:ext cx="183960" cy="36864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程式卡死的處理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 type="sldNum" idx="33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8109728C-F2BC-45B7-85FB-870C68F1CE31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Content Placeholder 4"/>
          <p:cNvSpPr/>
          <p:nvPr/>
        </p:nvSpPr>
        <p:spPr>
          <a:xfrm>
            <a:off x="1293840" y="1523880"/>
            <a:ext cx="10514880" cy="38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當程式卡死時由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來查比較費時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無法執行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強制執行中的程式停止下來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因此使用者可以先於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local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環境使用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卡死停下來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可以告訴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目前停下來的行號以及相關的變數值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就能很快的協助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找出卡死的原因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一般只要程式不卡死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都能經由自己寫測試程式及修改程式加上必要的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log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收集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要判斷的資訊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就能排除程式的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bug.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只有一卡死就卡個數十分鐘的特殊狀況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沒有使用者協助時會比較花費時間偵錯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文字方塊 5"/>
          <p:cNvSpPr/>
          <p:nvPr/>
        </p:nvSpPr>
        <p:spPr>
          <a:xfrm>
            <a:off x="3286080" y="596520"/>
            <a:ext cx="183960" cy="36864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280" cy="586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2760" cy="23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 pitchFamily="0" charset="1"/>
        <a:ea typeface=""/>
        <a:cs typeface=""/>
      </a:majorFont>
      <a:minorFont>
        <a:latin typeface="Century Gothic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1007</TotalTime>
  <Application>LibreOffice/26.2.6.3$Windows_X86_64 LibreOffice_project/8221e31b3ac356a1623c672912a3d2b492f7e3d1</Application>
  <AppVersion>15.0000</AppVersion>
  <Words>2906</Words>
  <Paragraphs>194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2026-07-14T08:04:07Z</dcterms:created>
  <dc:creator>宜軒 謝</dc:creator>
  <dc:description/>
  <dc:language>zh-TW</dc:language>
  <cp:lastModifiedBy/>
  <dcterms:modified xsi:type="dcterms:W3CDTF">2026-10-27T13:14:05Z</dcterms:modified>
  <cp:revision>12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1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28</vt:i4>
  </property>
</Properties>
</file>