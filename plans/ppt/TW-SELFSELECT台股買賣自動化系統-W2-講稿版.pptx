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3.svg" ContentType="image/svg"/>
  <Override PartName="/ppt/media/image4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9AA0339-4B7B-4136-A1E9-350F40518B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建議時間：30 秒</a:t>
            </a:r>
          </a:p>
          <a:p/>
          <a:p>
            <a:r>
              <a:t>歡迎回來，這是 TW-SELFSELECT 台股買賣自動化系統的第二堂課。</a:t>
            </a:r>
          </a:p>
          <a:p>
            <a:r>
              <a:t>上週我們把 Gcloud 雲端主機和帳號都申請好了，這週要做兩件事：第一，把我們的 WSL 開發環境恢復起來；第二，認識一下 Python——不用怕，這堂課不會叫你寫程式，而是要讓你看得懂程式。</a:t>
            </a:r>
          </a:p>
          <a:p>
            <a:r>
              <a:t>---</a:t>
            </a:r>
          </a:p>
          <a:p/>
          <a:p>
            <a:r>
              <a:t>【講師提示】可以先問學員上週作業是否完成（Gcloud、五個帳號），沒完成的提醒課後補。</a:t>
            </a:r>
          </a:p>
        </p:txBody>
      </p:sp>
      <p:sp>
        <p:nvSpPr>
          <p:cNvPr id="19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202CA7-379A-4B6C-9A95-0E7E2366F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第一件事，恢復 WSL 環境。</a:t>
            </a:r>
          </a:p>
          <a:p>
            <a:r>
              <a:t>請依照 WSL 恢復說明文件中的恢復步驟，把 WSL 系統建立起來。其他安裝程式，買家需要自己準備——例如把必要的 ini.example 複製成 config.simulation.ini、準備 P12 檔等等。</a:t>
            </a:r>
          </a:p>
          <a:p>
            <a:r>
              <a:t>接下來很重要：請清除原來的 tw-autotrader 資料夾底下的 .git。如果你要修改程式，我強烈建議你自己申請一個 Git 帳戶，把程式放到你自己的版本控制底下——這樣改壞了還可以還原。</a:t>
            </a:r>
          </a:p>
          <a:p>
            <a:r>
              <a:t>然後打開 cmd.exe，輸入 wsl -d ubuntu 進入 Linux 環境。進去之後，你應該會看到電腦出現 Linux 盤，代表 WSL 已經正常運作。</a:t>
            </a:r>
          </a:p>
          <a:p>
            <a:r>
              <a:t>---</a:t>
            </a:r>
          </a:p>
          <a:p/>
          <a:p>
            <a:r>
              <a:t>【講師提示】操作型頁面，建議現場示範：WSL 恢復檔解壓 → 刪 .git → 開 cmd 進 wsl。學員最容易卡在 P12 檔與 ini 設定，提醒照文件做。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這頁是給完全沒有程式基礎的同學。</a:t>
            </a:r>
          </a:p>
          <a:p>
            <a:r>
              <a:t>電腦語言，就是人與電腦溝通的工具。常見的有 C、C++、Python，還有圖形化的 Scratch。電腦語言必須遵守嚴格的文法，就像我們講話要遵守語法一樣，差一個字、錯一個標點，電腦就聽不懂。</a:t>
            </a:r>
          </a:p>
          <a:p>
            <a:r>
              <a:t>不過好消息是：**我們不必自己會寫 Python 程式**——AI 會幫我們寫。我們要做的，是當 AI 寫出程式之後，至少看得懂它在做什麼，這樣出了問題才方便除錯。</a:t>
            </a:r>
          </a:p>
          <a:p>
            <a:r>
              <a:t>這堂課我們會快速認識 Python 語法的六個基本元素：資料型態、變數、運算子、控制結構、函式，以及資料結構。</a:t>
            </a:r>
          </a:p>
          <a:p>
            <a:r>
              <a:t>---</a:t>
            </a:r>
          </a:p>
          <a:p/>
          <a:p>
            <a:r>
              <a:t>【講師提示】這段是心理建設，語氣放輕鬆。強調「看懂」而非「會寫」，降低學員焦慮。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第一個元素，資料型態。</a:t>
            </a:r>
          </a:p>
          <a:p>
            <a:r>
              <a:t>Python 用資料型態來分類與儲存不同資料的基本格式。最常見的有四種：</a:t>
            </a:r>
          </a:p>
          <a:p>
            <a:r>
              <a:t>整數 int，例如 10、負五；浮點數 float，例如 3.14；字串 str，就是用單引號或雙引號包覆的文字，例如 Hello；還有布林值 bool，只有 True 真、和 False 偽，兩種值。</a:t>
            </a:r>
          </a:p>
          <a:p>
            <a:r>
              <a:t>你可以把資料型態想成不同的盒子：整數盒裝整數、字串盒裝文字、布林盒裝是或否——程式就是靠這些盒子來分類處理資料。</a:t>
            </a:r>
          </a:p>
          <a:p>
            <a:r>
              <a:t>---</a:t>
            </a:r>
          </a:p>
          <a:p/>
          <a:p>
            <a:r>
              <a:t>【講師提示】舉生活例子：體重 70 是 int、70.5 是 float、名字是 str、「今天有沒有漲停」是 bool。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第二個元素，變數。</a:t>
            </a:r>
          </a:p>
          <a:p>
            <a:r>
              <a:t>變數是用來存放資料的標籤或容器。Python 是動態型別——宣告變數時不需要指定型態，直接賦值就可以了，例如 x 等於 5。命名規則上，必須以字母或底線開頭，而且區分大小寫，A 和 a 是兩個不同的變數。</a:t>
            </a:r>
          </a:p>
          <a:p>
            <a:r>
              <a:t>第三個元素，運算子。</a:t>
            </a:r>
          </a:p>
          <a:p>
            <a:r>
              <a:t>運算子是用來對資料進行運算與邏輯判斷的符號。算術運算子有加減乘除、整除、取餘數、次方；比較運算子有等於、不等於、大於小於這些；邏輯運算子有 and 且、or 或、not 非。</a:t>
            </a:r>
          </a:p>
          <a:p>
            <a:r>
              <a:t>---</a:t>
            </a:r>
          </a:p>
          <a:p/>
          <a:p>
            <a:r>
              <a:t>【講師提示】可以現場互動：「3 整除 2 等於多少？餘數呢？」讓學員動腦，確認他們跟上。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第四個元素，控制結構。</a:t>
            </a:r>
          </a:p>
          <a:p>
            <a:r>
              <a:t>控制結構決定程式執行的流程。最重要的有兩種：條件判斷 if-elif-else，依據條件是否成立，決定執行哪一段程式碼——就像「如果收盤價大於買進價就賣出，否則繼續持有」；還有迴圈，重複執行特定程式碼——for 迴圈走訪固定範圍，while 迴圈在條件成立時持續執行。</a:t>
            </a:r>
          </a:p>
          <a:p>
            <a:r>
              <a:t>第五個元素，內建資料結構。</a:t>
            </a:r>
          </a:p>
          <a:p>
            <a:r>
              <a:t>資料結構是用來組織大量資料的容器。串列 List，可變動、有順序，例如一號二號加蘋果；元組 Tuple，不可變動、有順序；字典 Dictionary，是鍵值對結構，例如姓名對應 Alice、年齡對應二十五；集合 Set，無序且不重複。</a:t>
            </a:r>
          </a:p>
          <a:p>
            <a:r>
              <a:t>---</a:t>
            </a:r>
          </a:p>
          <a:p/>
          <a:p>
            <a:r>
              <a:t>【講師提示】強調「條件判斷+迴圈」就是策略邏輯的核心——之後看 AI 寫的策略程式，90% 都在這兩種結構裡。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第六個元素，函式。</a:t>
            </a:r>
          </a:p>
          <a:p>
            <a:r>
              <a:t>函式是把重複使用的程式碼包裝成獨立區塊。使用 def 關鍵字定義，可以接收參數，並透過 return 回傳結果。你可以把函式想成一個「加工機器」：丟原料進去，吐出成品。</a:t>
            </a:r>
          </a:p>
          <a:p>
            <a:r>
              <a:t>接下來實際操作：在 WSL 底下，先執行 activate_venv 啟動虛擬環境，然後打開 PyCharm。左邊展開 python_basic 資料夾，點擊 week-01-calc-return.py 這個檔案，打開左下方的 terminal，然後點右上方綠色三角形左邊的下拉選單，選 current file，再點綠色三角形執行，或按 Debug。</a:t>
            </a:r>
          </a:p>
          <a:p>
            <a:r>
              <a:t>---</a:t>
            </a:r>
          </a:p>
          <a:p/>
          <a:p>
            <a:r>
              <a:t>【講師提示】建議現場示範完整流程：activate_venv → PyCharm → 開檔 → RUN。這是學員第一次實際執行程式，成功跑出結果的瞬間很重要。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現在畫面這張圖，就是 week-01-calc-return.py 的程式內容，以及執行後的結果。</a:t>
            </a:r>
          </a:p>
          <a:p>
            <a:r>
              <a:t>大家可以看到，這支程式做的事情是：計算報酬率。它用到了我們剛剛講的資料型態——有浮點數、有字串；也用了變數存放價格；還用到了運算子做除法運算。</a:t>
            </a:r>
          </a:p>
          <a:p>
            <a:r>
              <a:t>下方是執行結果的 Terminal 輸出——程式跑完之後，在終端機印出了計算出來的報酬率數字。大家可以對照上方的 print 指令，找出每一行輸出是從哪一行程式印出來的。從輸入價格到輸出結果，整個流程就是：資料進到變數，經過運算子計算，最後印出來。</a:t>
            </a:r>
          </a:p>
          <a:p>
            <a:r>
              <a:t>你看，現在你已經看得懂一部分了——就算不會寫，也能猜出每一行在做什麼。這就是這堂課的目的：讓你看得懂 AI 寫的程式。</a:t>
            </a:r>
          </a:p>
          <a:p>
            <a:r>
              <a:t>如果大家執行之後，畫面上的結果跟這張圖不一樣，或是出現紅色的錯誤訊息，先別緊張——最常見的原因就是 TAB 沒對齊，我們後面會講怎麼處理。</a:t>
            </a:r>
          </a:p>
          <a:p>
            <a:r>
              <a:t>---</a:t>
            </a:r>
          </a:p>
          <a:p/>
          <a:p>
            <a:r>
              <a:t>【講師提示】對照程式與 Terminal 輸出逐行帶過，指出 int/float/變數/運算子/print 的對應位置，強調「看得懂→能查錯」的流程。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這是一個 PyCharm 偵錯的畫面。</a:t>
            </a:r>
          </a:p>
          <a:p>
            <a:r>
              <a:t>上方程式區顯示程式執行到斷點——也就是紅點的位置；下方變數觀察視窗，顯示目前執行到這裡、每個變數的值。左上方綠色三角形可以執行，紅色方塊可以停止，中間的綠色圓箭頭可以繼續執行。</a:t>
            </a:r>
          </a:p>
          <a:p>
            <a:r>
              <a:t>偵錯的用途，是讓你看清楚程式每一行執行前後，變數到底是什麼值——當 AI 寫的程式卡在某個地方找不到原因時，用這個畫面就能很快告訴 AI：程式是卡在哪裡。</a:t>
            </a:r>
          </a:p>
          <a:p>
            <a:r>
              <a:t>---</a:t>
            </a:r>
          </a:p>
          <a:p/>
          <a:p>
            <a:r>
              <a:t>【講師提示】指著斷點紅點、變數觀察視窗、播放控制三個區域逐項說明，強調「人提供卡點資訊、AI 找問題」的分工。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這頁有三個重點。</a:t>
            </a:r>
          </a:p>
          <a:p>
            <a:r>
              <a:t>第一，有興趣學 Python 的同學，可以自行練習其他 Python W2 到 W8 的課程，這是給想深入的人。</a:t>
            </a:r>
          </a:p>
          <a:p>
            <a:r>
              <a:t>第二，基本上 TW-SELFSELECT 的所有程式，都是由 AI 也就是 DSH 完成的——你不需要自己從零寫程式，你要做的是「看得懂」和「會下指令」。</a:t>
            </a:r>
          </a:p>
          <a:p>
            <a:r>
              <a:t>第三，這頁新增了 PyCharm 偵錯的介紹。如果你想更深入了解 Python，可以繼續往下看怎麼用 PyCharm 進行偵錯。大部分的時候，DSH 有辦法自行找問題並修改更正；只有極少數程式會卡死在某一個地方一直找不到原因，這時候人為使用 PyCharm 就能很快告訴 AI：程式是卡在哪裡。</a:t>
            </a:r>
          </a:p>
          <a:p>
            <a:r>
              <a:t>---</a:t>
            </a:r>
          </a:p>
          <a:p/>
          <a:p>
            <a:r>
              <a:t>【講師提示】本頁是後半段偵錯課程的引子，強調「人機協作偵錯」的分工——AI 找問題，人提供卡點資訊。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接下來三頁，先讓大家了解系統的整體架構。</a:t>
            </a:r>
          </a:p>
          <a:p>
            <a:r>
              <a:t>第一層，Local，也就是你的 WSL 開發環境。這是所有程式碼的源頭，也是唯一有 Git repo 的地方。裡面放著：主程式、策略與核心模組、.env 設定、玉山證券的模擬與實盤憑證、PyArmor 解密函式庫，還有 Dockerfile 和 docker-compose.yml。</a:t>
            </a:r>
          </a:p>
          <a:p>
            <a:r>
              <a:t>要部署的時候，執行 deploy_crypted.sh 或 deploy_user.sh，程式會經過編譯、壓縮、加密，再透過 gcloud scp 上傳到雲端主機。</a:t>
            </a:r>
          </a:p>
          <a:p>
            <a:r>
              <a:t>---</a:t>
            </a:r>
          </a:p>
          <a:p/>
          <a:p>
            <a:r>
              <a:t>【講師提示】架構圖頁，配合投影片的圖示講解，讓學員對「程式從哪來」有概念。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第二層，GCP VM，也就是雲端主機。</a:t>
            </a:r>
          </a:p>
          <a:p>
            <a:r>
              <a:t>VM 上的目錄結構跟 Local 一樣，但它是部署目標，不是開發環境。這裡放著：主程式副本、.env 與全部程式碼、docker-compose.yml，還有 backups、logs、cache 這些持久資料——程式每天在寫的就是這些。</a:t>
            </a:r>
          </a:p>
          <a:p>
            <a:r>
              <a:t>上傳的方式是 gcloud compute ssh 和 scp。VM 準備好之後，用 docker compose up 啟動容器。</a:t>
            </a:r>
          </a:p>
          <a:p>
            <a:r>
              <a:t>---</a:t>
            </a:r>
          </a:p>
          <a:p/>
          <a:p>
            <a:r>
              <a:t>【講師提示】強調「VM 是倉庫不是車間」——不要直接在 VM 上改程式。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第三層，Docker 容器——程式實際執行的地方。</a:t>
            </a:r>
          </a:p>
          <a:p>
            <a:r>
              <a:t>容器內是 python 3.11 的精簡環境，主程式在裡面實際執行。映像在建置時把程式碼複製進 /app，所以容器裡的程式是「照片副本」——你在 VM 上改檔案，不會影響已經建好的映像。</a:t>
            </a:r>
          </a:p>
          <a:p>
            <a:r>
              <a:t>關鍵設計是掛載：容器內的 logs、.env、backups、cache 四個目錄，都指向 VM 上的實體目錄。這樣設定可以即時生效，日誌和資料也不會因為容器重啟而消失。</a:t>
            </a:r>
          </a:p>
          <a:p>
            <a:r>
              <a:t>---</a:t>
            </a:r>
          </a:p>
          <a:p/>
          <a:p>
            <a:r>
              <a:t>【講師提示】強調「映像不可變、資料可掛載」的 Docker 設計哲學。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這頁把三層關係總結成白話。</a:t>
            </a:r>
          </a:p>
          <a:p>
            <a:r>
              <a:t>第一層，Local 開發層：唯一有 Git repo 的地方，所有程式碼的源頭。放著主程式源碼、.env 設定、玉山憑證、Dockerfile。</a:t>
            </a:r>
          </a:p>
          <a:p>
            <a:r>
              <a:t>第二層，GCP VM 部署層：透過 deploy 腳本上傳，目錄結構跟 Local 相同，但不是 git repo——課程建議刪掉 .git。注意 VM 上的 .env、logs、cache 是「活資料」，程式每天在寫。</a:t>
            </a:r>
          </a:p>
          <a:p>
            <a:r>
              <a:t>---</a:t>
            </a:r>
          </a:p>
          <a:p/>
          <a:p>
            <a:r>
              <a:t>【講師提示】本頁是架構概念的核心，放慢講；第三層 Docker 容器執行層的細節在下一頁。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第三層，Docker 容器執行層。</a:t>
            </a:r>
          </a:p>
          <a:p>
            <a:r>
              <a:t>docker compose up 啟動容器，主程式在容器內實際執行。映像內是程式碼的不可變副本——改 VM 上的檔案不會影響已經建好的映像——但透過掛載，設定與資料跟 VM 即時連線。</a:t>
            </a:r>
          </a:p>
          <a:p>
            <a:r>
              <a:t>容器內的 .env 對應 VM 的 .env，設定即時生效，改 .env 不用重建映像；logs 對應 logs，日誌寫入 VM，容器銷毀不丟；backups 對應 backups，自動備份 .env；cache 對應 cache，存放歷史股本與選股快取。</a:t>
            </a:r>
          </a:p>
          <a:p>
            <a:r>
              <a:t>這四個掛載是系統穩定運作的關鍵——容器可以隨時重建，但資料永遠留在 VM 上。</a:t>
            </a:r>
          </a:p>
          <a:p>
            <a:r>
              <a:t>---</a:t>
            </a:r>
          </a:p>
          <a:p/>
          <a:p>
            <a:r>
              <a:t>【講師提示】指著表格講，強調「容器可毀、資料不丟」的可靠性設計。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這頁講修改流程與白話總結。</a:t>
            </a:r>
          </a:p>
          <a:p>
            <a:r>
              <a:t>修改流程三句話：改程式碼，在 Local 改，deploy 腳本上傳，然後重啟容器；改設定，直接編輯 VM 的 .env，容器熱重載或重啟；看日誌，用 docker logs 指令。</a:t>
            </a:r>
          </a:p>
          <a:p>
            <a:r>
              <a:t>白話總結：Local 是你的「開發車間」，改程式的地方；VM 是雲端的「倉庫」，放著要跑的檔案和每天產生的資料；Docker 是倉庫裡的「封閉作業員」，只照著映像裡的程式碼跑，但設定和資料透過掛載跟倉庫即時連線。</a:t>
            </a:r>
          </a:p>
          <a:p>
            <a:r>
              <a:t>---</a:t>
            </a:r>
          </a:p>
          <a:p/>
          <a:p>
            <a:r>
              <a:t>【講師提示】白話總結是讓學員記住架構的關鍵，可以請學員複述。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這頁是常用指令速查。</a:t>
            </a:r>
          </a:p>
          <a:p>
            <a:r>
              <a:t>Local 部署：deploy_crypted.sh 給沒源碼的用加密主程式；deploy_user.sh 給有源碼的。VM 啟動或重啟容器：docker compose down 再 up。看日誌：docker logs 加上容器名稱，看最後三十行，也可以用 VM_log。看容器狀態：docker ps。SSH 進 VM：gcloud compute ssh，當然也可以從網頁進入。</a:t>
            </a:r>
          </a:p>
          <a:p>
            <a:r>
              <a:t>這些指令之後每週都會用到，建議拍照或抄下來。</a:t>
            </a:r>
          </a:p>
          <a:p>
            <a:r>
              <a:t>---</a:t>
            </a:r>
          </a:p>
          <a:p/>
          <a:p>
            <a:r>
              <a:t>【講師提示】指令速查頁，簡短帶過，提醒學員之後會常用。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接下來進入本週的重點實作：程式卡死怎麼辦？</a:t>
            </a:r>
          </a:p>
          <a:p>
            <a:r>
              <a:t>首先了解系統架構：當程式在 Docker 內卡死時，很難檢查——因為你沒辦法直接在容器裡中斷它。因此，由 Local 來執行會比較好查。</a:t>
            </a:r>
          </a:p>
          <a:p>
            <a:r>
              <a:t>Local 跟 Docker 內最重要的差異：Docker 到玉山 API 存取資料的 IP 是靜態 IP，而且已經在玉山證券網站設定過白名單。如果你要在 Local 偵錯玉山下單 API 的程式，你一樣要把 Local 電腦的 IP 設為固定 IP，然後也必須把這個 IP 加到玉山 API 網站的白名單。</a:t>
            </a:r>
          </a:p>
          <a:p>
            <a:r>
              <a:t>以下是使用 WSL 內 PyCharm 來偵錯的流程：先於 WSL 的 tw-selfselect 目錄中輸入 pycharm，開啟專案。</a:t>
            </a:r>
          </a:p>
          <a:p>
            <a:r>
              <a:t>---</a:t>
            </a:r>
          </a:p>
          <a:p/>
          <a:p>
            <a:r>
              <a:t>【講師提示】本頁是偵錯課程的開場，強調「Docker 卡死難查、Local 好查」與「白名單 IP」兩個重點。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實際操作：打開 PyCharm 並定位主程式。</a:t>
            </a:r>
          </a:p>
          <a:p>
            <a:r>
              <a:t>打開 PyCharm 後，把滑鼠游標移到左上的 icon 上，icon 會顯示功能名稱。打開 Project，快捷鍵是 Alt 加一，還有 Structure，快捷鍵是 Alt 加七。這時候你可以看到左上方的專案目錄。</a:t>
            </a:r>
          </a:p>
          <a:p>
            <a:r>
              <a:t>用滑鼠中間滾輪上下移動，找出 selfselect_trader.py 並雙擊，就會顯示源碼於右邊視窗。Project 視窗下面是 Structure，是目前源碼工作區的程式元素——函式、變數等等。</a:t>
            </a:r>
          </a:p>
          <a:p>
            <a:r>
              <a:t>再把滑鼠游標移到左下的 icon 點擊 Terminal，快捷鍵是 Alt 加 F12，打開 Terminal 視窗。請注意 Terminal 出現：括號 venv，frank 帳號，tw-selfselect 目錄。如果前面沒有括號 venv，請在 Terminal 中執行 activate_venv 來啟用 .venv 目錄下的虛擬環境。</a:t>
            </a:r>
          </a:p>
          <a:p>
            <a:r>
              <a:t>---</a:t>
            </a:r>
          </a:p>
          <a:p/>
          <a:p>
            <a:r>
              <a:t>【講師提示】操作示範頁，確認每位學員的 Terminal 都有 (.venv) 前綴。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 Debug Configuration，選擇執行的 Python 版本。</a:t>
            </a:r>
          </a:p>
          <a:p>
            <a:r>
              <a:t>在右上方 selfselect_trader 檔名旁邊，點下向下箭頭，選 Edit Configuration。在 Run 或 Debug Configurations 對話框中，選擇你要執行的 Python 版本——要選 .venv 內的版本，這樣環境才跟系統一致。</a:t>
            </a:r>
          </a:p>
          <a:p>
            <a:r>
              <a:t>---</a:t>
            </a:r>
          </a:p>
          <a:p/>
          <a:p>
            <a:r>
              <a:t>【講師提示】強調「選 .venv 的 Python」——用錯直譯器是常見錯誤。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設定要執行的 Script 與 .env 檔。</a:t>
            </a:r>
          </a:p>
          <a:p>
            <a:r>
              <a:t>Script 檔就是我們要執行的 .py 程式——這裡就是 selfselect_trader.py。.env 檔就是我們執行這個 py 程式時的環境變數設定檔。</a:t>
            </a:r>
          </a:p>
          <a:p>
            <a:r>
              <a:t>重點：不同程式可以用不同的 .env 檔——不像 Windows 不方便修改環境變數，在 Linux 環境用 .env 檔管理設定非常方便。確定後先按 Apply，再按 OK。</a:t>
            </a:r>
          </a:p>
          <a:p>
            <a:r>
              <a:t>---</a:t>
            </a:r>
          </a:p>
          <a:p/>
          <a:p>
            <a:r>
              <a:t>【講師提示】強調 .env 機制的優點，這也解釋了為什麼系統把設定都放在 .env。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設定執行斷點。</a:t>
            </a:r>
          </a:p>
          <a:p>
            <a:r>
              <a:t>斷點，就是設定程式執行到這一行時停下來。設定不同斷點，可以知道程式執行的過程。</a:t>
            </a:r>
          </a:p>
          <a:p>
            <a:r>
              <a:t>操作方式：打開源碼視窗，於左邊行號欄，例如第一百九十二行，點擊即可設置斷點——會出現紅點。</a:t>
            </a:r>
          </a:p>
          <a:p>
            <a:r>
              <a:t>---</a:t>
            </a:r>
          </a:p>
          <a:p/>
          <a:p>
            <a:r>
              <a:t>【講師提示】示範設斷點，說明「紅點=程式會停在這」。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開始偵錯。</a:t>
            </a:r>
          </a:p>
          <a:p>
            <a:r>
              <a:t>點擊 selfselect_trader 旁的小蟲 icon，快捷鍵 Shift 加 F9，即可開始偵錯。左圖顯示程式順利停在第一百九十二行。</a:t>
            </a:r>
          </a:p>
          <a:p>
            <a:r>
              <a:t>左下方自動切到 Debug 視窗，快捷鍵 Alt 加五。左下方左邊，顯示目前停在哪一個執行緒的哪一行——一般程式可能有多個執行緒並行，目前是 Main Thread 的 192 行。左下方右邊，顯示目前變數的值，例如 某個變數 等於整數五。</a:t>
            </a:r>
          </a:p>
          <a:p>
            <a:r>
              <a:t>左下視窗上方有 RERUN、STOP 等圖示，下一張說明。</a:t>
            </a:r>
          </a:p>
          <a:p>
            <a:r>
              <a:t>---</a:t>
            </a:r>
          </a:p>
          <a:p/>
          <a:p>
            <a:r>
              <a:t>【講師提示】示範完整偵錯啟動，確認學員都看到變數視窗。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Debug 的流程控制，最核心的一頁。</a:t>
            </a:r>
          </a:p>
          <a:p>
            <a:r>
              <a:t>第一個，Step Over，快捷鍵 F8，步過：執行目前這一行，不進入函式內部，函式一次跑完。</a:t>
            </a:r>
          </a:p>
          <a:p>
            <a:r>
              <a:t>第二個，Step Into，快捷鍵 F7，步入：執行目前這一行，進入函式內部逐步看。</a:t>
            </a:r>
          </a:p>
          <a:p>
            <a:r>
              <a:t>第三個，Step Out，快捷鍵 Shift 加 F8，步出：從目前函式直接跳回呼叫它的上一層。</a:t>
            </a:r>
          </a:p>
          <a:p>
            <a:r>
              <a:t>第四個，Resume，快捷鍵 F9，繼續：恢復正常執行，直到下一個中斷點或程式結束。第五個，Stop，快捷鍵 Ctrl 加 F2，停止：終止 Debug 執行。</a:t>
            </a:r>
          </a:p>
          <a:p>
            <a:r>
              <a:t>三個註記：第一，注意 Step Over 與 Step Into 的差異——一個不進函式、一個進函式；第二，最右邊是右斜線加紅圈，是暫時停用斷點；第三，左上方也有 Resume、Restart、Stop 可以選。</a:t>
            </a:r>
          </a:p>
          <a:p>
            <a:r>
              <a:t>---</a:t>
            </a:r>
          </a:p>
          <a:p/>
          <a:p>
            <a:r>
              <a:t>【講師提示】本頁是偵錯操作的核心，放慢講。可以現場示範 F8 與 F7 的差異給學員看。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Debug 停止時，怎麼觀察變數？</a:t>
            </a:r>
          </a:p>
          <a:p>
            <a:r>
              <a:t>第一種方式：在源碼視窗把滑鼠移到變數上，例如圖中的 today_str_init，就能即時顯示它的值。</a:t>
            </a:r>
          </a:p>
          <a:p>
            <a:r>
              <a:t>第二種方式：下方的變數視窗，也有目前源碼的變數顯示。變數左邊有箭頭的，可以點一下展開，看內部的結構。</a:t>
            </a:r>
          </a:p>
          <a:p>
            <a:r>
              <a:t>---</a:t>
            </a:r>
          </a:p>
          <a:p/>
          <a:p>
            <a:r>
              <a:t>【講師提示】示範 hover 與展開變數，這是「告訴 AI 卡在哪」的重要能力。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關於 PAUSE 的注意事項。</a:t>
            </a:r>
          </a:p>
          <a:p>
            <a:r>
              <a:t>程式跑到休眠狀態時，選擇 Resume 讓程式繼續跑。左下右上 Tab 點 Console，可以發現程式順利執行到最後休眠。</a:t>
            </a:r>
          </a:p>
          <a:p>
            <a:r>
              <a:t>這時候無法 PAUSE 暫停程式——因為已經休眠，只能 STOP 終止。所以 PAUSE 按鈕是用來暫停「正在執行中」的程式，不是暫停休眠狀態。</a:t>
            </a:r>
          </a:p>
          <a:p>
            <a:r>
              <a:t>---</a:t>
            </a:r>
          </a:p>
          <a:p/>
          <a:p>
            <a:r>
              <a:t>【講師提示】這個細節容易誤解，強調「休眠無法 PAUSE、只能 STOP」。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最後，整理卡死處理的完整流程。</a:t>
            </a:r>
          </a:p>
          <a:p>
            <a:r>
              <a:t>當程式卡死時，由 AI 來查比較費時——因為 AI 無法執行 PyCharm，無法把強制執行中的程式停下來。因此，使用者可以先於 Local 的 WSL 環境，使用 PyCharm 來偵錯。</a:t>
            </a:r>
          </a:p>
          <a:p>
            <a:r>
              <a:t>卡死停下來之後，告訴 AI 目前停下的行號，以及相關的變數值，就能很快協助 AI 找出卡死的原因。</a:t>
            </a:r>
          </a:p>
          <a:p>
            <a:r>
              <a:t>一般來說，只要程式不卡死，AI 都能經由自己寫測試程式、修改程式、加上必要的 log 檔案，收集 AI 要判斷的資訊，就能排除程式的 bug。只有「一卡死就卡個數十分鐘」的特殊狀況，沒有使用者協助時會比較花費時間偵錯。</a:t>
            </a:r>
          </a:p>
          <a:p>
            <a:r>
              <a:t>---</a:t>
            </a:r>
          </a:p>
          <a:p/>
          <a:p>
            <a:r>
              <a:t>【講師提示】本頁總結「人機協作偵錯」的完整分工——人提供卡點，AI 找原因。這是本週最重要的實務流程。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WSL 環境恢復好、跑一次 week-01-calc-return.py 成功看到結果；進階的同學，練習用 PyCharm 設定斷點偵錯。下週我們會開始講 DSH 與系統設定。我們下次見！</a:t>
            </a:r>
          </a:p>
          <a:p>
            <a:r>
              <a:t>---</a:t>
            </a:r>
          </a:p>
          <a:p/>
          <a:p>
            <a:r>
              <a:t>【講師提示】收尾明快，把兩個功課再唸一次。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AE8298D-E9A1-4ACD-B9FD-1F0F7F90377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ECD72681-686F-49EF-A5CB-27C7E88D315A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85DAD32-1FEA-46F0-A423-DDFB86618FF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ing with Phone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+ Subtitle 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C1F7F4C-F1D9-4FDB-AD92-1789CF928A7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 with Computer Moni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16CB17B-A8E3-438D-8033-0CEBBD644B8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bre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412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with Acc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A05A744E-6C13-49FE-ACDB-4A6C08E508D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AF4213B-862D-4130-8B7F-EF41E717954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autotrader/blob/main/WSL&#24674;&#24489;.md" TargetMode="External"/><Relationship Id="rId3" Type="http://schemas.openxmlformats.org/officeDocument/2006/relationships/hyperlink" Target="https://github.com/dinchentech/tw-autotrader/blob/main/python_basic/&#38928;&#20808;&#28310;&#20633;.MD" TargetMode="External"/><Relationship Id="rId4" Type="http://schemas.openxmlformats.org/officeDocument/2006/relationships/hyperlink" Target="https://github.com/" TargetMode="External"/><Relationship Id="rId5" Type="http://schemas.openxmlformats.org/officeDocument/2006/relationships/hyperlink" Target="https://github.com/dinchentech/tw-autotrader/blob/main/python_basic/1-wsl-guide.md" TargetMode="External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-W2</a:t>
            </a: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266760"/>
            <a:ext cx="792432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恢復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1293840" y="685800"/>
            <a:ext cx="10345320" cy="563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依照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WSL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恢復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.md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中的恢復步驟把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系統建立起來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其他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安裝程式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買家需要自己準備的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複製必要的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ini.example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config.simulation.ini,P12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清除原來的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~/tw-Autotrader/.git,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強烈建議自己申請一個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git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帳戶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如果你要修改程式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cmd.exe:  wsl –d ubuntu (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wsl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簡易說明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Linux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盤出現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4" name="圖片 5"/>
          <p:cNvPicPr/>
          <p:nvPr/>
        </p:nvPicPr>
        <p:blipFill>
          <a:blip r:embed="rId6"/>
          <a:stretch/>
        </p:blipFill>
        <p:spPr>
          <a:xfrm>
            <a:off x="1630080" y="1905480"/>
            <a:ext cx="9672840" cy="1757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圖片 7"/>
          <p:cNvPicPr/>
          <p:nvPr/>
        </p:nvPicPr>
        <p:blipFill>
          <a:blip r:embed="rId7"/>
          <a:stretch/>
        </p:blipFill>
        <p:spPr>
          <a:xfrm>
            <a:off x="1630080" y="4038480"/>
            <a:ext cx="9672840" cy="266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AFAF68A-596E-48D9-B474-43B66611EA02}" type="slidenum"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如果你沒有學過電腦編程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電腦語言是人與電腦溝通的工具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常見有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C,C++,Python, Scratch(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圖形化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電腦語言必須遵守嚴格的電腦文法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我們不必會寫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寫出來的能看懂會方便查錯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語法的元素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資料型態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變數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控制結構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與資料結構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19773906-5C36-4567-B001-A35288CC3921}" type="slidenum"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資料型態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Types)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用來分類與儲存不同資料的基本格式：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整數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(int)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10, -5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浮點數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(float)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3.14, 0.0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字串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(str)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：用單引號或雙引號包覆的文字，例如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"Hello"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布林值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(bool)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：只有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True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False 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兩種值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7F103A2-6F0F-401B-A2D0-73DC96B49308}" type="slidenum"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變數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(Variables)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用來存放資料的標籤或容器：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動態型別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：宣告變數時不需要指定型態，直接賦值即可（例如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=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命名規則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：必須以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字母或底線開頭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區分大小寫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運算子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(Operators)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用來對資料進行運算與邏輯判斷的符號：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算術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+, -, *, 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（除法）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//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（整除）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（取餘數）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（次方）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比較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!=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（不等於）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&gt;, &lt;, &gt;=, &lt;=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邏輯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（且）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or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（或）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not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（非）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78CB761-D86D-443F-A01C-CAAE1967F6CE}" type="slidenum"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控制結構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(Control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決定程式執行流程的語法：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條件判斷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(if-elif-else)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：依據條件是否成立，決定執行哪一段程式碼。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(Loops)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：重複執行特定程式碼，包含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for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迴圈（走訪固定範圍）與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while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迴圈（條件成立時持續執行）。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內建資料結構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用來組織與管理大量資料的容器：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串列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(List)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[1, 2, "apple"]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元組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(Tuple)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(10, 20)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字典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(Dictionary)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鍵值對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(Key-Value)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的結構，例如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{"name": "Alice", "age": 25}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集合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(Set)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無序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且不重複的資料集合，例如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{1, 2, 3}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9F7294F-5680-4B2F-AA46-3C51EF359809}" type="slidenum"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(Functions)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將重複使用的程式碼包裝成獨立區塊：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關鍵字定義，可以接收參數並透過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return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回傳結果。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python_basic/week-01-calc_return.py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打開左下方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terminal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點擊右上方綠三角左邊選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current file,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再點擊綠三角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(RUN)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054DE22-6B98-4BA4-BC63-9C947D2E2AD1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圖片 5"/>
          <p:cNvPicPr/>
          <p:nvPr/>
        </p:nvPicPr>
        <p:blipFill>
          <a:blip r:embed="rId2"/>
          <a:stretch/>
        </p:blipFill>
        <p:spPr>
          <a:xfrm>
            <a:off x="0" y="609480"/>
            <a:ext cx="12188520" cy="624707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1D7C446-0E08-4919-A663-8EC25C2F284E}" type="slidenum">
              <a:rPr/>
              <a:t>8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8E5656-1EB1-C5AD-2B2D-EEDFD1AA9949}"/>
              </a:ext>
            </a:extLst>
          </p:cNvPr>
          <p:cNvSpPr txBox="1"/>
          <p:nvPr/>
        </p:nvSpPr>
        <p:spPr>
          <a:xfrm>
            <a:off x="1607127" y="230909"/>
            <a:ext cx="10629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這個是執行結果</a:t>
            </a:r>
            <a:r>
              <a:rPr lang="en-US" altLang="zh-TW" dirty="0"/>
              <a:t>,</a:t>
            </a:r>
            <a:r>
              <a:rPr lang="zh-TW" altLang="en-US" dirty="0"/>
              <a:t>請看下方</a:t>
            </a:r>
            <a:r>
              <a:rPr lang="en-US" altLang="zh-TW" dirty="0"/>
              <a:t>Terminal</a:t>
            </a:r>
            <a:r>
              <a:rPr lang="zh-TW" altLang="en-US" dirty="0"/>
              <a:t>的輸出</a:t>
            </a:r>
            <a:r>
              <a:rPr lang="en-US" altLang="zh-TW" dirty="0"/>
              <a:t>,</a:t>
            </a:r>
            <a:r>
              <a:rPr lang="zh-TW" altLang="en-US" dirty="0"/>
              <a:t>上方則</a:t>
            </a:r>
            <a:r>
              <a:rPr lang="zh-TW" altLang="en-US"/>
              <a:t>是程式區的</a:t>
            </a:r>
            <a:r>
              <a:rPr lang="zh-TW" altLang="en-US" dirty="0"/>
              <a:t>程式</a:t>
            </a:r>
            <a:r>
              <a:rPr lang="en-US" altLang="zh-TW" dirty="0"/>
              <a:t>,</a:t>
            </a:r>
            <a:r>
              <a:rPr lang="zh-TW" altLang="en-US" dirty="0"/>
              <a:t>看看</a:t>
            </a:r>
            <a:r>
              <a:rPr lang="en-US" altLang="zh-TW" dirty="0"/>
              <a:t>print</a:t>
            </a:r>
            <a:r>
              <a:rPr lang="zh-TW" altLang="en-US" dirty="0"/>
              <a:t>的指令跟下方對應的輸出</a:t>
            </a:r>
            <a:r>
              <a:rPr lang="en-US" altLang="zh-TW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1" name="圖片 5"/>
          <p:cNvPicPr/>
          <p:nvPr/>
        </p:nvPicPr>
        <p:blipFill>
          <a:blip r:embed="rId2"/>
          <a:stretch/>
        </p:blipFill>
        <p:spPr>
          <a:xfrm>
            <a:off x="305" y="869685"/>
            <a:ext cx="12188520" cy="61874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295BAA4-E02D-4AF1-B3C7-D37F4CFAC974}" type="slidenum">
              <a:rPr/>
              <a:t>9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9092DE2-053C-3B3E-4CFC-A789EAB519B4}"/>
              </a:ext>
            </a:extLst>
          </p:cNvPr>
          <p:cNvSpPr txBox="1"/>
          <p:nvPr/>
        </p:nvSpPr>
        <p:spPr>
          <a:xfrm>
            <a:off x="223330" y="147904"/>
            <a:ext cx="11562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這是一個偵錯的畫面</a:t>
            </a:r>
            <a:r>
              <a:rPr lang="en-US" altLang="zh-TW" dirty="0"/>
              <a:t>,</a:t>
            </a:r>
            <a:r>
              <a:rPr lang="zh-TW" altLang="en-US" dirty="0"/>
              <a:t>上方程式區顯示程式執行到斷點</a:t>
            </a:r>
            <a:r>
              <a:rPr lang="en-US" altLang="zh-TW" dirty="0"/>
              <a:t>(</a:t>
            </a:r>
            <a:r>
              <a:rPr lang="zh-TW" altLang="en-US" dirty="0"/>
              <a:t>紅點處</a:t>
            </a:r>
            <a:r>
              <a:rPr lang="en-US" altLang="zh-TW" dirty="0"/>
              <a:t>),</a:t>
            </a:r>
            <a:r>
              <a:rPr lang="zh-TW" altLang="en-US" dirty="0"/>
              <a:t>下方則是變數觀察出顯示目前程式執行到這裡的值</a:t>
            </a:r>
            <a:endParaRPr lang="en-US" altLang="zh-TW" dirty="0"/>
          </a:p>
          <a:p>
            <a:r>
              <a:rPr lang="zh-TW" altLang="en-US" dirty="0"/>
              <a:t>左上方綠三角可以執行</a:t>
            </a:r>
            <a:r>
              <a:rPr lang="en-US" altLang="zh-TW" dirty="0"/>
              <a:t>,</a:t>
            </a:r>
            <a:r>
              <a:rPr lang="zh-TW" altLang="en-US" dirty="0"/>
              <a:t>紅方塊可以停止</a:t>
            </a:r>
            <a:r>
              <a:rPr lang="en-US" altLang="zh-TW" dirty="0"/>
              <a:t>,</a:t>
            </a:r>
            <a:r>
              <a:rPr lang="zh-TW" altLang="en-US" dirty="0"/>
              <a:t>中間綠圓箭頭可以繼續執行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92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有興趣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的人可以自行練習其他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PythonW2~W8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課程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1311120" y="1447920"/>
            <a:ext cx="10345320" cy="510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基本上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所有編程由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偶而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會發生 格式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沒對齊可以於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中選取沒對齊段落加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shiftTAB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如果你想更深入了解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可以在往下瞭解怎樣使用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進行偵錯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大部分的時候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有辦法自行找問題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並修改更正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只有極少數程式會卡死在某一個地方而一直找不到原因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這時候人為使用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就能很快告訴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程式是卡在哪裡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66A8784-4A4A-4236-A8BD-1BB8FD108953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:Local</a:t>
            </a: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onsolas"/>
                <a:ea typeface="Aptos"/>
              </a:rPr>
              <a:t>                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──────────────────────────────────────────────────┐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①  LOCAL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（你的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WSL / Windows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）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                           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~/tw-selfselect/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開發環境（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Git repo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）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├── selfselect_trader.py 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主程式源碼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├── strategies/ core/ data/ utils/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├── .env                 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設定（資金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/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策略）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├── config.simulation.ini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玉山模擬憑證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├── config.ini           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玉山實盤憑證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├── pyarmor_runtime_000000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解密函式庫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└── Dockerfile / docker-compose.yml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       │                   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       │  ./deploy_crypted.sh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或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deploy_user.sh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       │ 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（編譯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/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壓縮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/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加密 →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gcloud scp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上傳）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       ▼                  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└──────────────────────────────────────────────────┘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                 │  gcloud compute ssh / scp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                 ▼</a:t>
            </a:r>
            <a:br>
              <a:rPr sz="1600"/>
            </a:b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0BEBAF1-B1FF-4B0F-A135-8BF5B18E4927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:VM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                 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┌───────────────────────────────────────────────┐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②  GCP VM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（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Google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雲端主機）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                        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~/tw-selfselect/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同結構的目錄（部署目標）│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├── selfselect_trader.py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（同①的檔案副本）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├── .env / config.ini /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全部程式碼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├── docker-compose.yml  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├── backups/  logs/  cache/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持久資料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└── Docker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映像（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tw-autotrader:latest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）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       │                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       │  docker compose up -d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       ▼               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└───────────────────────────────────────────────┘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                 │ 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掛載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volumes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（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bind mount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）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                 ▼</a:t>
            </a:r>
            <a:br>
              <a:rPr sz="1600"/>
            </a:b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D5A9EC4-3E0A-47E0-9DAE-C74F0ED39E99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:Docker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容器內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單純環境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                              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┌───────────────────────────────────────────────┐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③  DOCKER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容器（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VM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內）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                        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tw_autotrader_bot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（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python:3.11-slim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）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                        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/app/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映像內複製的程式碼（不可變）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├── selfselect_trader.py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實際執行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├── strategies/ core/ data/ utils/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└── CMD: python selfselect_trader.py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                                   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/app/logs   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掛載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VM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的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./logs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（日誌）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/app/.env   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掛載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VM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的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./.env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（設定）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/app/backups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掛載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VM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的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./backups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│  /app/cache    ←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掛載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VM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的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./cache          │</a:t>
            </a:r>
            <a:br>
              <a:rPr sz="1600"/>
            </a:b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                   └───────────────────────────────────────────────┘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C281320-F180-4638-AF09-EF071EC482F0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三層關係說明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① Local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（開發層）— 你的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唯一有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Git repo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的地方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，所有程式碼的「源頭」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放著：主程式源碼（或加密版）、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設定、玉山憑證（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ini/p12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Dockerfile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② GCP VM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（部署層）— 雲端主機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透過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./deploy_crypted.sh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（加密版）或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./deploy_user.sh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（源碼版）上傳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上傳方式：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gcloud scp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把檔案複製到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上目錄結構與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相同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，但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不是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git repo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（課程建議刪掉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.git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注意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logs/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cache/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是「活資料」——程式每天在寫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AE452A9-0535-4A8C-8C7D-A724EE59B76E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graphicFrame>
        <p:nvGraphicFramePr>
          <p:cNvPr id="133" name="內容版面配置區 4"/>
          <p:cNvGraphicFramePr/>
          <p:nvPr/>
        </p:nvGraphicFramePr>
        <p:xfrm>
          <a:off x="1522440" y="3135600"/>
          <a:ext cx="9471600" cy="2194080"/>
        </p:xfrm>
        <a:graphic>
          <a:graphicData uri="http://schemas.openxmlformats.org/drawingml/2006/table">
            <a:tbl>
              <a:tblPr/>
              <a:tblGrid>
                <a:gridCol w="31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6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容器內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→ VM </a:t>
                      </a: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上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用途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設定即時生效（改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 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不用重建映像）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/app/logs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./logs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日誌寫入 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VM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，容器銷毀不丟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備份（自動備份）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/app/cache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./cache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歷史股本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選股快取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文字方塊 6"/>
          <p:cNvSpPr/>
          <p:nvPr/>
        </p:nvSpPr>
        <p:spPr>
          <a:xfrm>
            <a:off x="1522440" y="1295280"/>
            <a:ext cx="9753120" cy="168732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</a:pPr>
            <a:r>
              <a:rPr lang="en-US" sz="2000" b="1" u="none" strike="noStrike">
                <a:solidFill>
                  <a:srgbClr val="0F4761"/>
                </a:solidFill>
                <a:effectLst/>
                <a:uFillTx/>
                <a:latin typeface="Aptos"/>
                <a:ea typeface="PMingLiU"/>
              </a:rPr>
              <a:t>③ Docker </a:t>
            </a:r>
            <a:r>
              <a:rPr lang="zh-TW" sz="2000" b="1" u="none" strike="noStrike">
                <a:solidFill>
                  <a:srgbClr val="0F4761"/>
                </a:solidFill>
                <a:effectLst/>
                <a:uFillTx/>
                <a:latin typeface="PMingLiU"/>
                <a:ea typeface="PMingLiU"/>
              </a:rPr>
              <a:t>容器（執行層）—</a:t>
            </a:r>
            <a:r>
              <a:rPr lang="en-US" sz="2000" b="1" u="none" strike="noStrike">
                <a:solidFill>
                  <a:srgbClr val="0F4761"/>
                </a:solidFill>
                <a:effectLst/>
                <a:uFillTx/>
                <a:latin typeface="Aptos"/>
                <a:ea typeface="PMingLiU"/>
              </a:rPr>
              <a:t> VM </a:t>
            </a:r>
            <a:r>
              <a:rPr lang="zh-TW" sz="2000" b="1" u="none" strike="noStrike">
                <a:solidFill>
                  <a:srgbClr val="0F4761"/>
                </a:solidFill>
                <a:effectLst/>
                <a:uFillTx/>
                <a:latin typeface="PMingLiU"/>
                <a:ea typeface="PMingLiU"/>
              </a:rPr>
              <a:t>內部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81"/>
              </a:spcBef>
              <a:spcAft>
                <a:spcPts val="181"/>
              </a:spcAft>
              <a:buClr>
                <a:srgbClr val="00000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PMingLiU"/>
              </a:rPr>
              <a:t>docker compose up -d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PMingLiU"/>
                <a:ea typeface="PMingLiU"/>
              </a:rPr>
              <a:t>啟動容器，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PMingLiU"/>
              </a:rPr>
              <a:t>CMD: python selfselect_trader.py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PMingLiU"/>
                <a:ea typeface="PMingLiU"/>
              </a:rPr>
              <a:t>在容器內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PMingLiU"/>
                <a:ea typeface="PMingLiU"/>
              </a:rPr>
              <a:t>實際執行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81"/>
              </a:spcBef>
              <a:spcAft>
                <a:spcPts val="181"/>
              </a:spcAft>
              <a:buClr>
                <a:srgbClr val="000000"/>
              </a:buClr>
              <a:buFont typeface="Symbol" charset="2"/>
              <a:buChar char="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映像（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image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）在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build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時把程式碼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複製進 </a:t>
            </a: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PMingLiU"/>
              </a:rPr>
              <a:t>/app/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——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容器內的程式是「照片副本」，改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VM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上的檔案不會影響已建的映像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81"/>
              </a:spcBef>
              <a:spcAft>
                <a:spcPts val="181"/>
              </a:spcAft>
              <a:buClr>
                <a:srgbClr val="000000"/>
              </a:buClr>
              <a:buFont typeface="Symbol" charset="2"/>
              <a:buChar char=""/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關鍵設計（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volumes 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掛載）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：容器內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4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個目錄指向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VM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PMingLiU"/>
              </a:rPr>
              <a:t>實體目錄：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67C2660-C21A-40C2-814B-FA4A4F62F38A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8040" y="114300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修改流程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改程式碼（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   →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deploy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腳本上傳 →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檔案更新 →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 compose down/up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重啟容器</a:t>
            </a:r>
            <a:br>
              <a:rPr sz="1800"/>
            </a:b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改設定（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      → 直接編輯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（或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上傳）→ 容器熱重載或重啟</a:t>
            </a:r>
            <a:br>
              <a:rPr sz="1800"/>
            </a:b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看日誌             →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 logs tw_autotrader_bot --tail 30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白話總結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=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你的「開發車間」，改程式的地方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=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雲端的「倉庫」，放著要跑的檔案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每天產生的資料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=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倉庫裡的「封閉作業員」，只照著映像裡的程式碼跑，但設定和資料透過掛載跟倉庫即時連線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B065A65-0789-4ECD-8F9E-2E6FEA8513F5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158120" y="129528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常用指令速查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Local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：部署（加密版 </a:t>
            </a: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 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源碼版）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./deploy_crypted.sh            </a:t>
            </a: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沒源碼，用加密主程式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./deploy_user.sh                  </a:t>
            </a: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有源碼</a:t>
            </a:r>
            <a:br>
              <a:rPr sz="1800"/>
            </a:br>
            <a:br>
              <a:rPr sz="1800"/>
            </a:b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VM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：啟動</a:t>
            </a: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重啟容器 也可以從網頁控制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sudo docker compose down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&amp;&amp;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sudo docker compose up -d</a:t>
            </a:r>
            <a:br>
              <a:rPr sz="1800"/>
            </a:br>
            <a:br>
              <a:rPr sz="1800"/>
            </a:b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VM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：看日誌 或 使用 </a:t>
            </a: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VM_log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sudo docker logs tw_autotrader_bot --tail 30</a:t>
            </a:r>
            <a:br>
              <a:rPr sz="1800"/>
            </a:br>
            <a:br>
              <a:rPr sz="1800"/>
            </a:b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VM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：看容器狀態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sudo docker ps</a:t>
            </a:r>
            <a:br>
              <a:rPr sz="1800"/>
            </a:br>
            <a:br>
              <a:rPr sz="1800"/>
            </a:b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Local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SSH 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 </a:t>
            </a: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也可以從網頁進入</a:t>
            </a:r>
            <a:br>
              <a:rPr sz="1800"/>
            </a:b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gcloud compute ssh tw-autotrader --zone=asia-east1-b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4A3A41-FC70-4987-ACCC-F1C2F14ABCCA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13436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當程式卡死的時候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4216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首先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我們了解一下系統架構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當程式在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內卡死時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很難檢查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因此由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來執行比較好查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內最重要的差異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到玉山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存取資料的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是靜態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且已經於玉山證卷網站設定過白名單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玉山下單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你一樣要把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你的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電腦的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設為固定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然後也必須把這個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加到玉山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的網站內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以下是使用wsl內pycharm 來debug 的流程: 先於wsl於tw-selfselect 目錄中輸入pycharm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4487717-BAD8-41E5-B8D2-CCFD8D9A1697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476208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</a:p>
        </p:txBody>
      </p:sp>
      <p:sp>
        <p:nvSpPr>
          <p:cNvPr id="14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88876BB2-8512-4664-9E02-0E06215F442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內容版面配置區 5"/>
          <p:cNvPicPr/>
          <p:nvPr/>
        </p:nvPicPr>
        <p:blipFill>
          <a:blip r:embed="rId2"/>
          <a:stretch/>
        </p:blipFill>
        <p:spPr>
          <a:xfrm>
            <a:off x="1032480" y="685800"/>
            <a:ext cx="5200560" cy="556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把滑鼠游標移到左上的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會顯示功能名稱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Project(ALT +1)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Structure(ALT+7),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這時候你可以看到左上方的專案目錄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用滑鼠中間滾輪上下移動找出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並双擊就會顯示源碼於右邊視窗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視窗下是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Strurcture,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是目前源碼工作區的程式元素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(function,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,…)</a:t>
            </a: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把滑鼠游標移到左下的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上點擊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Terminal(ALT+F12),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請注意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出現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 frank@DESKTOP-EUEMD3C:~/tw-selfselect$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如果沒有前面的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activate_venv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enable 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目錄下的虛擬環境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46712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選擇執行的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0C1DF502-73D3-4F7C-AD53-3FD179744FE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1752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在右上方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檔名旁邊點下向下箭頭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Edit Configuration</a:t>
            </a:r>
          </a:p>
        </p:txBody>
      </p:sp>
      <p:pic>
        <p:nvPicPr>
          <p:cNvPr id="148" name="內容版面配置區 7"/>
          <p:cNvPicPr/>
          <p:nvPr/>
        </p:nvPicPr>
        <p:blipFill>
          <a:blip r:embed="rId2"/>
          <a:stretch/>
        </p:blipFill>
        <p:spPr>
          <a:xfrm>
            <a:off x="836640" y="718920"/>
            <a:ext cx="4571640" cy="189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圖片 9"/>
          <p:cNvPicPr/>
          <p:nvPr/>
        </p:nvPicPr>
        <p:blipFill>
          <a:blip r:embed="rId3"/>
          <a:stretch/>
        </p:blipFill>
        <p:spPr>
          <a:xfrm>
            <a:off x="836640" y="3014640"/>
            <a:ext cx="7649280" cy="271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Content Placeholder 4"/>
          <p:cNvSpPr/>
          <p:nvPr/>
        </p:nvSpPr>
        <p:spPr>
          <a:xfrm>
            <a:off x="8685360" y="3014640"/>
            <a:ext cx="3134520" cy="175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RUN/DEBUG Configurations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選擇你要執行的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內的版本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A886350-620D-479E-916B-8DA088B3238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21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Content Placeholder 4"/>
          <p:cNvSpPr/>
          <p:nvPr/>
        </p:nvSpPr>
        <p:spPr>
          <a:xfrm>
            <a:off x="7008840" y="1143000"/>
            <a:ext cx="4810680" cy="362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檔就是我們執行這個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程式時的環境變數設定檔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不同程式可以用不同的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不方便修改環境變數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確定後先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Apply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內容版面配置區 14"/>
          <p:cNvPicPr/>
          <p:nvPr/>
        </p:nvPicPr>
        <p:blipFill>
          <a:blip r:embed="rId2"/>
          <a:stretch/>
        </p:blipFill>
        <p:spPr>
          <a:xfrm>
            <a:off x="760320" y="990720"/>
            <a:ext cx="5956200" cy="5409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設定執行斷點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4768A790-8E1A-47CE-816D-9EADB99DA9C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7" name="內容版面配置區 6"/>
          <p:cNvPicPr/>
          <p:nvPr/>
        </p:nvPicPr>
        <p:blipFill>
          <a:blip r:embed="rId2"/>
          <a:srcRect r="24203"/>
          <a:stretch/>
        </p:blipFill>
        <p:spPr>
          <a:xfrm>
            <a:off x="760320" y="1295280"/>
            <a:ext cx="5877720" cy="492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Content Placeholder 4"/>
          <p:cNvSpPr/>
          <p:nvPr/>
        </p:nvSpPr>
        <p:spPr>
          <a:xfrm>
            <a:off x="6778800" y="1324080"/>
            <a:ext cx="491148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設定斷點可以讓程式執行到這一行時停止下來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設定不同斷點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可以知道程式執行的過程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打開源碼視窗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於左邊行號欄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(192)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點擊即可設置斷點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紅點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279440" y="343080"/>
            <a:ext cx="49147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開始偵錯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(DEBUG)</a:t>
            </a:r>
          </a:p>
        </p:txBody>
      </p:sp>
      <p:sp>
        <p:nvSpPr>
          <p:cNvPr id="160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0224613-30A7-4820-B0B0-9AECF0037AD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Content Placeholder 4"/>
          <p:cNvSpPr/>
          <p:nvPr/>
        </p:nvSpPr>
        <p:spPr>
          <a:xfrm>
            <a:off x="6780240" y="1247760"/>
            <a:ext cx="4911480" cy="103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selfselect_trader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旁的小蟲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icon(Shift+F9)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即可開始偵錯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內容版面配置區 9"/>
          <p:cNvPicPr/>
          <p:nvPr/>
        </p:nvPicPr>
        <p:blipFill>
          <a:blip r:embed="rId2"/>
          <a:stretch/>
        </p:blipFill>
        <p:spPr>
          <a:xfrm>
            <a:off x="842400" y="2666880"/>
            <a:ext cx="5711760" cy="380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圖片 7"/>
          <p:cNvPicPr/>
          <p:nvPr/>
        </p:nvPicPr>
        <p:blipFill>
          <a:blip r:embed="rId3"/>
          <a:stretch/>
        </p:blipFill>
        <p:spPr>
          <a:xfrm>
            <a:off x="842400" y="914400"/>
            <a:ext cx="5648760" cy="160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Content Placeholder 4"/>
          <p:cNvSpPr/>
          <p:nvPr/>
        </p:nvSpPr>
        <p:spPr>
          <a:xfrm>
            <a:off x="6856560" y="2590920"/>
            <a:ext cx="4911480" cy="380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左圖顯示順利停在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左下方自動切到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(ALT+5)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左下方左邊顯示目前停在哪一個執行序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一般程式可能有多個執行序並行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的哪一行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MianThread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左下方右邊顯示目前變數的值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某個變數=(int)5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左下視窗上方有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RERUN/STOP/… ICON,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下一張說明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的流程控制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7B66EDD-D363-4ACF-A949-0A267A60CA9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1293840" y="2562480"/>
            <a:ext cx="1011672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核心控制（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工具列）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按鈕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快捷鍵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作用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（步過）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不進入函式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內部（函式一次跑完）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（步入）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F7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進入函式內部逐步看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Out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（步出）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Shift+F8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從目前函式直接跳回呼叫它的上一層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（繼續）</a:t>
            </a:r>
            <a:r>
              <a:rPr lang="en-US" alt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F9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恢復正常執行，直到下一個中斷點或程式結束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（停止）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Ctrl+F2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終止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註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:1.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請注意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的差異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2.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最右邊是右斜線加紅圈是暫時停用斷點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3.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左上方也有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RESUME/RESTART/STOP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可以選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文字方塊 8"/>
          <p:cNvSpPr/>
          <p:nvPr/>
        </p:nvSpPr>
        <p:spPr>
          <a:xfrm>
            <a:off x="1598760" y="1143000"/>
            <a:ext cx="9372240" cy="53316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69" name="圖片 10"/>
          <p:cNvPicPr/>
          <p:nvPr/>
        </p:nvPicPr>
        <p:blipFill>
          <a:blip r:embed="rId2"/>
          <a:stretch/>
        </p:blipFill>
        <p:spPr>
          <a:xfrm>
            <a:off x="1598760" y="797400"/>
            <a:ext cx="7009920" cy="99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0" name="直線單箭頭接點 13"/>
          <p:cNvCxnSpPr/>
          <p:nvPr/>
        </p:nvCxnSpPr>
        <p:spPr>
          <a:xfrm flipV="1">
            <a:off x="3427200" y="1523880"/>
            <a:ext cx="1219680" cy="209592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1" name="直線單箭頭接點 16"/>
          <p:cNvCxnSpPr/>
          <p:nvPr/>
        </p:nvCxnSpPr>
        <p:spPr>
          <a:xfrm flipV="1">
            <a:off x="3350880" y="1409400"/>
            <a:ext cx="1981800" cy="262944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2" name="直線單箭頭接點 18"/>
          <p:cNvCxnSpPr/>
          <p:nvPr/>
        </p:nvCxnSpPr>
        <p:spPr>
          <a:xfrm flipV="1">
            <a:off x="3427200" y="1523880"/>
            <a:ext cx="3200760" cy="304848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3" name="直線單箭頭接點 20"/>
          <p:cNvCxnSpPr/>
          <p:nvPr/>
        </p:nvCxnSpPr>
        <p:spPr>
          <a:xfrm flipV="1">
            <a:off x="3274920" y="1676160"/>
            <a:ext cx="152640" cy="34293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4" name="直線單箭頭接點 22"/>
          <p:cNvCxnSpPr/>
          <p:nvPr/>
        </p:nvCxnSpPr>
        <p:spPr>
          <a:xfrm flipV="1">
            <a:off x="2360520" y="1676160"/>
            <a:ext cx="381240" cy="38865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pic>
        <p:nvPicPr>
          <p:cNvPr id="175" name="圖片 27"/>
          <p:cNvPicPr/>
          <p:nvPr/>
        </p:nvPicPr>
        <p:blipFill>
          <a:blip r:embed="rId3"/>
          <a:stretch/>
        </p:blipFill>
        <p:spPr>
          <a:xfrm>
            <a:off x="5798880" y="5715000"/>
            <a:ext cx="2809800" cy="704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變數的觀察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9C636575-3D76-4DBD-A9B7-7FC9E434AC6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25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8" name="內容版面配置區 10"/>
          <p:cNvPicPr/>
          <p:nvPr/>
        </p:nvPicPr>
        <p:blipFill>
          <a:blip r:embed="rId2"/>
          <a:srcRect r="3080"/>
          <a:stretch/>
        </p:blipFill>
        <p:spPr>
          <a:xfrm>
            <a:off x="379440" y="1295280"/>
            <a:ext cx="5890320" cy="510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Content Placeholder 4"/>
          <p:cNvSpPr/>
          <p:nvPr/>
        </p:nvSpPr>
        <p:spPr>
          <a:xfrm>
            <a:off x="6246720" y="1447920"/>
            <a:ext cx="55623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停止時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在源碼視窗把滑鼠移到變數上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如左圖的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today_str_init)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就能即時顯示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下方的變數視窗也有目前源碼的變數顯示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變數左邊有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&gt;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箭頭的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可以點一下展開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強制停止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(PAUSE)</a:t>
            </a:r>
          </a:p>
        </p:txBody>
      </p:sp>
      <p:sp>
        <p:nvSpPr>
          <p:cNvPr id="181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8975F7E-4C1E-4270-B84C-FC3CDE9E7529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Content Placeholder 4"/>
          <p:cNvSpPr/>
          <p:nvPr/>
        </p:nvSpPr>
        <p:spPr>
          <a:xfrm>
            <a:off x="8075520" y="1390680"/>
            <a:ext cx="37335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RESUME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讓程式繼續跑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左下右上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TAB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點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Console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可以發現程式順利執行到最後休眠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90000"/>
              </a:lnSpc>
              <a:spcBef>
                <a:spcPts val="1800"/>
              </a:spcBef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這時候無法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PAUSE(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暫停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因為已經休眠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只能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STOP(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終止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內容版面配置區 7"/>
          <p:cNvPicPr/>
          <p:nvPr/>
        </p:nvPicPr>
        <p:blipFill>
          <a:blip r:embed="rId2"/>
          <a:stretch/>
        </p:blipFill>
        <p:spPr>
          <a:xfrm>
            <a:off x="797040" y="1343160"/>
            <a:ext cx="7161480" cy="39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程式卡死的處理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1B5482C6-1514-498A-89E8-49D78140D50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Content Placeholder 4"/>
          <p:cNvSpPr/>
          <p:nvPr/>
        </p:nvSpPr>
        <p:spPr>
          <a:xfrm>
            <a:off x="1293840" y="1523880"/>
            <a:ext cx="10515240" cy="382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當程式卡死時由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來查比較費時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無法執行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強制執行中的程式停止下來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因此使用者可以先於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local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環境使用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卡死停下來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可以告訴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目前停下來的行號以及相關的變數值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就能很快的協助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找出卡死的原因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一般只要程式不卡死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都能經由自己寫測試程式及修改程式加上必要的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收集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要判斷的資訊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就能排除程式的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bug.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只有一卡死就卡個數十分鐘的特殊狀況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沒有使用者協助時會比較花費時間偵錯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993</TotalTime>
  <Words>2906</Words>
  <Application>Microsoft Office PowerPoint</Application>
  <PresentationFormat>自訂</PresentationFormat>
  <Paragraphs>194</Paragraphs>
  <Slides>28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7" baseType="lpstr">
      <vt:lpstr>PMingLiU</vt:lpstr>
      <vt:lpstr>Aptos</vt:lpstr>
      <vt:lpstr>Arial</vt:lpstr>
      <vt:lpstr>Century Gothic</vt:lpstr>
      <vt:lpstr>Consolas</vt:lpstr>
      <vt:lpstr>Sarasa Mono TC</vt:lpstr>
      <vt:lpstr>Symbol</vt:lpstr>
      <vt:lpstr>Times New Roman</vt:lpstr>
      <vt:lpstr>Custom</vt:lpstr>
      <vt:lpstr>TW-AUTOTRADER   台股買賣自動化系統-W2</vt:lpstr>
      <vt:lpstr>恢復WSL </vt:lpstr>
      <vt:lpstr>如果你沒有學過電腦編程</vt:lpstr>
      <vt:lpstr>Python 語法的元素</vt:lpstr>
      <vt:lpstr>Python 語法的元素</vt:lpstr>
      <vt:lpstr>Python 語法的元素</vt:lpstr>
      <vt:lpstr>Python 語法的元素</vt:lpstr>
      <vt:lpstr>PowerPoint 簡報</vt:lpstr>
      <vt:lpstr>PowerPoint 簡報</vt:lpstr>
      <vt:lpstr>有興趣Python的人可以自行練習其他PythonW2~W8課程</vt:lpstr>
      <vt:lpstr>程式的開發/執行架構:Local</vt:lpstr>
      <vt:lpstr>程式的開發/執行架構:VM上</vt:lpstr>
      <vt:lpstr>程式的開發/執行架構:Docker容器內(單純環境)</vt:lpstr>
      <vt:lpstr>程式的開發/執行架構:</vt:lpstr>
      <vt:lpstr>程式的開發/執行架構:</vt:lpstr>
      <vt:lpstr>程式的開發/執行架構:</vt:lpstr>
      <vt:lpstr>程式的開發/執行架構:</vt:lpstr>
      <vt:lpstr>當程式卡死的時候=&gt;</vt:lpstr>
      <vt:lpstr>打開pycharm</vt:lpstr>
      <vt:lpstr>設定debug config選擇執行的Python版本</vt:lpstr>
      <vt:lpstr>設定debug config設定RUN的Script及.env檔</vt:lpstr>
      <vt:lpstr>設定執行斷點</vt:lpstr>
      <vt:lpstr>開始偵錯(DEBUG)</vt:lpstr>
      <vt:lpstr>Debug的流程控制</vt:lpstr>
      <vt:lpstr>變數的觀察</vt:lpstr>
      <vt:lpstr>強制停止(PAUSE)</vt:lpstr>
      <vt:lpstr>程式卡死的處理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宜軒 謝</dc:creator>
  <dc:description/>
  <cp:lastModifiedBy>宜軒 謝</cp:lastModifiedBy>
  <cp:revision>10</cp:revision>
  <dcterms:created xsi:type="dcterms:W3CDTF">2026-07-14T08:04:07Z</dcterms:created>
  <dcterms:modified xsi:type="dcterms:W3CDTF">2026-08-20T07:00:19Z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28</vt:i4>
  </property>
</Properties>
</file>