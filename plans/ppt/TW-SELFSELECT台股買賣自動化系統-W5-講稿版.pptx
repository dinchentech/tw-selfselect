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"/>
  <Override PartName="/ppt/media/image3.svg" ContentType="image/svg"/>
  <Override PartName="/ppt/media/image4.svg" ContentType="image/sv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2"/>
  </p:sldMasterIdLst>
  <p:notesMasterIdLst>
    <p:notesMasterId r:id="rId2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66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Click to move the slide</a:t>
            </a: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9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99" name="PlaceHolder 4"/>
          <p:cNvSpPr>
            <a:spLocks noGrp="1"/>
          </p:cNvSpPr>
          <p:nvPr>
            <p:ph type="dt" idx="2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00" name="PlaceHolder 5"/>
          <p:cNvSpPr>
            <a:spLocks noGrp="1"/>
          </p:cNvSpPr>
          <p:nvPr>
            <p:ph type="ftr" idx="2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01" name="PlaceHolder 6"/>
          <p:cNvSpPr>
            <a:spLocks noGrp="1"/>
          </p:cNvSpPr>
          <p:nvPr>
            <p:ph type="sldNum" idx="2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C628140-DF03-4D6A-8589-895BF7FDFDD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680" y="685800"/>
            <a:ext cx="6092280" cy="3428280"/>
          </a:xfrm>
          <a:prstGeom prst="rect">
            <a:avLst/>
          </a:prstGeom>
          <a:ln w="0">
            <a:noFill/>
          </a:ln>
        </p:spPr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r>
              <a:t>⏱ 建議時間：30 秒</a:t>
            </a:r>
          </a:p>
          <a:p/>
          <a:p>
            <a:r>
              <a:t>歡迎回來，這是第五堂課。</a:t>
            </a:r>
          </a:p>
          <a:p>
            <a:r>
              <a:t>前四週，我們認識了系統、學會了用 DSH、也把五大策略的原理搞懂了。這一週是動手週——我們要實際把策略拿去「回測」，用歷史數據驗證策略到底會不會賺錢。</a:t>
            </a:r>
          </a:p>
          <a:p>
            <a:r>
              <a:t>---</a:t>
            </a:r>
          </a:p>
          <a:p/>
          <a:p>
            <a:r>
              <a:t>【講師提示】預告這週會有很多實際執行回測的示範，跟著做就對了。</a:t>
            </a:r>
          </a:p>
        </p:txBody>
      </p:sp>
      <p:sp>
        <p:nvSpPr>
          <p:cNvPr id="169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4F73D64-CC1B-4B0D-9A89-0FC6FF36417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680" y="685800"/>
            <a:ext cx="6092280" cy="3428280"/>
          </a:xfrm>
          <a:prstGeom prst="rect">
            <a:avLst/>
          </a:prstGeom>
          <a:ln w="0">
            <a:noFill/>
          </a:ln>
        </p:spPr>
      </p:sp>
      <p:sp>
        <p:nvSpPr>
          <p:cNvPr id="17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r>
              <a:t>⏱ 建議時間：2 分鐘</a:t>
            </a:r>
          </a:p>
          <a:p/>
          <a:p>
            <a:r>
              <a:t>先建立基本概念：什麼是回測？</a:t>
            </a:r>
          </a:p>
          <a:p>
            <a:r>
              <a:t>回測，又稱回溯，是量化交易的核心步驟。概念非常簡單：用過去的歷史數據，去驗證你的交易策略——如果在那個當下執行，到底會不會賺錢。</a:t>
            </a:r>
          </a:p>
          <a:p>
            <a:r>
              <a:t>舉例來說：如果你發明了一套號稱能穩定獲利的策略，你不能直接拿真錢去市場測試。你應該先讓程式讀取過去三年的台積電每日股價，模擬過去的每一天策略是否會觸發買賣訊號，最後統計這段期間的總報酬、勝率等績效指標。</a:t>
            </a:r>
          </a:p>
          <a:p>
            <a:r>
              <a:t>回測的核心價值有四點：驗證策略有效性——投入真錢之前先檢驗；參數最佳化——調整參數找出歷史表現最好的組合；了解策略特性——知道它在震盪盤、大牛市、崩盤各表現如何；建立交易信心——經過足夠驗證，實盤才不會因為短線虧損而恐慌。</a:t>
            </a:r>
          </a:p>
          <a:p>
            <a:r>
              <a:t>---</a:t>
            </a:r>
          </a:p>
          <a:p/>
          <a:p>
            <a:r>
              <a:t>【講師提示】強調「用歷史數據驗證」是量化交易跟憑感覺下單的根本差別。</a:t>
            </a:r>
          </a:p>
        </p:txBody>
      </p:sp>
      <p:sp>
        <p:nvSpPr>
          <p:cNvPr id="172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ptos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9C44BC78-816A-4324-A2B9-A9ADB3874653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ptos"/>
                <a:ea typeface="+mn-ea"/>
              </a:rPr>
              <a:t>2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ln w="0">
            <a:noFill/>
          </a:ln>
        </p:spPr>
      </p:sp>
      <p:sp>
        <p:nvSpPr>
          <p:cNvPr id="17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r>
              <a:t>⏱ 建議時間：2 分鐘</a:t>
            </a:r>
          </a:p>
          <a:p/>
          <a:p>
            <a:r>
              <a:t>把這週的經驗整理成回測的標準流程。</a:t>
            </a:r>
          </a:p>
          <a:p>
            <a:r>
              <a:t>第一步，先用預設參數跑所有策略；第二步，找出表現最好的策略與標的組合；第三步，針對該組合調整參數；第四步，至少跑三年以上的資料，確保策略經歷過多頭、空頭、盤整不同環境；第五步，確認策略邏輯在實盤合理——檢查每個訊號觸發的日期；第六步，用模擬交易測試一到兩週——用 live_trader_finmind.py 的模擬模式觀察。</a:t>
            </a:r>
          </a:p>
          <a:p>
            <a:r>
              <a:t>這個 SOP 就是日後你驗證任何新策略的標準動作。</a:t>
            </a:r>
          </a:p>
          <a:p>
            <a:r>
              <a:t>---</a:t>
            </a:r>
          </a:p>
          <a:p/>
          <a:p>
            <a:r>
              <a:t>【講師提示】這頁是「帶得走的方法論」，請學員拍照。強調第六步「模擬交易」是上實盤前的最後防線。</a:t>
            </a:r>
          </a:p>
        </p:txBody>
      </p:sp>
      <p:sp>
        <p:nvSpPr>
          <p:cNvPr id="175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ptos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8328D6CB-1137-47B0-9CA8-670D0F339C37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ptos"/>
                <a:ea typeface="+mn-ea"/>
              </a:rPr>
              <a:t>21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⏱ 建議時間：2 分鐘</a:t>
            </a:r>
          </a:p>
          <a:p/>
          <a:p>
            <a:r>
              <a:t>系統提供了五種回測模式，我們一個一個看。</a:t>
            </a:r>
          </a:p>
          <a:p>
            <a:r>
              <a:t>模式一，backtest.py，用 Yahoo Finance 的免費歷史股價做批次回測。這是主要回溯工具。</a:t>
            </a:r>
          </a:p>
          <a:p>
            <a:r>
              <a:t>特性：資料源是 Yahoo Finance，不需要 API Key 完全免費；自動掃描設定檔中定義的所有標的，目前有八檔，包含台積電、聯發科、鴻海、富邦金、0050、0056、00632R 等等；單一策略執行，一次跑完全部標的；自動匯出 CSV 績效報表；支援命令列參數，可以選策略、設開始日期。</a:t>
            </a:r>
          </a:p>
          <a:p>
            <a:r>
              <a:t>限制：不支援複委託手續費與證交稅計算。適用場景：快速驗證單一策略在整個觀察清單上的表現。</a:t>
            </a:r>
          </a:p>
          <a:p>
            <a:r>
              <a:t>---</a:t>
            </a:r>
          </a:p>
          <a:p/>
          <a:p>
            <a:r>
              <a:t>【講師提示】模式一是最常用的，講解時可以現場示範跑一次。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24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⏱ 建議時間：1 分 30 秒</a:t>
            </a:r>
          </a:p>
          <a:p/>
          <a:p>
            <a:r>
              <a:t>模式二，backtest_finmind.py，FinMind 多策略比較。</a:t>
            </a:r>
          </a:p>
          <a:p>
            <a:r>
              <a:t>資料源是 FinMind 台灣在地資料庫，需要免費註冊取得 API Token。特色是：四種策略同時跑在同一支股票上，方便橫向比較；支援手續費設定，買進千分之一點四二五、賣出含證交稅千分之四點四二五；回傳完整績效數據，包括最終權益、交易次數、勝率、平均報酬。</a:t>
            </a:r>
          </a:p>
          <a:p>
            <a:r>
              <a:t>適用場景：針對單一標的，比較四種策略哪個歷史表現最好。</a:t>
            </a:r>
          </a:p>
          <a:p>
            <a:r>
              <a:t>---</a:t>
            </a:r>
          </a:p>
          <a:p/>
          <a:p>
            <a:r>
              <a:t>【講師提示】強調模式二和模式一的差別——「一個策略跑多標的 vs 多策略跑一個標的」。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24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⏱ 建議時間：1 分 30 秒</a:t>
            </a:r>
          </a:p>
          <a:p/>
          <a:p>
            <a:r>
              <a:t>模式三，backtest_esun.py，用玉山 E.Sun SDK 回測。</a:t>
            </a:r>
          </a:p>
          <a:p>
            <a:r>
              <a:t>資料源是玉山證券提供的 MarketData API，需要先完成 SDK 安裝。支援指定單一標的、指定策略，包括 VWAP、均線交叉、布林通道、突破四種；使用 config.simulation.ini.example 的 API 設定；支援函式版策略。</a:t>
            </a:r>
          </a:p>
          <a:p>
            <a:r>
              <a:t>限制：限單一標的，非批次執行。適用場景：使用券商的真實歷史行情驗證策略，避免 Yahoo Finance 或 FinMind 的資料偏差。</a:t>
            </a:r>
          </a:p>
          <a:p>
            <a:r>
              <a:t>---</a:t>
            </a:r>
          </a:p>
          <a:p/>
          <a:p>
            <a:r>
              <a:t>【講師提示】模式三是「資料最準」的選項，但一次只能跑一支。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24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⏱ 建議時間：2 分鐘</a:t>
            </a:r>
          </a:p>
          <a:p/>
          <a:p>
            <a:r>
              <a:t>模式四，simulate_portfolio.py，投資組合模擬。</a:t>
            </a:r>
          </a:p>
          <a:p>
            <a:r>
              <a:t>它把回測結果延伸為完整的投資組合模擬，支援兩種資金模型：DCA 每月定額——每月投入固定金額，依權重分配至各策略，適合每個月兩萬的小資定期定額；另一種是一筆資金，Lump Sum——初始資金一次到位，獲利可再投入，適合五十萬一筆資金的配置。輸出會自動產生 Markdown 回溯報告，包含各標的明細、總績效、策略比較表。</a:t>
            </a:r>
          </a:p>
          <a:p>
            <a:r>
              <a:t>---</a:t>
            </a:r>
          </a:p>
          <a:p/>
          <a:p>
            <a:r>
              <a:t>【講師提示】模式選擇口訣是重點，讓學員拍照或抄下。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24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⏱ 建議時間：2 分鐘</a:t>
            </a:r>
          </a:p>
          <a:p/>
          <a:p>
            <a:r>
              <a:t>以模式一為例，看回測內部怎麼跑的。</a:t>
            </a:r>
          </a:p>
          <a:p>
            <a:r>
              <a:t>步驟一，讀取策略與參數——從命令列或環境變數取得策略名稱，預設是 VWAP；再從映射表取得對應的策略函式與參數。步驟二，初始化策略引擎——引擎本身很輕量，主要負責轉發呼叫。步驟三，對每個標的依序執行——遍歷全部八檔，根據股票代號決定 Yahoo Finance 後綴，下載歷史股價，資料為空就跳過。</a:t>
            </a:r>
          </a:p>
          <a:p>
            <a:r>
              <a:t>步驟四，執行策略——策略函式在資料表新增訊號欄位：一代表買進、負一代表賣出、零代表無動作。步驟五，計算績效——根據訊號欄位計算每筆交易的報酬，回傳交易次數、勝率、總報酬。步驟六，匯出結果——寫入 CSV，檔名包含策略名稱與時間戳。</a:t>
            </a:r>
          </a:p>
          <a:p>
            <a:r>
              <a:t>---</a:t>
            </a:r>
          </a:p>
          <a:p/>
          <a:p>
            <a:r>
              <a:t>【講師提示】流程圖頁，按步驟講，重點在「訊號欄位」的概念——策略的輸出就是買賣訊號。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24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⏱ 建議時間：2 分鐘</a:t>
            </a:r>
          </a:p>
          <a:p/>
          <a:p>
            <a:r>
              <a:t>來看一個實際例子。</a:t>
            </a:r>
          </a:p>
          <a:p>
            <a:r>
              <a:t>我問 DSH：「給我台積電今年一到六月，用策略一到四回測單筆投資五十萬的結果。」</a:t>
            </a:r>
          </a:p>
          <a:p>
            <a:r>
              <a:t>看結果表：VWAP 偏離，半年合計加五點七趴，最好；均線交叉，負一點七九趴；布林通道，加一點一四趴，而且很多月份沒有交易；突破交易，負四點二五趴，最差。</a:t>
            </a:r>
          </a:p>
          <a:p>
            <a:r>
              <a:t>注意看「零筆」的月份——策略沒有觸發訊號就不交易，這很正常。半年數據只是範例，別急著下結論，下一頁我們看更完整的年度比較。</a:t>
            </a:r>
          </a:p>
          <a:p>
            <a:r>
              <a:t>---</a:t>
            </a:r>
          </a:p>
          <a:p/>
          <a:p>
            <a:r>
              <a:t>【講師提示】指著表格講，強調「零筆=沒訊號不動作」的概念。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24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⏱ 建議時間：1 分鐘</a:t>
            </a:r>
          </a:p>
          <a:p/>
          <a:p>
            <a:r>
              <a:t>這頁是解釋「雙巴」的走勢圖。</a:t>
            </a:r>
          </a:p>
          <a:p>
            <a:r>
              <a:t>大家看這張圖——這是盤整行情中，均線交叉策略的典型悲劇：快線與慢線頻繁交叉，圖中可以清楚看到連續三次雙巴。每一次黃金交叉買進，價格就回頭下跌，停損賣出；然後又出現死亡交叉訊號，再一次進出，又虧一次——來回被市場巴了三次。</a:t>
            </a:r>
          </a:p>
          <a:p>
            <a:r>
              <a:t>這就是為什麼「盤整盤死抱均線交叉＝送錢」——下一頁我們會講怎麼避免。</a:t>
            </a:r>
          </a:p>
          <a:p>
            <a:r>
              <a:t>---</a:t>
            </a:r>
          </a:p>
          <a:p/>
          <a:p>
            <a:r>
              <a:t>【講師提示】指著圖中三次交叉的位置逐一講解「買進→下跌→停損」的循環，讓學員直觀感受雙巴。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24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⏱ 建議時間：2 分鐘</a:t>
            </a:r>
          </a:p>
          <a:p/>
          <a:p>
            <a:r>
              <a:t>先認識兩種容易「雙巴」的盤勢。</a:t>
            </a:r>
          </a:p>
          <a:p>
            <a:r>
              <a:t>盤整盤跟震盪盤的差別：波動幅度——盤整盤小、窄幅，震盪盤大、寬幅；波動速度——盤整慢、震盪快。價格行為上，盤整盤像睡著，在一個小區間內慢慢磨；震盪盤像打架，急拉急跌來回甩。</a:t>
            </a:r>
          </a:p>
          <a:p>
            <a:r>
              <a:t>以台積電為例：盤整盤是股價在九百五十到一千之間磨一個月；震盪盤是三天內九百五漲到一千零五十、跌到九百二、再漲到一千零二十這樣甩。</a:t>
            </a:r>
          </a:p>
          <a:p>
            <a:r>
              <a:t>對策略的影響：盤整盤雙巴但虧不多，每次輸一點；震盪盤雙巴且虧很大，每次輸一大段。對交易者來說，震盪盤比盤整盤更致命——同樣被雙巴，震盪盤每巴一次傷口大得多。</a:t>
            </a:r>
          </a:p>
          <a:p>
            <a:r>
              <a:t>---</a:t>
            </a:r>
          </a:p>
          <a:p/>
          <a:p>
            <a:r>
              <a:t>【講師提示】用「睡著 vs 打架」的比喻幫助記憶，這是理解雙巴的關鍵頁。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24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⏱ 建議時間：2 分鐘</a:t>
            </a:r>
          </a:p>
          <a:p/>
          <a:p>
            <a:r>
              <a:t>怎麼避免雙巴？先看不要做什麼。</a:t>
            </a:r>
          </a:p>
          <a:p>
            <a:r>
              <a:t>不要做的：在盤整盤中死抱均線交叉策略，不加入任何過濾條件——上圖已經證明，在沒有趨勢的行情中，單純的均線交叉就是送錢。</a:t>
            </a:r>
          </a:p>
          <a:p>
            <a:r>
              <a:t>可以做的有四件事：第一，加大盤趨勢過濾——當大盤加權指數在兩百日線之上才做多，之下就空手。系統中的 MARKET_TREND_FILTER 就是做這件事。第二，加 ATR 波動度過濾——ATR 太低代表市場正在盤整，不進場，系統的 atr_threshold 參數就是為了避開這種環境。</a:t>
            </a:r>
          </a:p>
          <a:p>
            <a:r>
              <a:t>第三，改用逆勢策略——布林通道、VWAP 偏離，盤整盤中逆勢策略反而表現較好，在區間下緣買、上緣賣。第四，認清市場狀態，空手也是一種操作——盤整盤最好的策略就是 Keep Wait，不做單就不會被雙巴，等趨勢明確再進場。</a:t>
            </a:r>
          </a:p>
          <a:p>
            <a:r>
              <a:t>---</a:t>
            </a:r>
          </a:p>
          <a:p/>
          <a:p>
            <a:r>
              <a:t>【講師提示】四個解法對應四個系統功能（趨勢過濾/ATR/逆勢策略/Keep Wait），是本週實戰重點。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24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⏱ 建議時間：2 分 30 秒</a:t>
            </a:r>
          </a:p>
          <a:p/>
          <a:p>
            <a:r>
              <a:t>接下來這個比較很有價值：同是台積電，空頭年 2022 和多頭年 2025，四個策略表現如何？</a:t>
            </a:r>
          </a:p>
          <a:p>
            <a:r>
              <a:t>先看背景：2022 年台積電從五百八十二跌到四百二十二，買進持有負二十七趴，是 Fed 升息的空頭年；2025 年從一千零四十二漲到一千五百四十一，買進持有正四十八趴，是 AI 需求爆發的多頭年。</a:t>
            </a:r>
          </a:p>
          <a:p>
            <a:r>
              <a:t>策略表現：VWAP 偏離，2022 加三點六四趴、2025 加三十二點二九趴——兩年都正報酬，適應性最好；均線交叉，2022 加十點一六趴、2025 加十四點二九趴——是唯一買進持有虧錢年份也能賺的策略；布林通道，2022 負十點九五趴、2025 加十一點九一趴；突破交易，2022 負五點二三趴、2025 負九點九四趴——連兩年虧損，四策略中最差。</a:t>
            </a:r>
          </a:p>
          <a:p>
            <a:r>
              <a:t>結論：突破交易只適合噴發期，不適合長期整年適用。但也要小心事後諸葛亮——2022 用均線交叉、2025 用 VWAP，這是回測完才知道的，實戰不能這樣選。</a:t>
            </a:r>
          </a:p>
          <a:p>
            <a:r>
              <a:t>---</a:t>
            </a:r>
          </a:p>
          <a:p/>
          <a:p>
            <a:r>
              <a:t>【講師提示】這頁是「策略適應性」的核心證據，放慢講。強調「事後諸葛亮」陷阱。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24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⏱ 建議時間：2 分鐘</a:t>
            </a:r>
          </a:p>
          <a:p/>
          <a:p>
            <a:r>
              <a:t>再問 DSH：聯發科 2024 到 2025，四策略表現如何？哪幾個區段適合用唐奇安通道？</a:t>
            </a:r>
          </a:p>
          <a:p>
            <a:r>
              <a:t>看結果：突破交易，2024 加三十二點九三趴、2025 負七點三二趴——2024 大賺、2025 小虧，驗證了「突破只適用噴發期」；均線交叉兩年都正；布林通道 2024 小虧 2025 小賺；VWAP 兩年都虧。</a:t>
            </a:r>
          </a:p>
          <a:p>
            <a:r>
              <a:t>結論很清楚：突發策略只適用噴發期——2024 聯發科有明顯的噴發段，突破交易吃到肉；2025 沒有噴發，就虧損。這呼應了上一頁的結論：突破交易是「時機型」策略，不是「全年型」策略。</a:t>
            </a:r>
          </a:p>
          <a:p>
            <a:r>
              <a:t>---</a:t>
            </a:r>
          </a:p>
          <a:p/>
          <a:p>
            <a:r>
              <a:t>【講師提示】指著表格與走勢圖講，強調「策略要配合盤勢/個股階段使用」。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24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⏱ 建議時間：1 分鐘</a:t>
            </a:r>
          </a:p>
          <a:p/>
          <a:p>
            <a:r>
              <a:t>這頁是 AI 標出適合唐奇安區段的聯發科走勢圖。</a:t>
            </a:r>
          </a:p>
          <a:p>
            <a:r>
              <a:t>畫面上是聯發科 2024 到 2025 的走勢圖，圖中標示的區段，就是突破策略適用、股價明顯噴發的時期。大家可以對照著看——突破策略賺的就是這些「火箭發射」的段。</a:t>
            </a:r>
          </a:p>
          <a:p>
            <a:r>
              <a:t>---</a:t>
            </a:r>
          </a:p>
          <a:p/>
          <a:p>
            <a:r>
              <a:t>【講師提示】指著圖中噴發段講解，讓學員視覺化理解「噴發期」。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24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⏱ 建議時間：2 分鐘</a:t>
            </a:r>
          </a:p>
          <a:p/>
          <a:p>
            <a:r>
              <a:t>接下來進入今天的重頭戲：自己加一個策略。</a:t>
            </a:r>
          </a:p>
          <a:p>
            <a:r>
              <a:t>先切到 plan 模式，然後輸入需求：「用備用二來完成週 KD 策略」。這個策略來自 Google AI 推薦的穩健 KD 策略：放棄震盪劇烈的日線，改用週 K 線——以週為單位計算。週 KD 的轉折代表的是中長期趨勢改變，涵蓋數個月到半年以上。</a:t>
            </a:r>
          </a:p>
          <a:p>
            <a:r>
              <a:t>買進點：當週 KD 在低檔，小於三十或二十，發生黃金交叉時進場——代表股價經歷大波段修正後，中長期底部成形。持有期：只要週 KD 維持向上或高檔鈍化，就一路抱牢。好處：一年中一檔股票可能只出現一到兩次訊號，交易次數少、手續費低，而且能抓到大波段。</a:t>
            </a:r>
          </a:p>
          <a:p>
            <a:r>
              <a:t>---</a:t>
            </a:r>
          </a:p>
          <a:p/>
          <a:p>
            <a:r>
              <a:t>【講師提示】示範「用 plan 模式規劃新策略」的完整流程，強調 AI 會自動產生計畫。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24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⏱ 建議時間：1 分鐘</a:t>
            </a:r>
          </a:p>
          <a:p/>
          <a:p>
            <a:r>
              <a:t>這頁是 plan 模式的計畫完成畫面。</a:t>
            </a:r>
          </a:p>
          <a:p>
            <a:r>
              <a:t>大家看畫面——DSH 已經把「週 KD 策略」拆解成完整的工作計畫（Markdown），確認後才開始改檔。計畫裡包含要做什麼、改哪些檔案、怎麼驗證。這就是「先規劃再執行」的標準流程。</a:t>
            </a:r>
          </a:p>
          <a:p>
            <a:r>
              <a:t>---</a:t>
            </a:r>
          </a:p>
          <a:p/>
          <a:p>
            <a:r>
              <a:t>【講師提示】指著計畫結構講解，讓學員看到 AI 規劃的專業度。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24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⏱ 建議時間：1 分鐘</a:t>
            </a:r>
          </a:p>
          <a:p/>
          <a:p>
            <a:r>
              <a:t>確認計畫後開始執行</a:t>
            </a:r>
          </a:p>
          <a:p>
            <a:r>
              <a:t>輸入「執行 weekly-kd-strategy」就會開始動工。提醒一點：如果執行太久，可以用 ESC 中斷，換成更大的模型續跑——複雜任務換更強模型是合理的。</a:t>
            </a:r>
          </a:p>
          <a:p>
            <a:r>
              <a:t>---</a:t>
            </a:r>
          </a:p>
          <a:p/>
          <a:p>
            <a:r>
              <a:t>【講師提示】強調「先 plan（規劃）再執行」——DSH 的 plan 模式會先把計畫送給你看，確認後才動手；複雜任務可換更大模型續跑。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24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⏱ 建議時間：2 分鐘</a:t>
            </a:r>
          </a:p>
          <a:p/>
          <a:p>
            <a:r>
              <a:t>策略寫好了，立刻驗證：用聯發科 2022、2025 兩年，跟其他四策略比較。</a:t>
            </a:r>
          </a:p>
          <a:p>
            <a:r>
              <a:t>看結果：VWAP 偏離合計加十萬五、表現最好；突破交易加三萬八；布林通道小虧；週 KD 預設參數，兩年合計虧三千七百一十八，排第五；均線交叉虧四萬五；買進持有虧十六萬。</a:t>
            </a:r>
          </a:p>
          <a:p>
            <a:r>
              <a:t>注意買進持有是負十六萬——因為 2022 聯發科跌很慘。而週 KD 預設參數只有四次買進，雖然虧但虧很少。預設表現不理想，下一頁看為什麼。</a:t>
            </a:r>
          </a:p>
          <a:p>
            <a:r>
              <a:t>---</a:t>
            </a:r>
          </a:p>
          <a:p/>
          <a:p>
            <a:r>
              <a:t>【講師提示】強調「買進持有在空頭年很慘」，回測的價值就是避開這種情況。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24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⏱ 建議時間：1 分 30 秒</a:t>
            </a:r>
          </a:p>
          <a:p/>
          <a:p>
            <a:r>
              <a:t>為什麼週 KD 預設表現不好？</a:t>
            </a:r>
          </a:p>
          <a:p>
            <a:r>
              <a:t>核心問題：訊號太少——兩年才四次買進。2022 年三次買進都在空頭年，小虧正常；2025 年只有一次買進，加零點七五趴，錯過大部分反彈。</a:t>
            </a:r>
          </a:p>
          <a:p>
            <a:r>
              <a:t>原因：預設的 K 值九，對聯發科而言不夠敏感，KD 值鈍化，導致買點錯過。解決方向：調整參數——這就是下一頁的參數掃描。</a:t>
            </a:r>
          </a:p>
          <a:p>
            <a:r>
              <a:t>---</a:t>
            </a:r>
          </a:p>
          <a:p/>
          <a:p>
            <a:r>
              <a:t>【講師提示】引導學員思考「訊號太少是參數問題，不是策略方向問題」。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24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⏱ 建議時間：2 分鐘</a:t>
            </a:r>
          </a:p>
          <a:p/>
          <a:p>
            <a:r>
              <a:t>用 AI 做參數掃描：搜尋聯發科 2022、2025 的最佳參數，再跟其他策略比較。</a:t>
            </a:r>
          </a:p>
          <a:p>
            <a:r>
              <a:t>結果：VWAP 偏離合計加十一萬三；新的週 KD 最佳參數十二、二十五、五，兩年都正報酬，合計加四萬兩千七，比預設好太多了。</a:t>
            </a:r>
          </a:p>
          <a:p>
            <a:r>
              <a:t>重點對比：VWAP 靠七十六次頻繁交易累積報酬；週 KD 最佳參數只花四筆就賺了四萬兩千七——效率是 VWAP 的七倍以上，而且兩年都是正報酬，防守力相當。</a:t>
            </a:r>
          </a:p>
          <a:p>
            <a:r>
              <a:t>不過結論要誠實：週 KD 策略整體還是沒有 VWAP 好。這就是回測的價值——用數據說話，而不是感覺。</a:t>
            </a:r>
          </a:p>
          <a:p>
            <a:r>
              <a:t>---</a:t>
            </a:r>
          </a:p>
          <a:p/>
          <a:p>
            <a:r>
              <a:t>【講師提示】強調「效率 vs 總報酬」的對比，以及「回測結果要誠實接受」。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24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⏱ 建議時間：1 分 30 秒</a:t>
            </a:r>
          </a:p>
          <a:p/>
          <a:p>
            <a:r>
              <a:t>回測之外，系統還有選股工具。第一個：翻倍潛力股掃描。</a:t>
            </a:r>
          </a:p>
          <a:p>
            <a:r>
              <a:t>find_catalyst_stocks.py 掃了全市場一千零七十九檔，篩出一百五十三檔符合型態的，取前五名：和桐、全科、全友、鼎固-KY、天二科技——評分從六十九到六十四，突破幅度從加九十趴到兩百三十四趴，量能倍數四點七到八點七倍。</a:t>
            </a:r>
          </a:p>
          <a:p>
            <a:r>
              <a:t>注意警告：全數為中小型股。記得先研究基本面，再決定要不要加入候選池——型態好不代表公司好。</a:t>
            </a:r>
          </a:p>
          <a:p>
            <a:r>
              <a:t>---</a:t>
            </a:r>
          </a:p>
          <a:p/>
          <a:p>
            <a:r>
              <a:t>【講師提示】強調「型態選股要搭配基本面研究」的風險意識。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24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⏱ 建議時間：1 分 30 秒</a:t>
            </a:r>
          </a:p>
          <a:p/>
          <a:p>
            <a:r>
              <a:t>第二個選股工具：下一季推薦持股。</a:t>
            </a:r>
          </a:p>
          <a:p>
            <a:r>
              <a:t>stock_selector_grid.py 基於收盤價，從十六檔候選池選出下季推薦：強勢首選是某檔近季動能加三十一趴的權值股，建議用均線交叉；再來是防禦型、逆勢觀察、還有週期底部的標的——每檔都標註建議策略與動能數據。</a:t>
            </a:r>
          </a:p>
          <a:p>
            <a:r>
              <a:t>---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24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⏱ 建議時間：1 分鐘</a:t>
            </a:r>
          </a:p>
          <a:p/>
          <a:p>
            <a:r>
              <a:t>這頁給出一個重要結論。</a:t>
            </a:r>
          </a:p>
          <a:p>
            <a:r>
              <a:t>定期檢討的頻率，遠比檢討方式重要。無論是人工逐年還是機械式每季，只要有紀律地定期檢討，都能大幅優於買入持有。特別是在 2022 熊市中，每季換股更是顯著降低了虧損。</a:t>
            </a:r>
          </a:p>
          <a:p>
            <a:r>
              <a:t>記住：紀律是散戶唯一的護城河。</a:t>
            </a:r>
          </a:p>
          <a:p>
            <a:r>
              <a:t>---</a:t>
            </a:r>
          </a:p>
          <a:p/>
          <a:p>
            <a:r>
              <a:t>【講師提示】一句話總結頁，講慢一點，讓結論有分量。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24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⏱ 建議時間：2 分鐘</a:t>
            </a:r>
          </a:p>
          <a:p/>
          <a:p>
            <a:r>
              <a:t>最後，回測的最大目標是什麼？</a:t>
            </a:r>
          </a:p>
          <a:p>
            <a:r>
              <a:t>請記住：**回測的目的是「排除壞策略」，而不是「找出完美策略」**。一個在各種市場環境下都能穩定小賺的策略，遠比一個在大牛市暴賺、但在崩盤時慘賠的策略更有價值。先用回測驗證，再用小額資金實盤測試，最後才放大資金。</a:t>
            </a:r>
          </a:p>
          <a:p>
            <a:r>
              <a:t>「排除壞策略」這五個字，就是這週的答案。</a:t>
            </a:r>
          </a:p>
          <a:p>
            <a:r>
              <a:t>---</a:t>
            </a:r>
          </a:p>
          <a:p/>
          <a:p>
            <a:r>
              <a:t>【講師提示】全週核心金句，放慢、加重語氣講。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24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⏱ 建議時間：30 秒</a:t>
            </a:r>
          </a:p>
          <a:p/>
          <a:p>
            <a:r>
              <a:t>好，這堂課到這裡。</a:t>
            </a:r>
          </a:p>
          <a:p>
            <a:r>
              <a:t>今天的功課：試著在備用二的位置，加一個你自己的策略——盡量不要動 selfselect_trader.py 主程式，只改設定與策略檔。我是 frank，信箱 frank@dinchen.com.tw，有問題歡迎寫信。下週我們進入實盤執行。下次見！</a:t>
            </a:r>
          </a:p>
          <a:p>
            <a:r>
              <a:t>---</a:t>
            </a:r>
          </a:p>
          <a:p/>
          <a:p>
            <a:r>
              <a:t>【講師提示】功課清楚交代，預告下週主題。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24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 Only ">
    <p:bg>
      <p:bgPr>
        <a:gradFill rotWithShape="0">
          <a:gsLst>
            <a:gs pos="0">
              <a:srgbClr val="B3CCE7">
                <a:alpha val="0"/>
              </a:srgbClr>
            </a:gs>
            <a:gs pos="100000">
              <a:srgbClr val="ACCBF9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A white circles on a black background&#10;&#10;Description automatically generated"/>
          <p:cNvPicPr/>
          <p:nvPr/>
        </p:nvPicPr>
        <p:blipFill>
          <a:blip r:embed="rId2"/>
          <a:srcRect t="11504" r="4106" b="14442"/>
          <a:stretch/>
        </p:blipFill>
        <p:spPr>
          <a:xfrm>
            <a:off x="3274920" y="0"/>
            <a:ext cx="8913240" cy="686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684360" y="1295280"/>
            <a:ext cx="10286280" cy="3885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zh-TW" sz="66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TW" sz="66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按一下以編輯母片標題樣式</a:t>
            </a:r>
            <a:endParaRPr lang="en-US" sz="66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684360" y="5600880"/>
            <a:ext cx="10286280" cy="532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marL="45720" indent="0" algn="l" defTabSz="914400">
              <a:lnSpc>
                <a:spcPct val="90000"/>
              </a:lnSpc>
              <a:spcBef>
                <a:spcPts val="1800"/>
              </a:spcBef>
              <a:buNone/>
              <a:tabLst>
                <a:tab pos="0" algn="l"/>
              </a:tabLst>
              <a:defRPr lang="zh-TW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marL="45720" indent="0" algn="l" defTabSz="914400">
              <a:lnSpc>
                <a:spcPct val="9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按一下以編輯母片文字樣式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5" name="Cross 2"/>
          <p:cNvSpPr/>
          <p:nvPr/>
        </p:nvSpPr>
        <p:spPr>
          <a:xfrm>
            <a:off x="10975680" y="4987080"/>
            <a:ext cx="685080" cy="685080"/>
          </a:xfrm>
          <a:prstGeom prst="plus">
            <a:avLst>
              <a:gd name="adj" fmla="val 39796"/>
            </a:avLst>
          </a:prstGeom>
          <a:gradFill rotWithShape="0">
            <a:gsLst>
              <a:gs pos="0">
                <a:srgbClr val="FFFFFF">
                  <a:alpha val="0"/>
                </a:srgbClr>
              </a:gs>
              <a:gs pos="100000">
                <a:srgbClr val="FFFFFF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6" name="Cross 3"/>
          <p:cNvSpPr/>
          <p:nvPr/>
        </p:nvSpPr>
        <p:spPr>
          <a:xfrm>
            <a:off x="10118880" y="3581280"/>
            <a:ext cx="685080" cy="685080"/>
          </a:xfrm>
          <a:prstGeom prst="plus">
            <a:avLst>
              <a:gd name="adj" fmla="val 39796"/>
            </a:avLst>
          </a:prstGeom>
          <a:gradFill rotWithShape="0">
            <a:gsLst>
              <a:gs pos="0">
                <a:srgbClr val="FFFFFF">
                  <a:alpha val="0"/>
                </a:srgbClr>
              </a:gs>
              <a:gs pos="100000">
                <a:srgbClr val="FFFFFF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 and Content with Computer Monito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4"/>
          <p:cNvSpPr/>
          <p:nvPr/>
        </p:nvSpPr>
        <p:spPr>
          <a:xfrm>
            <a:off x="6703920" y="838080"/>
            <a:ext cx="5028480" cy="5028480"/>
          </a:xfrm>
          <a:prstGeom prst="ellipse">
            <a:avLst/>
          </a:pr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759600" cy="68572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80" sx="102000" sy="102000" algn="ctr" rotWithShape="0">
              <a:srgbClr val="000000">
                <a:alpha val="10000"/>
              </a:srgb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pic>
        <p:nvPicPr>
          <p:cNvPr id="9" name="Graphic 14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6742080" y="1752480"/>
            <a:ext cx="4950360" cy="3809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4914360" cy="144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80000"/>
              </a:lnSpc>
              <a:buNone/>
              <a:tabLst>
                <a:tab pos="0" algn="l"/>
              </a:tabLst>
              <a:def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按一下以編輯母片標題樣式</a:t>
            </a: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ldNum" idx="1"/>
          </p:nvPr>
        </p:nvSpPr>
        <p:spPr>
          <a:xfrm>
            <a:off x="0" y="609480"/>
            <a:ext cx="759600" cy="380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fld id="{BE2E6528-03F5-4C2E-BD0E-7CEDFC8B757D}" type="slidenum"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‹#›</a:t>
            </a:fld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ftr" idx="2"/>
          </p:nvPr>
        </p:nvSpPr>
        <p:spPr>
          <a:xfrm rot="16200000">
            <a:off x="-1829160" y="2592000"/>
            <a:ext cx="4419000" cy="759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3" name="PlaceHolder 4"/>
          <p:cNvSpPr>
            <a:spLocks noGrp="1"/>
          </p:cNvSpPr>
          <p:nvPr>
            <p:ph type="dt" idx="3"/>
          </p:nvPr>
        </p:nvSpPr>
        <p:spPr>
          <a:xfrm rot="16200000">
            <a:off x="-228960" y="5259240"/>
            <a:ext cx="1218600" cy="759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14" name="PlaceHolder 5"/>
          <p:cNvSpPr>
            <a:spLocks noGrp="1"/>
          </p:cNvSpPr>
          <p:nvPr>
            <p:ph type="body"/>
          </p:nvPr>
        </p:nvSpPr>
        <p:spPr>
          <a:xfrm>
            <a:off x="1311120" y="2286000"/>
            <a:ext cx="4571280" cy="39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1pPr>
            <a:lvl2pPr marL="365760" indent="0" algn="l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2pPr>
            <a:lvl3pPr marL="594360" indent="0" algn="l" defTabSz="914400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3pPr>
            <a:lvl4pPr marL="777240" indent="0" algn="l" defTabSz="914400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4pPr>
            <a:lvl5pPr marL="960120" indent="0" algn="l" defTabSz="914400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5pPr>
          </a:lstStyle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按一下以編輯母片文字樣式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365760" indent="0" algn="l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第二層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594360" indent="0" algn="l" defTabSz="914400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第三層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777240" indent="0" algn="l" defTabSz="914400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第四層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960120" indent="0" algn="l" defTabSz="914400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第五層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15" name="PlaceHolder 6"/>
          <p:cNvSpPr>
            <a:spLocks noGrp="1"/>
          </p:cNvSpPr>
          <p:nvPr>
            <p:ph type="body"/>
          </p:nvPr>
        </p:nvSpPr>
        <p:spPr>
          <a:xfrm>
            <a:off x="7045920" y="2057400"/>
            <a:ext cx="4342680" cy="268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marL="45720"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zh-TW" sz="18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1pPr>
          </a:lstStyle>
          <a:p>
            <a:pPr marL="45720"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按一下圖示以新增圖片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brea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08040" y="685800"/>
            <a:ext cx="5686560" cy="5288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zh-TW" sz="4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TW" sz="4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按一下以編輯母片標題樣式</a:t>
            </a:r>
            <a:endParaRPr lang="en-US" sz="48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7" name="Cross 2"/>
          <p:cNvSpPr/>
          <p:nvPr/>
        </p:nvSpPr>
        <p:spPr>
          <a:xfrm>
            <a:off x="7130160" y="3969360"/>
            <a:ext cx="640080" cy="640080"/>
          </a:xfrm>
          <a:prstGeom prst="plus">
            <a:avLst>
              <a:gd name="adj" fmla="val 39796"/>
            </a:avLst>
          </a:pr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pic>
        <p:nvPicPr>
          <p:cNvPr id="18" name="Graphic 3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42412"/>
          <a:stretch/>
        </p:blipFill>
        <p:spPr>
          <a:xfrm>
            <a:off x="7134840" y="533520"/>
            <a:ext cx="5053320" cy="55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" name="Cross 5"/>
          <p:cNvSpPr/>
          <p:nvPr/>
        </p:nvSpPr>
        <p:spPr>
          <a:xfrm>
            <a:off x="6368040" y="2407320"/>
            <a:ext cx="640080" cy="640080"/>
          </a:xfrm>
          <a:prstGeom prst="plus">
            <a:avLst>
              <a:gd name="adj" fmla="val 39796"/>
            </a:avLst>
          </a:pr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8119800" y="990720"/>
            <a:ext cx="4068360" cy="438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marL="45720"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zh-TW" sz="18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1pPr>
          </a:lstStyle>
          <a:p>
            <a:pPr marL="45720"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按一下圖示以新增圖片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wo Content with Acc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4"/>
          <p:cNvSpPr/>
          <p:nvPr/>
        </p:nvSpPr>
        <p:spPr>
          <a:xfrm>
            <a:off x="6361200" y="1317240"/>
            <a:ext cx="5028480" cy="5028480"/>
          </a:xfrm>
          <a:prstGeom prst="ellipse">
            <a:avLst/>
          </a:pr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22" name="Rectangle 7"/>
          <p:cNvSpPr/>
          <p:nvPr/>
        </p:nvSpPr>
        <p:spPr>
          <a:xfrm>
            <a:off x="0" y="0"/>
            <a:ext cx="759600" cy="68572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80" sx="102000" sy="102000" algn="ctr" rotWithShape="0">
              <a:srgbClr val="000000">
                <a:alpha val="10000"/>
              </a:srgb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4914360" cy="144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80000"/>
              </a:lnSpc>
              <a:buNone/>
              <a:tabLst>
                <a:tab pos="0" algn="l"/>
              </a:tabLst>
              <a:def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按一下以編輯母片標題樣式</a:t>
            </a: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sldNum" idx="4"/>
          </p:nvPr>
        </p:nvSpPr>
        <p:spPr>
          <a:xfrm>
            <a:off x="0" y="609480"/>
            <a:ext cx="759600" cy="380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fld id="{7A501CAE-72CE-4D23-89B3-2EEA0DC1AD12}" type="slidenum"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‹#›</a:t>
            </a:fld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ftr" idx="5"/>
          </p:nvPr>
        </p:nvSpPr>
        <p:spPr>
          <a:xfrm rot="16200000">
            <a:off x="-1829160" y="2592000"/>
            <a:ext cx="4419000" cy="759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6" name="PlaceHolder 4"/>
          <p:cNvSpPr>
            <a:spLocks noGrp="1"/>
          </p:cNvSpPr>
          <p:nvPr>
            <p:ph type="dt" idx="6"/>
          </p:nvPr>
        </p:nvSpPr>
        <p:spPr>
          <a:xfrm rot="16200000">
            <a:off x="-228960" y="5259240"/>
            <a:ext cx="1218600" cy="759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27" name="PlaceHolder 5"/>
          <p:cNvSpPr>
            <a:spLocks noGrp="1"/>
          </p:cNvSpPr>
          <p:nvPr>
            <p:ph type="body"/>
          </p:nvPr>
        </p:nvSpPr>
        <p:spPr>
          <a:xfrm>
            <a:off x="1311120" y="2286000"/>
            <a:ext cx="4571280" cy="39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1pPr>
            <a:lvl2pPr lvl="1" algn="l" defTabSz="914400">
              <a:lnSpc>
                <a:spcPct val="110000"/>
              </a:lnSpc>
              <a:spcBef>
                <a:spcPts val="1001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2pPr>
            <a:lvl3pPr lvl="2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3pPr>
            <a:lvl4pPr lvl="3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4pPr>
            <a:lvl5pPr lvl="4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5pPr>
          </a:lstStyle>
          <a:p>
            <a:pPr marL="331560" indent="-28584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按一下以編輯母片文字樣式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651600" lvl="1" indent="-285840" algn="l" defTabSz="914400">
              <a:lnSpc>
                <a:spcPct val="110000"/>
              </a:lnSpc>
              <a:spcBef>
                <a:spcPts val="10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第二層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880200" lvl="2" indent="-285840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第三層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1063080" lvl="3" indent="-285840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第四層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1245960" lvl="4" indent="-285840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第五層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body"/>
          </p:nvPr>
        </p:nvSpPr>
        <p:spPr>
          <a:xfrm>
            <a:off x="6094440" y="2286000"/>
            <a:ext cx="5562000" cy="39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  <a:lvl2pPr lvl="1" algn="l" defTabSz="914400">
              <a:lnSpc>
                <a:spcPct val="90000"/>
              </a:lnSpc>
              <a:spcBef>
                <a:spcPts val="1001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5pPr>
          </a:lstStyle>
          <a:p>
            <a:pPr marL="274320" indent="-228600" algn="l" defTabSz="914400">
              <a:lnSpc>
                <a:spcPct val="9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按一下以編輯母片文字樣式</a:t>
            </a:r>
            <a:endParaRPr lang="en-U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594360" lvl="1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第二層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777240" lvl="2" indent="-182880" algn="l" defTabSz="914400">
              <a:lnSpc>
                <a:spcPct val="9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第三層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960120" lvl="3" indent="-182880" algn="l" defTabSz="914400">
              <a:lnSpc>
                <a:spcPct val="9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第四層</a:t>
            </a:r>
            <a:endParaRPr lang="en-US" sz="1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1097280" lvl="4" indent="-137160" algn="l" defTabSz="914400">
              <a:lnSpc>
                <a:spcPct val="9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第五層</a:t>
            </a:r>
            <a:endParaRPr lang="en-US" sz="1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and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7"/>
          <p:cNvSpPr/>
          <p:nvPr/>
        </p:nvSpPr>
        <p:spPr>
          <a:xfrm>
            <a:off x="0" y="0"/>
            <a:ext cx="759600" cy="68572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80" sx="102000" sy="102000" algn="ctr" rotWithShape="0">
              <a:srgbClr val="000000">
                <a:alpha val="10000"/>
              </a:srgb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4914360" cy="144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80000"/>
              </a:lnSpc>
              <a:buNone/>
              <a:tabLst>
                <a:tab pos="0" algn="l"/>
              </a:tabLst>
              <a:def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按一下以編輯母片標題樣式</a:t>
            </a: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sldNum" idx="7"/>
          </p:nvPr>
        </p:nvSpPr>
        <p:spPr>
          <a:xfrm>
            <a:off x="0" y="609480"/>
            <a:ext cx="759600" cy="380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fld id="{C09D5067-50A7-4582-8B70-93C23956575F}" type="slidenum"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‹#›</a:t>
            </a:fld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ftr" idx="8"/>
          </p:nvPr>
        </p:nvSpPr>
        <p:spPr>
          <a:xfrm rot="16200000">
            <a:off x="-1829160" y="2592000"/>
            <a:ext cx="4419000" cy="759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3" name="PlaceHolder 4"/>
          <p:cNvSpPr>
            <a:spLocks noGrp="1"/>
          </p:cNvSpPr>
          <p:nvPr>
            <p:ph type="dt" idx="9"/>
          </p:nvPr>
        </p:nvSpPr>
        <p:spPr>
          <a:xfrm rot="16200000">
            <a:off x="-228960" y="5259240"/>
            <a:ext cx="1218600" cy="759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1311120" y="2286000"/>
            <a:ext cx="4571280" cy="39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  <a:def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1pPr>
            <a:lvl2pPr lvl="1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2pPr>
            <a:lvl3pPr lvl="2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3pPr>
            <a:lvl4pPr lvl="3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4pPr>
            <a:lvl5pPr lvl="4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5pPr>
          </a:lstStyle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按一下以編輯母片文字樣式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331560" lvl="1" indent="-28584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第二層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594360" lvl="2" indent="-228600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第三層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777240" lvl="3" indent="-228600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第四層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960120" lvl="4" indent="-228600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第五層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body"/>
          </p:nvPr>
        </p:nvSpPr>
        <p:spPr>
          <a:xfrm>
            <a:off x="6094440" y="2286000"/>
            <a:ext cx="5558040" cy="3961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marL="45720"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zh-TW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</a:lstStyle>
          <a:p>
            <a:pPr marL="45720"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按一下圖示以新增表格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Freeform: Shape 9"/>
          <p:cNvSpPr/>
          <p:nvPr/>
        </p:nvSpPr>
        <p:spPr>
          <a:xfrm>
            <a:off x="7026120" y="0"/>
            <a:ext cx="4460760" cy="1980360"/>
          </a:xfrm>
          <a:custGeom>
            <a:avLst/>
            <a:gdLst>
              <a:gd name="textAreaLeft" fmla="*/ 0 w 4460760"/>
              <a:gd name="textAreaRight" fmla="*/ 4461480 w 4460760"/>
              <a:gd name="textAreaTop" fmla="*/ 0 h 1980360"/>
              <a:gd name="textAreaBottom" fmla="*/ 1981080 h 1980360"/>
              <a:gd name="GluePoint1X" fmla="*/ 0 w 4461334"/>
              <a:gd name="GluePoint1Y" fmla="*/ 0 h 1981200"/>
              <a:gd name="GluePoint2X" fmla="*/ 4461334 w 4461334"/>
              <a:gd name="GluePoint2Y" fmla="*/ 0 h 1981200"/>
              <a:gd name="GluePoint3X" fmla="*/ 4432897 w 4461334"/>
              <a:gd name="GluePoint3Y" fmla="*/ 186331 h 1981200"/>
              <a:gd name="GluePoint4X" fmla="*/ 2230667 w 4461334"/>
              <a:gd name="GluePoint4Y" fmla="*/ 1981200 h 1981200"/>
              <a:gd name="GluePoint5X" fmla="*/ 28437 w 4461334"/>
              <a:gd name="GluePoint5Y" fmla="*/ 186331 h 1981200"/>
              <a:gd name="GluePoint6X" fmla="*/ 0 w 4461334"/>
              <a:gd name="GluePoint6Y" fmla="*/ 0 h 19812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4461334" h="1981200">
                <a:moveTo>
                  <a:pt x="0" y="0"/>
                </a:moveTo>
                <a:lnTo>
                  <a:pt x="4461334" y="0"/>
                </a:lnTo>
                <a:lnTo>
                  <a:pt x="4432897" y="186331"/>
                </a:lnTo>
                <a:cubicBezTo>
                  <a:pt x="4223288" y="1210661"/>
                  <a:pt x="3316962" y="1981200"/>
                  <a:pt x="2230667" y="1981200"/>
                </a:cubicBezTo>
                <a:cubicBezTo>
                  <a:pt x="1144372" y="1981200"/>
                  <a:pt x="238046" y="1210661"/>
                  <a:pt x="28437" y="186331"/>
                </a:cubicBez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37" name="Rectangle 2"/>
          <p:cNvSpPr/>
          <p:nvPr/>
        </p:nvSpPr>
        <p:spPr>
          <a:xfrm>
            <a:off x="0" y="0"/>
            <a:ext cx="759600" cy="68572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80" sx="102000" sy="102000" algn="ctr" rotWithShape="0">
              <a:srgbClr val="000000">
                <a:alpha val="10000"/>
              </a:srgb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4914360" cy="144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80000"/>
              </a:lnSpc>
              <a:buNone/>
              <a:tabLst>
                <a:tab pos="0" algn="l"/>
              </a:tabLst>
              <a:def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按一下以編輯母片標題樣式</a:t>
            </a: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sldNum" idx="10"/>
          </p:nvPr>
        </p:nvSpPr>
        <p:spPr>
          <a:xfrm>
            <a:off x="0" y="609480"/>
            <a:ext cx="759600" cy="380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fld id="{2771AE1B-8566-4B54-B7A3-3274BA0B6078}" type="slidenum"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‹#›</a:t>
            </a:fld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11"/>
          </p:nvPr>
        </p:nvSpPr>
        <p:spPr>
          <a:xfrm rot="16200000">
            <a:off x="-1829160" y="2592000"/>
            <a:ext cx="4419000" cy="759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1" name="PlaceHolder 4"/>
          <p:cNvSpPr>
            <a:spLocks noGrp="1"/>
          </p:cNvSpPr>
          <p:nvPr>
            <p:ph type="dt" idx="12"/>
          </p:nvPr>
        </p:nvSpPr>
        <p:spPr>
          <a:xfrm rot="16200000">
            <a:off x="-228960" y="5259240"/>
            <a:ext cx="1218600" cy="759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1293840" y="2743200"/>
            <a:ext cx="10134000" cy="3504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marL="228600"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marL="228600"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按一下圖示以新增表格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wo Content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Freeform: Shape 16"/>
          <p:cNvSpPr/>
          <p:nvPr/>
        </p:nvSpPr>
        <p:spPr>
          <a:xfrm>
            <a:off x="7026120" y="0"/>
            <a:ext cx="4460760" cy="1980360"/>
          </a:xfrm>
          <a:custGeom>
            <a:avLst/>
            <a:gdLst>
              <a:gd name="textAreaLeft" fmla="*/ 0 w 4460760"/>
              <a:gd name="textAreaRight" fmla="*/ 4461480 w 4460760"/>
              <a:gd name="textAreaTop" fmla="*/ 0 h 1980360"/>
              <a:gd name="textAreaBottom" fmla="*/ 1981080 h 1980360"/>
              <a:gd name="GluePoint1X" fmla="*/ 0 w 4461334"/>
              <a:gd name="GluePoint1Y" fmla="*/ 0 h 1981200"/>
              <a:gd name="GluePoint2X" fmla="*/ 4461334 w 4461334"/>
              <a:gd name="GluePoint2Y" fmla="*/ 0 h 1981200"/>
              <a:gd name="GluePoint3X" fmla="*/ 4432897 w 4461334"/>
              <a:gd name="GluePoint3Y" fmla="*/ 186331 h 1981200"/>
              <a:gd name="GluePoint4X" fmla="*/ 2230667 w 4461334"/>
              <a:gd name="GluePoint4Y" fmla="*/ 1981200 h 1981200"/>
              <a:gd name="GluePoint5X" fmla="*/ 28437 w 4461334"/>
              <a:gd name="GluePoint5Y" fmla="*/ 186331 h 1981200"/>
              <a:gd name="GluePoint6X" fmla="*/ 0 w 4461334"/>
              <a:gd name="GluePoint6Y" fmla="*/ 0 h 19812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4461334" h="1981200">
                <a:moveTo>
                  <a:pt x="0" y="0"/>
                </a:moveTo>
                <a:lnTo>
                  <a:pt x="4461334" y="0"/>
                </a:lnTo>
                <a:lnTo>
                  <a:pt x="4432897" y="186331"/>
                </a:lnTo>
                <a:cubicBezTo>
                  <a:pt x="4223288" y="1210661"/>
                  <a:pt x="3316962" y="1981200"/>
                  <a:pt x="2230667" y="1981200"/>
                </a:cubicBezTo>
                <a:cubicBezTo>
                  <a:pt x="1144372" y="1981200"/>
                  <a:pt x="238046" y="1210661"/>
                  <a:pt x="28437" y="186331"/>
                </a:cubicBez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44" name="Rectangle 1"/>
          <p:cNvSpPr/>
          <p:nvPr/>
        </p:nvSpPr>
        <p:spPr>
          <a:xfrm>
            <a:off x="0" y="0"/>
            <a:ext cx="759600" cy="68572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80" sx="102000" sy="102000" algn="ctr" rotWithShape="0">
              <a:srgbClr val="000000">
                <a:alpha val="10000"/>
              </a:srgb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45" name="Cross 5"/>
          <p:cNvSpPr/>
          <p:nvPr/>
        </p:nvSpPr>
        <p:spPr>
          <a:xfrm>
            <a:off x="6683040" y="1397160"/>
            <a:ext cx="685080" cy="685080"/>
          </a:xfrm>
          <a:prstGeom prst="plus">
            <a:avLst>
              <a:gd name="adj" fmla="val 39796"/>
            </a:avLst>
          </a:pr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46" name="Cross 6"/>
          <p:cNvSpPr/>
          <p:nvPr/>
        </p:nvSpPr>
        <p:spPr>
          <a:xfrm>
            <a:off x="11085480" y="5638680"/>
            <a:ext cx="685080" cy="685080"/>
          </a:xfrm>
          <a:prstGeom prst="plus">
            <a:avLst>
              <a:gd name="adj" fmla="val 39796"/>
            </a:avLst>
          </a:pr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4914360" cy="144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80000"/>
              </a:lnSpc>
              <a:buNone/>
              <a:tabLst>
                <a:tab pos="0" algn="l"/>
              </a:tabLst>
              <a:def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按一下以編輯母片標題樣式</a:t>
            </a: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13"/>
          </p:nvPr>
        </p:nvSpPr>
        <p:spPr>
          <a:xfrm>
            <a:off x="0" y="609480"/>
            <a:ext cx="759600" cy="380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fld id="{E25F2F1D-FACF-4C4D-B729-03F5DEF3D47F}" type="slidenum"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‹#›</a:t>
            </a:fld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14"/>
          </p:nvPr>
        </p:nvSpPr>
        <p:spPr>
          <a:xfrm rot="16200000">
            <a:off x="-1829160" y="2592000"/>
            <a:ext cx="4419000" cy="759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0" name="PlaceHolder 4"/>
          <p:cNvSpPr>
            <a:spLocks noGrp="1"/>
          </p:cNvSpPr>
          <p:nvPr>
            <p:ph type="dt" idx="15"/>
          </p:nvPr>
        </p:nvSpPr>
        <p:spPr>
          <a:xfrm rot="16200000">
            <a:off x="-228960" y="5259240"/>
            <a:ext cx="1218600" cy="759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51" name="PlaceHolder 5"/>
          <p:cNvSpPr>
            <a:spLocks noGrp="1"/>
          </p:cNvSpPr>
          <p:nvPr>
            <p:ph type="body"/>
          </p:nvPr>
        </p:nvSpPr>
        <p:spPr>
          <a:xfrm>
            <a:off x="1293840" y="2438280"/>
            <a:ext cx="491112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1pPr>
            <a:lvl2pPr lvl="1" algn="l" defTabSz="914400">
              <a:lnSpc>
                <a:spcPct val="110000"/>
              </a:lnSpc>
              <a:spcBef>
                <a:spcPts val="1001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2pPr>
            <a:lvl3pPr lvl="2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3pPr>
            <a:lvl4pPr lvl="3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4pPr>
            <a:lvl5pPr lvl="4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5pPr>
          </a:lstStyle>
          <a:p>
            <a:pPr marL="274320" indent="-22860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按一下以編輯母片文字樣式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594360" lvl="1" indent="-228600" algn="l" defTabSz="914400">
              <a:lnSpc>
                <a:spcPct val="110000"/>
              </a:lnSpc>
              <a:spcBef>
                <a:spcPts val="10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第二層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777240" lvl="2" indent="-182880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第三層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960120" lvl="3" indent="-182880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第四層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1097280" lvl="4" indent="-137160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第五層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body"/>
          </p:nvPr>
        </p:nvSpPr>
        <p:spPr>
          <a:xfrm>
            <a:off x="6516720" y="2438280"/>
            <a:ext cx="491112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1pPr>
            <a:lvl2pPr lvl="1" algn="l" defTabSz="914400">
              <a:lnSpc>
                <a:spcPct val="110000"/>
              </a:lnSpc>
              <a:spcBef>
                <a:spcPts val="1001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2pPr>
            <a:lvl3pPr lvl="2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3pPr>
            <a:lvl4pPr lvl="3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4pPr>
            <a:lvl5pPr lvl="4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5pPr>
          </a:lstStyle>
          <a:p>
            <a:pPr marL="274320" indent="-22860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按一下以編輯母片文字樣式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594360" lvl="1" indent="-228600" algn="l" defTabSz="914400">
              <a:lnSpc>
                <a:spcPct val="110000"/>
              </a:lnSpc>
              <a:spcBef>
                <a:spcPts val="10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第二層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777240" lvl="2" indent="-182880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第三層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960120" lvl="3" indent="-182880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第四層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1097280" lvl="4" indent="-137160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第五層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wo Content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Freeform: Shape 14"/>
          <p:cNvSpPr/>
          <p:nvPr/>
        </p:nvSpPr>
        <p:spPr>
          <a:xfrm>
            <a:off x="9958320" y="0"/>
            <a:ext cx="2229840" cy="1980360"/>
          </a:xfrm>
          <a:custGeom>
            <a:avLst/>
            <a:gdLst>
              <a:gd name="textAreaLeft" fmla="*/ 0 w 2229840"/>
              <a:gd name="textAreaRight" fmla="*/ 2230560 w 2229840"/>
              <a:gd name="textAreaTop" fmla="*/ 0 h 1980360"/>
              <a:gd name="textAreaBottom" fmla="*/ 1981080 h 1980360"/>
              <a:gd name="GluePoint1X" fmla="*/ 0 w 2230666"/>
              <a:gd name="GluePoint1Y" fmla="*/ 0 h 1981200"/>
              <a:gd name="GluePoint2X" fmla="*/ 2230666 w 2230666"/>
              <a:gd name="GluePoint2Y" fmla="*/ 0 h 1981200"/>
              <a:gd name="GluePoint3X" fmla="*/ 2230666 w 2230666"/>
              <a:gd name="GluePoint3Y" fmla="*/ 1981200 h 1981200"/>
              <a:gd name="GluePoint4X" fmla="*/ 2029222 w 2230666"/>
              <a:gd name="GluePoint4Y" fmla="*/ 1972296 h 1981200"/>
              <a:gd name="GluePoint5X" fmla="*/ 28437 w 2230666"/>
              <a:gd name="GluePoint5Y" fmla="*/ 186331 h 19812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2230666" h="1981200">
                <a:moveTo>
                  <a:pt x="0" y="0"/>
                </a:moveTo>
                <a:lnTo>
                  <a:pt x="2230666" y="0"/>
                </a:lnTo>
                <a:lnTo>
                  <a:pt x="2230666" y="1981200"/>
                </a:lnTo>
                <a:lnTo>
                  <a:pt x="2029222" y="1972296"/>
                </a:lnTo>
                <a:cubicBezTo>
                  <a:pt x="1033803" y="1883891"/>
                  <a:pt x="224946" y="1146640"/>
                  <a:pt x="28437" y="186331"/>
                </a:cubicBezTo>
                <a:close/>
              </a:path>
            </a:pathLst>
          </a:cu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54" name="Rectangle 1"/>
          <p:cNvSpPr/>
          <p:nvPr/>
        </p:nvSpPr>
        <p:spPr>
          <a:xfrm>
            <a:off x="0" y="0"/>
            <a:ext cx="759600" cy="68572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80" sx="102000" sy="102000" algn="ctr" rotWithShape="0">
              <a:srgbClr val="000000">
                <a:alpha val="10000"/>
              </a:srgb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55" name="Cross 2"/>
          <p:cNvSpPr/>
          <p:nvPr/>
        </p:nvSpPr>
        <p:spPr>
          <a:xfrm>
            <a:off x="7846920" y="380880"/>
            <a:ext cx="685080" cy="685080"/>
          </a:xfrm>
          <a:prstGeom prst="plus">
            <a:avLst>
              <a:gd name="adj" fmla="val 39796"/>
            </a:avLst>
          </a:pr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56" name="Cross 4"/>
          <p:cNvSpPr/>
          <p:nvPr/>
        </p:nvSpPr>
        <p:spPr>
          <a:xfrm>
            <a:off x="8559720" y="1066680"/>
            <a:ext cx="685080" cy="685080"/>
          </a:xfrm>
          <a:prstGeom prst="plus">
            <a:avLst>
              <a:gd name="adj" fmla="val 39796"/>
            </a:avLst>
          </a:pr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4914360" cy="144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80000"/>
              </a:lnSpc>
              <a:buNone/>
              <a:tabLst>
                <a:tab pos="0" algn="l"/>
              </a:tabLst>
              <a:def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按一下以編輯母片標題樣式</a:t>
            </a: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sldNum" idx="16"/>
          </p:nvPr>
        </p:nvSpPr>
        <p:spPr>
          <a:xfrm>
            <a:off x="0" y="609480"/>
            <a:ext cx="759600" cy="380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fld id="{3791B5DE-9878-4024-83C5-1A7131CBA144}" type="slidenum"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‹#›</a:t>
            </a:fld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ftr" idx="17"/>
          </p:nvPr>
        </p:nvSpPr>
        <p:spPr>
          <a:xfrm rot="16200000">
            <a:off x="-1829160" y="2592000"/>
            <a:ext cx="4419000" cy="759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0" name="PlaceHolder 4"/>
          <p:cNvSpPr>
            <a:spLocks noGrp="1"/>
          </p:cNvSpPr>
          <p:nvPr>
            <p:ph type="dt" idx="18"/>
          </p:nvPr>
        </p:nvSpPr>
        <p:spPr>
          <a:xfrm rot="16200000">
            <a:off x="-228960" y="5259240"/>
            <a:ext cx="1218600" cy="759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61" name="PlaceHolder 5"/>
          <p:cNvSpPr>
            <a:spLocks noGrp="1"/>
          </p:cNvSpPr>
          <p:nvPr>
            <p:ph type="body"/>
          </p:nvPr>
        </p:nvSpPr>
        <p:spPr>
          <a:xfrm>
            <a:off x="1293840" y="2286000"/>
            <a:ext cx="4911120" cy="4266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1pPr>
            <a:lvl2pPr marL="365760" indent="0" algn="l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2pPr>
            <a:lvl3pPr marL="594360" indent="0" algn="l" defTabSz="914400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3pPr>
            <a:lvl4pPr marL="777240" indent="0" algn="l" defTabSz="914400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4pPr>
            <a:lvl5pPr marL="960120" indent="0" algn="l" defTabSz="914400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5pPr>
          </a:lstStyle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按一下以編輯母片文字樣式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65760" indent="0" algn="l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第二層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594360" indent="0" algn="l" defTabSz="914400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第三層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777240" indent="0" algn="l" defTabSz="914400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第四層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960120" indent="0" algn="l" defTabSz="914400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第五層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62" name="PlaceHolder 6"/>
          <p:cNvSpPr>
            <a:spLocks noGrp="1"/>
          </p:cNvSpPr>
          <p:nvPr>
            <p:ph type="body"/>
          </p:nvPr>
        </p:nvSpPr>
        <p:spPr>
          <a:xfrm>
            <a:off x="6516720" y="2286000"/>
            <a:ext cx="4911120" cy="4266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1pPr>
            <a:lvl2pPr lvl="1" algn="l" defTabSz="914400">
              <a:lnSpc>
                <a:spcPct val="110000"/>
              </a:lnSpc>
              <a:spcBef>
                <a:spcPts val="1001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2pPr>
            <a:lvl3pPr lvl="2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3pPr>
            <a:lvl4pPr lvl="3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4pPr>
            <a:lvl5pPr lvl="4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5pPr>
          </a:lstStyle>
          <a:p>
            <a:pPr marL="274320" indent="-22860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按一下以編輯母片文字樣式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594360" lvl="1" indent="-228600" algn="l" defTabSz="914400">
              <a:lnSpc>
                <a:spcPct val="110000"/>
              </a:lnSpc>
              <a:spcBef>
                <a:spcPts val="1001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第二層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777240" lvl="2" indent="-182880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第三層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960120" lvl="3" indent="-182880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第四層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1097280" lvl="4" indent="-137160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第五層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losing">
    <p:bg>
      <p:bgPr>
        <a:gradFill rotWithShape="0">
          <a:gsLst>
            <a:gs pos="0">
              <a:srgbClr val="B3CCE7">
                <a:alpha val="0"/>
              </a:srgbClr>
            </a:gs>
            <a:gs pos="100000">
              <a:srgbClr val="ACCBF9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Freeform: Shape 8"/>
          <p:cNvSpPr/>
          <p:nvPr/>
        </p:nvSpPr>
        <p:spPr>
          <a:xfrm>
            <a:off x="2131920" y="0"/>
            <a:ext cx="7923960" cy="6857280"/>
          </a:xfrm>
          <a:custGeom>
            <a:avLst/>
            <a:gdLst>
              <a:gd name="textAreaLeft" fmla="*/ 0 w 7923960"/>
              <a:gd name="textAreaRight" fmla="*/ 7924680 w 7923960"/>
              <a:gd name="textAreaTop" fmla="*/ 0 h 6857280"/>
              <a:gd name="textAreaBottom" fmla="*/ 6858000 h 6857280"/>
              <a:gd name="GluePoint1X" fmla="*/ 1982890 w 7924800"/>
              <a:gd name="GluePoint1Y" fmla="*/ 0 h 6858000"/>
              <a:gd name="GluePoint2X" fmla="*/ 5941911 w 7924800"/>
              <a:gd name="GluePoint2Y" fmla="*/ 0 h 6858000"/>
              <a:gd name="GluePoint3X" fmla="*/ 6177816 w 7924800"/>
              <a:gd name="GluePoint3Y" fmla="*/ 143316 h 6858000"/>
              <a:gd name="GluePoint4X" fmla="*/ 7924800 w 7924800"/>
              <a:gd name="GluePoint4Y" fmla="*/ 3429000 h 6858000"/>
              <a:gd name="GluePoint5X" fmla="*/ 6017049 w 7924800"/>
              <a:gd name="GluePoint5Y" fmla="*/ 6817750 h 6858000"/>
              <a:gd name="GluePoint6X" fmla="*/ 5947047 w 7924800"/>
              <a:gd name="GluePoint6Y" fmla="*/ 6858000 h 6858000"/>
              <a:gd name="GluePoint7X" fmla="*/ 1977753 w 7924800"/>
              <a:gd name="GluePoint7Y" fmla="*/ 6858000 h 6858000"/>
              <a:gd name="GluePoint8X" fmla="*/ 1907752 w 7924800"/>
              <a:gd name="GluePoint8Y" fmla="*/ 6817750 h 6858000"/>
              <a:gd name="GluePoint9X" fmla="*/ 0 w 7924800"/>
              <a:gd name="GluePoint9Y" fmla="*/ 3429000 h 6858000"/>
              <a:gd name="GluePoint10X" fmla="*/ 1746985 w 7924800"/>
              <a:gd name="GluePoint10Y" fmla="*/ 143316 h 6858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</a:cxnLst>
            <a:rect l="textAreaLeft" t="textAreaTop" r="textAreaRight" b="textAreaBottom"/>
            <a:pathLst>
              <a:path w="7924800" h="6858000">
                <a:moveTo>
                  <a:pt x="1982890" y="0"/>
                </a:moveTo>
                <a:lnTo>
                  <a:pt x="5941911" y="0"/>
                </a:lnTo>
                <a:lnTo>
                  <a:pt x="6177816" y="143316"/>
                </a:lnTo>
                <a:cubicBezTo>
                  <a:pt x="7231821" y="855388"/>
                  <a:pt x="7924800" y="2061267"/>
                  <a:pt x="7924800" y="3429000"/>
                </a:cubicBezTo>
                <a:cubicBezTo>
                  <a:pt x="7924800" y="4865120"/>
                  <a:pt x="7160790" y="6122796"/>
                  <a:pt x="6017049" y="6817750"/>
                </a:cubicBezTo>
                <a:lnTo>
                  <a:pt x="5947047" y="6858000"/>
                </a:lnTo>
                <a:lnTo>
                  <a:pt x="1977753" y="6858000"/>
                </a:lnTo>
                <a:lnTo>
                  <a:pt x="1907752" y="6817750"/>
                </a:lnTo>
                <a:cubicBezTo>
                  <a:pt x="764010" y="6122796"/>
                  <a:pt x="0" y="4865120"/>
                  <a:pt x="0" y="3429000"/>
                </a:cubicBezTo>
                <a:cubicBezTo>
                  <a:pt x="0" y="2061267"/>
                  <a:pt x="692980" y="855388"/>
                  <a:pt x="1746985" y="143316"/>
                </a:cubicBezTo>
                <a:close/>
              </a:path>
            </a:pathLst>
          </a:custGeom>
          <a:gradFill rotWithShape="0">
            <a:gsLst>
              <a:gs pos="0">
                <a:srgbClr val="FFFFFF"/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64" name="Left Brace 7"/>
          <p:cNvSpPr/>
          <p:nvPr/>
        </p:nvSpPr>
        <p:spPr>
          <a:xfrm>
            <a:off x="5560920" y="2022120"/>
            <a:ext cx="837360" cy="2813400"/>
          </a:xfrm>
          <a:prstGeom prst="leftBrace">
            <a:avLst>
              <a:gd name="adj1" fmla="val 34932"/>
              <a:gd name="adj2" fmla="val 50000"/>
            </a:avLst>
          </a:prstGeom>
          <a:noFill/>
          <a:ln w="28575">
            <a:solidFill>
              <a:srgbClr val="2626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531720" y="495360"/>
            <a:ext cx="4571280" cy="586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r" defTabSz="914400">
              <a:lnSpc>
                <a:spcPct val="110000"/>
              </a:lnSpc>
              <a:buNone/>
              <a:tabLst>
                <a:tab pos="0" algn="l"/>
              </a:tabLst>
              <a:defRPr lang="zh-TW" sz="4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zh-TW" sz="4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按一下以編輯母片標題樣式</a:t>
            </a:r>
            <a:endParaRPr lang="en-US" sz="48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6768360" y="2247840"/>
            <a:ext cx="4442760" cy="23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2500" lnSpcReduction="9999"/>
          </a:bodyPr>
          <a:lstStyle>
            <a:lvl1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  <a:defRPr lang="zh-TW" sz="2000" b="0" u="none" strike="noStrike" spc="31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  <a:lvl2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  <a:defRPr lang="zh-TW" sz="2000" b="0" u="none" strike="noStrike" spc="31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2pPr>
            <a:lvl3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  <a:defRPr lang="zh-TW" sz="2000" b="0" u="none" strike="noStrike" spc="31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3pPr>
            <a:lvl4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  <a:defRPr lang="zh-TW" sz="2000" b="0" u="none" strike="noStrike" spc="31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4pPr>
            <a:lvl5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  <a:defRPr lang="zh-TW" sz="2000" b="0" u="none" strike="noStrike" spc="31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5pPr>
          </a:lstStyle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2000" b="0" u="none" strike="noStrike" spc="31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按一下以編輯母片文字樣式</a:t>
            </a:r>
            <a:endParaRPr lang="en-US" sz="2000" b="0" u="none" strike="noStrike" spc="31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2000" b="0" u="none" strike="noStrike" spc="31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第二層</a:t>
            </a:r>
            <a:endParaRPr lang="en-US" sz="2000" b="0" u="none" strike="noStrike" spc="31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2000" b="0" u="none" strike="noStrike" spc="31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第三層</a:t>
            </a:r>
            <a:endParaRPr lang="en-US" sz="2000" b="0" u="none" strike="noStrike" spc="31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2000" b="0" u="none" strike="noStrike" spc="31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第四層</a:t>
            </a:r>
            <a:endParaRPr lang="en-US" sz="2000" b="0" u="none" strike="noStrike" spc="31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2000" b="0" u="none" strike="noStrike" spc="31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第五層</a:t>
            </a:r>
            <a:endParaRPr lang="en-US" sz="2000" b="0" u="none" strike="noStrike" spc="31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7"/>
          <p:cNvSpPr/>
          <p:nvPr/>
        </p:nvSpPr>
        <p:spPr>
          <a:xfrm>
            <a:off x="0" y="0"/>
            <a:ext cx="12188160" cy="6857280"/>
          </a:xfrm>
          <a:prstGeom prst="rect">
            <a:avLst/>
          </a:pr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68" name="Freeform: Shape 12"/>
          <p:cNvSpPr/>
          <p:nvPr/>
        </p:nvSpPr>
        <p:spPr>
          <a:xfrm>
            <a:off x="0" y="1440"/>
            <a:ext cx="3427560" cy="6855840"/>
          </a:xfrm>
          <a:custGeom>
            <a:avLst/>
            <a:gdLst>
              <a:gd name="textAreaLeft" fmla="*/ 0 w 3427560"/>
              <a:gd name="textAreaRight" fmla="*/ 3428280 w 3427560"/>
              <a:gd name="textAreaTop" fmla="*/ 0 h 6855840"/>
              <a:gd name="textAreaBottom" fmla="*/ 6856560 h 6855840"/>
              <a:gd name="GluePoint1X" fmla="*/ 1 w 3428208"/>
              <a:gd name="GluePoint1Y" fmla="*/ 0 h 6856414"/>
              <a:gd name="GluePoint2X" fmla="*/ 3428208 w 3428208"/>
              <a:gd name="GluePoint2Y" fmla="*/ 3428207 h 6856414"/>
              <a:gd name="GluePoint3X" fmla="*/ 1 w 3428208"/>
              <a:gd name="GluePoint3Y" fmla="*/ 6856414 h 6856414"/>
              <a:gd name="GluePoint4X" fmla="*/ 0 w 3428208"/>
              <a:gd name="GluePoint4Y" fmla="*/ 6856414 h 6856414"/>
              <a:gd name="GluePoint5X" fmla="*/ 0 w 3428208"/>
              <a:gd name="GluePoint5Y" fmla="*/ 0 h 685641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3428208" h="6856414">
                <a:moveTo>
                  <a:pt x="1" y="0"/>
                </a:moveTo>
                <a:cubicBezTo>
                  <a:pt x="1893347" y="0"/>
                  <a:pt x="3428208" y="1534861"/>
                  <a:pt x="3428208" y="3428207"/>
                </a:cubicBezTo>
                <a:cubicBezTo>
                  <a:pt x="3428208" y="5321553"/>
                  <a:pt x="1893347" y="6856414"/>
                  <a:pt x="1" y="6856414"/>
                </a:cubicBezTo>
                <a:lnTo>
                  <a:pt x="0" y="6856414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FFFFFF"/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988920" y="723960"/>
            <a:ext cx="4114080" cy="5295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zh-TW" sz="4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TW" sz="4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按一下以編輯母片標題樣式</a:t>
            </a:r>
            <a:endParaRPr lang="en-US" sz="48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6932520" y="1981080"/>
            <a:ext cx="4114080" cy="285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marL="45720" indent="0" algn="l" defTabSz="914400">
              <a:lnSpc>
                <a:spcPct val="90000"/>
              </a:lnSpc>
              <a:spcBef>
                <a:spcPts val="1800"/>
              </a:spcBef>
              <a:buNone/>
              <a:tabLst>
                <a:tab pos="0" algn="l"/>
              </a:tabLst>
              <a:def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  <a:lvl2pPr marL="365760"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2pPr>
            <a:lvl3pPr marL="5943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zh-TW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3pPr>
            <a:lvl4pPr marL="77724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4pPr>
            <a:lvl5pPr marL="96012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5pPr>
          </a:lstStyle>
          <a:p>
            <a:pPr marL="45720" indent="0" algn="l" defTabSz="914400">
              <a:lnSpc>
                <a:spcPct val="9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按一下以編輯母片文字樣式</a:t>
            </a:r>
            <a:endParaRPr lang="en-U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65760"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第二層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5943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zh-TW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第三層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77724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第四層</a:t>
            </a:r>
            <a:endParaRPr lang="en-US" sz="1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96012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第五層</a:t>
            </a:r>
            <a:endParaRPr lang="en-US" sz="1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71" name="Cross 13"/>
          <p:cNvSpPr/>
          <p:nvPr/>
        </p:nvSpPr>
        <p:spPr>
          <a:xfrm>
            <a:off x="4837680" y="914400"/>
            <a:ext cx="685080" cy="685080"/>
          </a:xfrm>
          <a:prstGeom prst="plus">
            <a:avLst>
              <a:gd name="adj" fmla="val 39796"/>
            </a:avLst>
          </a:prstGeom>
          <a:gradFill rotWithShape="0">
            <a:gsLst>
              <a:gs pos="0">
                <a:srgbClr val="FFFFFF">
                  <a:alpha val="0"/>
                </a:srgbClr>
              </a:gs>
              <a:gs pos="100000">
                <a:srgbClr val="FFFFFF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72" name="Cross 14"/>
          <p:cNvSpPr/>
          <p:nvPr/>
        </p:nvSpPr>
        <p:spPr>
          <a:xfrm>
            <a:off x="3085200" y="5695920"/>
            <a:ext cx="685080" cy="685080"/>
          </a:xfrm>
          <a:prstGeom prst="plus">
            <a:avLst>
              <a:gd name="adj" fmla="val 39796"/>
            </a:avLst>
          </a:prstGeom>
          <a:gradFill rotWithShape="0">
            <a:gsLst>
              <a:gs pos="0">
                <a:srgbClr val="FFFFFF">
                  <a:alpha val="0"/>
                </a:srgbClr>
              </a:gs>
              <a:gs pos="100000">
                <a:srgbClr val="FFFFFF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73" name="Left Brace 1"/>
          <p:cNvSpPr/>
          <p:nvPr/>
        </p:nvSpPr>
        <p:spPr>
          <a:xfrm>
            <a:off x="5560920" y="2022120"/>
            <a:ext cx="837360" cy="2813400"/>
          </a:xfrm>
          <a:prstGeom prst="leftBrace">
            <a:avLst>
              <a:gd name="adj1" fmla="val 34932"/>
              <a:gd name="adj2" fmla="val 50000"/>
            </a:avLst>
          </a:prstGeom>
          <a:noFill/>
          <a:ln w="28575">
            <a:solidFill>
              <a:srgbClr val="2626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ing with Phone im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Oval 6"/>
          <p:cNvSpPr/>
          <p:nvPr/>
        </p:nvSpPr>
        <p:spPr>
          <a:xfrm>
            <a:off x="6703920" y="1148400"/>
            <a:ext cx="4560480" cy="4560480"/>
          </a:xfrm>
          <a:prstGeom prst="ellipse">
            <a:avLst/>
          </a:pr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pic>
        <p:nvPicPr>
          <p:cNvPr id="75" name="Graphic 7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7432200" y="598320"/>
            <a:ext cx="3095640" cy="566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Cross 8"/>
          <p:cNvSpPr/>
          <p:nvPr/>
        </p:nvSpPr>
        <p:spPr>
          <a:xfrm>
            <a:off x="10818720" y="5353200"/>
            <a:ext cx="685080" cy="685080"/>
          </a:xfrm>
          <a:prstGeom prst="plus">
            <a:avLst>
              <a:gd name="adj" fmla="val 39796"/>
            </a:avLst>
          </a:pr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77" name="Cross 10"/>
          <p:cNvSpPr/>
          <p:nvPr/>
        </p:nvSpPr>
        <p:spPr>
          <a:xfrm>
            <a:off x="6336000" y="805680"/>
            <a:ext cx="685080" cy="685080"/>
          </a:xfrm>
          <a:prstGeom prst="plus">
            <a:avLst>
              <a:gd name="adj" fmla="val 39796"/>
            </a:avLst>
          </a:pr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608040" y="685800"/>
            <a:ext cx="6372000" cy="4037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zh-TW" sz="4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TW" sz="4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按一下以編輯母片標題樣式</a:t>
            </a:r>
            <a:endParaRPr lang="en-US" sz="48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608040" y="4876920"/>
            <a:ext cx="6372000" cy="1104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marL="45720" indent="0" algn="l" defTabSz="914400">
              <a:lnSpc>
                <a:spcPct val="90000"/>
              </a:lnSpc>
              <a:spcBef>
                <a:spcPts val="1800"/>
              </a:spcBef>
              <a:buNone/>
              <a:tabLst>
                <a:tab pos="0" algn="l"/>
              </a:tabLst>
              <a:def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marL="45720" indent="0" algn="l" defTabSz="914400">
              <a:lnSpc>
                <a:spcPct val="9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按一下以編輯母片文字樣式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body"/>
          </p:nvPr>
        </p:nvSpPr>
        <p:spPr>
          <a:xfrm>
            <a:off x="7765200" y="883440"/>
            <a:ext cx="2438280" cy="5090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marL="45720"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zh-TW" sz="18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1pPr>
          </a:lstStyle>
          <a:p>
            <a:pPr marL="45720"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按一下圖示以新增圖片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 + Subtitle 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Oval 4"/>
          <p:cNvSpPr/>
          <p:nvPr/>
        </p:nvSpPr>
        <p:spPr>
          <a:xfrm>
            <a:off x="3274920" y="609480"/>
            <a:ext cx="5637960" cy="5637960"/>
          </a:xfrm>
          <a:prstGeom prst="ellipse">
            <a:avLst/>
          </a:pr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82" name="Left Brace 7"/>
          <p:cNvSpPr/>
          <p:nvPr/>
        </p:nvSpPr>
        <p:spPr>
          <a:xfrm>
            <a:off x="5560920" y="2022120"/>
            <a:ext cx="837360" cy="2813400"/>
          </a:xfrm>
          <a:prstGeom prst="leftBrace">
            <a:avLst>
              <a:gd name="adj1" fmla="val 34932"/>
              <a:gd name="adj2" fmla="val 50000"/>
            </a:avLst>
          </a:prstGeom>
          <a:noFill/>
          <a:ln w="28575">
            <a:solidFill>
              <a:srgbClr val="2626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531720" y="495360"/>
            <a:ext cx="4571280" cy="586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r" defTabSz="914400">
              <a:lnSpc>
                <a:spcPct val="110000"/>
              </a:lnSpc>
              <a:buNone/>
              <a:tabLst>
                <a:tab pos="0" algn="l"/>
              </a:tabLst>
              <a:defRPr lang="zh-TW" sz="4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zh-TW" sz="4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按一下以編輯母片標題樣式</a:t>
            </a:r>
            <a:endParaRPr lang="en-US" sz="48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6768360" y="2022120"/>
            <a:ext cx="4442760" cy="2813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  <a:defRPr lang="zh-TW" sz="2000" b="0" u="none" strike="noStrike" spc="31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  <a:lvl2pPr lvl="1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  <a:defRPr lang="zh-TW" sz="2000" b="0" u="none" strike="noStrike" spc="31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2pPr>
            <a:lvl3pPr lvl="2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  <a:defRPr lang="zh-TW" sz="2000" b="0" u="none" strike="noStrike" spc="31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3pPr>
            <a:lvl4pPr lvl="3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  <a:defRPr lang="zh-TW" sz="2000" b="0" u="none" strike="noStrike" spc="31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4pPr>
            <a:lvl5pPr lvl="4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  <a:defRPr lang="zh-TW" sz="2000" b="0" u="none" strike="noStrike" spc="31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5pPr>
          </a:lstStyle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2000" b="0" u="none" strike="noStrike" spc="31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按一下以編輯母片文字樣式</a:t>
            </a:r>
            <a:endParaRPr lang="en-US" sz="2000" b="0" u="none" strike="noStrike" spc="31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274320" lvl="1" indent="-22860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2000" b="0" u="none" strike="noStrike" spc="31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第二層</a:t>
            </a:r>
            <a:endParaRPr lang="en-US" sz="2000" b="0" u="none" strike="noStrike" spc="31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594360" lvl="2" indent="-22860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2000" b="0" u="none" strike="noStrike" spc="31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第三層</a:t>
            </a:r>
            <a:endParaRPr lang="en-US" sz="2000" b="0" u="none" strike="noStrike" spc="31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777240" lvl="3" indent="-22860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2000" b="0" u="none" strike="noStrike" spc="31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第四層</a:t>
            </a:r>
            <a:endParaRPr lang="en-US" sz="2000" b="0" u="none" strike="noStrike" spc="31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960120" lvl="4" indent="-22860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2000" b="0" u="none" strike="noStrike" spc="31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第五層</a:t>
            </a:r>
            <a:endParaRPr lang="en-US" sz="2000" b="0" u="none" strike="noStrike" spc="31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標題及內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3"/>
          <p:cNvSpPr/>
          <p:nvPr/>
        </p:nvSpPr>
        <p:spPr>
          <a:xfrm>
            <a:off x="0" y="0"/>
            <a:ext cx="759600" cy="68572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80" sx="102000" sy="102000" algn="ctr" rotWithShape="0">
              <a:srgbClr val="000000">
                <a:alpha val="10000"/>
              </a:srgb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86" name="Cross 8"/>
          <p:cNvSpPr/>
          <p:nvPr/>
        </p:nvSpPr>
        <p:spPr>
          <a:xfrm>
            <a:off x="8151840" y="5670720"/>
            <a:ext cx="685080" cy="685080"/>
          </a:xfrm>
          <a:prstGeom prst="plus">
            <a:avLst>
              <a:gd name="adj" fmla="val 39796"/>
            </a:avLst>
          </a:pr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4914360" cy="144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80000"/>
              </a:lnSpc>
              <a:buNone/>
              <a:tabLst>
                <a:tab pos="0" algn="l"/>
              </a:tabLst>
              <a:def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按一下以編輯母片標題樣式</a:t>
            </a: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ldNum" idx="19"/>
          </p:nvPr>
        </p:nvSpPr>
        <p:spPr>
          <a:xfrm>
            <a:off x="0" y="609480"/>
            <a:ext cx="759600" cy="380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fld id="{84D0023D-D0FF-4C37-B65E-4F9781F9ECA9}" type="slidenum"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‹#›</a:t>
            </a:fld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ftr" idx="20"/>
          </p:nvPr>
        </p:nvSpPr>
        <p:spPr>
          <a:xfrm rot="16200000">
            <a:off x="-1829160" y="2592000"/>
            <a:ext cx="4419000" cy="759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90" name="PlaceHolder 4"/>
          <p:cNvSpPr>
            <a:spLocks noGrp="1"/>
          </p:cNvSpPr>
          <p:nvPr>
            <p:ph type="dt" idx="21"/>
          </p:nvPr>
        </p:nvSpPr>
        <p:spPr>
          <a:xfrm rot="16200000">
            <a:off x="-228960" y="5259240"/>
            <a:ext cx="1218600" cy="759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91" name="PlaceHolder 5"/>
          <p:cNvSpPr>
            <a:spLocks noGrp="1"/>
          </p:cNvSpPr>
          <p:nvPr>
            <p:ph type="body"/>
          </p:nvPr>
        </p:nvSpPr>
        <p:spPr>
          <a:xfrm>
            <a:off x="1311120" y="2286000"/>
            <a:ext cx="4571280" cy="4266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1pPr>
            <a:lvl2pPr marL="365760" indent="0" algn="l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2pPr>
            <a:lvl3pPr marL="594360" indent="0" algn="l" defTabSz="914400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3pPr>
            <a:lvl4pPr marL="777240" indent="0" algn="l" defTabSz="914400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4pPr>
            <a:lvl5pPr marL="960120" indent="0" algn="l" defTabSz="914400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5pPr>
          </a:lstStyle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按一下以編輯母片文字樣式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65760" indent="0" algn="l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第二層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594360" indent="0" algn="l" defTabSz="914400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第三層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777240" indent="0" algn="l" defTabSz="914400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第四層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960120" indent="0" algn="l" defTabSz="914400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第五層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92" name="Cross 14"/>
          <p:cNvSpPr/>
          <p:nvPr/>
        </p:nvSpPr>
        <p:spPr>
          <a:xfrm>
            <a:off x="7351560" y="4419720"/>
            <a:ext cx="685080" cy="685080"/>
          </a:xfrm>
          <a:prstGeom prst="plus">
            <a:avLst>
              <a:gd name="adj" fmla="val 39796"/>
            </a:avLst>
          </a:pr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93" name="Freeform: Shape 4"/>
          <p:cNvSpPr/>
          <p:nvPr/>
        </p:nvSpPr>
        <p:spPr>
          <a:xfrm>
            <a:off x="8609040" y="-21960"/>
            <a:ext cx="3579120" cy="6901200"/>
          </a:xfrm>
          <a:custGeom>
            <a:avLst/>
            <a:gdLst>
              <a:gd name="textAreaLeft" fmla="*/ 0 w 3579120"/>
              <a:gd name="textAreaRight" fmla="*/ 3579840 w 3579120"/>
              <a:gd name="textAreaTop" fmla="*/ 0 h 6901200"/>
              <a:gd name="textAreaBottom" fmla="*/ 6901920 h 6901200"/>
              <a:gd name="GluePoint1X" fmla="*/ 3450999 w 3579812"/>
              <a:gd name="GluePoint1Y" fmla="*/ 0 h 6901998"/>
              <a:gd name="GluePoint2X" fmla="*/ 3579812 w 3579812"/>
              <a:gd name="GluePoint2Y" fmla="*/ 3257 h 6901998"/>
              <a:gd name="GluePoint3X" fmla="*/ 3579812 w 3579812"/>
              <a:gd name="GluePoint3Y" fmla="*/ 6898741 h 6901998"/>
              <a:gd name="GluePoint4X" fmla="*/ 3450999 w 3579812"/>
              <a:gd name="GluePoint4Y" fmla="*/ 6901998 h 6901998"/>
              <a:gd name="GluePoint5X" fmla="*/ 0 w 3579812"/>
              <a:gd name="GluePoint5Y" fmla="*/ 3450999 h 6901998"/>
              <a:gd name="GluePoint6X" fmla="*/ 3450999 w 3579812"/>
              <a:gd name="GluePoint6Y" fmla="*/ 0 h 690199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3579812" h="6901998">
                <a:moveTo>
                  <a:pt x="3450999" y="0"/>
                </a:moveTo>
                <a:lnTo>
                  <a:pt x="3579812" y="3257"/>
                </a:lnTo>
                <a:lnTo>
                  <a:pt x="3579812" y="6898741"/>
                </a:lnTo>
                <a:lnTo>
                  <a:pt x="3450999" y="6901998"/>
                </a:lnTo>
                <a:cubicBezTo>
                  <a:pt x="1545065" y="6901998"/>
                  <a:pt x="0" y="5356933"/>
                  <a:pt x="0" y="3450999"/>
                </a:cubicBezTo>
                <a:cubicBezTo>
                  <a:pt x="0" y="1545065"/>
                  <a:pt x="1545065" y="0"/>
                  <a:pt x="3450999" y="0"/>
                </a:cubicBezTo>
                <a:close/>
              </a:path>
            </a:pathLst>
          </a:cu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7.xml"/><Relationship Id="rId4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8.xml"/><Relationship Id="rId4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0.png"/><Relationship Id="rId3" Type="http://schemas.openxmlformats.org/officeDocument/2006/relationships/hyperlink" Target="https://github.com/dinchentech/tw-selfselect/blob/main/&#20351;&#29992;&#25163;&#20874;.md#3-&#27599;&#26376;&#20316;&#26989;sop" TargetMode="External"/><Relationship Id="rId4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B3CCE7">
                <a:alpha val="0"/>
              </a:srgbClr>
            </a:gs>
            <a:gs pos="100000">
              <a:srgbClr val="ACCBF9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84360" y="1295280"/>
            <a:ext cx="10286280" cy="3885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6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TW-SELFSELECT-W5 </a:t>
            </a:r>
            <a:br>
              <a:rPr sz="6600"/>
            </a:br>
            <a:r>
              <a:rPr lang="en-US" sz="66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 </a:t>
            </a:r>
            <a:r>
              <a:rPr lang="zh-TW" sz="66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台股買賣自動化系統</a:t>
            </a:r>
            <a:endParaRPr lang="en-US" sz="66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684360" y="5600880"/>
            <a:ext cx="10286280" cy="532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45720" indent="0" algn="l" defTabSz="914400">
              <a:lnSpc>
                <a:spcPct val="9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使用 Python 與 DSH</a:t>
            </a: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/>
            </a:r>
            <a:r>
              <a:rPr lang="zh-TW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/>
            </a: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 0"/>
          <p:cNvSpPr/>
          <p:nvPr/>
        </p:nvSpPr>
        <p:spPr>
          <a:xfrm>
            <a:off x="747360" y="427680"/>
            <a:ext cx="11288160" cy="55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107640" anchor="t">
            <a:noAutofit/>
          </a:bodyPr>
          <a:lstStyle/>
          <a:p>
            <a:pPr defTabSz="914040">
              <a:lnSpc>
                <a:spcPct val="109000"/>
              </a:lnSpc>
            </a:pPr>
            <a:r>
              <a:rPr lang="en-US" sz="2830" b="1" u="none" strike="noStrike">
                <a:solidFill>
                  <a:srgbClr val="1F2328"/>
                </a:solidFill>
                <a:effectLst/>
                <a:uFillTx/>
                <a:latin typeface="Segoe UI"/>
                <a:ea typeface="Segoe UI"/>
              </a:rPr>
              <a:t>🤔</a:t>
            </a:r>
            <a:r>
              <a:rPr lang="en-US" sz="2830" b="1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 什麼是回溯？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"/>
          <p:cNvSpPr/>
          <p:nvPr/>
        </p:nvSpPr>
        <p:spPr>
          <a:xfrm>
            <a:off x="777600" y="892080"/>
            <a:ext cx="11227680" cy="41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040">
              <a:lnSpc>
                <a:spcPct val="130000"/>
              </a:lnSpc>
            </a:pPr>
            <a:r>
              <a:rPr lang="zh-TW" sz="2170" b="1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回溯（</a:t>
            </a:r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Backtest</a:t>
            </a:r>
            <a:r>
              <a:rPr lang="zh-TW" sz="2170" b="1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）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 又稱 </a:t>
            </a:r>
            <a:r>
              <a:rPr lang="zh-TW" sz="2170" b="1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回測</a:t>
            </a:r>
            <a:r>
              <a:rPr lang="zh-TW" sz="2170" b="0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，是量化交易的核心步驟。它的概念非常簡單：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2"/>
          <p:cNvSpPr/>
          <p:nvPr/>
        </p:nvSpPr>
        <p:spPr>
          <a:xfrm>
            <a:off x="747360" y="2023560"/>
            <a:ext cx="65880" cy="413640"/>
          </a:xfrm>
          <a:prstGeom prst="rect">
            <a:avLst/>
          </a:prstGeom>
          <a:solidFill>
            <a:srgbClr val="D1D9E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3120" tIns="45000" rIns="3312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7" name="Text 3"/>
          <p:cNvSpPr/>
          <p:nvPr/>
        </p:nvSpPr>
        <p:spPr>
          <a:xfrm>
            <a:off x="780840" y="1281600"/>
            <a:ext cx="10626480" cy="41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6120" tIns="0" rIns="276120" bIns="0" anchor="t">
            <a:noAutofit/>
          </a:bodyPr>
          <a:lstStyle/>
          <a:p>
            <a:pPr defTabSz="914040">
              <a:lnSpc>
                <a:spcPct val="130000"/>
              </a:lnSpc>
            </a:pPr>
            <a:r>
              <a:rPr lang="zh-TW" sz="2170" b="1" u="none" strike="noStrike">
                <a:solidFill>
                  <a:srgbClr val="59636E"/>
                </a:solidFill>
                <a:effectLst/>
                <a:uFillTx/>
                <a:latin typeface="Yu Gothic UI"/>
                <a:ea typeface="Yu Gothic UI"/>
              </a:rPr>
              <a:t>用過去的歷史數據，去驗證你的交易策略如果在那個當下執行，到底會不會賺錢。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4"/>
          <p:cNvSpPr/>
          <p:nvPr/>
        </p:nvSpPr>
        <p:spPr>
          <a:xfrm>
            <a:off x="747360" y="1734120"/>
            <a:ext cx="10693080" cy="1656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040">
              <a:lnSpc>
                <a:spcPct val="125000"/>
              </a:lnSpc>
            </a:pPr>
            <a:r>
              <a:rPr lang="zh-TW" sz="2170" b="0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舉例來說：如果你發明了一套號稱能穩定獲利的策略，你不能直接拿真錢去市場上測試。你應該先讓程式讀取過去三年（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2023~2026 </a:t>
            </a:r>
            <a:r>
              <a:rPr lang="zh-TW" sz="2170" b="0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年）台積電（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2330</a:t>
            </a:r>
            <a:r>
              <a:rPr lang="zh-TW" sz="2170" b="0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）的每日股價資料，然後模擬在過去的每一天，策略是否會觸發買進或賣出訊號，最後統計這段期間的總報酬、勝率等績效指標。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5"/>
          <p:cNvSpPr/>
          <p:nvPr/>
        </p:nvSpPr>
        <p:spPr>
          <a:xfrm>
            <a:off x="763920" y="3647160"/>
            <a:ext cx="11288160" cy="379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040">
              <a:lnSpc>
                <a:spcPct val="109000"/>
              </a:lnSpc>
            </a:pPr>
            <a:r>
              <a:rPr lang="zh-TW" sz="2390" b="1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回溯的核心價值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0" name="Table 0"/>
          <p:cNvGraphicFramePr/>
          <p:nvPr/>
        </p:nvGraphicFramePr>
        <p:xfrm>
          <a:off x="651600" y="4159440"/>
          <a:ext cx="11217600" cy="2246400"/>
        </p:xfrm>
        <a:graphic>
          <a:graphicData uri="http://schemas.openxmlformats.org/drawingml/2006/table">
            <a:tbl>
              <a:tblPr/>
              <a:tblGrid>
                <a:gridCol w="2269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48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5320">
                <a:tc>
                  <a:txBody>
                    <a:bodyPr/>
                    <a:lstStyle/>
                    <a:p>
                      <a:pPr algn="ctr" defTabSz="91404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TW" sz="2200" b="1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目的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3480" marR="123480" marT="56880" marB="56880">
                    <a:lnL w="12240">
                      <a:solidFill>
                        <a:srgbClr val="D1D9E0"/>
                      </a:solidFill>
                      <a:prstDash val="solid"/>
                    </a:lnL>
                    <a:lnR w="12240">
                      <a:solidFill>
                        <a:srgbClr val="D1D9E0"/>
                      </a:solidFill>
                      <a:prstDash val="solid"/>
                    </a:lnR>
                    <a:lnT w="12240">
                      <a:solidFill>
                        <a:srgbClr val="D1D9E0"/>
                      </a:solidFill>
                      <a:prstDash val="solid"/>
                    </a:lnT>
                    <a:lnB w="12240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04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TW" sz="2200" b="1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說明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3480" marR="123480" marT="56880" marB="56880">
                    <a:lnL w="12240">
                      <a:solidFill>
                        <a:srgbClr val="D1D9E0"/>
                      </a:solidFill>
                      <a:prstDash val="solid"/>
                    </a:lnL>
                    <a:lnR w="12240">
                      <a:solidFill>
                        <a:srgbClr val="D1D9E0"/>
                      </a:solidFill>
                      <a:prstDash val="solid"/>
                    </a:lnR>
                    <a:lnT w="12240">
                      <a:solidFill>
                        <a:srgbClr val="D1D9E0"/>
                      </a:solidFill>
                      <a:prstDash val="solid"/>
                    </a:lnT>
                    <a:lnB w="12240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320">
                <a:tc>
                  <a:txBody>
                    <a:bodyPr/>
                    <a:lstStyle/>
                    <a:p>
                      <a:pPr defTabSz="91404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TW" sz="2200" b="1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驗證策略有效性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3480" marR="123480" marT="56880" marB="56880">
                    <a:lnL w="12240">
                      <a:solidFill>
                        <a:srgbClr val="D1D9E0"/>
                      </a:solidFill>
                      <a:prstDash val="solid"/>
                    </a:lnL>
                    <a:lnR w="12240">
                      <a:solidFill>
                        <a:srgbClr val="D1D9E0"/>
                      </a:solidFill>
                      <a:prstDash val="solid"/>
                    </a:lnR>
                    <a:lnT w="12240">
                      <a:solidFill>
                        <a:srgbClr val="D1D9E0"/>
                      </a:solidFill>
                      <a:prstDash val="solid"/>
                    </a:lnT>
                    <a:lnB w="12240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04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TW" sz="2200" b="0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在投入真實資金之前，先用歷史數據檢驗策略是否真的能賺錢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3480" marR="123480" marT="56880" marB="56880">
                    <a:lnL w="12240">
                      <a:solidFill>
                        <a:srgbClr val="D1D9E0"/>
                      </a:solidFill>
                      <a:prstDash val="solid"/>
                    </a:lnL>
                    <a:lnR w="12240">
                      <a:solidFill>
                        <a:srgbClr val="D1D9E0"/>
                      </a:solidFill>
                      <a:prstDash val="solid"/>
                    </a:lnR>
                    <a:lnT w="12240">
                      <a:solidFill>
                        <a:srgbClr val="D1D9E0"/>
                      </a:solidFill>
                      <a:prstDash val="solid"/>
                    </a:lnT>
                    <a:lnB w="12240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320">
                <a:tc>
                  <a:txBody>
                    <a:bodyPr/>
                    <a:lstStyle/>
                    <a:p>
                      <a:pPr defTabSz="91404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TW" sz="2200" b="1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參數最佳化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3480" marR="123480" marT="56880" marB="56880">
                    <a:lnL w="12240">
                      <a:solidFill>
                        <a:srgbClr val="D1D9E0"/>
                      </a:solidFill>
                      <a:prstDash val="solid"/>
                    </a:lnL>
                    <a:lnR w="12240">
                      <a:solidFill>
                        <a:srgbClr val="D1D9E0"/>
                      </a:solidFill>
                      <a:prstDash val="solid"/>
                    </a:lnR>
                    <a:lnT w="12240">
                      <a:solidFill>
                        <a:srgbClr val="D1D9E0"/>
                      </a:solidFill>
                      <a:prstDash val="solid"/>
                    </a:lnT>
                    <a:lnB w="12240">
                      <a:solidFill>
                        <a:srgbClr val="D1D9E0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defTabSz="91404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TW" sz="2200" b="0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調整策略參數（如均線週期、標準差倍數），找出歷史表現最好的組合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3480" marR="123480" marT="56880" marB="56880">
                    <a:lnL w="12240">
                      <a:solidFill>
                        <a:srgbClr val="D1D9E0"/>
                      </a:solidFill>
                      <a:prstDash val="solid"/>
                    </a:lnL>
                    <a:lnR w="12240">
                      <a:solidFill>
                        <a:srgbClr val="D1D9E0"/>
                      </a:solidFill>
                      <a:prstDash val="solid"/>
                    </a:lnR>
                    <a:lnT w="12240">
                      <a:solidFill>
                        <a:srgbClr val="D1D9E0"/>
                      </a:solidFill>
                      <a:prstDash val="solid"/>
                    </a:lnT>
                    <a:lnB w="12240">
                      <a:solidFill>
                        <a:srgbClr val="D1D9E0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5320">
                <a:tc>
                  <a:txBody>
                    <a:bodyPr/>
                    <a:lstStyle/>
                    <a:p>
                      <a:pPr defTabSz="91404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TW" sz="2200" b="1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了解策略特性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3480" marR="123480" marT="56880" marB="56880">
                    <a:lnL w="12240">
                      <a:solidFill>
                        <a:srgbClr val="D1D9E0"/>
                      </a:solidFill>
                      <a:prstDash val="solid"/>
                    </a:lnL>
                    <a:lnR w="12240">
                      <a:solidFill>
                        <a:srgbClr val="D1D9E0"/>
                      </a:solidFill>
                      <a:prstDash val="solid"/>
                    </a:lnR>
                    <a:lnT w="12240">
                      <a:solidFill>
                        <a:srgbClr val="D1D9E0"/>
                      </a:solidFill>
                      <a:prstDash val="solid"/>
                    </a:lnT>
                    <a:lnB w="12240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04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TW" sz="2200" b="0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了解策略在什麼市場環境（震盪盤、大牛市、崩盤）表現好或差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3480" marR="123480" marT="56880" marB="56880">
                    <a:lnL w="12240">
                      <a:solidFill>
                        <a:srgbClr val="D1D9E0"/>
                      </a:solidFill>
                      <a:prstDash val="solid"/>
                    </a:lnL>
                    <a:lnR w="12240">
                      <a:solidFill>
                        <a:srgbClr val="D1D9E0"/>
                      </a:solidFill>
                      <a:prstDash val="solid"/>
                    </a:lnR>
                    <a:lnT w="12240">
                      <a:solidFill>
                        <a:srgbClr val="D1D9E0"/>
                      </a:solidFill>
                      <a:prstDash val="solid"/>
                    </a:lnT>
                    <a:lnB w="12240">
                      <a:solidFill>
                        <a:srgbClr val="D1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5320">
                <a:tc>
                  <a:txBody>
                    <a:bodyPr/>
                    <a:lstStyle/>
                    <a:p>
                      <a:pPr defTabSz="91404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TW" sz="2200" b="1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建立交易信心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3480" marR="123480" marT="56880" marB="56880">
                    <a:lnL w="12240">
                      <a:solidFill>
                        <a:srgbClr val="D1D9E0"/>
                      </a:solidFill>
                      <a:prstDash val="solid"/>
                    </a:lnL>
                    <a:lnR w="12240">
                      <a:solidFill>
                        <a:srgbClr val="D1D9E0"/>
                      </a:solidFill>
                      <a:prstDash val="solid"/>
                    </a:lnR>
                    <a:lnT w="12240">
                      <a:solidFill>
                        <a:srgbClr val="D1D9E0"/>
                      </a:solidFill>
                      <a:prstDash val="solid"/>
                    </a:lnT>
                    <a:lnB w="12240">
                      <a:solidFill>
                        <a:srgbClr val="D1D9E0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defTabSz="91404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TW" sz="2200" b="0" u="none" strike="noStrike">
                          <a:solidFill>
                            <a:srgbClr val="1F2328"/>
                          </a:solidFill>
                          <a:effectLst/>
                          <a:uFillTx/>
                          <a:latin typeface="Yu Gothic UI"/>
                          <a:ea typeface="Yu Gothic UI"/>
                        </a:rPr>
                        <a:t>經過足夠的回溯驗證後，在實盤執行時才不會因為短線虧損而恐慌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3480" marR="123480" marT="56880" marB="56880">
                    <a:lnL w="12240">
                      <a:solidFill>
                        <a:srgbClr val="D1D9E0"/>
                      </a:solidFill>
                      <a:prstDash val="solid"/>
                    </a:lnL>
                    <a:lnR w="12240">
                      <a:solidFill>
                        <a:srgbClr val="D1D9E0"/>
                      </a:solidFill>
                      <a:prstDash val="solid"/>
                    </a:lnR>
                    <a:lnT w="12240">
                      <a:solidFill>
                        <a:srgbClr val="D1D9E0"/>
                      </a:solidFill>
                      <a:prstDash val="solid"/>
                    </a:lnT>
                    <a:lnB w="12240">
                      <a:solidFill>
                        <a:srgbClr val="D1D9E0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4914360" cy="144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策略的回測</a:t>
            </a: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sldNum" idx="25"/>
          </p:nvPr>
        </p:nvSpPr>
        <p:spPr>
          <a:xfrm>
            <a:off x="0" y="609480"/>
            <a:ext cx="759600" cy="380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fld id="{C170AA22-458A-4885-8201-9ABC4952351F}" type="slidenum"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3</a:t>
            </a:fld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1311120" y="1143000"/>
            <a:ext cx="8211240" cy="540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lstStyle/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模式一：</a:t>
            </a:r>
            <a:r>
              <a:rPr lang="en-US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backtest.py — Yahoo Finance </a:t>
            </a: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批次回溯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這是</a:t>
            </a: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主要回溯工具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，使用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Yahoo Finance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的免費歷史股價資料。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特性：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✅ 資料源：Yahoo Finance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（無需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API Key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，完全免費）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✅ 自動掃描 config/symbols.py 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中定義的所有標的（目前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8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檔：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2330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、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2454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、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2317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、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2881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、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0050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、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0056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、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00632R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、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00646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）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✅ 單一策略執行，一次跑完全部標的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✅ 自動匯出 CSV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績效報表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✅ 支援命令列參數：--strategy 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選擇策略、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--start 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設定開始日期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❌ 不支援複委託手續費與證交稅計算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適用場景：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 快速驗證單一策略在整個觀察清單上的表現。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4914360" cy="144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策略的回測</a:t>
            </a: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sldNum" idx="26"/>
          </p:nvPr>
        </p:nvSpPr>
        <p:spPr>
          <a:xfrm>
            <a:off x="0" y="609480"/>
            <a:ext cx="759600" cy="380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fld id="{01DD0820-28F5-41AA-A2A7-1970C492B0F5}" type="slidenum"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4</a:t>
            </a:fld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/>
          </p:nvPr>
        </p:nvSpPr>
        <p:spPr>
          <a:xfrm>
            <a:off x="1311120" y="1143000"/>
            <a:ext cx="8211240" cy="540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模式二：</a:t>
            </a:r>
            <a:r>
              <a:rPr lang="en-US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backtest_finmind.py — FinMind </a:t>
            </a: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多策略比較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進階回溯工具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，使用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FinMind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台灣股市資料庫。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特性：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✅ 資料源：FinMind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（台灣在地資料庫，需免費註冊取得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API Token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）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✅ 四種策略同時跑在同一支股票上，方便橫向比較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✅ 支援手續費設定：買進 0.1425%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、賣出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0.4425%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（含證交稅）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✅ 回傳完整績效數據：最終權益、交易次數、勝率、平均報酬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適用場景：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 針對單一標的，比較四種策略哪個歷史表現最好。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4914360" cy="144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策略的回測</a:t>
            </a: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sldNum" idx="27"/>
          </p:nvPr>
        </p:nvSpPr>
        <p:spPr>
          <a:xfrm>
            <a:off x="0" y="609480"/>
            <a:ext cx="759600" cy="380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fld id="{6DBAD274-4A81-42BC-9B61-98B74A3D49B2}" type="slidenum"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5</a:t>
            </a:fld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/>
          </p:nvPr>
        </p:nvSpPr>
        <p:spPr>
          <a:xfrm>
            <a:off x="1311120" y="1143000"/>
            <a:ext cx="8211240" cy="540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lstStyle/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模式三：</a:t>
            </a:r>
            <a:r>
              <a:rPr lang="en-US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backtest_esun.py — </a:t>
            </a: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玉山 </a:t>
            </a:r>
            <a:r>
              <a:rPr lang="en-US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E.Sun SDK </a:t>
            </a: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回溯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使用玉山證券提供的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SDK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擷取歷史行情資料進行回測。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特性：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✅ 資料源：玉山 E.Sun MarketData API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（需先完成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SDK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安裝）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✅ 支援 --symbol 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指定單一標的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✅ 支援 --strategy 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指定策略（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vwap / ma_cross / bollinger / breakout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）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✅ 使用 config.simulation.ini.example 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中的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API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設定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✅ 支援函式版策略（strategies/vwap_deviation.py 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等）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🚫 </a:t>
            </a: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限單一標的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，非批次執行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適用場景：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 使用券商的真實歷史行情資料驗證策略，避免 Yahoo Finance / FinMind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的資料偏差。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9829080" cy="532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策略的回測</a:t>
            </a: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sldNum" idx="28"/>
          </p:nvPr>
        </p:nvSpPr>
        <p:spPr>
          <a:xfrm>
            <a:off x="0" y="609480"/>
            <a:ext cx="759600" cy="380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2500" lnSpcReduction="9999"/>
          </a:bodyPr>
          <a:lstStyle>
            <a:lvl1pPr indent="0" algn="ctr" defTabSz="914400">
              <a:lnSpc>
                <a:spcPct val="90000"/>
              </a:lnSpc>
              <a:spcAft>
                <a:spcPts val="601"/>
              </a:spcAft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914400">
              <a:lnSpc>
                <a:spcPct val="90000"/>
              </a:lnSpc>
              <a:spcAft>
                <a:spcPts val="601"/>
              </a:spcAft>
              <a:buNone/>
              <a:tabLst>
                <a:tab pos="0" algn="l"/>
              </a:tabLst>
            </a:pPr>
            <a:fld id="{5510E90B-17EB-4577-AD42-943D7CBF8D92}" type="slidenum"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6</a:t>
            </a:fld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文字方塊 8"/>
          <p:cNvSpPr/>
          <p:nvPr/>
        </p:nvSpPr>
        <p:spPr>
          <a:xfrm>
            <a:off x="1293840" y="1324080"/>
            <a:ext cx="9371880" cy="515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marL="45720" defTabSz="914400">
              <a:lnSpc>
                <a:spcPts val="1500"/>
              </a:lnSpc>
              <a:spcAft>
                <a:spcPts val="1199"/>
              </a:spcAft>
            </a:pP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模式四：</a:t>
            </a:r>
            <a:r>
              <a:rPr lang="en-US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simulate_portfolio.py — </a:t>
            </a: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投資組合模擬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02920" defTabSz="914400">
              <a:lnSpc>
                <a:spcPts val="1500"/>
              </a:lnSpc>
              <a:spcAft>
                <a:spcPts val="1199"/>
              </a:spcAft>
            </a:pP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將回測結果延伸為完整投資組合模擬，支援兩種資金模型：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02920" defTabSz="914400">
              <a:lnSpc>
                <a:spcPts val="1500"/>
              </a:lnSpc>
              <a:spcAft>
                <a:spcPts val="1199"/>
              </a:spcAft>
            </a:pP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輸出： 自動產生 </a:t>
            </a:r>
            <a:r>
              <a:rPr lang="en-US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Markdown </a:t>
            </a: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回溯報告（含各標的明細、總績效、策略比較表）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02920" defTabSz="914400">
              <a:lnSpc>
                <a:spcPts val="1500"/>
              </a:lnSpc>
              <a:spcAft>
                <a:spcPts val="1199"/>
              </a:spcAft>
            </a:pP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（註</a:t>
            </a:r>
            <a:r>
              <a:rPr lang="en-US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:</a:t>
            </a: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模式一～三僅支持策略１～４）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100000"/>
              </a:lnSpc>
            </a:pP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Century Gothic"/>
                <a:ea typeface="Century Gothic"/>
              </a:rPr>
              <a:t>使用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entury Gothic"/>
                <a:ea typeface="Century Gothic"/>
              </a:rPr>
              <a:t>TWSE </a:t>
            </a: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Century Gothic"/>
                <a:ea typeface="Century Gothic"/>
              </a:rPr>
              <a:t>公開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entury Gothic"/>
                <a:ea typeface="Century Gothic"/>
              </a:rPr>
              <a:t>API</a:t>
            </a: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Century Gothic"/>
                <a:ea typeface="Century Gothic"/>
              </a:rPr>
              <a:t>（免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entury Gothic"/>
                <a:ea typeface="Century Gothic"/>
              </a:rPr>
              <a:t>Key</a:t>
            </a: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Century Gothic"/>
                <a:ea typeface="Century Gothic"/>
              </a:rPr>
              <a:t>、免註冊）取得三大法人買賣資料，搭配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entury Gothic"/>
                <a:ea typeface="Century Gothic"/>
              </a:rPr>
              <a:t>FinMind </a:t>
            </a: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Century Gothic"/>
                <a:ea typeface="Century Gothic"/>
              </a:rPr>
              <a:t>價格資料進行回測。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" defTabSz="914400">
              <a:lnSpc>
                <a:spcPct val="110000"/>
              </a:lnSpc>
              <a:spcBef>
                <a:spcPts val="1800"/>
              </a:spcBef>
              <a:spcAft>
                <a:spcPts val="1199"/>
              </a:spcAft>
            </a:pP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簡單選擇：　（不確定就直接讓ＡＩ執行）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" defTabSz="914400">
              <a:lnSpc>
                <a:spcPts val="1559"/>
              </a:lnSpc>
              <a:spcAft>
                <a:spcPts val="1199"/>
              </a:spcAft>
            </a:pP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單一策略多目標＝＞模式一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" defTabSz="914400">
              <a:lnSpc>
                <a:spcPts val="1559"/>
              </a:lnSpc>
              <a:spcAft>
                <a:spcPts val="1199"/>
              </a:spcAft>
            </a:pP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單一目標多策略＝＞模式二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" defTabSz="914400">
              <a:lnSpc>
                <a:spcPts val="1559"/>
              </a:lnSpc>
              <a:spcAft>
                <a:spcPts val="1199"/>
              </a:spcAft>
            </a:pP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玉山資料／單一目標／單一策略＝＞模式三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" defTabSz="914400">
              <a:lnSpc>
                <a:spcPts val="1559"/>
              </a:lnSpc>
              <a:spcAft>
                <a:spcPts val="1199"/>
              </a:spcAft>
            </a:pP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實盤設定多目標多策略回測＝＞模式四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" defTabSz="914400">
              <a:lnSpc>
                <a:spcPts val="1559"/>
              </a:lnSpc>
              <a:spcAft>
                <a:spcPts val="1199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" defTabSz="914400">
              <a:lnSpc>
                <a:spcPct val="110000"/>
              </a:lnSpc>
              <a:spcBef>
                <a:spcPts val="1800"/>
              </a:spcBef>
              <a:spcAft>
                <a:spcPts val="1199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9829080" cy="532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回測的執行</a:t>
            </a: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sldNum" idx="29"/>
          </p:nvPr>
        </p:nvSpPr>
        <p:spPr>
          <a:xfrm>
            <a:off x="0" y="609480"/>
            <a:ext cx="759600" cy="380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2500" lnSpcReduction="9999"/>
          </a:bodyPr>
          <a:lstStyle>
            <a:lvl1pPr indent="0" algn="ctr" defTabSz="914400">
              <a:lnSpc>
                <a:spcPct val="90000"/>
              </a:lnSpc>
              <a:spcAft>
                <a:spcPts val="601"/>
              </a:spcAft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914400">
              <a:lnSpc>
                <a:spcPct val="90000"/>
              </a:lnSpc>
              <a:spcAft>
                <a:spcPts val="601"/>
              </a:spcAft>
              <a:buNone/>
              <a:tabLst>
                <a:tab pos="0" algn="l"/>
              </a:tabLst>
            </a:pPr>
            <a:fld id="{9CC51A4B-0BA3-4DB9-B02F-35A1F9340B95}" type="slidenum"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7</a:t>
            </a:fld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文字方塊 8"/>
          <p:cNvSpPr/>
          <p:nvPr/>
        </p:nvSpPr>
        <p:spPr>
          <a:xfrm>
            <a:off x="1293840" y="1324080"/>
            <a:ext cx="9371880" cy="515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77500" lnSpcReduction="19999"/>
          </a:bodyPr>
          <a:lstStyle/>
          <a:p>
            <a:pPr defTabSz="914400">
              <a:lnSpc>
                <a:spcPct val="100000"/>
              </a:lnSpc>
            </a:pP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步驟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1</a:t>
            </a: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：讀取</a:t>
            </a:r>
            <a:r>
              <a:rPr lang="zh-TW" sz="1800" b="0" u="none" strike="noStrike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entury Gothic"/>
              </a:rPr>
              <a:t>策略與參數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  └─ 從命令列或環境變數取得策略名稱（預設 vwap</a:t>
            </a: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）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  └─ 從 STRATEGY_CONFIG </a:t>
            </a: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映射表取得對應的策略函式與參數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步驟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2</a:t>
            </a: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：初始化</a:t>
            </a:r>
            <a:r>
              <a:rPr lang="zh-TW" sz="1800" b="0" u="none" strike="noStrike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entury Gothic"/>
              </a:rPr>
              <a:t>策略引</a:t>
            </a: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擎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  └─ StrategyEngine(strategy_func, **params)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  └─ 引擎本身非常輕量，主要負責轉發呼叫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步驟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3</a:t>
            </a: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：對</a:t>
            </a:r>
            <a:r>
              <a:rPr lang="zh-TW" sz="1800" b="0" u="none" strike="noStrike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entury Gothic"/>
              </a:rPr>
              <a:t>每個標的依序執行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  └─ 遍歷 ALL_SYMBOLS</a:t>
            </a: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（目前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8 </a:t>
            </a: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檔）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  └─ 根據股票代號決定 Yahoo Finance </a:t>
            </a: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後綴（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.TW / .TWO</a:t>
            </a: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）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  └─ 呼叫 load_historical_data() </a:t>
            </a: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下載歷史股價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  └─ 若資料為空則跳過該標的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步驟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4</a:t>
            </a: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：</a:t>
            </a:r>
            <a:r>
              <a:rPr lang="zh-TW" sz="1800" b="0" u="none" strike="noStrike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entury Gothic"/>
              </a:rPr>
              <a:t>執行策略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  └─ engine.run(df) → </a:t>
            </a: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呼叫策略函式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  └─ 策略函式在 DataFrame </a:t>
            </a: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中新增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signal </a:t>
            </a: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欄位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  └─ signal = 1</a:t>
            </a: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（買進）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, -1</a:t>
            </a: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（賣出）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, 0</a:t>
            </a: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（無動作）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步驟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5</a:t>
            </a: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：</a:t>
            </a:r>
            <a:r>
              <a:rPr lang="zh-TW" sz="1800" b="0" u="none" strike="noStrike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entury Gothic"/>
              </a:rPr>
              <a:t>計算績效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  └─ calculate_performance(df)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  └─ 根據 signal </a:t>
            </a: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欄位計算每筆交易的報酬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  └─ 回傳交易次數、勝率、總報酬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步驟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6</a:t>
            </a: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：</a:t>
            </a:r>
            <a:r>
              <a:rPr lang="zh-TW" sz="1800" b="0" u="none" strike="noStrike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entury Gothic"/>
              </a:rPr>
              <a:t>匯出結果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  └─ 將所有非空的結果寫入 CSV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  └─ 檔案命名包含策略名稱與時間戳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1311120" y="338400"/>
            <a:ext cx="10421280" cy="65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9999"/>
          </a:bodyPr>
          <a:lstStyle/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zh-TW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問：給我台積電今年</a:t>
            </a:r>
            <a:r>
              <a:rPr lang="en-US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1~6</a:t>
            </a:r>
            <a:r>
              <a:rPr lang="zh-TW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月用策略</a:t>
            </a:r>
            <a:r>
              <a:rPr lang="en-US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1~4</a:t>
            </a:r>
            <a:r>
              <a:rPr lang="zh-TW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回測單筆投資</a:t>
            </a:r>
            <a:r>
              <a:rPr lang="en-US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50</a:t>
            </a:r>
            <a:r>
              <a:rPr lang="zh-TW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萬的結果</a:t>
            </a: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graphicFrame>
        <p:nvGraphicFramePr>
          <p:cNvPr id="127" name="內容版面配置區 4"/>
          <p:cNvGraphicFramePr/>
          <p:nvPr/>
        </p:nvGraphicFramePr>
        <p:xfrm>
          <a:off x="1311120" y="1066680"/>
          <a:ext cx="9598680" cy="3017160"/>
        </p:xfrm>
        <a:graphic>
          <a:graphicData uri="http://schemas.openxmlformats.org/drawingml/2006/table">
            <a:tbl>
              <a:tblPr/>
              <a:tblGrid>
                <a:gridCol w="1199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9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9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9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9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99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998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998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475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zh-TW" sz="12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策略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6880" marR="56880" marT="56880" marB="56880">
                    <a:lnL w="12240">
                      <a:solidFill>
                        <a:srgbClr val="C0C4BD"/>
                      </a:solidFill>
                      <a:prstDash val="solid"/>
                    </a:lnL>
                    <a:lnR w="12240">
                      <a:solidFill>
                        <a:srgbClr val="60C4BD"/>
                      </a:solidFill>
                      <a:prstDash val="solid"/>
                    </a:lnR>
                    <a:lnT w="12240">
                      <a:solidFill>
                        <a:srgbClr val="C0C4BD"/>
                      </a:solidFill>
                      <a:prstDash val="solid"/>
                    </a:lnT>
                    <a:lnB w="12240">
                      <a:solidFill>
                        <a:srgbClr val="E0C5BD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Jan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6880" marR="56880" marT="56880" marB="56880">
                    <a:lnL w="12240">
                      <a:solidFill>
                        <a:srgbClr val="60C4BD"/>
                      </a:solidFill>
                      <a:prstDash val="solid"/>
                    </a:lnL>
                    <a:lnR w="12240">
                      <a:solidFill>
                        <a:srgbClr val="C0BEBD"/>
                      </a:solidFill>
                      <a:prstDash val="solid"/>
                    </a:lnR>
                    <a:lnT w="12240">
                      <a:solidFill>
                        <a:srgbClr val="60C4BD"/>
                      </a:solidFill>
                      <a:prstDash val="solid"/>
                    </a:lnT>
                    <a:lnB w="12240">
                      <a:solidFill>
                        <a:srgbClr val="40C6BD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Feb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6880" marR="56880" marT="56880" marB="56880">
                    <a:lnL w="12240">
                      <a:solidFill>
                        <a:srgbClr val="C0BEBD"/>
                      </a:solidFill>
                      <a:prstDash val="solid"/>
                    </a:lnL>
                    <a:lnR w="12240">
                      <a:solidFill>
                        <a:srgbClr val="40BDBD"/>
                      </a:solidFill>
                      <a:prstDash val="solid"/>
                    </a:lnR>
                    <a:lnT w="12240">
                      <a:solidFill>
                        <a:srgbClr val="C0BEBD"/>
                      </a:solidFill>
                      <a:prstDash val="solid"/>
                    </a:lnT>
                    <a:lnB w="12240">
                      <a:solidFill>
                        <a:srgbClr val="A0C6BD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Mar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6880" marR="56880" marT="56880" marB="56880">
                    <a:lnL w="12240">
                      <a:solidFill>
                        <a:srgbClr val="40BDBD"/>
                      </a:solidFill>
                      <a:prstDash val="solid"/>
                    </a:lnL>
                    <a:lnR w="12240">
                      <a:solidFill>
                        <a:srgbClr val="80C5BD"/>
                      </a:solidFill>
                      <a:prstDash val="solid"/>
                    </a:lnR>
                    <a:lnT w="12240">
                      <a:solidFill>
                        <a:srgbClr val="40BDBD"/>
                      </a:solidFill>
                      <a:prstDash val="solid"/>
                    </a:lnT>
                    <a:lnB w="12240">
                      <a:solidFill>
                        <a:srgbClr val="60C7BD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Apr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6880" marR="56880" marT="56880" marB="56880">
                    <a:lnL w="12240">
                      <a:solidFill>
                        <a:srgbClr val="80C5BD"/>
                      </a:solidFill>
                      <a:prstDash val="solid"/>
                    </a:lnL>
                    <a:lnR w="12240">
                      <a:solidFill>
                        <a:srgbClr val="00C4BD"/>
                      </a:solidFill>
                      <a:prstDash val="solid"/>
                    </a:lnR>
                    <a:lnT w="12240">
                      <a:solidFill>
                        <a:srgbClr val="80C5BD"/>
                      </a:solidFill>
                      <a:prstDash val="solid"/>
                    </a:lnT>
                    <a:lnB w="12240">
                      <a:solidFill>
                        <a:srgbClr val="20CBBD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May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6880" marR="56880" marT="56880" marB="56880">
                    <a:lnL w="12240">
                      <a:solidFill>
                        <a:srgbClr val="00C4BD"/>
                      </a:solidFill>
                      <a:prstDash val="solid"/>
                    </a:lnL>
                    <a:lnR w="12240">
                      <a:solidFill>
                        <a:srgbClr val="40C0BD"/>
                      </a:solidFill>
                      <a:prstDash val="solid"/>
                    </a:lnR>
                    <a:lnT w="12240">
                      <a:solidFill>
                        <a:srgbClr val="00C4BD"/>
                      </a:solidFill>
                      <a:prstDash val="solid"/>
                    </a:lnT>
                    <a:lnB w="12240">
                      <a:solidFill>
                        <a:srgbClr val="40CFBD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Jun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6880" marR="56880" marT="56880" marB="56880">
                    <a:lnL w="12240">
                      <a:solidFill>
                        <a:srgbClr val="40C0BD"/>
                      </a:solidFill>
                      <a:prstDash val="solid"/>
                    </a:lnL>
                    <a:lnR w="12240">
                      <a:solidFill>
                        <a:srgbClr val="00D0BD"/>
                      </a:solidFill>
                      <a:prstDash val="solid"/>
                    </a:lnR>
                    <a:lnT w="12240">
                      <a:solidFill>
                        <a:srgbClr val="40C0BD"/>
                      </a:solidFill>
                      <a:prstDash val="solid"/>
                    </a:lnT>
                    <a:lnB w="12240">
                      <a:solidFill>
                        <a:srgbClr val="E0D1BD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zh-TW" sz="12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半年合計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6880" marR="56880" marT="56880" marB="56880">
                    <a:lnL w="12240">
                      <a:solidFill>
                        <a:srgbClr val="00D0BD"/>
                      </a:solidFill>
                      <a:prstDash val="solid"/>
                    </a:lnL>
                    <a:lnR w="12240">
                      <a:solidFill>
                        <a:srgbClr val="00D0BD"/>
                      </a:solidFill>
                      <a:prstDash val="solid"/>
                    </a:lnR>
                    <a:lnT w="12240">
                      <a:solidFill>
                        <a:srgbClr val="00D0BD"/>
                      </a:solidFill>
                      <a:prstDash val="solid"/>
                    </a:lnT>
                    <a:lnB w="12240">
                      <a:solidFill>
                        <a:srgbClr val="60D9BD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5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1. VWAP</a:t>
                      </a:r>
                      <a:r>
                        <a:rPr lang="zh-TW" sz="16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偏離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6880" marR="56880" marT="56880" marB="56880">
                    <a:lnL w="12240">
                      <a:solidFill>
                        <a:srgbClr val="E0C5BD"/>
                      </a:solidFill>
                      <a:prstDash val="solid"/>
                    </a:lnL>
                    <a:lnR w="12240">
                      <a:solidFill>
                        <a:srgbClr val="40C6BD"/>
                      </a:solidFill>
                      <a:prstDash val="solid"/>
                    </a:lnR>
                    <a:lnT w="12240">
                      <a:solidFill>
                        <a:srgbClr val="E0C5BD"/>
                      </a:solidFill>
                      <a:prstDash val="solid"/>
                    </a:lnT>
                    <a:lnB w="12240">
                      <a:solidFill>
                        <a:srgbClr val="00DCBD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+3.06%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6880" marR="56880" marT="56880" marB="56880">
                    <a:lnL w="12240">
                      <a:solidFill>
                        <a:srgbClr val="40C6BD"/>
                      </a:solidFill>
                      <a:prstDash val="solid"/>
                    </a:lnL>
                    <a:lnR w="12240">
                      <a:solidFill>
                        <a:srgbClr val="A0C6BD"/>
                      </a:solidFill>
                      <a:prstDash val="solid"/>
                    </a:lnR>
                    <a:lnT w="12240">
                      <a:solidFill>
                        <a:srgbClr val="40C6BD"/>
                      </a:solidFill>
                      <a:prstDash val="solid"/>
                    </a:lnT>
                    <a:lnB w="12240">
                      <a:solidFill>
                        <a:srgbClr val="C0D3BD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-9.63%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6880" marR="56880" marT="56880" marB="56880">
                    <a:lnL w="12240">
                      <a:solidFill>
                        <a:srgbClr val="A0C6BD"/>
                      </a:solidFill>
                      <a:prstDash val="solid"/>
                    </a:lnL>
                    <a:lnR w="12240">
                      <a:solidFill>
                        <a:srgbClr val="60C7BD"/>
                      </a:solidFill>
                      <a:prstDash val="solid"/>
                    </a:lnR>
                    <a:lnT w="12240">
                      <a:solidFill>
                        <a:srgbClr val="A0C6BD"/>
                      </a:solidFill>
                      <a:prstDash val="solid"/>
                    </a:lnT>
                    <a:lnB w="12240">
                      <a:solidFill>
                        <a:srgbClr val="A0D2BD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+4.14%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6880" marR="56880" marT="56880" marB="56880">
                    <a:lnL w="12240">
                      <a:solidFill>
                        <a:srgbClr val="60C7BD"/>
                      </a:solidFill>
                      <a:prstDash val="solid"/>
                    </a:lnL>
                    <a:lnR w="12240">
                      <a:solidFill>
                        <a:srgbClr val="20CBBD"/>
                      </a:solidFill>
                      <a:prstDash val="solid"/>
                    </a:lnR>
                    <a:lnT w="12240">
                      <a:solidFill>
                        <a:srgbClr val="60C7BD"/>
                      </a:solidFill>
                      <a:prstDash val="solid"/>
                    </a:lnT>
                    <a:lnB w="12240">
                      <a:solidFill>
                        <a:srgbClr val="20DABD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+0.61%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6880" marR="56880" marT="56880" marB="56880">
                    <a:lnL w="12240">
                      <a:solidFill>
                        <a:srgbClr val="20CBBD"/>
                      </a:solidFill>
                      <a:prstDash val="solid"/>
                    </a:lnL>
                    <a:lnR w="12240">
                      <a:solidFill>
                        <a:srgbClr val="40CFBD"/>
                      </a:solidFill>
                      <a:prstDash val="solid"/>
                    </a:lnR>
                    <a:lnT w="12240">
                      <a:solidFill>
                        <a:srgbClr val="20CBBD"/>
                      </a:solidFill>
                      <a:prstDash val="solid"/>
                    </a:lnT>
                    <a:lnB w="12240">
                      <a:solidFill>
                        <a:srgbClr val="00D6BD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0%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6880" marR="56880" marT="56880" marB="56880">
                    <a:lnL w="12240">
                      <a:solidFill>
                        <a:srgbClr val="40CFBD"/>
                      </a:solidFill>
                      <a:prstDash val="solid"/>
                    </a:lnL>
                    <a:lnR w="12240">
                      <a:solidFill>
                        <a:srgbClr val="E0D1BD"/>
                      </a:solidFill>
                      <a:prstDash val="solid"/>
                    </a:lnR>
                    <a:lnT w="12240">
                      <a:solidFill>
                        <a:srgbClr val="40CFBD"/>
                      </a:solidFill>
                      <a:prstDash val="solid"/>
                    </a:lnT>
                    <a:lnB w="12240">
                      <a:solidFill>
                        <a:srgbClr val="00D3BD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+7.52%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6880" marR="56880" marT="56880" marB="56880">
                    <a:lnL w="12240">
                      <a:solidFill>
                        <a:srgbClr val="E0D1BD"/>
                      </a:solidFill>
                      <a:prstDash val="solid"/>
                    </a:lnL>
                    <a:lnR w="12240">
                      <a:solidFill>
                        <a:srgbClr val="60D9BD"/>
                      </a:solidFill>
                      <a:prstDash val="solid"/>
                    </a:lnR>
                    <a:lnT w="12240">
                      <a:solidFill>
                        <a:srgbClr val="E0D1BD"/>
                      </a:solidFill>
                      <a:prstDash val="solid"/>
                    </a:lnT>
                    <a:lnB w="12240">
                      <a:solidFill>
                        <a:srgbClr val="C0DCBD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+5.70%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6880" marR="56880" marT="56880" marB="56880">
                    <a:lnL w="12240">
                      <a:solidFill>
                        <a:srgbClr val="60D9BD"/>
                      </a:solidFill>
                      <a:prstDash val="solid"/>
                    </a:lnL>
                    <a:lnR w="12240">
                      <a:solidFill>
                        <a:srgbClr val="60D9BD"/>
                      </a:solidFill>
                      <a:prstDash val="solid"/>
                    </a:lnR>
                    <a:lnT w="12240">
                      <a:solidFill>
                        <a:srgbClr val="60D9BD"/>
                      </a:solidFill>
                      <a:prstDash val="solid"/>
                    </a:lnT>
                    <a:lnB w="12240">
                      <a:solidFill>
                        <a:srgbClr val="80D4BD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75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2. </a:t>
                      </a:r>
                      <a:r>
                        <a:rPr lang="zh-TW" sz="16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均線交叉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6880" marR="56880" marT="56880" marB="56880">
                    <a:lnL w="12240">
                      <a:solidFill>
                        <a:srgbClr val="00DCBD"/>
                      </a:solidFill>
                      <a:prstDash val="solid"/>
                    </a:lnL>
                    <a:lnR w="12240">
                      <a:solidFill>
                        <a:srgbClr val="C0D3BD"/>
                      </a:solidFill>
                      <a:prstDash val="solid"/>
                    </a:lnR>
                    <a:lnT w="12240">
                      <a:solidFill>
                        <a:srgbClr val="00DCBD"/>
                      </a:solidFill>
                      <a:prstDash val="solid"/>
                    </a:lnT>
                    <a:lnB w="12240">
                      <a:solidFill>
                        <a:srgbClr val="A0DEBD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+2.96%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6880" marR="56880" marT="56880" marB="56880">
                    <a:lnL w="12240">
                      <a:solidFill>
                        <a:srgbClr val="C0D3BD"/>
                      </a:solidFill>
                      <a:prstDash val="solid"/>
                    </a:lnL>
                    <a:lnR w="12240">
                      <a:solidFill>
                        <a:srgbClr val="A0D2BD"/>
                      </a:solidFill>
                      <a:prstDash val="solid"/>
                    </a:lnR>
                    <a:lnT w="12240">
                      <a:solidFill>
                        <a:srgbClr val="C0D3BD"/>
                      </a:solidFill>
                      <a:prstDash val="solid"/>
                    </a:lnT>
                    <a:lnB w="12240">
                      <a:solidFill>
                        <a:srgbClr val="00E2BD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+2.54%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6880" marR="56880" marT="56880" marB="56880">
                    <a:lnL w="12240">
                      <a:solidFill>
                        <a:srgbClr val="A0D2BD"/>
                      </a:solidFill>
                      <a:prstDash val="solid"/>
                    </a:lnL>
                    <a:lnR w="12240">
                      <a:solidFill>
                        <a:srgbClr val="20DABD"/>
                      </a:solidFill>
                      <a:prstDash val="solid"/>
                    </a:lnR>
                    <a:lnT w="12240">
                      <a:solidFill>
                        <a:srgbClr val="A0D2BD"/>
                      </a:solidFill>
                      <a:prstDash val="solid"/>
                    </a:lnT>
                    <a:lnB w="12240">
                      <a:solidFill>
                        <a:srgbClr val="80E0BD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+1.07%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6880" marR="56880" marT="56880" marB="56880">
                    <a:lnL w="12240">
                      <a:solidFill>
                        <a:srgbClr val="20DABD"/>
                      </a:solidFill>
                      <a:prstDash val="solid"/>
                    </a:lnL>
                    <a:lnR w="12240">
                      <a:solidFill>
                        <a:srgbClr val="00D6BD"/>
                      </a:solidFill>
                      <a:prstDash val="solid"/>
                    </a:lnR>
                    <a:lnT w="12240">
                      <a:solidFill>
                        <a:srgbClr val="20DABD"/>
                      </a:solidFill>
                      <a:prstDash val="solid"/>
                    </a:lnT>
                    <a:lnB w="12240">
                      <a:solidFill>
                        <a:srgbClr val="E0E0BD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-2.64%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6880" marR="56880" marT="56880" marB="56880">
                    <a:lnL w="12240">
                      <a:solidFill>
                        <a:srgbClr val="00D6BD"/>
                      </a:solidFill>
                      <a:prstDash val="solid"/>
                    </a:lnL>
                    <a:lnR w="12240">
                      <a:solidFill>
                        <a:srgbClr val="00D3BD"/>
                      </a:solidFill>
                      <a:prstDash val="solid"/>
                    </a:lnR>
                    <a:lnT w="12240">
                      <a:solidFill>
                        <a:srgbClr val="00D6BD"/>
                      </a:solidFill>
                      <a:prstDash val="solid"/>
                    </a:lnT>
                    <a:lnB w="12240">
                      <a:solidFill>
                        <a:srgbClr val="20E3BD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+1.10%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6880" marR="56880" marT="56880" marB="56880">
                    <a:lnL w="12240">
                      <a:solidFill>
                        <a:srgbClr val="00D3BD"/>
                      </a:solidFill>
                      <a:prstDash val="solid"/>
                    </a:lnL>
                    <a:lnR w="12240">
                      <a:solidFill>
                        <a:srgbClr val="C0DCBD"/>
                      </a:solidFill>
                      <a:prstDash val="solid"/>
                    </a:lnR>
                    <a:lnT w="12240">
                      <a:solidFill>
                        <a:srgbClr val="00D3BD"/>
                      </a:solidFill>
                      <a:prstDash val="solid"/>
                    </a:lnT>
                    <a:lnB w="12240">
                      <a:solidFill>
                        <a:srgbClr val="A0E7BD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-6.83%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6880" marR="56880" marT="56880" marB="56880">
                    <a:lnL w="12240">
                      <a:solidFill>
                        <a:srgbClr val="C0DCBD"/>
                      </a:solidFill>
                      <a:prstDash val="solid"/>
                    </a:lnL>
                    <a:lnR w="12240">
                      <a:solidFill>
                        <a:srgbClr val="80D4BD"/>
                      </a:solidFill>
                      <a:prstDash val="solid"/>
                    </a:lnR>
                    <a:lnT w="12240">
                      <a:solidFill>
                        <a:srgbClr val="C0DCBD"/>
                      </a:solidFill>
                      <a:prstDash val="solid"/>
                    </a:lnT>
                    <a:lnB w="12240">
                      <a:solidFill>
                        <a:srgbClr val="40E4BD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-1.79%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6880" marR="56880" marT="56880" marB="56880">
                    <a:lnL w="12240">
                      <a:solidFill>
                        <a:srgbClr val="80D4BD"/>
                      </a:solidFill>
                      <a:prstDash val="solid"/>
                    </a:lnL>
                    <a:lnR w="12240">
                      <a:solidFill>
                        <a:srgbClr val="80D4BD"/>
                      </a:solidFill>
                      <a:prstDash val="solid"/>
                    </a:lnR>
                    <a:lnT w="12240">
                      <a:solidFill>
                        <a:srgbClr val="80D4BD"/>
                      </a:solidFill>
                      <a:prstDash val="solid"/>
                    </a:lnT>
                    <a:lnB w="12240">
                      <a:solidFill>
                        <a:srgbClr val="A0E4BD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29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3. </a:t>
                      </a:r>
                      <a:r>
                        <a:rPr lang="zh-TW" sz="16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布林通道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6880" marR="56880" marT="56880" marB="56880">
                    <a:lnL w="12240">
                      <a:solidFill>
                        <a:srgbClr val="A0DEBD"/>
                      </a:solidFill>
                      <a:prstDash val="solid"/>
                    </a:lnL>
                    <a:lnR w="12240">
                      <a:solidFill>
                        <a:srgbClr val="00E2BD"/>
                      </a:solidFill>
                      <a:prstDash val="solid"/>
                    </a:lnR>
                    <a:lnT w="12240">
                      <a:solidFill>
                        <a:srgbClr val="A0DEBD"/>
                      </a:solidFill>
                      <a:prstDash val="solid"/>
                    </a:lnT>
                    <a:lnB w="12240">
                      <a:solidFill>
                        <a:srgbClr val="20E6BD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0</a:t>
                      </a:r>
                      <a:r>
                        <a:rPr lang="zh-TW" sz="16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筆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6880" marR="56880" marT="56880" marB="56880">
                    <a:lnL w="12240">
                      <a:solidFill>
                        <a:srgbClr val="00E2BD"/>
                      </a:solidFill>
                      <a:prstDash val="solid"/>
                    </a:lnL>
                    <a:lnR w="12240">
                      <a:solidFill>
                        <a:srgbClr val="80E0BD"/>
                      </a:solidFill>
                      <a:prstDash val="solid"/>
                    </a:lnR>
                    <a:lnT w="12240">
                      <a:solidFill>
                        <a:srgbClr val="00E2BD"/>
                      </a:solidFill>
                      <a:prstDash val="solid"/>
                    </a:lnT>
                    <a:lnB w="12240">
                      <a:solidFill>
                        <a:srgbClr val="00DFBD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-1.86%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6880" marR="56880" marT="56880" marB="56880">
                    <a:lnL w="12240">
                      <a:solidFill>
                        <a:srgbClr val="80E0BD"/>
                      </a:solidFill>
                      <a:prstDash val="solid"/>
                    </a:lnL>
                    <a:lnR w="12240">
                      <a:solidFill>
                        <a:srgbClr val="E0E0BD"/>
                      </a:solidFill>
                      <a:prstDash val="solid"/>
                    </a:lnR>
                    <a:lnT w="12240">
                      <a:solidFill>
                        <a:srgbClr val="80E0BD"/>
                      </a:solidFill>
                      <a:prstDash val="solid"/>
                    </a:lnT>
                    <a:lnB w="12240">
                      <a:solidFill>
                        <a:srgbClr val="40E7BD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0%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6880" marR="56880" marT="56880" marB="56880">
                    <a:lnL w="12240">
                      <a:solidFill>
                        <a:srgbClr val="E0E0BD"/>
                      </a:solidFill>
                      <a:prstDash val="solid"/>
                    </a:lnL>
                    <a:lnR w="12240">
                      <a:solidFill>
                        <a:srgbClr val="20E3BD"/>
                      </a:solidFill>
                      <a:prstDash val="solid"/>
                    </a:lnR>
                    <a:lnT w="12240">
                      <a:solidFill>
                        <a:srgbClr val="E0E0BD"/>
                      </a:solidFill>
                      <a:prstDash val="solid"/>
                    </a:lnT>
                    <a:lnB w="12240">
                      <a:solidFill>
                        <a:srgbClr val="20E9BD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+2.21%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6880" marR="56880" marT="56880" marB="56880">
                    <a:lnL w="12240">
                      <a:solidFill>
                        <a:srgbClr val="20E3BD"/>
                      </a:solidFill>
                      <a:prstDash val="solid"/>
                    </a:lnL>
                    <a:lnR w="12240">
                      <a:solidFill>
                        <a:srgbClr val="A0E7BD"/>
                      </a:solidFill>
                      <a:prstDash val="solid"/>
                    </a:lnR>
                    <a:lnT w="12240">
                      <a:solidFill>
                        <a:srgbClr val="20E3BD"/>
                      </a:solidFill>
                      <a:prstDash val="solid"/>
                    </a:lnT>
                    <a:lnB w="12240">
                      <a:solidFill>
                        <a:srgbClr val="E0EFBD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0%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6880" marR="56880" marT="56880" marB="56880">
                    <a:lnL w="12240">
                      <a:solidFill>
                        <a:srgbClr val="A0E7BD"/>
                      </a:solidFill>
                      <a:prstDash val="solid"/>
                    </a:lnL>
                    <a:lnR w="12240">
                      <a:solidFill>
                        <a:srgbClr val="40E4BD"/>
                      </a:solidFill>
                      <a:prstDash val="solid"/>
                    </a:lnR>
                    <a:lnT w="12240">
                      <a:solidFill>
                        <a:srgbClr val="A0E7BD"/>
                      </a:solidFill>
                      <a:prstDash val="solid"/>
                    </a:lnT>
                    <a:lnB w="12240">
                      <a:solidFill>
                        <a:srgbClr val="60EEBD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+0.80%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6880" marR="56880" marT="56880" marB="56880">
                    <a:lnL w="12240">
                      <a:solidFill>
                        <a:srgbClr val="40E4BD"/>
                      </a:solidFill>
                      <a:prstDash val="solid"/>
                    </a:lnL>
                    <a:lnR w="12240">
                      <a:solidFill>
                        <a:srgbClr val="A0E4BD"/>
                      </a:solidFill>
                      <a:prstDash val="solid"/>
                    </a:lnR>
                    <a:lnT w="12240">
                      <a:solidFill>
                        <a:srgbClr val="40E4BD"/>
                      </a:solidFill>
                      <a:prstDash val="solid"/>
                    </a:lnT>
                    <a:lnB w="12240">
                      <a:solidFill>
                        <a:srgbClr val="A0F3BD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+1.14%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6880" marR="56880" marT="56880" marB="56880">
                    <a:lnL w="12240">
                      <a:solidFill>
                        <a:srgbClr val="A0E4BD"/>
                      </a:solidFill>
                      <a:prstDash val="solid"/>
                    </a:lnL>
                    <a:lnR w="12240">
                      <a:solidFill>
                        <a:srgbClr val="A0E4BD"/>
                      </a:solidFill>
                      <a:prstDash val="solid"/>
                    </a:lnR>
                    <a:lnT w="12240">
                      <a:solidFill>
                        <a:srgbClr val="A0E4BD"/>
                      </a:solidFill>
                      <a:prstDash val="solid"/>
                    </a:lnT>
                    <a:lnB w="12240">
                      <a:solidFill>
                        <a:srgbClr val="80F5BD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75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4. </a:t>
                      </a:r>
                      <a:r>
                        <a:rPr lang="zh-TW" sz="16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突破交易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6880" marR="56880" marT="56880" marB="56880">
                    <a:lnL w="12240">
                      <a:solidFill>
                        <a:srgbClr val="20E6BD"/>
                      </a:solidFill>
                      <a:prstDash val="solid"/>
                    </a:lnL>
                    <a:lnR w="12240">
                      <a:solidFill>
                        <a:srgbClr val="00DFBD"/>
                      </a:solidFill>
                      <a:prstDash val="solid"/>
                    </a:lnR>
                    <a:lnT w="12240">
                      <a:solidFill>
                        <a:srgbClr val="20E6BD"/>
                      </a:solidFill>
                      <a:prstDash val="solid"/>
                    </a:lnT>
                    <a:lnB w="7200">
                      <a:solidFill>
                        <a:srgbClr val="20E6BD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+2.34%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6880" marR="56880" marT="56880" marB="56880">
                    <a:lnL w="12240">
                      <a:solidFill>
                        <a:srgbClr val="00DFBD"/>
                      </a:solidFill>
                      <a:prstDash val="solid"/>
                    </a:lnL>
                    <a:lnR w="12240">
                      <a:solidFill>
                        <a:srgbClr val="40E7BD"/>
                      </a:solidFill>
                      <a:prstDash val="solid"/>
                    </a:lnR>
                    <a:lnT w="12240">
                      <a:solidFill>
                        <a:srgbClr val="00DFBD"/>
                      </a:solidFill>
                      <a:prstDash val="solid"/>
                    </a:lnT>
                    <a:lnB w="7200">
                      <a:solidFill>
                        <a:srgbClr val="00DFBD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0</a:t>
                      </a:r>
                      <a:r>
                        <a:rPr lang="zh-TW" sz="16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筆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6880" marR="56880" marT="56880" marB="56880">
                    <a:lnL w="12240">
                      <a:solidFill>
                        <a:srgbClr val="40E7BD"/>
                      </a:solidFill>
                      <a:prstDash val="solid"/>
                    </a:lnL>
                    <a:lnR w="12240">
                      <a:solidFill>
                        <a:srgbClr val="20E9BD"/>
                      </a:solidFill>
                      <a:prstDash val="solid"/>
                    </a:lnR>
                    <a:lnT w="12240">
                      <a:solidFill>
                        <a:srgbClr val="40E7BD"/>
                      </a:solidFill>
                      <a:prstDash val="solid"/>
                    </a:lnT>
                    <a:lnB w="7200">
                      <a:solidFill>
                        <a:srgbClr val="40E7BD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-0.47%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6880" marR="56880" marT="56880" marB="56880">
                    <a:lnL w="12240">
                      <a:solidFill>
                        <a:srgbClr val="20E9BD"/>
                      </a:solidFill>
                      <a:prstDash val="solid"/>
                    </a:lnL>
                    <a:lnR w="12240">
                      <a:solidFill>
                        <a:srgbClr val="E0EFBD"/>
                      </a:solidFill>
                      <a:prstDash val="solid"/>
                    </a:lnR>
                    <a:lnT w="12240">
                      <a:solidFill>
                        <a:srgbClr val="20E9BD"/>
                      </a:solidFill>
                      <a:prstDash val="solid"/>
                    </a:lnT>
                    <a:lnB w="7200">
                      <a:solidFill>
                        <a:srgbClr val="20E9BD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-2.76%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6880" marR="56880" marT="56880" marB="56880">
                    <a:lnL w="12240">
                      <a:solidFill>
                        <a:srgbClr val="E0EFBD"/>
                      </a:solidFill>
                      <a:prstDash val="solid"/>
                    </a:lnL>
                    <a:lnR w="12240">
                      <a:solidFill>
                        <a:srgbClr val="60EEBD"/>
                      </a:solidFill>
                      <a:prstDash val="solid"/>
                    </a:lnR>
                    <a:lnT w="12240">
                      <a:solidFill>
                        <a:srgbClr val="E0EFBD"/>
                      </a:solidFill>
                      <a:prstDash val="solid"/>
                    </a:lnT>
                    <a:lnB w="7200">
                      <a:solidFill>
                        <a:srgbClr val="E0EFBD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-2.93%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6880" marR="56880" marT="56880" marB="56880">
                    <a:lnL w="12240">
                      <a:solidFill>
                        <a:srgbClr val="60EEBD"/>
                      </a:solidFill>
                      <a:prstDash val="solid"/>
                    </a:lnL>
                    <a:lnR w="12240">
                      <a:solidFill>
                        <a:srgbClr val="A0F3BD"/>
                      </a:solidFill>
                      <a:prstDash val="solid"/>
                    </a:lnR>
                    <a:lnT w="12240">
                      <a:solidFill>
                        <a:srgbClr val="60EEBD"/>
                      </a:solidFill>
                      <a:prstDash val="solid"/>
                    </a:lnT>
                    <a:lnB w="7200">
                      <a:solidFill>
                        <a:srgbClr val="60EEBD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-0.44%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6880" marR="56880" marT="56880" marB="56880">
                    <a:lnL w="12240">
                      <a:solidFill>
                        <a:srgbClr val="A0F3BD"/>
                      </a:solidFill>
                      <a:prstDash val="solid"/>
                    </a:lnL>
                    <a:lnR w="12240">
                      <a:solidFill>
                        <a:srgbClr val="80F5BD"/>
                      </a:solidFill>
                      <a:prstDash val="solid"/>
                    </a:lnR>
                    <a:lnT w="12240">
                      <a:solidFill>
                        <a:srgbClr val="A0F3BD"/>
                      </a:solidFill>
                      <a:prstDash val="solid"/>
                    </a:lnT>
                    <a:lnB w="7200">
                      <a:solidFill>
                        <a:srgbClr val="A0F3BD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-4.25%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6880" marR="56880" marT="56880" marB="56880">
                    <a:lnL w="12240">
                      <a:solidFill>
                        <a:srgbClr val="80F5BD"/>
                      </a:solidFill>
                      <a:prstDash val="solid"/>
                    </a:lnL>
                    <a:lnR w="12240">
                      <a:solidFill>
                        <a:srgbClr val="80F5BD"/>
                      </a:solidFill>
                      <a:prstDash val="solid"/>
                    </a:lnR>
                    <a:lnT w="12240">
                      <a:solidFill>
                        <a:srgbClr val="80F5BD"/>
                      </a:solidFill>
                      <a:prstDash val="solid"/>
                    </a:lnT>
                    <a:lnB w="7200">
                      <a:solidFill>
                        <a:srgbClr val="80F5BD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8" name="文字方塊 7"/>
          <p:cNvSpPr/>
          <p:nvPr/>
        </p:nvSpPr>
        <p:spPr>
          <a:xfrm>
            <a:off x="1065240" y="4343400"/>
            <a:ext cx="9506880" cy="175356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solidFill>
              <a:srgbClr val="ACCBF9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Century Gothic"/>
              </a:rPr>
              <a:t> 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9"/>
          </p:nvPr>
        </p:nvSpPr>
        <p:spPr/>
        <p:txBody>
          <a:bodyPr/>
          <a:lstStyle/>
          <a:p>
            <a:fld id="{B1C91093-9112-4C6D-A392-C3273F5714BA}" type="slidenum"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4914360" cy="144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pic>
        <p:nvPicPr>
          <p:cNvPr id="130" name="內容版面配置區 5"/>
          <p:cNvPicPr/>
          <p:nvPr/>
        </p:nvPicPr>
        <p:blipFill>
          <a:blip r:embed="rId2"/>
          <a:stretch/>
        </p:blipFill>
        <p:spPr>
          <a:xfrm>
            <a:off x="1217520" y="230040"/>
            <a:ext cx="9448200" cy="639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19"/>
          </p:nvPr>
        </p:nvSpPr>
        <p:spPr/>
        <p:txBody>
          <a:bodyPr/>
          <a:lstStyle/>
          <a:p>
            <a:fld id="{DD782ADF-4230-4D2A-82AB-555A50B0CE1F}" type="slidenum"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6552360" cy="608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62500" lnSpcReduction="19999"/>
          </a:bodyPr>
          <a:lstStyle/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盤整盤與震盪盤</a:t>
            </a:r>
            <a:br>
              <a:rPr sz="3200"/>
            </a:b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/>
          </p:nvPr>
        </p:nvSpPr>
        <p:spPr>
          <a:xfrm>
            <a:off x="1313640" y="1295280"/>
            <a:ext cx="9735480" cy="4266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lstStyle/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	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盤整盤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			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震盪盤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波動幅度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小（窄幅）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			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大（寬幅）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波動速度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慢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				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快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價格行為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像睡著，在一個小區間內慢慢磨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	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像打架，急拉急跌來回甩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對策略的影響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雙巴但虧不多（每次輸一點）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雙巴且虧很大（每次輸一大段）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以台積電為例：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65760" indent="0" algn="l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盤整盤：股價在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950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～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1000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之間磨一個月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65760" indent="0" algn="l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震盪盤：股價三天內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950↗1050↘920↗1020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這樣甩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65760" indent="0" algn="l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對交易者來說，震盪盤比盤整盤更致命 — 同是被雙巴，震盪盤每巴一次傷口大得多。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9"/>
          </p:nvPr>
        </p:nvSpPr>
        <p:spPr/>
        <p:txBody>
          <a:bodyPr/>
          <a:lstStyle/>
          <a:p>
            <a:fld id="{9EBA075B-3C74-4FEC-9353-46404240AE8D}" type="slidenum"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8838360" cy="608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62500" lnSpcReduction="19999"/>
          </a:bodyPr>
          <a:lstStyle/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🛡️如何避免雙巴？</a:t>
            </a:r>
            <a:br>
              <a:rPr sz="3200"/>
            </a:b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/>
          </p:nvPr>
        </p:nvSpPr>
        <p:spPr>
          <a:xfrm>
            <a:off x="1270800" y="1295280"/>
            <a:ext cx="10156680" cy="4952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❌ 不要做的：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 在盤整盤中死抱均線交叉策略，不加入任何過濾條件。上圖已經證明了——在沒有趨勢的行情中，單純的均線交叉就是送錢。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✅ 可以做的：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1</a:t>
            </a: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加入大盤趨勢過濾（</a:t>
            </a:r>
            <a:r>
              <a:rPr lang="en-US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Market Filter</a:t>
            </a: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）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當大盤（如加權指數）在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MA200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之上才做多，之下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keep_wait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空手。 系統中的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  <a:ea typeface="Century Gothic"/>
              </a:rPr>
              <a:t> MARKET_TREND_FILTER 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就是做這件事。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2</a:t>
            </a: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加入 </a:t>
            </a:r>
            <a:r>
              <a:rPr lang="en-US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ATR </a:t>
            </a: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波動度過濾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ATR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太低代表市場正在盤整，不進場。系統中的 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  <a:ea typeface="Century Gothic"/>
              </a:rPr>
              <a:t>atr_threshold 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參數就是為了避開這種環境。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3</a:t>
            </a: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  <a:ea typeface="Century Gothic"/>
              </a:rPr>
              <a:t>改用逆勢策略</a:t>
            </a: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（布林通道、</a:t>
            </a:r>
            <a:r>
              <a:rPr lang="en-US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VWAP </a:t>
            </a: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偏離）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盤整盤中逆勢策略反而表現較好——在區間下緣買、上緣賣。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4</a:t>
            </a: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認清市場狀態，空手也是一種操作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盤整盤最好的策略就是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keep_wait——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不做單就不會被雙巴。等趨勢明確再進場。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9"/>
          </p:nvPr>
        </p:nvSpPr>
        <p:spPr/>
        <p:txBody>
          <a:bodyPr/>
          <a:lstStyle/>
          <a:p>
            <a:fld id="{129AC91D-7684-4C2D-9DDA-0D5A5A131286}" type="slidenum"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1217520" y="152280"/>
            <a:ext cx="10591200" cy="99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lstStyle/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問：我們分別看看同樣是台積電</a:t>
            </a: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,2022</a:t>
            </a: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（空）</a:t>
            </a: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,2025</a:t>
            </a: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（多）這兩年</a:t>
            </a: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,</a:t>
            </a: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這兩個年度四個策略的表現</a:t>
            </a: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(</a:t>
            </a: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一樣單筆</a:t>
            </a: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50</a:t>
            </a: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萬本金</a:t>
            </a: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)</a:t>
            </a:r>
          </a:p>
        </p:txBody>
      </p:sp>
      <p:sp>
        <p:nvSpPr>
          <p:cNvPr id="136" name="PlaceHolder 2"/>
          <p:cNvSpPr>
            <a:spLocks noGrp="1"/>
          </p:cNvSpPr>
          <p:nvPr>
            <p:ph/>
          </p:nvPr>
        </p:nvSpPr>
        <p:spPr>
          <a:xfrm>
            <a:off x="988920" y="1066680"/>
            <a:ext cx="10743480" cy="4952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45720" indent="0" algn="l" defTabSz="914400">
              <a:lnSpc>
                <a:spcPts val="1559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zh-TW" sz="10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年度</a:t>
            </a:r>
            <a:r>
              <a:rPr lang="en-US" sz="10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	</a:t>
            </a:r>
            <a:r>
              <a:rPr lang="zh-TW" sz="10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台積電價格</a:t>
            </a:r>
            <a:r>
              <a:rPr lang="en-US" sz="10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		</a:t>
            </a:r>
            <a:r>
              <a:rPr lang="zh-TW" sz="10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買進持有報酬</a:t>
            </a:r>
            <a:r>
              <a:rPr lang="en-US" sz="10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			</a:t>
            </a:r>
            <a:r>
              <a:rPr lang="zh-TW" sz="10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市場</a:t>
            </a:r>
            <a:endParaRPr lang="en-US" sz="1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Sarasa Mono TC"/>
            </a:endParaRPr>
          </a:p>
          <a:p>
            <a:pPr marL="45720" indent="0" algn="l" defTabSz="914400">
              <a:lnSpc>
                <a:spcPts val="1559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2022	NT582→NT582→NT422          -27.35% (-NT$136,764)		🐻 </a:t>
            </a:r>
            <a:r>
              <a:rPr lang="zh-TW" sz="1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空頭年（</a:t>
            </a:r>
            <a:r>
              <a:rPr lang="en-US" sz="1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Fed </a:t>
            </a:r>
            <a:r>
              <a:rPr lang="zh-TW" sz="1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升息循環）</a:t>
            </a:r>
            <a:endParaRPr lang="en-US" sz="1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Sarasa Mono TC"/>
            </a:endParaRPr>
          </a:p>
          <a:p>
            <a:pPr marL="45720" indent="0" algn="l" defTabSz="914400">
              <a:lnSpc>
                <a:spcPts val="1559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2025	NT1,042→NT1,042→NT1,541	+47.92% (+NT$239,587)		🐂 </a:t>
            </a:r>
            <a:r>
              <a:rPr lang="zh-TW" sz="1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多頭年（</a:t>
            </a:r>
            <a:r>
              <a:rPr lang="en-US" sz="1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AI </a:t>
            </a:r>
            <a:r>
              <a:rPr lang="zh-TW" sz="1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需求爆發）</a:t>
            </a:r>
            <a:endParaRPr lang="en-US" sz="1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Sarasa Mono T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10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策略</a:t>
            </a:r>
            <a:r>
              <a:rPr lang="en-US" sz="10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		2022 </a:t>
            </a:r>
            <a:r>
              <a:rPr lang="zh-TW" sz="10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報酬</a:t>
            </a:r>
            <a:r>
              <a:rPr lang="en-US" sz="10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		2022 </a:t>
            </a:r>
            <a:r>
              <a:rPr lang="zh-TW" sz="10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損益</a:t>
            </a:r>
            <a:r>
              <a:rPr lang="en-US" sz="10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			2025 </a:t>
            </a:r>
            <a:r>
              <a:rPr lang="zh-TW" sz="10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報酬</a:t>
            </a:r>
            <a:r>
              <a:rPr lang="en-US" sz="10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		2025 </a:t>
            </a:r>
            <a:r>
              <a:rPr lang="zh-TW" sz="10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損益</a:t>
            </a:r>
            <a:endParaRPr lang="en-US" sz="1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Sarasa Mono T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1. VWAP</a:t>
            </a:r>
            <a:r>
              <a:rPr lang="zh-TW" sz="1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偏離</a:t>
            </a:r>
            <a:r>
              <a:rPr lang="en-US" sz="1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		+3.64%		+NT$18,220			</a:t>
            </a:r>
            <a:r>
              <a:rPr lang="en-US" sz="1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Sarasa Mono TC"/>
                <a:ea typeface="Sarasa Mono TC"/>
              </a:rPr>
              <a:t>+32.29%</a:t>
            </a:r>
            <a:r>
              <a:rPr lang="en-US" sz="1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		+NT$161,456</a:t>
            </a:r>
            <a:endParaRPr lang="en-US" sz="1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Sarasa Mono T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2. </a:t>
            </a:r>
            <a:r>
              <a:rPr lang="zh-TW" sz="1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均線交叉</a:t>
            </a:r>
            <a:r>
              <a:rPr lang="en-US" sz="1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		</a:t>
            </a:r>
            <a:r>
              <a:rPr lang="en-US" sz="1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Sarasa Mono TC"/>
                <a:ea typeface="Sarasa Mono TC"/>
              </a:rPr>
              <a:t>+10.16%</a:t>
            </a:r>
            <a:r>
              <a:rPr lang="en-US" sz="1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		+NT$50,821			</a:t>
            </a:r>
            <a:r>
              <a:rPr lang="en-US" sz="1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Sarasa Mono TC"/>
                <a:ea typeface="Sarasa Mono TC"/>
              </a:rPr>
              <a:t>+14.29%</a:t>
            </a:r>
            <a:r>
              <a:rPr lang="en-US" sz="1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		+NT$71,466</a:t>
            </a:r>
            <a:endParaRPr lang="en-US" sz="1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Sarasa Mono T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3. </a:t>
            </a:r>
            <a:r>
              <a:rPr lang="zh-TW" sz="1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布林通道反轉</a:t>
            </a:r>
            <a:r>
              <a:rPr lang="en-US" sz="1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	-10.95%		-NT$54,738			+11.91%		+NT$59,556</a:t>
            </a:r>
            <a:endParaRPr lang="en-US" sz="1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Sarasa Mono T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4. </a:t>
            </a:r>
            <a:r>
              <a:rPr lang="zh-TW" sz="1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突破交易</a:t>
            </a:r>
            <a:r>
              <a:rPr lang="en-US" sz="1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		-5.23%		-NT$26,149			-9.94%		-NT$49,682</a:t>
            </a:r>
            <a:endParaRPr lang="en-US" sz="1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Sarasa Mono TC"/>
            </a:endParaRPr>
          </a:p>
          <a:p>
            <a:pPr marL="45720" indent="0" algn="l" defTabSz="914400">
              <a:lnSpc>
                <a:spcPts val="216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US" sz="1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Sarasa Mono TC"/>
            </a:endParaRPr>
          </a:p>
          <a:p>
            <a:pPr marL="331560" indent="-285840" algn="l" defTabSz="914400">
              <a:lnSpc>
                <a:spcPts val="216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Sarasa Mono TC"/>
                <a:ea typeface="Sarasa Mono TC"/>
              </a:rPr>
              <a:t>VWAP</a:t>
            </a:r>
            <a:r>
              <a:rPr lang="en-US" sz="1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 </a:t>
            </a:r>
            <a:r>
              <a:rPr lang="zh-TW" sz="1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偏離兩年都正報酬，</a:t>
            </a:r>
            <a:r>
              <a:rPr lang="zh-TW" sz="1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Sarasa Mono TC"/>
                <a:ea typeface="Sarasa Mono TC"/>
              </a:rPr>
              <a:t>適應性最好</a:t>
            </a:r>
            <a:endParaRPr lang="en-US" sz="1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Sarasa Mono TC"/>
            </a:endParaRPr>
          </a:p>
          <a:p>
            <a:pPr marL="331560" indent="-285840" algn="l" defTabSz="914400">
              <a:lnSpc>
                <a:spcPts val="216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1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Sarasa Mono TC"/>
                <a:ea typeface="Sarasa Mono TC"/>
              </a:rPr>
              <a:t>均線交叉</a:t>
            </a:r>
            <a:r>
              <a:rPr lang="zh-TW" sz="1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兩年都正報酬，是唯一買進持有和虧錢年份都能賺的策略</a:t>
            </a:r>
            <a:endParaRPr lang="en-US" sz="1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Sarasa Mono TC"/>
            </a:endParaRPr>
          </a:p>
          <a:p>
            <a:pPr marL="331560" indent="-285840" algn="l" defTabSz="914400">
              <a:lnSpc>
                <a:spcPts val="216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1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突破交易</a:t>
            </a:r>
            <a:r>
              <a:rPr lang="en-US" sz="1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(</a:t>
            </a:r>
            <a:r>
              <a:rPr lang="zh-TW" sz="1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唐安奇）連兩年虧損，是四策略中表現最差的＝</a:t>
            </a:r>
            <a:r>
              <a:rPr lang="en-US" sz="1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&gt;</a:t>
            </a:r>
            <a:r>
              <a:rPr lang="zh-TW" sz="1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Sarasa Mono TC"/>
                <a:ea typeface="Sarasa Mono TC"/>
              </a:rPr>
              <a:t>突破交易只適合噴發期</a:t>
            </a:r>
            <a:r>
              <a:rPr lang="zh-TW" sz="1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，不適合長期整年適用！</a:t>
            </a:r>
            <a:endParaRPr lang="en-US" sz="1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Sarasa Mono TC"/>
            </a:endParaRPr>
          </a:p>
          <a:p>
            <a:pPr marL="331560" indent="-285840" algn="l" defTabSz="914400">
              <a:lnSpc>
                <a:spcPts val="216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1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Sarasa Mono TC"/>
                <a:ea typeface="Sarasa Mono TC"/>
              </a:rPr>
              <a:t>事後諸葛亮＝＞２０２２用均線交叉．２０２５用ＶＷＡＰ</a:t>
            </a:r>
            <a:endParaRPr lang="en-US" sz="1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Sarasa Mono TC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9"/>
          </p:nvPr>
        </p:nvSpPr>
        <p:spPr/>
        <p:txBody>
          <a:bodyPr/>
          <a:lstStyle/>
          <a:p>
            <a:fld id="{0E0C8634-008C-4E42-9E95-44C558A8C450}" type="slidenum"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1311120" y="76320"/>
            <a:ext cx="10514880" cy="144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zh-TW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問：聯發科</a:t>
            </a:r>
            <a:r>
              <a:rPr lang="en-US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2024~2025</a:t>
            </a:r>
            <a:r>
              <a:rPr lang="zh-TW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這兩個年度四個策略的表現</a:t>
            </a:r>
            <a:r>
              <a:rPr lang="en-US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(</a:t>
            </a:r>
            <a:r>
              <a:rPr lang="zh-TW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一樣單筆</a:t>
            </a:r>
            <a:r>
              <a:rPr lang="en-US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50</a:t>
            </a:r>
            <a:r>
              <a:rPr lang="zh-TW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萬本金</a:t>
            </a:r>
            <a:r>
              <a:rPr lang="en-US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), </a:t>
            </a:r>
            <a:r>
              <a:rPr lang="zh-TW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有哪幾區段是適合用唐安奇通道的</a:t>
            </a:r>
            <a:r>
              <a:rPr lang="en-US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?</a:t>
            </a:r>
            <a:r>
              <a:rPr lang="zh-TW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把那時期的走勢圖放到</a:t>
            </a:r>
            <a:r>
              <a:rPr lang="en-US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img</a:t>
            </a:r>
            <a:r>
              <a:rPr lang="zh-TW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下</a:t>
            </a: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1311120" y="1371600"/>
            <a:ext cx="9811440" cy="5180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聯發科（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2454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）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2024 vs 2025 —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四策略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NT$500,000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策略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	2024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報酬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2024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損益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2025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報酬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2025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損益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突破交易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  <a:ea typeface="Century Gothic"/>
              </a:rPr>
              <a:t>+32.93%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	NT$164,657	-7.32%		-NT$36,603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均線交叉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+8.10%		+NT$40,519	+5.74%		+NT$28,720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布林通道反轉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-2.57%		-NT$12,846	+0.80%		+NT$3,995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VWAP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偏離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-7.50%		-NT$37,513	-1.95%		-NT$9,743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買進持有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+51.34%		+NT$256,688	+8.01%		+NT$40,055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  <a:ea typeface="Century Gothic"/>
              </a:rPr>
              <a:t>突發策略＝＞只適用噴發期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9"/>
          </p:nvPr>
        </p:nvSpPr>
        <p:spPr/>
        <p:txBody>
          <a:bodyPr/>
          <a:lstStyle/>
          <a:p>
            <a:fld id="{6B299AE3-9250-42F3-8EAA-FB8643C0D7CB}" type="slidenum"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/>
          </p:nvPr>
        </p:nvSpPr>
        <p:spPr>
          <a:xfrm>
            <a:off x="1311120" y="2286000"/>
            <a:ext cx="4571280" cy="4266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pic>
        <p:nvPicPr>
          <p:cNvPr id="140" name="圖片 5"/>
          <p:cNvPicPr/>
          <p:nvPr/>
        </p:nvPicPr>
        <p:blipFill>
          <a:blip r:embed="rId2"/>
          <a:stretch/>
        </p:blipFill>
        <p:spPr>
          <a:xfrm>
            <a:off x="502560" y="675720"/>
            <a:ext cx="11183040" cy="550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19"/>
          </p:nvPr>
        </p:nvSpPr>
        <p:spPr/>
        <p:txBody>
          <a:bodyPr/>
          <a:lstStyle/>
          <a:p>
            <a:fld id="{A3B5F829-EE15-4E20-8763-7BB3C64A1F2B}" type="slidenum"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10766160" cy="5870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/>
              <a:t>增加策略＝＞（先切到 plan 模式)</a:t>
            </a:r>
            <a:br/>
            <a:br/>
            <a:r>
              <a:rPr/>
              <a:t>問：用g1備用2來完成以下KD策略: 週 KD 黃金交叉策略（最推薦來自Google AI推薦穩健的ＫＤ策略）: </a:t>
            </a:r>
            <a:br/>
            <a:br/>
            <a:r>
              <a:rPr/>
              <a:t>放棄震盪劇烈的日線，改用 週 K 線（以週為單位計算）。</a:t>
            </a:r>
            <a:br/>
            <a:r>
              <a:rPr/>
              <a:t> 週 KD 的轉折代表的是中長期（數個月到半年以上）的趨勢改變。 </a:t>
            </a:r>
            <a:br/>
            <a:r>
              <a:rPr/>
              <a:t>買進點：當週 KD 在 低檔（小於 30 或 20）發生黃金交叉 時進場。這通常代表股價經歷大波段修正後，中長期底部成形。</a:t>
            </a:r>
            <a:br/>
            <a:r>
              <a:rPr/>
              <a:t>持有期：只要週 KD 維持向上，或是維持在高檔鈍化，就一路抱牢。</a:t>
            </a:r>
            <a:br/>
            <a:r>
              <a:rPr/>
              <a:t>好處：一年中一檔股票可能只會出現 1~2 次訊號，交易次數少，手續費低，且能抓到大波段波幅。</a:t>
            </a:r>
            <a:endParaRPr lang="en-US" sz="28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9"/>
          </p:nvPr>
        </p:nvSpPr>
        <p:spPr/>
        <p:txBody>
          <a:bodyPr/>
          <a:lstStyle/>
          <a:p>
            <a:fld id="{760203C4-234E-4D47-8859-84B0CC718948}" type="slidenum"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491436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lstStyle/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/>
              <a:t>計畫完成（plan 模式）</a:t>
            </a: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9"/>
          </p:nvPr>
        </p:nvSpPr>
        <p:spPr/>
        <p:txBody>
          <a:bodyPr/>
          <a:lstStyle/>
          <a:p>
            <a:fld id="{A9BAD232-3DC4-40EF-8E47-F8D70EDE95AD}" type="slidenum">
              <a:t>16</a:t>
            </a:fld>
            <a:endParaRPr/>
          </a:p>
        </p:txBody>
      </p:sp>
      <p:pic>
        <p:nvPicPr>
          <p:cNvPr id="143" name="Picture 142" descr="tmpa99ntt1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3840" y="1523880"/>
            <a:ext cx="8821080" cy="415946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1294560" y="195120"/>
            <a:ext cx="9905400" cy="884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lstStyle/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zh-TW" sz="24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確認計畫後開始執行</a:t>
            </a:r>
            <a:r>
              <a:rPr lang="en-US" sz="24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/>
            </a:r>
            <a:r>
              <a:rPr lang="zh-TW" sz="24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/>
            </a:r>
            <a:br>
              <a:rPr sz="2400"/>
            </a:br>
            <a:r>
              <a:rPr lang="zh-TW" sz="24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/>
            </a:r>
            <a:r>
              <a:rPr lang="en-US" sz="24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/>
            </a:r>
            <a:r>
              <a:rPr lang="zh-TW" sz="24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/>
            </a:r>
            <a:r>
              <a:rPr lang="en-US" sz="24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/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9"/>
          </p:nvPr>
        </p:nvSpPr>
        <p:spPr/>
        <p:txBody>
          <a:bodyPr/>
          <a:lstStyle/>
          <a:p>
            <a:fld id="{416E7A77-26FC-436E-9EE1-F5647BEC07D7}" type="slidenum">
              <a:t>17</a:t>
            </a:fld>
            <a:endParaRPr/>
          </a:p>
        </p:txBody>
      </p:sp>
      <p:pic>
        <p:nvPicPr>
          <p:cNvPr id="145" name="Picture 144" descr="tmpbhf1jk8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1560" y="1371600"/>
            <a:ext cx="9458640" cy="481636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10514880" cy="761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lstStyle/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輸入：</a:t>
            </a: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2022,2025</a:t>
            </a: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年 聯發科用這個周</a:t>
            </a: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KD</a:t>
            </a: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策略試試</a:t>
            </a: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,</a:t>
            </a: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跟剛才</a:t>
            </a: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4</a:t>
            </a: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個策略比較一下</a:t>
            </a: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/>
          </p:nvPr>
        </p:nvSpPr>
        <p:spPr>
          <a:xfrm>
            <a:off x="1311120" y="1371600"/>
            <a:ext cx="9125640" cy="5180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	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graphicFrame>
        <p:nvGraphicFramePr>
          <p:cNvPr id="148" name="表格 6"/>
          <p:cNvGraphicFramePr/>
          <p:nvPr/>
        </p:nvGraphicFramePr>
        <p:xfrm>
          <a:off x="1311120" y="1828800"/>
          <a:ext cx="9276120" cy="4308120"/>
        </p:xfrm>
        <a:graphic>
          <a:graphicData uri="http://schemas.openxmlformats.org/drawingml/2006/table">
            <a:tbl>
              <a:tblPr/>
              <a:tblGrid>
                <a:gridCol w="1159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9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9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9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9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9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595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595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439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zh-TW" sz="14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策略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8360" marR="108360" marT="108360" marB="108360">
                    <a:lnL w="12240">
                      <a:solidFill>
                        <a:srgbClr val="2081CC"/>
                      </a:solidFill>
                      <a:prstDash val="solid"/>
                    </a:lnL>
                    <a:lnR w="12240">
                      <a:solidFill>
                        <a:srgbClr val="607ACC"/>
                      </a:solidFill>
                      <a:prstDash val="solid"/>
                    </a:lnR>
                    <a:lnT w="12240">
                      <a:solidFill>
                        <a:srgbClr val="2081CC"/>
                      </a:solidFill>
                      <a:prstDash val="solid"/>
                    </a:lnT>
                    <a:lnB w="12240">
                      <a:solidFill>
                        <a:srgbClr val="6098CC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2022</a:t>
                      </a:r>
                      <a:r>
                        <a:rPr lang="zh-TW" sz="14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報酬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8360" marR="108360" marT="108360" marB="108360">
                    <a:lnL w="12240">
                      <a:solidFill>
                        <a:srgbClr val="607ACC"/>
                      </a:solidFill>
                      <a:prstDash val="solid"/>
                    </a:lnL>
                    <a:lnR w="12240">
                      <a:solidFill>
                        <a:srgbClr val="E07ECC"/>
                      </a:solidFill>
                      <a:prstDash val="solid"/>
                    </a:lnR>
                    <a:lnT w="12240">
                      <a:solidFill>
                        <a:srgbClr val="607ACC"/>
                      </a:solidFill>
                      <a:prstDash val="solid"/>
                    </a:lnT>
                    <a:lnB w="12240">
                      <a:solidFill>
                        <a:srgbClr val="8090CC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2022</a:t>
                      </a:r>
                      <a:r>
                        <a:rPr lang="zh-TW" sz="14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損益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8360" marR="108360" marT="108360" marB="108360">
                    <a:lnL w="12240">
                      <a:solidFill>
                        <a:srgbClr val="E07ECC"/>
                      </a:solidFill>
                      <a:prstDash val="solid"/>
                    </a:lnL>
                    <a:lnR w="12240">
                      <a:solidFill>
                        <a:srgbClr val="008CCC"/>
                      </a:solidFill>
                      <a:prstDash val="solid"/>
                    </a:lnR>
                    <a:lnT w="12240">
                      <a:solidFill>
                        <a:srgbClr val="E07ECC"/>
                      </a:solidFill>
                      <a:prstDash val="solid"/>
                    </a:lnT>
                    <a:lnB w="12240">
                      <a:solidFill>
                        <a:srgbClr val="A091CC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2022BUY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8360" marR="108360" marT="108360" marB="108360">
                    <a:lnL w="12240">
                      <a:solidFill>
                        <a:srgbClr val="008CCC"/>
                      </a:solidFill>
                      <a:prstDash val="solid"/>
                    </a:lnL>
                    <a:lnR w="12240">
                      <a:solidFill>
                        <a:srgbClr val="4082CC"/>
                      </a:solidFill>
                      <a:prstDash val="solid"/>
                    </a:lnR>
                    <a:lnT w="12240">
                      <a:solidFill>
                        <a:srgbClr val="008CCC"/>
                      </a:solidFill>
                      <a:prstDash val="solid"/>
                    </a:lnT>
                    <a:lnB w="12240">
                      <a:solidFill>
                        <a:srgbClr val="8093CC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2025</a:t>
                      </a:r>
                      <a:r>
                        <a:rPr lang="zh-TW" sz="14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報酬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8360" marR="108360" marT="108360" marB="108360">
                    <a:lnL w="12240">
                      <a:solidFill>
                        <a:srgbClr val="4082CC"/>
                      </a:solidFill>
                      <a:prstDash val="solid"/>
                    </a:lnL>
                    <a:lnR w="12240">
                      <a:solidFill>
                        <a:srgbClr val="2084CC"/>
                      </a:solidFill>
                      <a:prstDash val="solid"/>
                    </a:lnR>
                    <a:lnT w="12240">
                      <a:solidFill>
                        <a:srgbClr val="4082CC"/>
                      </a:solidFill>
                      <a:prstDash val="solid"/>
                    </a:lnT>
                    <a:lnB w="12240">
                      <a:solidFill>
                        <a:srgbClr val="2099CC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2025</a:t>
                      </a:r>
                      <a:r>
                        <a:rPr lang="zh-TW" sz="14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損益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8360" marR="108360" marT="108360" marB="108360">
                    <a:lnL w="12240">
                      <a:solidFill>
                        <a:srgbClr val="2084CC"/>
                      </a:solidFill>
                      <a:prstDash val="solid"/>
                    </a:lnL>
                    <a:lnR w="12240">
                      <a:solidFill>
                        <a:srgbClr val="2087CC"/>
                      </a:solidFill>
                      <a:prstDash val="solid"/>
                    </a:lnR>
                    <a:lnT w="12240">
                      <a:solidFill>
                        <a:srgbClr val="2084CC"/>
                      </a:solidFill>
                      <a:prstDash val="solid"/>
                    </a:lnT>
                    <a:lnB w="12240">
                      <a:solidFill>
                        <a:srgbClr val="E093CC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2025BUY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8360" marR="108360" marT="108360" marB="108360">
                    <a:lnL w="12240">
                      <a:solidFill>
                        <a:srgbClr val="2087CC"/>
                      </a:solidFill>
                      <a:prstDash val="solid"/>
                    </a:lnL>
                    <a:lnR w="12240">
                      <a:solidFill>
                        <a:srgbClr val="6083CC"/>
                      </a:solidFill>
                      <a:prstDash val="solid"/>
                    </a:lnR>
                    <a:lnT w="12240">
                      <a:solidFill>
                        <a:srgbClr val="2087CC"/>
                      </a:solidFill>
                      <a:prstDash val="solid"/>
                    </a:lnT>
                    <a:lnB w="12240">
                      <a:solidFill>
                        <a:srgbClr val="0098CC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zh-TW" sz="14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合計損益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8360" marR="108360" marT="108360" marB="108360">
                    <a:lnL w="12240">
                      <a:solidFill>
                        <a:srgbClr val="6083CC"/>
                      </a:solidFill>
                      <a:prstDash val="solid"/>
                    </a:lnL>
                    <a:lnR w="12240">
                      <a:solidFill>
                        <a:srgbClr val="6083CC"/>
                      </a:solidFill>
                      <a:prstDash val="solid"/>
                    </a:lnR>
                    <a:lnT w="12240">
                      <a:solidFill>
                        <a:srgbClr val="6083CC"/>
                      </a:solidFill>
                      <a:prstDash val="solid"/>
                    </a:lnT>
                    <a:lnB w="12240">
                      <a:solidFill>
                        <a:srgbClr val="E090CC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9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1.VWAP</a:t>
                      </a:r>
                      <a:r>
                        <a:rPr lang="zh-TW" sz="14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偏離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8360" marR="108360" marT="108360" marB="108360">
                    <a:lnL w="12240">
                      <a:solidFill>
                        <a:srgbClr val="6098CC"/>
                      </a:solidFill>
                      <a:prstDash val="solid"/>
                    </a:lnL>
                    <a:lnR w="12240">
                      <a:solidFill>
                        <a:srgbClr val="8090CC"/>
                      </a:solidFill>
                      <a:prstDash val="solid"/>
                    </a:lnR>
                    <a:lnT w="12240">
                      <a:solidFill>
                        <a:srgbClr val="6098CC"/>
                      </a:solidFill>
                      <a:prstDash val="solid"/>
                    </a:lnT>
                    <a:lnB w="12240">
                      <a:solidFill>
                        <a:srgbClr val="4097CC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+15.83%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8360" marR="108360" marT="108360" marB="108360">
                    <a:lnL w="12240">
                      <a:solidFill>
                        <a:srgbClr val="8090CC"/>
                      </a:solidFill>
                      <a:prstDash val="solid"/>
                    </a:lnL>
                    <a:lnR w="12240">
                      <a:solidFill>
                        <a:srgbClr val="A091CC"/>
                      </a:solidFill>
                      <a:prstDash val="solid"/>
                    </a:lnR>
                    <a:lnT w="12240">
                      <a:solidFill>
                        <a:srgbClr val="8090CC"/>
                      </a:solidFill>
                      <a:prstDash val="solid"/>
                    </a:lnT>
                    <a:lnB w="12240">
                      <a:solidFill>
                        <a:srgbClr val="4094CC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+NT$79,142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8360" marR="108360" marT="108360" marB="108360">
                    <a:lnL w="12240">
                      <a:solidFill>
                        <a:srgbClr val="A091CC"/>
                      </a:solidFill>
                      <a:prstDash val="solid"/>
                    </a:lnL>
                    <a:lnR w="12240">
                      <a:solidFill>
                        <a:srgbClr val="8093CC"/>
                      </a:solidFill>
                      <a:prstDash val="solid"/>
                    </a:lnR>
                    <a:lnT w="12240">
                      <a:solidFill>
                        <a:srgbClr val="A091CC"/>
                      </a:solidFill>
                      <a:prstDash val="solid"/>
                    </a:lnT>
                    <a:lnB w="12240">
                      <a:solidFill>
                        <a:srgbClr val="A08ECC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51</a:t>
                      </a:r>
                      <a:r>
                        <a:rPr lang="zh-TW" sz="14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筆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8360" marR="108360" marT="108360" marB="108360">
                    <a:lnL w="12240">
                      <a:solidFill>
                        <a:srgbClr val="8093CC"/>
                      </a:solidFill>
                      <a:prstDash val="solid"/>
                    </a:lnL>
                    <a:lnR w="12240">
                      <a:solidFill>
                        <a:srgbClr val="2099CC"/>
                      </a:solidFill>
                      <a:prstDash val="solid"/>
                    </a:lnR>
                    <a:lnT w="12240">
                      <a:solidFill>
                        <a:srgbClr val="8093CC"/>
                      </a:solidFill>
                      <a:prstDash val="solid"/>
                    </a:lnT>
                    <a:lnB w="12240">
                      <a:solidFill>
                        <a:srgbClr val="6095CC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+5.34%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8360" marR="108360" marT="108360" marB="108360">
                    <a:lnL w="12240">
                      <a:solidFill>
                        <a:srgbClr val="2099CC"/>
                      </a:solidFill>
                      <a:prstDash val="solid"/>
                    </a:lnL>
                    <a:lnR w="12240">
                      <a:solidFill>
                        <a:srgbClr val="E093CC"/>
                      </a:solidFill>
                      <a:prstDash val="solid"/>
                    </a:lnR>
                    <a:lnT w="12240">
                      <a:solidFill>
                        <a:srgbClr val="2099CC"/>
                      </a:solidFill>
                      <a:prstDash val="solid"/>
                    </a:lnT>
                    <a:lnB w="12240">
                      <a:solidFill>
                        <a:srgbClr val="C092CC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+NT$26,702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8360" marR="108360" marT="108360" marB="108360">
                    <a:lnL w="12240">
                      <a:solidFill>
                        <a:srgbClr val="E093CC"/>
                      </a:solidFill>
                      <a:prstDash val="solid"/>
                    </a:lnL>
                    <a:lnR w="12240">
                      <a:solidFill>
                        <a:srgbClr val="0098CC"/>
                      </a:solidFill>
                      <a:prstDash val="solid"/>
                    </a:lnR>
                    <a:lnT w="12240">
                      <a:solidFill>
                        <a:srgbClr val="E093CC"/>
                      </a:solidFill>
                      <a:prstDash val="solid"/>
                    </a:lnT>
                    <a:lnB w="12240">
                      <a:solidFill>
                        <a:srgbClr val="C098CC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26</a:t>
                      </a:r>
                      <a:r>
                        <a:rPr lang="zh-TW" sz="14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筆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8360" marR="108360" marT="108360" marB="108360">
                    <a:lnL w="12240">
                      <a:solidFill>
                        <a:srgbClr val="0098CC"/>
                      </a:solidFill>
                      <a:prstDash val="solid"/>
                    </a:lnL>
                    <a:lnR w="12240">
                      <a:solidFill>
                        <a:srgbClr val="E090CC"/>
                      </a:solidFill>
                      <a:prstDash val="solid"/>
                    </a:lnR>
                    <a:lnT w="12240">
                      <a:solidFill>
                        <a:srgbClr val="0098CC"/>
                      </a:solidFill>
                      <a:prstDash val="solid"/>
                    </a:lnT>
                    <a:lnB w="12240">
                      <a:solidFill>
                        <a:srgbClr val="60A4CC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+NT$105,844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8360" marR="108360" marT="108360" marB="108360">
                    <a:lnL w="12240">
                      <a:solidFill>
                        <a:srgbClr val="E090CC"/>
                      </a:solidFill>
                      <a:prstDash val="solid"/>
                    </a:lnL>
                    <a:lnR w="12240">
                      <a:solidFill>
                        <a:srgbClr val="E090CC"/>
                      </a:solidFill>
                      <a:prstDash val="solid"/>
                    </a:lnR>
                    <a:lnT w="12240">
                      <a:solidFill>
                        <a:srgbClr val="E090CC"/>
                      </a:solidFill>
                      <a:prstDash val="solid"/>
                    </a:lnT>
                    <a:lnB w="12240">
                      <a:solidFill>
                        <a:srgbClr val="20A5CC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39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4.</a:t>
                      </a:r>
                      <a:r>
                        <a:rPr lang="zh-TW" sz="14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突破交易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8360" marR="108360" marT="108360" marB="108360">
                    <a:lnL w="12240">
                      <a:solidFill>
                        <a:srgbClr val="4097CC"/>
                      </a:solidFill>
                      <a:prstDash val="solid"/>
                    </a:lnL>
                    <a:lnR w="12240">
                      <a:solidFill>
                        <a:srgbClr val="4094CC"/>
                      </a:solidFill>
                      <a:prstDash val="solid"/>
                    </a:lnR>
                    <a:lnT w="12240">
                      <a:solidFill>
                        <a:srgbClr val="4097CC"/>
                      </a:solidFill>
                      <a:prstDash val="solid"/>
                    </a:lnT>
                    <a:lnB w="12240">
                      <a:solidFill>
                        <a:srgbClr val="C0A4CC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+8.14%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8360" marR="108360" marT="108360" marB="108360">
                    <a:lnL w="12240">
                      <a:solidFill>
                        <a:srgbClr val="4094CC"/>
                      </a:solidFill>
                      <a:prstDash val="solid"/>
                    </a:lnL>
                    <a:lnR w="12240">
                      <a:solidFill>
                        <a:srgbClr val="A08ECC"/>
                      </a:solidFill>
                      <a:prstDash val="solid"/>
                    </a:lnR>
                    <a:lnT w="12240">
                      <a:solidFill>
                        <a:srgbClr val="4094CC"/>
                      </a:solidFill>
                      <a:prstDash val="solid"/>
                    </a:lnT>
                    <a:lnB w="12240">
                      <a:solidFill>
                        <a:srgbClr val="40A0CC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+NT$40,700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8360" marR="108360" marT="108360" marB="108360">
                    <a:lnL w="12240">
                      <a:solidFill>
                        <a:srgbClr val="A08ECC"/>
                      </a:solidFill>
                      <a:prstDash val="solid"/>
                    </a:lnL>
                    <a:lnR w="12240">
                      <a:solidFill>
                        <a:srgbClr val="6095CC"/>
                      </a:solidFill>
                      <a:prstDash val="solid"/>
                    </a:lnR>
                    <a:lnT w="12240">
                      <a:solidFill>
                        <a:srgbClr val="A08ECC"/>
                      </a:solidFill>
                      <a:prstDash val="solid"/>
                    </a:lnT>
                    <a:lnB w="12240">
                      <a:solidFill>
                        <a:srgbClr val="E09FCC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6</a:t>
                      </a:r>
                      <a:r>
                        <a:rPr lang="zh-TW" sz="14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筆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8360" marR="108360" marT="108360" marB="108360">
                    <a:lnL w="12240">
                      <a:solidFill>
                        <a:srgbClr val="6095CC"/>
                      </a:solidFill>
                      <a:prstDash val="solid"/>
                    </a:lnL>
                    <a:lnR w="12240">
                      <a:solidFill>
                        <a:srgbClr val="C092CC"/>
                      </a:solidFill>
                      <a:prstDash val="solid"/>
                    </a:lnR>
                    <a:lnT w="12240">
                      <a:solidFill>
                        <a:srgbClr val="6095CC"/>
                      </a:solidFill>
                      <a:prstDash val="solid"/>
                    </a:lnT>
                    <a:lnB w="12240">
                      <a:solidFill>
                        <a:srgbClr val="60A1CC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-0.39%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8360" marR="108360" marT="108360" marB="108360">
                    <a:lnL w="12240">
                      <a:solidFill>
                        <a:srgbClr val="C092CC"/>
                      </a:solidFill>
                      <a:prstDash val="solid"/>
                    </a:lnL>
                    <a:lnR w="12240">
                      <a:solidFill>
                        <a:srgbClr val="C098CC"/>
                      </a:solidFill>
                      <a:prstDash val="solid"/>
                    </a:lnR>
                    <a:lnT w="12240">
                      <a:solidFill>
                        <a:srgbClr val="C092CC"/>
                      </a:solidFill>
                      <a:prstDash val="solid"/>
                    </a:lnT>
                    <a:lnB w="12240">
                      <a:solidFill>
                        <a:srgbClr val="80A2CC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-NT$1,954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8360" marR="108360" marT="108360" marB="108360">
                    <a:lnL w="12240">
                      <a:solidFill>
                        <a:srgbClr val="C098CC"/>
                      </a:solidFill>
                      <a:prstDash val="solid"/>
                    </a:lnL>
                    <a:lnR w="12240">
                      <a:solidFill>
                        <a:srgbClr val="60A4CC"/>
                      </a:solidFill>
                      <a:prstDash val="solid"/>
                    </a:lnR>
                    <a:lnT w="12240">
                      <a:solidFill>
                        <a:srgbClr val="C098CC"/>
                      </a:solidFill>
                      <a:prstDash val="solid"/>
                    </a:lnT>
                    <a:lnB w="12240">
                      <a:solidFill>
                        <a:srgbClr val="A0A3CC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12</a:t>
                      </a:r>
                      <a:r>
                        <a:rPr lang="zh-TW" sz="14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筆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8360" marR="108360" marT="108360" marB="108360">
                    <a:lnL w="12240">
                      <a:solidFill>
                        <a:srgbClr val="60A4CC"/>
                      </a:solidFill>
                      <a:prstDash val="solid"/>
                    </a:lnL>
                    <a:lnR w="12240">
                      <a:solidFill>
                        <a:srgbClr val="20A5CC"/>
                      </a:solidFill>
                      <a:prstDash val="solid"/>
                    </a:lnR>
                    <a:lnT w="12240">
                      <a:solidFill>
                        <a:srgbClr val="60A4CC"/>
                      </a:solidFill>
                      <a:prstDash val="solid"/>
                    </a:lnT>
                    <a:lnB w="12240">
                      <a:solidFill>
                        <a:srgbClr val="209CCC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+NT$38,746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8360" marR="108360" marT="108360" marB="108360">
                    <a:lnL w="12240">
                      <a:solidFill>
                        <a:srgbClr val="20A5CC"/>
                      </a:solidFill>
                      <a:prstDash val="solid"/>
                    </a:lnL>
                    <a:lnR w="12240">
                      <a:solidFill>
                        <a:srgbClr val="20A5CC"/>
                      </a:solidFill>
                      <a:prstDash val="solid"/>
                    </a:lnR>
                    <a:lnT w="12240">
                      <a:solidFill>
                        <a:srgbClr val="20A5CC"/>
                      </a:solidFill>
                      <a:prstDash val="solid"/>
                    </a:lnT>
                    <a:lnB w="12240">
                      <a:solidFill>
                        <a:srgbClr val="809FCC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39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3.</a:t>
                      </a:r>
                      <a:r>
                        <a:rPr lang="zh-TW" sz="14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布林通道反轉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8360" marR="108360" marT="108360" marB="108360">
                    <a:lnL w="12240">
                      <a:solidFill>
                        <a:srgbClr val="C0A4CC"/>
                      </a:solidFill>
                      <a:prstDash val="solid"/>
                    </a:lnL>
                    <a:lnR w="12240">
                      <a:solidFill>
                        <a:srgbClr val="40A0CC"/>
                      </a:solidFill>
                      <a:prstDash val="solid"/>
                    </a:lnR>
                    <a:lnT w="12240">
                      <a:solidFill>
                        <a:srgbClr val="C0A4CC"/>
                      </a:solidFill>
                      <a:prstDash val="solid"/>
                    </a:lnT>
                    <a:lnB w="12240">
                      <a:solidFill>
                        <a:srgbClr val="20ABCC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-3.61%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8360" marR="108360" marT="108360" marB="108360">
                    <a:lnL w="12240">
                      <a:solidFill>
                        <a:srgbClr val="40A0CC"/>
                      </a:solidFill>
                      <a:prstDash val="solid"/>
                    </a:lnL>
                    <a:lnR w="12240">
                      <a:solidFill>
                        <a:srgbClr val="E09FCC"/>
                      </a:solidFill>
                      <a:prstDash val="solid"/>
                    </a:lnR>
                    <a:lnT w="12240">
                      <a:solidFill>
                        <a:srgbClr val="40A0CC"/>
                      </a:solidFill>
                      <a:prstDash val="solid"/>
                    </a:lnT>
                    <a:lnB w="12240">
                      <a:solidFill>
                        <a:srgbClr val="00A7CC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-NT$18,052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8360" marR="108360" marT="108360" marB="108360">
                    <a:lnL w="12240">
                      <a:solidFill>
                        <a:srgbClr val="E09FCC"/>
                      </a:solidFill>
                      <a:prstDash val="solid"/>
                    </a:lnL>
                    <a:lnR w="12240">
                      <a:solidFill>
                        <a:srgbClr val="60A1CC"/>
                      </a:solidFill>
                      <a:prstDash val="solid"/>
                    </a:lnR>
                    <a:lnT w="12240">
                      <a:solidFill>
                        <a:srgbClr val="E09FCC"/>
                      </a:solidFill>
                      <a:prstDash val="solid"/>
                    </a:lnT>
                    <a:lnB w="12240">
                      <a:solidFill>
                        <a:srgbClr val="C0ADCC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16</a:t>
                      </a:r>
                      <a:r>
                        <a:rPr lang="zh-TW" sz="14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筆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8360" marR="108360" marT="108360" marB="108360">
                    <a:lnL w="12240">
                      <a:solidFill>
                        <a:srgbClr val="60A1CC"/>
                      </a:solidFill>
                      <a:prstDash val="solid"/>
                    </a:lnL>
                    <a:lnR w="12240">
                      <a:solidFill>
                        <a:srgbClr val="80A2CC"/>
                      </a:solidFill>
                      <a:prstDash val="solid"/>
                    </a:lnR>
                    <a:lnT w="12240">
                      <a:solidFill>
                        <a:srgbClr val="60A1CC"/>
                      </a:solidFill>
                      <a:prstDash val="solid"/>
                    </a:lnT>
                    <a:lnB w="12240">
                      <a:solidFill>
                        <a:srgbClr val="40ACCC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+2.25%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8360" marR="108360" marT="108360" marB="108360">
                    <a:lnL w="12240">
                      <a:solidFill>
                        <a:srgbClr val="80A2CC"/>
                      </a:solidFill>
                      <a:prstDash val="solid"/>
                    </a:lnL>
                    <a:lnR w="12240">
                      <a:solidFill>
                        <a:srgbClr val="A0A3CC"/>
                      </a:solidFill>
                      <a:prstDash val="solid"/>
                    </a:lnR>
                    <a:lnT w="12240">
                      <a:solidFill>
                        <a:srgbClr val="80A2CC"/>
                      </a:solidFill>
                      <a:prstDash val="solid"/>
                    </a:lnT>
                    <a:lnB w="12240">
                      <a:solidFill>
                        <a:srgbClr val="40BBCC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+NT$11,239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8360" marR="108360" marT="108360" marB="108360">
                    <a:lnL w="12240">
                      <a:solidFill>
                        <a:srgbClr val="A0A3CC"/>
                      </a:solidFill>
                      <a:prstDash val="solid"/>
                    </a:lnL>
                    <a:lnR w="12240">
                      <a:solidFill>
                        <a:srgbClr val="209CCC"/>
                      </a:solidFill>
                      <a:prstDash val="solid"/>
                    </a:lnR>
                    <a:lnT w="12240">
                      <a:solidFill>
                        <a:srgbClr val="A0A3CC"/>
                      </a:solidFill>
                      <a:prstDash val="solid"/>
                    </a:lnT>
                    <a:lnB w="12240">
                      <a:solidFill>
                        <a:srgbClr val="E0BACC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10</a:t>
                      </a:r>
                      <a:r>
                        <a:rPr lang="zh-TW" sz="14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筆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8360" marR="108360" marT="108360" marB="108360">
                    <a:lnL w="12240">
                      <a:solidFill>
                        <a:srgbClr val="209CCC"/>
                      </a:solidFill>
                      <a:prstDash val="solid"/>
                    </a:lnL>
                    <a:lnR w="12240">
                      <a:solidFill>
                        <a:srgbClr val="809FCC"/>
                      </a:solidFill>
                      <a:prstDash val="solid"/>
                    </a:lnR>
                    <a:lnT w="12240">
                      <a:solidFill>
                        <a:srgbClr val="209CCC"/>
                      </a:solidFill>
                      <a:prstDash val="solid"/>
                    </a:lnT>
                    <a:lnB w="12240">
                      <a:solidFill>
                        <a:srgbClr val="E0B4CC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-NT$6,813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8360" marR="108360" marT="108360" marB="108360">
                    <a:lnL w="12240">
                      <a:solidFill>
                        <a:srgbClr val="809FCC"/>
                      </a:solidFill>
                      <a:prstDash val="solid"/>
                    </a:lnL>
                    <a:lnR w="12240">
                      <a:solidFill>
                        <a:srgbClr val="809FCC"/>
                      </a:solidFill>
                      <a:prstDash val="solid"/>
                    </a:lnR>
                    <a:lnT w="12240">
                      <a:solidFill>
                        <a:srgbClr val="809FCC"/>
                      </a:solidFill>
                      <a:prstDash val="solid"/>
                    </a:lnT>
                    <a:lnB w="12240">
                      <a:solidFill>
                        <a:srgbClr val="60B9CC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39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5.</a:t>
                      </a:r>
                      <a:r>
                        <a:rPr lang="zh-TW" sz="14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週</a:t>
                      </a:r>
                      <a:r>
                        <a:rPr lang="en-US" sz="14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KD(</a:t>
                      </a:r>
                      <a:r>
                        <a:rPr lang="zh-TW" sz="14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預設</a:t>
                      </a:r>
                      <a:r>
                        <a:rPr lang="en-US" sz="14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)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8360" marR="108360" marT="108360" marB="108360">
                    <a:lnL w="12240">
                      <a:solidFill>
                        <a:srgbClr val="20ABCC"/>
                      </a:solidFill>
                      <a:prstDash val="solid"/>
                    </a:lnL>
                    <a:lnR w="12240">
                      <a:solidFill>
                        <a:srgbClr val="00A7CC"/>
                      </a:solidFill>
                      <a:prstDash val="solid"/>
                    </a:lnR>
                    <a:lnT w="12240">
                      <a:solidFill>
                        <a:srgbClr val="20ABCC"/>
                      </a:solidFill>
                      <a:prstDash val="solid"/>
                    </a:lnT>
                    <a:lnB w="12240">
                      <a:solidFill>
                        <a:srgbClr val="E0B7CC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-1.50%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8360" marR="108360" marT="108360" marB="108360">
                    <a:lnL w="12240">
                      <a:solidFill>
                        <a:srgbClr val="00A7CC"/>
                      </a:solidFill>
                      <a:prstDash val="solid"/>
                    </a:lnL>
                    <a:lnR w="12240">
                      <a:solidFill>
                        <a:srgbClr val="C0ADCC"/>
                      </a:solidFill>
                      <a:prstDash val="solid"/>
                    </a:lnR>
                    <a:lnT w="12240">
                      <a:solidFill>
                        <a:srgbClr val="00A7CC"/>
                      </a:solidFill>
                      <a:prstDash val="solid"/>
                    </a:lnT>
                    <a:lnB w="12240">
                      <a:solidFill>
                        <a:srgbClr val="80B4CC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-NT$7,477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8360" marR="108360" marT="108360" marB="108360">
                    <a:lnL w="12240">
                      <a:solidFill>
                        <a:srgbClr val="C0ADCC"/>
                      </a:solidFill>
                      <a:prstDash val="solid"/>
                    </a:lnL>
                    <a:lnR w="12240">
                      <a:solidFill>
                        <a:srgbClr val="40ACCC"/>
                      </a:solidFill>
                      <a:prstDash val="solid"/>
                    </a:lnR>
                    <a:lnT w="12240">
                      <a:solidFill>
                        <a:srgbClr val="C0ADCC"/>
                      </a:solidFill>
                      <a:prstDash val="solid"/>
                    </a:lnT>
                    <a:lnB w="12240">
                      <a:solidFill>
                        <a:srgbClr val="20BDCC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3</a:t>
                      </a:r>
                      <a:r>
                        <a:rPr lang="zh-TW" sz="14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筆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8360" marR="108360" marT="108360" marB="108360">
                    <a:lnL w="12240">
                      <a:solidFill>
                        <a:srgbClr val="40ACCC"/>
                      </a:solidFill>
                      <a:prstDash val="solid"/>
                    </a:lnL>
                    <a:lnR w="12240">
                      <a:solidFill>
                        <a:srgbClr val="40BBCC"/>
                      </a:solidFill>
                      <a:prstDash val="solid"/>
                    </a:lnR>
                    <a:lnT w="12240">
                      <a:solidFill>
                        <a:srgbClr val="40ACCC"/>
                      </a:solidFill>
                      <a:prstDash val="solid"/>
                    </a:lnT>
                    <a:lnB w="12240">
                      <a:solidFill>
                        <a:srgbClr val="20B4CC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+0.75%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8360" marR="108360" marT="108360" marB="108360">
                    <a:lnL w="12240">
                      <a:solidFill>
                        <a:srgbClr val="40BBCC"/>
                      </a:solidFill>
                      <a:prstDash val="solid"/>
                    </a:lnL>
                    <a:lnR w="12240">
                      <a:solidFill>
                        <a:srgbClr val="E0BACC"/>
                      </a:solidFill>
                      <a:prstDash val="solid"/>
                    </a:lnR>
                    <a:lnT w="12240">
                      <a:solidFill>
                        <a:srgbClr val="40BBCC"/>
                      </a:solidFill>
                      <a:prstDash val="solid"/>
                    </a:lnT>
                    <a:lnB w="12240">
                      <a:solidFill>
                        <a:srgbClr val="C0BCCC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+NT$3,759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8360" marR="108360" marT="108360" marB="108360">
                    <a:lnL w="12240">
                      <a:solidFill>
                        <a:srgbClr val="E0BACC"/>
                      </a:solidFill>
                      <a:prstDash val="solid"/>
                    </a:lnL>
                    <a:lnR w="12240">
                      <a:solidFill>
                        <a:srgbClr val="E0B4CC"/>
                      </a:solidFill>
                      <a:prstDash val="solid"/>
                    </a:lnR>
                    <a:lnT w="12240">
                      <a:solidFill>
                        <a:srgbClr val="E0BACC"/>
                      </a:solidFill>
                      <a:prstDash val="solid"/>
                    </a:lnT>
                    <a:lnB w="12240">
                      <a:solidFill>
                        <a:srgbClr val="A0B5CC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1</a:t>
                      </a:r>
                      <a:r>
                        <a:rPr lang="zh-TW" sz="14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筆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8360" marR="108360" marT="108360" marB="108360">
                    <a:lnL w="12240">
                      <a:solidFill>
                        <a:srgbClr val="E0B4CC"/>
                      </a:solidFill>
                      <a:prstDash val="solid"/>
                    </a:lnL>
                    <a:lnR w="12240">
                      <a:solidFill>
                        <a:srgbClr val="60B9CC"/>
                      </a:solidFill>
                      <a:prstDash val="solid"/>
                    </a:lnR>
                    <a:lnT w="12240">
                      <a:solidFill>
                        <a:srgbClr val="E0B4CC"/>
                      </a:solidFill>
                      <a:prstDash val="solid"/>
                    </a:lnT>
                    <a:lnB w="12240">
                      <a:solidFill>
                        <a:srgbClr val="60B3CC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-NT$3,718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8360" marR="108360" marT="108360" marB="108360">
                    <a:lnL w="12240">
                      <a:solidFill>
                        <a:srgbClr val="60B9CC"/>
                      </a:solidFill>
                      <a:prstDash val="solid"/>
                    </a:lnL>
                    <a:lnR w="12240">
                      <a:solidFill>
                        <a:srgbClr val="60B9CC"/>
                      </a:solidFill>
                      <a:prstDash val="solid"/>
                    </a:lnR>
                    <a:lnT w="12240">
                      <a:solidFill>
                        <a:srgbClr val="60B9CC"/>
                      </a:solidFill>
                      <a:prstDash val="solid"/>
                    </a:lnT>
                    <a:lnB w="12240">
                      <a:solidFill>
                        <a:srgbClr val="A0BBCC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39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2.</a:t>
                      </a:r>
                      <a:r>
                        <a:rPr lang="zh-TW" sz="14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均線交叉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8360" marR="108360" marT="108360" marB="108360">
                    <a:lnL w="12240">
                      <a:solidFill>
                        <a:srgbClr val="E0B7CC"/>
                      </a:solidFill>
                      <a:prstDash val="solid"/>
                    </a:lnL>
                    <a:lnR w="12240">
                      <a:solidFill>
                        <a:srgbClr val="80B4CC"/>
                      </a:solidFill>
                      <a:prstDash val="solid"/>
                    </a:lnR>
                    <a:lnT w="12240">
                      <a:solidFill>
                        <a:srgbClr val="E0B7CC"/>
                      </a:solidFill>
                      <a:prstDash val="solid"/>
                    </a:lnT>
                    <a:lnB w="12240">
                      <a:solidFill>
                        <a:srgbClr val="80BACC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-10.06%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8360" marR="108360" marT="108360" marB="108360">
                    <a:lnL w="12240">
                      <a:solidFill>
                        <a:srgbClr val="80B4CC"/>
                      </a:solidFill>
                      <a:prstDash val="solid"/>
                    </a:lnL>
                    <a:lnR w="12240">
                      <a:solidFill>
                        <a:srgbClr val="20BDCC"/>
                      </a:solidFill>
                      <a:prstDash val="solid"/>
                    </a:lnR>
                    <a:lnT w="12240">
                      <a:solidFill>
                        <a:srgbClr val="80B4CC"/>
                      </a:solidFill>
                      <a:prstDash val="solid"/>
                    </a:lnT>
                    <a:lnB w="12240">
                      <a:solidFill>
                        <a:srgbClr val="40C1CC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-NT$50,278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8360" marR="108360" marT="108360" marB="108360">
                    <a:lnL w="12240">
                      <a:solidFill>
                        <a:srgbClr val="20BDCC"/>
                      </a:solidFill>
                      <a:prstDash val="solid"/>
                    </a:lnL>
                    <a:lnR w="12240">
                      <a:solidFill>
                        <a:srgbClr val="20B4CC"/>
                      </a:solidFill>
                      <a:prstDash val="solid"/>
                    </a:lnR>
                    <a:lnT w="12240">
                      <a:solidFill>
                        <a:srgbClr val="20BDCC"/>
                      </a:solidFill>
                      <a:prstDash val="solid"/>
                    </a:lnT>
                    <a:lnB w="12240">
                      <a:solidFill>
                        <a:srgbClr val="E0C0CC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4</a:t>
                      </a:r>
                      <a:r>
                        <a:rPr lang="zh-TW" sz="14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筆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8360" marR="108360" marT="108360" marB="108360">
                    <a:lnL w="12240">
                      <a:solidFill>
                        <a:srgbClr val="20B4CC"/>
                      </a:solidFill>
                      <a:prstDash val="solid"/>
                    </a:lnL>
                    <a:lnR w="12240">
                      <a:solidFill>
                        <a:srgbClr val="C0BCCC"/>
                      </a:solidFill>
                      <a:prstDash val="solid"/>
                    </a:lnR>
                    <a:lnT w="12240">
                      <a:solidFill>
                        <a:srgbClr val="20B4CC"/>
                      </a:solidFill>
                      <a:prstDash val="solid"/>
                    </a:lnT>
                    <a:lnB w="12240">
                      <a:solidFill>
                        <a:srgbClr val="C0CECC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+0.96%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8360" marR="108360" marT="108360" marB="108360">
                    <a:lnL w="12240">
                      <a:solidFill>
                        <a:srgbClr val="C0BCCC"/>
                      </a:solidFill>
                      <a:prstDash val="solid"/>
                    </a:lnL>
                    <a:lnR w="12240">
                      <a:solidFill>
                        <a:srgbClr val="A0B5CC"/>
                      </a:solidFill>
                      <a:prstDash val="solid"/>
                    </a:lnR>
                    <a:lnT w="12240">
                      <a:solidFill>
                        <a:srgbClr val="C0BCCC"/>
                      </a:solidFill>
                      <a:prstDash val="solid"/>
                    </a:lnT>
                    <a:lnB w="12240">
                      <a:solidFill>
                        <a:srgbClr val="80CFCC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+NT$4,784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8360" marR="108360" marT="108360" marB="108360">
                    <a:lnL w="12240">
                      <a:solidFill>
                        <a:srgbClr val="A0B5CC"/>
                      </a:solidFill>
                      <a:prstDash val="solid"/>
                    </a:lnL>
                    <a:lnR w="12240">
                      <a:solidFill>
                        <a:srgbClr val="60B3CC"/>
                      </a:solidFill>
                      <a:prstDash val="solid"/>
                    </a:lnR>
                    <a:lnT w="12240">
                      <a:solidFill>
                        <a:srgbClr val="A0B5CC"/>
                      </a:solidFill>
                      <a:prstDash val="solid"/>
                    </a:lnT>
                    <a:lnB w="12240">
                      <a:solidFill>
                        <a:srgbClr val="A0D3CC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9</a:t>
                      </a:r>
                      <a:r>
                        <a:rPr lang="zh-TW" sz="14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筆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8360" marR="108360" marT="108360" marB="108360">
                    <a:lnL w="12240">
                      <a:solidFill>
                        <a:srgbClr val="60B3CC"/>
                      </a:solidFill>
                      <a:prstDash val="solid"/>
                    </a:lnL>
                    <a:lnR w="12240">
                      <a:solidFill>
                        <a:srgbClr val="A0BBCC"/>
                      </a:solidFill>
                      <a:prstDash val="solid"/>
                    </a:lnR>
                    <a:lnT w="12240">
                      <a:solidFill>
                        <a:srgbClr val="60B3CC"/>
                      </a:solidFill>
                      <a:prstDash val="solid"/>
                    </a:lnT>
                    <a:lnB w="12240">
                      <a:solidFill>
                        <a:srgbClr val="40D0CC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-NT$45,494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8360" marR="108360" marT="108360" marB="108360">
                    <a:lnL w="12240">
                      <a:solidFill>
                        <a:srgbClr val="A0BBCC"/>
                      </a:solidFill>
                      <a:prstDash val="solid"/>
                    </a:lnL>
                    <a:lnR w="12240">
                      <a:solidFill>
                        <a:srgbClr val="A0BBCC"/>
                      </a:solidFill>
                      <a:prstDash val="solid"/>
                    </a:lnR>
                    <a:lnT w="12240">
                      <a:solidFill>
                        <a:srgbClr val="A0BBCC"/>
                      </a:solidFill>
                      <a:prstDash val="solid"/>
                    </a:lnT>
                    <a:lnB w="12240">
                      <a:solidFill>
                        <a:srgbClr val="C0D4CC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39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zh-TW" sz="14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買進持有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8360" marR="108360" marT="108360" marB="108360">
                    <a:lnL w="12240">
                      <a:solidFill>
                        <a:srgbClr val="80BACC"/>
                      </a:solidFill>
                      <a:prstDash val="solid"/>
                    </a:lnL>
                    <a:lnR w="12240">
                      <a:solidFill>
                        <a:srgbClr val="40C1CC"/>
                      </a:solidFill>
                      <a:prstDash val="solid"/>
                    </a:lnR>
                    <a:lnT w="12240">
                      <a:solidFill>
                        <a:srgbClr val="80BACC"/>
                      </a:solidFill>
                      <a:prstDash val="solid"/>
                    </a:lnT>
                    <a:lnB w="7200">
                      <a:solidFill>
                        <a:srgbClr val="80BACC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-40.25%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8360" marR="108360" marT="108360" marB="108360">
                    <a:lnL w="12240">
                      <a:solidFill>
                        <a:srgbClr val="40C1CC"/>
                      </a:solidFill>
                      <a:prstDash val="solid"/>
                    </a:lnL>
                    <a:lnR w="12240">
                      <a:solidFill>
                        <a:srgbClr val="E0C0CC"/>
                      </a:solidFill>
                      <a:prstDash val="solid"/>
                    </a:lnR>
                    <a:lnT w="12240">
                      <a:solidFill>
                        <a:srgbClr val="40C1CC"/>
                      </a:solidFill>
                      <a:prstDash val="solid"/>
                    </a:lnT>
                    <a:lnB w="7200">
                      <a:solidFill>
                        <a:srgbClr val="40C1CC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-NT$201,235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8360" marR="108360" marT="108360" marB="108360">
                    <a:lnL w="12240">
                      <a:solidFill>
                        <a:srgbClr val="E0C0CC"/>
                      </a:solidFill>
                      <a:prstDash val="solid"/>
                    </a:lnL>
                    <a:lnR w="12240">
                      <a:solidFill>
                        <a:srgbClr val="C0CECC"/>
                      </a:solidFill>
                      <a:prstDash val="solid"/>
                    </a:lnR>
                    <a:lnT w="12240">
                      <a:solidFill>
                        <a:srgbClr val="E0C0CC"/>
                      </a:solidFill>
                      <a:prstDash val="solid"/>
                    </a:lnT>
                    <a:lnB w="7200">
                      <a:solidFill>
                        <a:srgbClr val="E0C0CC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—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8360" marR="108360" marT="108360" marB="108360">
                    <a:lnL w="12240">
                      <a:solidFill>
                        <a:srgbClr val="C0CECC"/>
                      </a:solidFill>
                      <a:prstDash val="solid"/>
                    </a:lnL>
                    <a:lnR w="12240">
                      <a:solidFill>
                        <a:srgbClr val="80CFCC"/>
                      </a:solidFill>
                      <a:prstDash val="solid"/>
                    </a:lnR>
                    <a:lnT w="12240">
                      <a:solidFill>
                        <a:srgbClr val="C0CECC"/>
                      </a:solidFill>
                      <a:prstDash val="solid"/>
                    </a:lnT>
                    <a:lnB w="7200">
                      <a:solidFill>
                        <a:srgbClr val="C0CECC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+8.01%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8360" marR="108360" marT="108360" marB="108360">
                    <a:lnL w="12240">
                      <a:solidFill>
                        <a:srgbClr val="80CFCC"/>
                      </a:solidFill>
                      <a:prstDash val="solid"/>
                    </a:lnL>
                    <a:lnR w="12240">
                      <a:solidFill>
                        <a:srgbClr val="A0D3CC"/>
                      </a:solidFill>
                      <a:prstDash val="solid"/>
                    </a:lnR>
                    <a:lnT w="12240">
                      <a:solidFill>
                        <a:srgbClr val="80CFCC"/>
                      </a:solidFill>
                      <a:prstDash val="solid"/>
                    </a:lnT>
                    <a:lnB w="7200">
                      <a:solidFill>
                        <a:srgbClr val="80CFCC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+NT$40,055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8360" marR="108360" marT="108360" marB="108360">
                    <a:lnL w="12240">
                      <a:solidFill>
                        <a:srgbClr val="A0D3CC"/>
                      </a:solidFill>
                      <a:prstDash val="solid"/>
                    </a:lnL>
                    <a:lnR w="12240">
                      <a:solidFill>
                        <a:srgbClr val="40D0CC"/>
                      </a:solidFill>
                      <a:prstDash val="solid"/>
                    </a:lnR>
                    <a:lnT w="12240">
                      <a:solidFill>
                        <a:srgbClr val="A0D3CC"/>
                      </a:solidFill>
                      <a:prstDash val="solid"/>
                    </a:lnT>
                    <a:lnB w="7200">
                      <a:solidFill>
                        <a:srgbClr val="A0D3CC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—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8360" marR="108360" marT="108360" marB="108360">
                    <a:lnL w="12240">
                      <a:solidFill>
                        <a:srgbClr val="40D0CC"/>
                      </a:solidFill>
                      <a:prstDash val="solid"/>
                    </a:lnL>
                    <a:lnR w="12240">
                      <a:solidFill>
                        <a:srgbClr val="C0D4CC"/>
                      </a:solidFill>
                      <a:prstDash val="solid"/>
                    </a:lnR>
                    <a:lnT w="12240">
                      <a:solidFill>
                        <a:srgbClr val="40D0CC"/>
                      </a:solidFill>
                      <a:prstDash val="solid"/>
                    </a:lnT>
                    <a:lnB w="7200">
                      <a:solidFill>
                        <a:srgbClr val="40D0CC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Bef>
                          <a:spcPts val="1800"/>
                        </a:spcBef>
                        <a:spcAft>
                          <a:spcPts val="1800"/>
                        </a:spcAft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DEDED"/>
                          </a:solidFill>
                          <a:effectLst/>
                          <a:uFillTx/>
                          <a:latin typeface="ui-sans-serif"/>
                        </a:rPr>
                        <a:t>-NT$161,179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8360" marR="108360" marT="108360" marB="108360">
                    <a:lnL w="12240">
                      <a:solidFill>
                        <a:srgbClr val="C0D4CC"/>
                      </a:solidFill>
                      <a:prstDash val="solid"/>
                    </a:lnL>
                    <a:lnR w="12240">
                      <a:solidFill>
                        <a:srgbClr val="C0D4CC"/>
                      </a:solidFill>
                      <a:prstDash val="solid"/>
                    </a:lnR>
                    <a:lnT w="12240">
                      <a:solidFill>
                        <a:srgbClr val="C0D4CC"/>
                      </a:solidFill>
                      <a:prstDash val="solid"/>
                    </a:lnT>
                    <a:lnB w="7200">
                      <a:solidFill>
                        <a:srgbClr val="C0D4CC"/>
                      </a:solidFill>
                      <a:prstDash val="solid"/>
                    </a:lnB>
                    <a:solidFill>
                      <a:srgbClr val="1515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PlaceHolder 3"/>
          <p:cNvSpPr>
            <a:spLocks noGrp="1"/>
          </p:cNvSpPr>
          <p:nvPr>
            <p:ph type="sldNum" idx="19"/>
          </p:nvPr>
        </p:nvSpPr>
        <p:spPr/>
        <p:txBody>
          <a:bodyPr/>
          <a:lstStyle/>
          <a:p>
            <a:fld id="{3EAFEA75-0D39-4966-98F9-0C0F2FA9CEB0}" type="slidenum"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7466760" cy="685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19999"/>
          </a:bodyPr>
          <a:lstStyle/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周ＫＤ關鍵觀察</a:t>
            </a:r>
            <a:br>
              <a:rPr sz="3200"/>
            </a:b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1311120" y="1371600"/>
            <a:ext cx="9125640" cy="5180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週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KD(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預設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)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目前排第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5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名，兩年合計小虧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-NT$3,718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。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核心問題：訊號太少（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2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年才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4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次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BUY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）：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2022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年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3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次買進都在空頭年，小虧正常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2025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年只有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1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次買進（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+0.75%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），錯過大部分反彈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預設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  <a:ea typeface="Century Gothic"/>
              </a:rPr>
              <a:t>k=9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  <a:ea typeface="Century Gothic"/>
              </a:rPr>
              <a:t>對聯發科而言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  <a:ea typeface="Century Gothic"/>
              </a:rPr>
              <a:t>KD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  <a:ea typeface="Century Gothic"/>
              </a:rPr>
              <a:t>值不夠敏感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，導致買點錯過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9"/>
          </p:nvPr>
        </p:nvSpPr>
        <p:spPr/>
        <p:txBody>
          <a:bodyPr/>
          <a:lstStyle/>
          <a:p>
            <a:fld id="{6C958F5B-D1D8-4ACC-BBC7-C227215533D3}" type="slidenum">
              <a:t>19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10438560" cy="685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47500" lnSpcReduction="19999"/>
          </a:bodyPr>
          <a:lstStyle/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策略參數掃描＝＞</a:t>
            </a:r>
            <a:br>
              <a:rPr sz="3200"/>
            </a:br>
            <a:br>
              <a:rPr sz="3200"/>
            </a:b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輸入：再用</a:t>
            </a: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2022,2025</a:t>
            </a: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聯發科來搜索最佳參數</a:t>
            </a: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,</a:t>
            </a: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用最佳參數再用</a:t>
            </a: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2022,2025</a:t>
            </a: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聯發科跟其他</a:t>
            </a: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4</a:t>
            </a: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個策略比較</a:t>
            </a: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/>
          </p:nvPr>
        </p:nvSpPr>
        <p:spPr>
          <a:xfrm>
            <a:off x="1065240" y="1828800"/>
            <a:ext cx="10438560" cy="4723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策略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	2022 🐻	2022</a:t>
            </a: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損益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	2025 🐂	2025</a:t>
            </a: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損益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</a:t>
            </a: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合計</a:t>
            </a:r>
            <a:endParaRPr lang="en-US" sz="1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VWAP</a:t>
            </a: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偏離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	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  <a:ea typeface="Century Gothic"/>
              </a:rPr>
              <a:t>+17.42%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+NT$87,092	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  <a:ea typeface="Century Gothic"/>
              </a:rPr>
              <a:t>+5.34%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+NT$26,702	+NT$113,794</a:t>
            </a:r>
            <a:endParaRPr lang="en-US" sz="1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 週KD(</a:t>
            </a: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最佳 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12,25,5)	+4.96%	+NT$24,798	+3.58%	+NT$17,921	+NT$42,719 🏆</a:t>
            </a:r>
            <a:endParaRPr lang="en-US" sz="1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VWAP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偏離靠 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76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次頻繁交易累積報酬，而 週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KD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最佳只花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4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筆就賺了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NT$+42,719——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效率是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VWAP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的 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7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倍以上。而且兩年都是正報酬（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VWAP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兩年也都是正），防守力相當。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＝＞</a:t>
            </a:r>
            <a:r>
              <a:rPr lang="zh-TW" sz="24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結論周</a:t>
            </a:r>
            <a:r>
              <a:rPr lang="en-US" sz="24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KD</a:t>
            </a:r>
            <a:r>
              <a:rPr lang="zh-TW" sz="24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策略沒有</a:t>
            </a:r>
            <a:r>
              <a:rPr lang="en-US" sz="24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VWAP</a:t>
            </a:r>
            <a:r>
              <a:rPr lang="zh-TW" sz="24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好！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9"/>
          </p:nvPr>
        </p:nvSpPr>
        <p:spPr/>
        <p:txBody>
          <a:bodyPr/>
          <a:lstStyle/>
          <a:p>
            <a:fld id="{F5F546E0-4EAF-4E7D-A5C8-CEA39C35E7C2}" type="slidenum">
              <a:t>20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ext 0"/>
          <p:cNvSpPr/>
          <p:nvPr/>
        </p:nvSpPr>
        <p:spPr>
          <a:xfrm>
            <a:off x="261585" y="579615"/>
            <a:ext cx="11288160" cy="55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107640" anchor="t">
            <a:noAutofit/>
          </a:bodyPr>
          <a:lstStyle/>
          <a:p>
            <a:pPr defTabSz="914040">
              <a:lnSpc>
                <a:spcPct val="109000"/>
              </a:lnSpc>
            </a:pPr>
            <a:r>
              <a:rPr lang="en-US" sz="2830" b="1" u="none" strike="noStrike">
                <a:solidFill>
                  <a:srgbClr val="1F2328"/>
                </a:solidFill>
                <a:effectLst/>
                <a:uFillTx/>
                <a:latin typeface="Segoe UI"/>
                <a:ea typeface="Segoe UI"/>
              </a:rPr>
              <a:t>💡</a:t>
            </a:r>
            <a:r>
              <a:rPr lang="en-US" sz="2830" b="1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 實戰建議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"/>
          <p:cNvSpPr/>
          <p:nvPr/>
        </p:nvSpPr>
        <p:spPr>
          <a:xfrm>
            <a:off x="261585" y="1371615"/>
            <a:ext cx="11288160" cy="379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040">
              <a:lnSpc>
                <a:spcPct val="109000"/>
              </a:lnSpc>
            </a:pPr>
            <a:r>
              <a:rPr lang="zh-TW" sz="2390" b="1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回測 </a:t>
            </a:r>
            <a:r>
              <a:rPr lang="en-US" sz="2390" b="1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SOP</a:t>
            </a:r>
            <a:r>
              <a:rPr lang="zh-TW" sz="2390" b="1" u="none" strike="noStrike">
                <a:solidFill>
                  <a:srgbClr val="1F2328"/>
                </a:solidFill>
                <a:effectLst/>
                <a:uFillTx/>
                <a:latin typeface="Yu Gothic UI"/>
                <a:ea typeface="Yu Gothic UI"/>
              </a:rPr>
              <a:t>（建議流程）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2"/>
          <p:cNvSpPr/>
          <p:nvPr/>
        </p:nvSpPr>
        <p:spPr>
          <a:xfrm>
            <a:off x="261585" y="1941495"/>
            <a:ext cx="10693080" cy="4790880"/>
          </a:xfrm>
          <a:prstGeom prst="rect">
            <a:avLst/>
          </a:prstGeom>
          <a:solidFill>
            <a:srgbClr val="F6F8F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040">
              <a:lnSpc>
                <a:spcPct val="100000"/>
              </a:lnSpc>
            </a:pPr>
            <a:r>
              <a:rPr lang="zh-TW" sz="24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第 </a:t>
            </a:r>
            <a:r>
              <a:rPr lang="en-US" sz="24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1 </a:t>
            </a:r>
            <a:r>
              <a:rPr lang="zh-TW" sz="24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步：先用</a:t>
            </a:r>
            <a:r>
              <a:rPr lang="zh-TW" sz="2400" b="0" u="none" strike="noStrike">
                <a:solidFill>
                  <a:srgbClr val="1F2328"/>
                </a:solidFill>
                <a:effectLst/>
                <a:highlight>
                  <a:srgbClr val="FFFF00"/>
                </a:highlight>
                <a:uFillTx/>
                <a:latin typeface="Consolas"/>
                <a:ea typeface="Consolas"/>
              </a:rPr>
              <a:t>預設參數</a:t>
            </a:r>
            <a:r>
              <a:rPr lang="zh-TW" sz="24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跑所有策略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040">
              <a:lnSpc>
                <a:spcPct val="100000"/>
              </a:lnSpc>
            </a:pPr>
            <a:r>
              <a:rPr lang="en-US" sz="24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040">
              <a:lnSpc>
                <a:spcPct val="100000"/>
              </a:lnSpc>
            </a:pPr>
            <a:r>
              <a:rPr lang="zh-TW" sz="24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第 </a:t>
            </a:r>
            <a:r>
              <a:rPr lang="en-US" sz="24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2 </a:t>
            </a:r>
            <a:r>
              <a:rPr lang="zh-TW" sz="24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步：</a:t>
            </a:r>
            <a:r>
              <a:rPr lang="zh-TW" sz="2400" b="0" u="none" strike="noStrike">
                <a:solidFill>
                  <a:srgbClr val="1F2328"/>
                </a:solidFill>
                <a:effectLst/>
                <a:highlight>
                  <a:srgbClr val="FFFF00"/>
                </a:highlight>
                <a:uFillTx/>
                <a:latin typeface="Consolas"/>
                <a:ea typeface="Consolas"/>
              </a:rPr>
              <a:t>找出表現最好的策略與標</a:t>
            </a:r>
            <a:r>
              <a:rPr lang="zh-TW" sz="24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的組合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040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040">
              <a:lnSpc>
                <a:spcPct val="100000"/>
              </a:lnSpc>
            </a:pPr>
            <a:r>
              <a:rPr lang="zh-TW" sz="24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第 </a:t>
            </a:r>
            <a:r>
              <a:rPr lang="en-US" sz="24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3 </a:t>
            </a:r>
            <a:r>
              <a:rPr lang="zh-TW" sz="24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步：</a:t>
            </a:r>
            <a:r>
              <a:rPr lang="zh-TW" sz="2400" b="0" u="none" strike="noStrike">
                <a:solidFill>
                  <a:srgbClr val="1F2328"/>
                </a:solidFill>
                <a:effectLst/>
                <a:highlight>
                  <a:srgbClr val="FFFF00"/>
                </a:highlight>
                <a:uFillTx/>
                <a:latin typeface="Consolas"/>
                <a:ea typeface="Consolas"/>
              </a:rPr>
              <a:t>針對該組合調整參數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040">
              <a:lnSpc>
                <a:spcPct val="100000"/>
              </a:lnSpc>
            </a:pPr>
            <a:r>
              <a:rPr lang="en-US" sz="24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040">
              <a:lnSpc>
                <a:spcPct val="100000"/>
              </a:lnSpc>
            </a:pPr>
            <a:r>
              <a:rPr lang="zh-TW" sz="24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第 </a:t>
            </a:r>
            <a:r>
              <a:rPr lang="en-US" sz="24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4 </a:t>
            </a:r>
            <a:r>
              <a:rPr lang="zh-TW" sz="24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步：</a:t>
            </a:r>
            <a:r>
              <a:rPr lang="zh-TW" sz="2400" b="0" u="none" strike="noStrike">
                <a:solidFill>
                  <a:srgbClr val="1F2328"/>
                </a:solidFill>
                <a:effectLst/>
                <a:highlight>
                  <a:srgbClr val="FFFF00"/>
                </a:highlight>
                <a:uFillTx/>
                <a:latin typeface="Consolas"/>
                <a:ea typeface="Consolas"/>
              </a:rPr>
              <a:t>至少跑 </a:t>
            </a:r>
            <a:r>
              <a:rPr lang="en-US" sz="2400" b="0" u="none" strike="noStrike">
                <a:solidFill>
                  <a:srgbClr val="1F2328"/>
                </a:solidFill>
                <a:effectLst/>
                <a:highlight>
                  <a:srgbClr val="FFFF00"/>
                </a:highlight>
                <a:uFillTx/>
                <a:latin typeface="Consolas"/>
                <a:ea typeface="Consolas"/>
              </a:rPr>
              <a:t>3 </a:t>
            </a:r>
            <a:r>
              <a:rPr lang="zh-TW" sz="2400" b="0" u="none" strike="noStrike">
                <a:solidFill>
                  <a:srgbClr val="1F2328"/>
                </a:solidFill>
                <a:effectLst/>
                <a:highlight>
                  <a:srgbClr val="FFFF00"/>
                </a:highlight>
                <a:uFillTx/>
                <a:latin typeface="Consolas"/>
                <a:ea typeface="Consolas"/>
              </a:rPr>
              <a:t>年以上的資料  </a:t>
            </a:r>
            <a:r>
              <a:rPr lang="zh-TW" sz="24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確保策略經歷過不同市場環境（多頭、空頭、盤整）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040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040">
              <a:lnSpc>
                <a:spcPct val="100000"/>
              </a:lnSpc>
            </a:pPr>
            <a:r>
              <a:rPr lang="zh-TW" sz="24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第 </a:t>
            </a:r>
            <a:r>
              <a:rPr lang="en-US" sz="24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5 </a:t>
            </a:r>
            <a:r>
              <a:rPr lang="zh-TW" sz="24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步：確認策略邏輯在</a:t>
            </a:r>
            <a:r>
              <a:rPr lang="zh-TW" sz="2400" b="0" u="none" strike="noStrike">
                <a:solidFill>
                  <a:srgbClr val="1F2328"/>
                </a:solidFill>
                <a:effectLst/>
                <a:highlight>
                  <a:srgbClr val="FFFF00"/>
                </a:highlight>
                <a:uFillTx/>
                <a:latin typeface="Consolas"/>
                <a:ea typeface="Consolas"/>
              </a:rPr>
              <a:t>實盤合理</a:t>
            </a:r>
            <a:r>
              <a:rPr lang="zh-TW" sz="24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，  檢查每個訊號觸發的日期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040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040">
              <a:lnSpc>
                <a:spcPct val="100000"/>
              </a:lnSpc>
            </a:pPr>
            <a:r>
              <a:rPr lang="zh-TW" sz="24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第 </a:t>
            </a:r>
            <a:r>
              <a:rPr lang="en-US" sz="24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6 </a:t>
            </a:r>
            <a:r>
              <a:rPr lang="zh-TW" sz="24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步：</a:t>
            </a:r>
            <a:r>
              <a:rPr lang="zh-TW" sz="2400" b="0" u="none" strike="noStrike">
                <a:solidFill>
                  <a:srgbClr val="1F2328"/>
                </a:solidFill>
                <a:effectLst/>
                <a:highlight>
                  <a:srgbClr val="FFFF00"/>
                </a:highlight>
                <a:uFillTx/>
                <a:latin typeface="Consolas"/>
                <a:ea typeface="Consolas"/>
              </a:rPr>
              <a:t>用模擬交易測試 </a:t>
            </a:r>
            <a:r>
              <a:rPr lang="en-US" sz="2400" b="0" u="none" strike="noStrike">
                <a:solidFill>
                  <a:srgbClr val="1F2328"/>
                </a:solidFill>
                <a:effectLst/>
                <a:highlight>
                  <a:srgbClr val="FFFF00"/>
                </a:highlight>
                <a:uFillTx/>
                <a:latin typeface="Consolas"/>
                <a:ea typeface="Consolas"/>
              </a:rPr>
              <a:t>1~2 </a:t>
            </a:r>
            <a:r>
              <a:rPr lang="zh-TW" sz="2400" b="0" u="none" strike="noStrike">
                <a:solidFill>
                  <a:srgbClr val="1F2328"/>
                </a:solidFill>
                <a:effectLst/>
                <a:highlight>
                  <a:srgbClr val="FFFF00"/>
                </a:highlight>
                <a:uFillTx/>
                <a:latin typeface="Consolas"/>
                <a:ea typeface="Consolas"/>
              </a:rPr>
              <a:t>週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040">
              <a:lnSpc>
                <a:spcPct val="100000"/>
              </a:lnSpc>
            </a:pPr>
            <a:r>
              <a:rPr lang="en-US" sz="24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 先用 live_trader_finmind.py </a:t>
            </a:r>
            <a:r>
              <a:rPr lang="zh-TW" sz="240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的模擬模式觀察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9981360" cy="532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選股＝＞潛力</a:t>
            </a: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/>
          </p:nvPr>
        </p:nvSpPr>
        <p:spPr>
          <a:xfrm>
            <a:off x="1311120" y="1295280"/>
            <a:ext cx="10268640" cy="5257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🔍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  <a:ea typeface="Century Gothic"/>
              </a:rPr>
              <a:t>find_catalyst_stocks.py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—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翻倍潛力股掃瞄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掃了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1079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檔，篩出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153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檔符合條型態。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TOP 5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：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#	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代號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名稱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評分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突破幅度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量能倍數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營收年增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1	1714	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和桐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69.6	+90%		8.3x	+33%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2	3209	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全科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67.7	+73%		5.3x	+19%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3	2305	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全友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67.3	+190%		6.2x	+49%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4	2923	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鼎固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-KY	65.9	+68%		4.7x	+154%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88800" indent="-34308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AutoNum type="arabicPlain" startAt="5"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　　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6834	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天二科技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64.6	+234%		8.7x	+20%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⚠️ 全數為中小型股。記得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  <a:ea typeface="Century Gothic"/>
              </a:rPr>
              <a:t>先研究基本面再決定要不要加入候選池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。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9"/>
          </p:nvPr>
        </p:nvSpPr>
        <p:spPr/>
        <p:txBody>
          <a:bodyPr/>
          <a:lstStyle/>
          <a:p>
            <a:fld id="{EE88749A-F7CB-4D69-9D9D-A38A1DBB827F}" type="slidenum">
              <a:t>22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10362600" cy="608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選股＝＞動能</a:t>
            </a: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/>
          </p:nvPr>
        </p:nvSpPr>
        <p:spPr>
          <a:xfrm>
            <a:off x="1311120" y="1066680"/>
            <a:ext cx="9430560" cy="5485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📊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  <a:ea typeface="Century Gothic"/>
              </a:rPr>
              <a:t>stock_selector_grid.p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y —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下一季推薦持股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基於  收盤價，從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16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檔候選池選出：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代號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名稱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策略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	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股價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	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近季動能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建議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6xx6	xxx	ma_cross	NT$1,195	+31.4%	🥇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強勢首選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2xx6	xxx	ma_cross	NT$48		+5.5%	🥈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防禦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2xx1      xxx	vwap		NT$124		-5.0%	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逆勢觀察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2xx8	xxx	ma_cross	NT$396		-9.2%	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週期底部？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9"/>
          </p:nvPr>
        </p:nvSpPr>
        <p:spPr/>
        <p:txBody>
          <a:bodyPr/>
          <a:lstStyle/>
          <a:p>
            <a:fld id="{CC4FAC05-74BB-4F16-A45B-D5892E7828B9}" type="slidenum">
              <a:t>23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10362600" cy="608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定期選股＝＞很重要</a:t>
            </a: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pic>
        <p:nvPicPr>
          <p:cNvPr id="161" name="內容版面配置區 5"/>
          <p:cNvPicPr/>
          <p:nvPr/>
        </p:nvPicPr>
        <p:blipFill>
          <a:blip r:embed="rId2"/>
          <a:stretch/>
        </p:blipFill>
        <p:spPr>
          <a:xfrm>
            <a:off x="1979640" y="1447920"/>
            <a:ext cx="7963200" cy="2904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2" name="文字方塊 7"/>
          <p:cNvSpPr/>
          <p:nvPr/>
        </p:nvSpPr>
        <p:spPr>
          <a:xfrm>
            <a:off x="1293840" y="4763880"/>
            <a:ext cx="9600480" cy="1014840"/>
          </a:xfrm>
          <a:prstGeom prst="rect">
            <a:avLst/>
          </a:prstGeom>
          <a:noFill/>
          <a:ln w="0">
            <a:solidFill>
              <a:srgbClr val="ACCBF9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Mona Sans VF"/>
              </a:rPr>
              <a:t>🎯 </a:t>
            </a:r>
            <a:r>
              <a:rPr lang="zh-TW" sz="2000" b="1" u="none" strike="noStrike">
                <a:solidFill>
                  <a:schemeClr val="dk1"/>
                </a:solidFill>
                <a:effectLst/>
                <a:uFillTx/>
                <a:latin typeface="Mona Sans VF"/>
              </a:rPr>
              <a:t>結論</a:t>
            </a:r>
            <a:r>
              <a:rPr lang="zh-TW" sz="2000" b="0" u="none" strike="noStrike">
                <a:solidFill>
                  <a:schemeClr val="dk1"/>
                </a:solidFill>
                <a:effectLst/>
                <a:uFillTx/>
                <a:latin typeface="Mona Sans VF"/>
              </a:rPr>
              <a:t>：定期檢討的頻率遠比檢討方式重要。無論是人工逐年還是機械式每季，</a:t>
            </a:r>
            <a:r>
              <a:rPr lang="zh-TW" sz="2000" b="1" u="none" strike="noStrike">
                <a:solidFill>
                  <a:schemeClr val="dk1"/>
                </a:solidFill>
                <a:effectLst/>
                <a:uFillTx/>
                <a:latin typeface="Mona Sans VF"/>
              </a:rPr>
              <a:t>只要有紀律地定期檢討</a:t>
            </a:r>
            <a:r>
              <a:rPr lang="zh-TW" sz="2000" b="0" u="none" strike="noStrike">
                <a:solidFill>
                  <a:schemeClr val="dk1"/>
                </a:solidFill>
                <a:effectLst/>
                <a:uFillTx/>
                <a:latin typeface="Mona Sans VF"/>
              </a:rPr>
              <a:t>，都能大幅優於買入持有。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Mona Sans VF"/>
              </a:rPr>
              <a:t>2022 </a:t>
            </a:r>
            <a:r>
              <a:rPr lang="zh-TW" sz="2000" b="0" u="none" strike="noStrike">
                <a:solidFill>
                  <a:schemeClr val="dk1"/>
                </a:solidFill>
                <a:effectLst/>
                <a:uFillTx/>
                <a:latin typeface="Mona Sans VF"/>
              </a:rPr>
              <a:t>熊市中，每季換股更是顯著降低了虧損。詳細工具使用方式見</a:t>
            </a:r>
            <a:r>
              <a:rPr lang="zh-TW" sz="2000" b="0" u="sng" strike="noStrike">
                <a:solidFill>
                  <a:schemeClr val="dk1"/>
                </a:solidFill>
                <a:effectLst/>
                <a:uFillTx/>
                <a:latin typeface="Mona Sans VF"/>
                <a:hlinkClick r:id="rId3"/>
              </a:rPr>
              <a:t>使用手冊 — 選股工具工作流程</a:t>
            </a:r>
            <a:r>
              <a:rPr lang="zh-TW" sz="2000" b="0" u="none" strike="noStrike">
                <a:solidFill>
                  <a:schemeClr val="dk1"/>
                </a:solidFill>
                <a:effectLst/>
                <a:uFillTx/>
                <a:latin typeface="Mona Sans VF"/>
              </a:rPr>
              <a:t>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9"/>
          </p:nvPr>
        </p:nvSpPr>
        <p:spPr/>
        <p:txBody>
          <a:bodyPr/>
          <a:lstStyle/>
          <a:p>
            <a:fld id="{3D30F74A-9217-44F1-A067-7630A00D8CEF}" type="slidenum">
              <a:t>24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1270080" y="183600"/>
            <a:ext cx="10591200" cy="653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回測的最大目標</a:t>
            </a: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64" name="Text 1"/>
          <p:cNvSpPr/>
          <p:nvPr/>
        </p:nvSpPr>
        <p:spPr>
          <a:xfrm>
            <a:off x="814320" y="2523960"/>
            <a:ext cx="10629360" cy="180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6120" tIns="0" rIns="276120" bIns="0" anchor="t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170" b="0" u="none" strike="noStrike">
                <a:solidFill>
                  <a:srgbClr val="59636E"/>
                </a:solidFill>
                <a:effectLst/>
                <a:uFillTx/>
                <a:latin typeface="Segoe UI"/>
                <a:ea typeface="Segoe UI"/>
              </a:rPr>
              <a:t>📌 </a:t>
            </a:r>
            <a:r>
              <a:rPr lang="zh-TW" sz="2170" b="1" u="none" strike="noStrike">
                <a:solidFill>
                  <a:srgbClr val="59636E"/>
                </a:solidFill>
                <a:effectLst/>
                <a:uFillTx/>
                <a:latin typeface="Yu Gothic UI"/>
                <a:ea typeface="Yu Gothic UI"/>
              </a:rPr>
              <a:t>請記住：回測的目的是「排除壞策略」，而不是「找出完美策略」。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zh-TW" sz="2170" b="0" u="none" strike="noStrike">
                <a:solidFill>
                  <a:srgbClr val="59636E"/>
                </a:solidFill>
                <a:effectLst/>
                <a:uFillTx/>
                <a:latin typeface="Yu Gothic UI"/>
                <a:ea typeface="Yu Gothic UI"/>
              </a:rPr>
              <a:t>一個在各種市場環境下都能穩定小賺的策略，遠比一個在大牛市暴賺但在崩盤時慘賠的策略更有價值。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zh-TW" sz="2170" b="1" u="none" strike="noStrike">
                <a:solidFill>
                  <a:srgbClr val="59636E"/>
                </a:solidFill>
                <a:effectLst/>
                <a:uFillTx/>
                <a:latin typeface="Yu Gothic UI"/>
                <a:ea typeface="Yu Gothic UI"/>
              </a:rPr>
              <a:t>先用回測驗證，再用小額資金實盤測試，最後才放大資金。</a:t>
            </a:r>
            <a:r>
              <a:rPr lang="en-US" sz="2170" b="0" u="none" strike="noStrike">
                <a:solidFill>
                  <a:srgbClr val="59636E"/>
                </a:solidFill>
                <a:effectLst/>
                <a:uFillTx/>
                <a:latin typeface="Segoe UI"/>
                <a:ea typeface="Segoe UI"/>
              </a:rPr>
              <a:t> 🛡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9"/>
          </p:nvPr>
        </p:nvSpPr>
        <p:spPr/>
        <p:txBody>
          <a:bodyPr/>
          <a:lstStyle/>
          <a:p>
            <a:fld id="{409C209B-841D-4DF5-BE57-8FB3BA345EC0}" type="slidenum">
              <a:t>25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531720" y="495360"/>
            <a:ext cx="4888080" cy="586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r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zh-TW" sz="2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試著於</a:t>
            </a:r>
            <a:r>
              <a:rPr lang="en-US" sz="2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Group 1</a:t>
            </a:r>
            <a:r>
              <a:rPr lang="zh-TW" sz="2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備用２的策略加一個你自己的策略（盡量不要動</a:t>
            </a:r>
            <a:r>
              <a:rPr lang="en-US" sz="2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selfselect_trader.py</a:t>
            </a:r>
            <a:r>
              <a:rPr lang="zh-TW" sz="2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主程式）</a:t>
            </a:r>
            <a:br>
              <a:rPr sz="2800"/>
            </a:br>
            <a:r>
              <a:rPr lang="en-US" sz="4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Thank you</a:t>
            </a:r>
            <a:r>
              <a:rPr lang="zh-TW" sz="4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！</a:t>
            </a:r>
            <a:endParaRPr lang="en-US" sz="48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/>
          </p:nvPr>
        </p:nvSpPr>
        <p:spPr>
          <a:xfrm>
            <a:off x="6768360" y="2247840"/>
            <a:ext cx="4442760" cy="23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2000" b="0" u="none" strike="noStrike" spc="31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frank@dinchen.com.tw</a:t>
            </a: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endParaRPr lang="en-US" sz="2000" b="0" u="none" strike="noStrike" spc="31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4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E1EAED"/>
      </a:accent6>
      <a:hlink>
        <a:srgbClr val="9454C3"/>
      </a:hlink>
      <a:folHlink>
        <a:srgbClr val="3EBBF0"/>
      </a:folHlink>
    </a:clrScheme>
    <a:fontScheme name="Custom 30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{01E1B3A5-1AE4-4177-BC3F-C596D532C00B}TFf1460845-8e07-4b92-9183-e15be13008a218dbe6a5_win32-cc1095971745</Template>
  <TotalTime>1470</TotalTime>
  <Words>3122</Words>
  <Application>Microsoft Office PowerPoint</Application>
  <PresentationFormat>自訂</PresentationFormat>
  <Paragraphs>314</Paragraphs>
  <Slides>26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13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26</vt:i4>
      </vt:variant>
    </vt:vector>
  </HeadingPairs>
  <TitlesOfParts>
    <vt:vector size="41" baseType="lpstr">
      <vt:lpstr>Mona Sans VF</vt:lpstr>
      <vt:lpstr>ui-sans-serif</vt:lpstr>
      <vt:lpstr>Yu Gothic UI</vt:lpstr>
      <vt:lpstr>Aptos</vt:lpstr>
      <vt:lpstr>Arial</vt:lpstr>
      <vt:lpstr>Calibri</vt:lpstr>
      <vt:lpstr>Century Gothic</vt:lpstr>
      <vt:lpstr>Consolas</vt:lpstr>
      <vt:lpstr>Sarasa Mono TC</vt:lpstr>
      <vt:lpstr>Segoe UI</vt:lpstr>
      <vt:lpstr>Symbol</vt:lpstr>
      <vt:lpstr>Times New Roman</vt:lpstr>
      <vt:lpstr>Wingdings</vt:lpstr>
      <vt:lpstr>Custom</vt:lpstr>
      <vt:lpstr>Office Theme</vt:lpstr>
      <vt:lpstr>TW-AUTOTRADER-W5   台股買賣自動化系統</vt:lpstr>
      <vt:lpstr>PowerPoint 簡報</vt:lpstr>
      <vt:lpstr>策略的回測</vt:lpstr>
      <vt:lpstr>策略的回測</vt:lpstr>
      <vt:lpstr>策略的回測</vt:lpstr>
      <vt:lpstr>策略的回測</vt:lpstr>
      <vt:lpstr>回測的執行</vt:lpstr>
      <vt:lpstr>問：給我台積電今年1~6月用策略1~4回測單筆投資50萬的結果</vt:lpstr>
      <vt:lpstr>PowerPoint 簡報</vt:lpstr>
      <vt:lpstr>盤整盤與震盪盤 </vt:lpstr>
      <vt:lpstr>🛡️如何避免雙巴？ </vt:lpstr>
      <vt:lpstr>問：我們分別看看同樣是台積電,2022（空）,2025（多）這兩年,這兩個年度四個策略的表現(一樣單筆50萬本金)</vt:lpstr>
      <vt:lpstr>問：聯發科2024~2025這兩個年度四個策略的表現(一樣單筆50萬本金), 有哪幾區段是適合用唐安奇通道的?把那時期的走勢圖放到img下</vt:lpstr>
      <vt:lpstr>PowerPoint 簡報</vt:lpstr>
      <vt:lpstr>增加策略＝＞（先切到Plan Builder)  問：用g1備用2來完成以下KD策略: 週 KD 黃金交叉策略（最推薦來自Google AI推薦穩健的ＫＤ策略）:   放棄震盪劇烈的日線，改用 週 K 線（以週為單位計算）。  週 KD 的轉折代表的是中長期（數個月到半年以上）的趨勢改變。  買進點：當週 KD 在 低檔（小於 30 或 20）發生黃金交叉 時進場。這通常代表股價經歷大波段修正後，中長期底部成形。 持有期：只要週 KD 維持向上，或是維持在高檔鈍化，就一路抱牢。 好處：一年中一檔股票可能只會出現 1~2 次訊號，交易次數少，手續費低，且能抓到大波段波幅。</vt:lpstr>
      <vt:lpstr>Plan Builder計畫完成</vt:lpstr>
      <vt:lpstr>計畫好了，切回UltraWorker執行＝＞ 輸入：執行weekly-kd-strategy（執行太久，可以ＥＳＣ中斷切Deepseek Pro)</vt:lpstr>
      <vt:lpstr>輸入：2022,2025年 聯發科用這個周KD策略試試,跟剛才4個策略比較一下</vt:lpstr>
      <vt:lpstr>周ＫＤ關鍵觀察 </vt:lpstr>
      <vt:lpstr>策略參數掃描＝＞  輸入：再用2022,2025聯發科來搜索最佳參數,用最佳參數再用2022,2025聯發科跟其他4個策略比較</vt:lpstr>
      <vt:lpstr>PowerPoint 簡報</vt:lpstr>
      <vt:lpstr>選股＝＞潛力</vt:lpstr>
      <vt:lpstr>選股＝＞動能</vt:lpstr>
      <vt:lpstr>定期選股＝＞很重要</vt:lpstr>
      <vt:lpstr>回測的最大目標</vt:lpstr>
      <vt:lpstr>試著於Group 1備用２的策略加一個你自己的策略（盡量不要動live_trader_multi.py主程式） Thank you！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宜軒 謝</dc:creator>
  <dc:description/>
  <cp:lastModifiedBy>宜軒 謝</cp:lastModifiedBy>
  <cp:revision>10</cp:revision>
  <dcterms:created xsi:type="dcterms:W3CDTF">2026-07-14T08:04:07Z</dcterms:created>
  <dcterms:modified xsi:type="dcterms:W3CDTF">2026-08-20T15:27:33Z</dcterms:modified>
  <dc:language>zh-TW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lications">
    <vt:lpwstr/>
  </property>
  <property fmtid="{D5CDD505-2E9C-101B-9397-08002B2CF9AE}" pid="3" name="CampaignTags">
    <vt:lpwstr/>
  </property>
  <property fmtid="{D5CDD505-2E9C-101B-9397-08002B2CF9AE}" pid="4" name="CategoryTags">
    <vt:lpwstr/>
  </property>
  <property fmtid="{D5CDD505-2E9C-101B-9397-08002B2CF9AE}" pid="5" name="ContentTypeId">
    <vt:lpwstr>0x01010079F111ED35F8CC479449609E8A0923A6</vt:lpwstr>
  </property>
  <property fmtid="{D5CDD505-2E9C-101B-9397-08002B2CF9AE}" pid="6" name="FeatureTags">
    <vt:lpwstr/>
  </property>
  <property fmtid="{D5CDD505-2E9C-101B-9397-08002B2CF9AE}" pid="7" name="HiddenCategoryTags">
    <vt:lpwstr/>
  </property>
  <property fmtid="{D5CDD505-2E9C-101B-9397-08002B2CF9AE}" pid="8" name="InternalTags">
    <vt:lpwstr/>
  </property>
  <property fmtid="{D5CDD505-2E9C-101B-9397-08002B2CF9AE}" pid="9" name="LocalizationTags">
    <vt:lpwstr/>
  </property>
  <property fmtid="{D5CDD505-2E9C-101B-9397-08002B2CF9AE}" pid="10" name="MediaServiceImageTags">
    <vt:lpwstr/>
  </property>
  <property fmtid="{D5CDD505-2E9C-101B-9397-08002B2CF9AE}" pid="11" name="Notes">
    <vt:i4>3</vt:i4>
  </property>
  <property fmtid="{D5CDD505-2E9C-101B-9397-08002B2CF9AE}" pid="12" name="Order">
    <vt:r8>74069400</vt:r8>
  </property>
  <property fmtid="{D5CDD505-2E9C-101B-9397-08002B2CF9AE}" pid="13" name="PresentationFormat">
    <vt:lpwstr>自訂</vt:lpwstr>
  </property>
  <property fmtid="{D5CDD505-2E9C-101B-9397-08002B2CF9AE}" pid="14" name="ScenarioTags">
    <vt:lpwstr/>
  </property>
  <property fmtid="{D5CDD505-2E9C-101B-9397-08002B2CF9AE}" pid="15" name="Slides">
    <vt:i4>26</vt:i4>
  </property>
</Properties>
</file>