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media/image3.svg" ContentType="image/svg"/>
  <Override PartName="/ppt/media/image5.svg" ContentType="image/svg"/>
  <Override PartName="/ppt/media/image7.svg" ContentType="image/svg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14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15.xml" ContentType="application/vnd.openxmlformats-officedocument.theme+xml"/>
  <Override PartName="/ppt/theme/theme2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microsoft.com/office/2020/02/relationships/classificationlabels" Target="docMetadata/LabelInfo.xml"/><Relationship Id="rId5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62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  <p:sldId id="281" r:id="rId30"/>
  </p:sldIdLst>
  <p:sldSz cx="12188825" cy="6858000"/>
  <p:notesSz cx="6858000" cy="9144000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useTimings="0" showNarration="1"/>
</p:presentation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14.xml"/><Relationship Id="rId4" Type="http://schemas.openxmlformats.org/officeDocument/2006/relationships/notesMaster" Target="notesMasters/notesMaster1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4" Type="http://schemas.openxmlformats.org/officeDocument/2006/relationships/slide" Target="slides/slide10.xml"/><Relationship Id="rId15" Type="http://schemas.openxmlformats.org/officeDocument/2006/relationships/slide" Target="slides/slide11.xml"/><Relationship Id="rId16" Type="http://schemas.openxmlformats.org/officeDocument/2006/relationships/slide" Target="slides/slide12.xml"/><Relationship Id="rId17" Type="http://schemas.openxmlformats.org/officeDocument/2006/relationships/slide" Target="slides/slide13.xml"/><Relationship Id="rId18" Type="http://schemas.openxmlformats.org/officeDocument/2006/relationships/slide" Target="slides/slide14.xml"/><Relationship Id="rId19" Type="http://schemas.openxmlformats.org/officeDocument/2006/relationships/slide" Target="slides/slide15.xml"/><Relationship Id="rId20" Type="http://schemas.openxmlformats.org/officeDocument/2006/relationships/slide" Target="slides/slide16.xml"/><Relationship Id="rId21" Type="http://schemas.openxmlformats.org/officeDocument/2006/relationships/slide" Target="slides/slide17.xml"/><Relationship Id="rId22" Type="http://schemas.openxmlformats.org/officeDocument/2006/relationships/slide" Target="slides/slide18.xml"/><Relationship Id="rId23" Type="http://schemas.openxmlformats.org/officeDocument/2006/relationships/slide" Target="slides/slide19.xml"/><Relationship Id="rId24" Type="http://schemas.openxmlformats.org/officeDocument/2006/relationships/slide" Target="slides/slide20.xml"/><Relationship Id="rId25" Type="http://schemas.openxmlformats.org/officeDocument/2006/relationships/slide" Target="slides/slide21.xml"/><Relationship Id="rId26" Type="http://schemas.openxmlformats.org/officeDocument/2006/relationships/slide" Target="slides/slide22.xml"/><Relationship Id="rId27" Type="http://schemas.openxmlformats.org/officeDocument/2006/relationships/slide" Target="slides/slide23.xml"/><Relationship Id="rId28" Type="http://schemas.openxmlformats.org/officeDocument/2006/relationships/slide" Target="slides/slide24.xml"/><Relationship Id="rId29" Type="http://schemas.openxmlformats.org/officeDocument/2006/relationships/slide" Target="slides/slide25.xml"/><Relationship Id="rId30" Type="http://schemas.openxmlformats.org/officeDocument/2006/relationships/slide" Target="slides/slide26.xml"/><Relationship Id="rId31" Type="http://schemas.openxmlformats.org/officeDocument/2006/relationships/presProps" Target="presProp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5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PlaceHolder 1"/>
          <p:cNvSpPr>
            <a:spLocks noGrp="1"/>
          </p:cNvSpPr>
          <p:nvPr>
            <p:ph type="sldImg"/>
          </p:nvPr>
        </p:nvSpPr>
        <p:spPr>
          <a:xfrm>
            <a:off x="0" y="76428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r>
              <a:rPr lang="zh-TW" sz="66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請按這裡移動投影片</a:t>
            </a:r>
            <a:endParaRPr lang="en-US" sz="66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97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17560" cy="4525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請按這裡編輯備註格式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8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9" name="PlaceHolder 4"/>
          <p:cNvSpPr>
            <a:spLocks noGrp="1"/>
          </p:cNvSpPr>
          <p:nvPr>
            <p:ph type="dt" idx="22"/>
          </p:nvPr>
        </p:nvSpPr>
        <p:spPr>
          <a:xfrm>
            <a:off x="4399200" y="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0" name="PlaceHolder 5"/>
          <p:cNvSpPr>
            <a:spLocks noGrp="1"/>
          </p:cNvSpPr>
          <p:nvPr>
            <p:ph type="ftr" idx="23"/>
          </p:nvPr>
        </p:nvSpPr>
        <p:spPr>
          <a:xfrm>
            <a:off x="0" y="955548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1" name="PlaceHolder 6"/>
          <p:cNvSpPr>
            <a:spLocks noGrp="1"/>
          </p:cNvSpPr>
          <p:nvPr>
            <p:ph type="sldNum" idx="24"/>
          </p:nvPr>
        </p:nvSpPr>
        <p:spPr>
          <a:xfrm>
            <a:off x="4399200" y="955548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8AA33CED-1003-4DD4-A8A0-99FB80E7121D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1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slide" Target="../slides/slide13.xml"/><Relationship Id="rId2" Type="http://schemas.openxmlformats.org/officeDocument/2006/relationships/notesMaster" Target="../notesMasters/notesMaster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slide" Target="../slides/slide14.xml"/><Relationship Id="rId2" Type="http://schemas.openxmlformats.org/officeDocument/2006/relationships/notesMaster" Target="../notesMasters/notesMaster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slide" Target="../slides/slide15.xml"/><Relationship Id="rId2" Type="http://schemas.openxmlformats.org/officeDocument/2006/relationships/notesMaster" Target="../notesMasters/notesMaster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slide" Target="../slides/slide16.xml"/><Relationship Id="rId2" Type="http://schemas.openxmlformats.org/officeDocument/2006/relationships/notesMaster" Target="../notesMasters/notesMaster1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slide" Target="../slides/slide17.xml"/><Relationship Id="rId2" Type="http://schemas.openxmlformats.org/officeDocument/2006/relationships/notesMaster" Target="../notesMasters/notesMaster1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slide" Target="../slides/slide18.xml"/><Relationship Id="rId2" Type="http://schemas.openxmlformats.org/officeDocument/2006/relationships/notesMaster" Target="../notesMasters/notesMaster1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slide" Target="../slides/slide19.xml"/><Relationship Id="rId2" Type="http://schemas.openxmlformats.org/officeDocument/2006/relationships/notesMaster" Target="../notesMasters/notesMaster1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slide" Target="../slides/slide20.xml"/><Relationship Id="rId2" Type="http://schemas.openxmlformats.org/officeDocument/2006/relationships/notesMaster" Target="../notesMasters/notesMaster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slide" Target="../slides/slide21.xml"/><Relationship Id="rId2" Type="http://schemas.openxmlformats.org/officeDocument/2006/relationships/notesMaster" Target="../notesMasters/notesMaster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slide" Target="../slides/slide22.xml"/><Relationship Id="rId2" Type="http://schemas.openxmlformats.org/officeDocument/2006/relationships/notesMaster" Target="../notesMasters/notesMaster1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slide" Target="../slides/slide23.xml"/><Relationship Id="rId2" Type="http://schemas.openxmlformats.org/officeDocument/2006/relationships/notesMaster" Target="../notesMasters/notesMaster1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slide" Target="../slides/slide24.xml"/><Relationship Id="rId2" Type="http://schemas.openxmlformats.org/officeDocument/2006/relationships/notesMaster" Target="../notesMasters/notesMaster1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slide" Target="../slides/slide25.xml"/><Relationship Id="rId2" Type="http://schemas.openxmlformats.org/officeDocument/2006/relationships/notesMaster" Target="../notesMasters/notesMaster1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slide" Target="../slides/slide26.xml"/><Relationship Id="rId2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PlaceHolder 1"/>
          <p:cNvSpPr>
            <a:spLocks noGrp="1"/>
          </p:cNvSpPr>
          <p:nvPr>
            <p:ph type="sldImg"/>
          </p:nvPr>
        </p:nvSpPr>
        <p:spPr>
          <a:xfrm>
            <a:off x="382680" y="685800"/>
            <a:ext cx="6090840" cy="3426840"/>
          </a:xfrm>
          <a:prstGeom prst="rect">
            <a:avLst/>
          </a:prstGeom>
          <a:ln w="0">
            <a:noFill/>
          </a:ln>
        </p:spPr>
      </p:sp>
      <p:sp>
        <p:nvSpPr>
          <p:cNvPr id="168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4240" cy="411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⏱ 建議時間：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30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秒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歡迎回來，這是第五堂課。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前四週，我們認識了系統、學會了用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DSH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、也把五大策略的原理搞懂了。這一週是動手週——我們要實際把策略拿去「回測」，用歷史數據驗證策略到底會不會賺錢。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【講師提示】預告這週會有很多實際執行回測的示範，跟著做就對了。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9" name="PlaceHolder 3"/>
          <p:cNvSpPr>
            <a:spLocks noGrp="1"/>
          </p:cNvSpPr>
          <p:nvPr>
            <p:ph type="sldNum" idx="30"/>
          </p:nvPr>
        </p:nvSpPr>
        <p:spPr>
          <a:xfrm>
            <a:off x="3884760" y="8685360"/>
            <a:ext cx="2969640" cy="455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5B9B8AB0-98AE-4688-B375-2A8EC3B6B0D3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&lt;編號&gt;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PlaceHolder 1"/>
          <p:cNvSpPr>
            <a:spLocks noGrp="1"/>
          </p:cNvSpPr>
          <p:nvPr>
            <p:ph type="sldImg"/>
          </p:nvPr>
        </p:nvSpPr>
        <p:spPr>
          <a:xfrm>
            <a:off x="382680" y="685800"/>
            <a:ext cx="6090840" cy="3426840"/>
          </a:xfrm>
          <a:prstGeom prst="rect">
            <a:avLst/>
          </a:prstGeom>
          <a:ln w="0">
            <a:noFill/>
          </a:ln>
        </p:spPr>
      </p:sp>
      <p:sp>
        <p:nvSpPr>
          <p:cNvPr id="171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4240" cy="411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⏱ 建議時間：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分鐘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先建立基本概念：什麼是回測？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回測，又稱回溯，是量化交易的核心步驟。概念非常簡單：用過去的歷史數據，去驗證你的交易策略——如果在那個當下執行，到底會不會賺錢。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舉例來說：如果你發明了一套號稱能穩定獲利的策略，你不能直接拿真錢去市場測試。你應該先讓程式讀取過去三年的台積電每日股價，模擬過去的每一天策略是否會觸發買賣訊號，最後統計這段期間的總報酬、勝率等績效指標。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回測的核心價值有四點：驗證策略有效性——投入真錢之前先檢驗；參數最佳化——調整參數找出歷史表現最好的組合；了解策略特性——知道它在震盪盤、大牛市、崩盤各表現如何；建立交易信心——經過足夠驗證，實盤才不會因為短線虧損而恐慌。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【講師提示】強調「用歷史數據驗證」是量化交易跟憑感覺下單的根本差別。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2" name="PlaceHolder 3"/>
          <p:cNvSpPr>
            <a:spLocks noGrp="1"/>
          </p:cNvSpPr>
          <p:nvPr>
            <p:ph type="sldNum" idx="31"/>
          </p:nvPr>
        </p:nvSpPr>
        <p:spPr>
          <a:xfrm>
            <a:off x="3884760" y="8685360"/>
            <a:ext cx="2969640" cy="455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ptos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53BEF178-0936-4D1E-BF61-82B8567152BC}" type="slidenum"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ptos"/>
                <a:ea typeface="+mn-ea"/>
              </a:rPr>
              <a:t>&lt;編號&gt;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5840" cy="4007520"/>
          </a:xfrm>
          <a:prstGeom prst="rect">
            <a:avLst/>
          </a:prstGeom>
          <a:ln w="0">
            <a:noFill/>
          </a:ln>
        </p:spPr>
      </p:sp>
      <p:sp>
        <p:nvSpPr>
          <p:cNvPr id="174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6200" cy="4809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⏱ 建議時間：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分鐘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系統提供了五種回測模式，我們一個一個看。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模式一，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backtest.py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，用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Yahoo Finance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的免費歷史股價做批次回測。這是主要回溯工具。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特性：資料源是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Yahoo Finance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，不需要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API Key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完全免費；自動掃描設定檔中定義的所有標的，目前有十二檔，包含台積電、聯發科、鴻海、富邦金、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0050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、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0056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、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00632R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、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006208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、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00878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等等；單一策略執行，一次跑完全部標的；自動匯出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CSV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績效報表；支援命令列參數，可以選策略、設開始日期。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限制：不支援複委託手續費與證交稅計算。適用場景：快速驗證單一策略在整個觀察清單上的表現。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【講師提示】模式一是最常用的，講解時可以現場示範跑一次。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5" name="PlaceHolder 3"/>
          <p:cNvSpPr>
            <a:spLocks noGrp="1"/>
          </p:cNvSpPr>
          <p:nvPr>
            <p:ph type="sldNum" idx="32"/>
          </p:nvPr>
        </p:nvSpPr>
        <p:spPr>
          <a:xfrm>
            <a:off x="4278960" y="10157400"/>
            <a:ext cx="3279240" cy="532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F80725EE-C97B-4097-A6D7-2D2A2B066C77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&lt;編號&gt;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5840" cy="4007520"/>
          </a:xfrm>
          <a:prstGeom prst="rect">
            <a:avLst/>
          </a:prstGeom>
          <a:ln w="0">
            <a:noFill/>
          </a:ln>
        </p:spPr>
      </p:sp>
      <p:sp>
        <p:nvSpPr>
          <p:cNvPr id="177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6200" cy="4809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⏱ 建議時間：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分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30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秒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模式二，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backtest_finmind.py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，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FinMind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多策略比較。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資料源是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FinMind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台灣在地資料庫，需要免費註冊取得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API Token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。特色是：四個內建策略，加上週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KD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與買進持有對照，同時跑在同一支股票上，方便橫向比較；支援手續費設定，買進千分之一點四二五、賣出含證交稅千分之四點四二五；可以用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--years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逐年比較、輸出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CSV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，回傳最終權益、買賣次數、勝率與報酬率。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適用場景：針對單一標的，比較各策略哪個歷史表現最好。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【講師提示】強調模式二和模式一的差別——「一個策略跑多標的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vs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多策略跑一個標的」。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8" name="PlaceHolder 3"/>
          <p:cNvSpPr>
            <a:spLocks noGrp="1"/>
          </p:cNvSpPr>
          <p:nvPr>
            <p:ph type="sldNum" idx="33"/>
          </p:nvPr>
        </p:nvSpPr>
        <p:spPr>
          <a:xfrm>
            <a:off x="4278960" y="10157400"/>
            <a:ext cx="3279240" cy="532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46913703-4919-4DA7-AF64-9523D922FBED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&lt;編號&gt;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5840" cy="4007520"/>
          </a:xfrm>
          <a:prstGeom prst="rect">
            <a:avLst/>
          </a:prstGeom>
          <a:ln w="0">
            <a:noFill/>
          </a:ln>
        </p:spPr>
      </p:sp>
      <p:sp>
        <p:nvSpPr>
          <p:cNvPr id="180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6200" cy="4809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⏱ 建議時間：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分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30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秒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模式三，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backtest_esun.py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，用玉山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E.Sun SDK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回測。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資料源是玉山證券提供的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MarketData API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，需要先完成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SDK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安裝。支援指定單一標的、指定策略，包括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VWAP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、均線交叉、布林通道、突破四種；使用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config.simulation.ini.example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API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設定；支援函式版策略。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限制：限單一標的，非批次執行。適用場景：使用券商的真實歷史行情驗證策略，避免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Yahoo Finance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或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FinMind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的資料偏差。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【講師提示】模式三是「資料最準」的選項，但一次只能跑一支。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1" name="PlaceHolder 3"/>
          <p:cNvSpPr>
            <a:spLocks noGrp="1"/>
          </p:cNvSpPr>
          <p:nvPr>
            <p:ph type="sldNum" idx="34"/>
          </p:nvPr>
        </p:nvSpPr>
        <p:spPr>
          <a:xfrm>
            <a:off x="4278960" y="10157400"/>
            <a:ext cx="3279240" cy="532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333594AA-2D4B-43CC-8050-FD34D9F22FF1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&lt;編號&gt;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5840" cy="4007520"/>
          </a:xfrm>
          <a:prstGeom prst="rect">
            <a:avLst/>
          </a:prstGeom>
          <a:ln w="0">
            <a:noFill/>
          </a:ln>
        </p:spPr>
      </p:sp>
      <p:sp>
        <p:nvSpPr>
          <p:cNvPr id="183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6200" cy="4809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⏱ 建議時間：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分鐘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模式四，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simulate_portfolio.py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，投資組合模擬。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它把回測結果延伸為完整的投資組合模擬，支援兩種資金模型：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DCA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每月定額——每月投入固定金額，依權重分配至各策略，適合每個月兩萬的小資定期定額；另一種是一筆資金，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Lump Sum——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初始資金一次到位，獲利可再投入，適合五十萬一筆資金的配置。輸出會自動產生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Markdown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回溯報告，包含各標的明細、總績效、策略比較表。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提醒：模式一到三是單一策略或單一標的，模式四才是多標的多策略的投資組合。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【講師提示】模式選擇口訣是重點，讓學員拍照或抄下。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4" name="PlaceHolder 3"/>
          <p:cNvSpPr>
            <a:spLocks noGrp="1"/>
          </p:cNvSpPr>
          <p:nvPr>
            <p:ph type="sldNum" idx="35"/>
          </p:nvPr>
        </p:nvSpPr>
        <p:spPr>
          <a:xfrm>
            <a:off x="4278960" y="10157400"/>
            <a:ext cx="3279240" cy="532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AABA5D04-3E8C-424D-9F7D-0144C135C0B1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&lt;編號&gt;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5840" cy="4007520"/>
          </a:xfrm>
          <a:prstGeom prst="rect">
            <a:avLst/>
          </a:prstGeom>
          <a:ln w="0">
            <a:noFill/>
          </a:ln>
        </p:spPr>
      </p:sp>
      <p:sp>
        <p:nvSpPr>
          <p:cNvPr id="186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6200" cy="4809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⏱ 建議時間：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分鐘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以模式一為例，看回測內部怎麼跑的。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步驟一，讀取策略與參數——從命令列或環境變數取得策略名稱，預設是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VWAP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；再從映射表取得對應的策略函式與參數。步驟二，初始化策略引擎——引擎本身很輕量，主要負責轉發呼叫。步驟三，對每個標的依序執行——遍歷全部八檔，根據股票代號決定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Yahoo Finance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後綴，下載歷史股價，資料為空就跳過。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步驟四，執行策略——策略函式在資料表新增訊號欄位：一代表買進、負一代表賣出、零代表無動作。步驟五，計算績效——根據訊號欄位計算每筆交易的報酬，回傳交易次數、勝率、總報酬。步驟六，匯出結果——寫入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CSV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，檔名包含策略名稱與時間戳。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【講師提示】流程圖頁，按步驟講，重點在「訊號欄位」的概念——策略的輸出就是買賣訊號。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7" name="PlaceHolder 3"/>
          <p:cNvSpPr>
            <a:spLocks noGrp="1"/>
          </p:cNvSpPr>
          <p:nvPr>
            <p:ph type="sldNum" idx="36"/>
          </p:nvPr>
        </p:nvSpPr>
        <p:spPr>
          <a:xfrm>
            <a:off x="4278960" y="10157400"/>
            <a:ext cx="3279240" cy="532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7516F7F2-33BC-4C16-A921-10C7CCEEBE38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&lt;編號&gt;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5840" cy="4007520"/>
          </a:xfrm>
          <a:prstGeom prst="rect">
            <a:avLst/>
          </a:prstGeom>
          <a:ln w="0">
            <a:noFill/>
          </a:ln>
        </p:spPr>
      </p:sp>
      <p:sp>
        <p:nvSpPr>
          <p:cNvPr id="189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6200" cy="4809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⏱ 建議時間：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分鐘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來看一個實際例子。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我問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DSH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：「給我台積電今年一到六月，用策略一到四回測單筆投資五十萬的結果。」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看結果：均線交叉半年合計正十三點一三趴，最好；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VWAP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偏離負五點六一趴；布林通道負九點一九趴；突破交易整半年零筆、零趴。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注意看「零筆」的月份——策略沒有觸發訊號就不交易，這很正常；有些月沒有新買進、但手上部位還在，報酬欄就會跟著股價變動，像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VWAP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三月負十二點九七趴就是持倉損失。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口徑：五十萬本金、單一部位、買千分之一點四二五、賣千分之四點四二五；每月數字是「該月損益除以五十萬」，六個月加總等於半年合計。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半年數據只是範例，別急著下結論，下一頁我們看更完整的年度比較。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【講師提示】指著表格講，強調「零筆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=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沒訊號不動作」的概念。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0" name="PlaceHolder 3"/>
          <p:cNvSpPr>
            <a:spLocks noGrp="1"/>
          </p:cNvSpPr>
          <p:nvPr>
            <p:ph type="sldNum" idx="37"/>
          </p:nvPr>
        </p:nvSpPr>
        <p:spPr>
          <a:xfrm>
            <a:off x="4278960" y="10157400"/>
            <a:ext cx="3279240" cy="532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256AF790-982A-43BE-8075-BB2BD261ECC6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&lt;編號&gt;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5840" cy="4007520"/>
          </a:xfrm>
          <a:prstGeom prst="rect">
            <a:avLst/>
          </a:prstGeom>
          <a:ln w="0">
            <a:noFill/>
          </a:ln>
        </p:spPr>
      </p:sp>
      <p:sp>
        <p:nvSpPr>
          <p:cNvPr id="192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6200" cy="4809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⏱ 建議時間：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分鐘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這頁是解釋「雙巴」的走勢圖。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大家看這張圖——這是盤整行情中，均線交叉策略的典型悲劇：快線與慢線頻繁交叉，圖中可以清楚看到連續三次雙巴。每一次黃金交叉買進，價格就回頭下跌，停損賣出；然後又出現死亡交叉訊號，再一次進出，又虧一次——來回被市場巴了三次。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這就是為什麼「盤整盤死抱均線交叉＝送錢」——下一頁我們會講怎麼避免。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【講師提示】指著圖中三次交叉的位置逐一講解「買進→下跌→停損」的循環，讓學員直觀感受雙巴。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3" name="PlaceHolder 3"/>
          <p:cNvSpPr>
            <a:spLocks noGrp="1"/>
          </p:cNvSpPr>
          <p:nvPr>
            <p:ph type="sldNum" idx="38"/>
          </p:nvPr>
        </p:nvSpPr>
        <p:spPr>
          <a:xfrm>
            <a:off x="4278960" y="10157400"/>
            <a:ext cx="3279240" cy="532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9B25DD73-0A4B-46B4-BA3A-E68694D3E64F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&lt;編號&gt;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5840" cy="4007520"/>
          </a:xfrm>
          <a:prstGeom prst="rect">
            <a:avLst/>
          </a:prstGeom>
          <a:ln w="0">
            <a:noFill/>
          </a:ln>
        </p:spPr>
      </p:sp>
      <p:sp>
        <p:nvSpPr>
          <p:cNvPr id="195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6200" cy="4809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⏱ 建議時間：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分鐘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先認識兩種容易「雙巴」的盤勢。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盤整盤跟震盪盤的差別：波動幅度——盤整盤小、窄幅，震盪盤大、寬幅；波動速度——盤整慢、震盪快。價格行為上，盤整盤像睡著，在一個小區間內慢慢磨；震盪盤像打架，急拉急跌來回甩。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以台積電為例：盤整盤是股價在九百五十到一千之間磨一個月；震盪盤是三天內九百五漲到一千零五十、跌到九百二、再漲到一千零二十這樣甩。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對策略的影響：盤整盤雙巴但虧不多，每次輸一點；震盪盤雙巴且虧很大，每次輸一大段。對交易者來說，震盪盤比盤整盤更致命——同樣被雙巴，震盪盤每巴一次傷口大得多。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【講師提示】用「睡著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vs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打架」的比喻幫助記憶，這是理解雙巴的關鍵頁。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6" name="PlaceHolder 3"/>
          <p:cNvSpPr>
            <a:spLocks noGrp="1"/>
          </p:cNvSpPr>
          <p:nvPr>
            <p:ph type="sldNum" idx="39"/>
          </p:nvPr>
        </p:nvSpPr>
        <p:spPr>
          <a:xfrm>
            <a:off x="4278960" y="10157400"/>
            <a:ext cx="3279240" cy="532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181E1D29-6F98-479D-9F90-F33BFFBE7351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&lt;編號&gt;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5840" cy="4007520"/>
          </a:xfrm>
          <a:prstGeom prst="rect">
            <a:avLst/>
          </a:prstGeom>
          <a:ln w="0">
            <a:noFill/>
          </a:ln>
        </p:spPr>
      </p:sp>
      <p:sp>
        <p:nvSpPr>
          <p:cNvPr id="198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6200" cy="4809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⏱ 建議時間：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分鐘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怎麼避免雙巴？先看不要做什麼。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不要做的：在盤整盤中死抱均線交叉策略，不加入任何過濾條件——上圖已經證明，在沒有趨勢的行情中，單純的均線交叉就是送錢。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可以做的有四件事：第一，加大盤趨勢過濾——當大盤加權指數在兩百日線之上才做多，之下就空手。系統中的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MARKET_TREND_FILTER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就是做這件事。第二，加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ATR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波動度過濾——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ATR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太低代表市場正在盤整，不進場，系統的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atr_threshold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參數就是為了避開這種環境。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第三，改用逆勢策略——布林通道、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VWAP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偏離，盤整盤中逆勢策略反而表現較好，在區間下緣買、上緣賣。第四，認清市場狀態，空手也是一種操作——盤整盤最好的策略就是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Keep Wait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，不做單就不會被雙巴，等趨勢明確再進場。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【講師提示】四個解法對應四個系統功能（趨勢過濾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/ATR/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逆勢策略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/Keep Wait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），是本週實戰重點。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9" name="PlaceHolder 3"/>
          <p:cNvSpPr>
            <a:spLocks noGrp="1"/>
          </p:cNvSpPr>
          <p:nvPr>
            <p:ph type="sldNum" idx="40"/>
          </p:nvPr>
        </p:nvSpPr>
        <p:spPr>
          <a:xfrm>
            <a:off x="4278960" y="10157400"/>
            <a:ext cx="3279240" cy="532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2712E8EE-3EB0-4A63-85DE-AB144D156F79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&lt;編號&gt;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5840" cy="4007520"/>
          </a:xfrm>
          <a:prstGeom prst="rect">
            <a:avLst/>
          </a:prstGeom>
          <a:ln w="0">
            <a:noFill/>
          </a:ln>
        </p:spPr>
      </p:sp>
      <p:sp>
        <p:nvSpPr>
          <p:cNvPr id="201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6200" cy="4809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⏱ 建議時間：（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分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30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秒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接下來這個比較很有價值：同是台積電，空頭年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2022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和多頭年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2025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，四個策略表現如何？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先看背景：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2022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年台積電從六百三十一跌到四百四十九，買進持有負二十九點三三趴，是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Fed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升息的空頭年；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2025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年從一千零六十五漲到一千五百五十，買進持有正四十四點六一趴，是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AI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需求爆發的多頭年。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策略表現：均線交叉，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2022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只小虧三點七一趴、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2025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大賺五十四點七九趴，兩年合計正二十五萬五千多，是四策略中唯一兩年合計大幅正報酬、而且兩年都優於買進持有的；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VWAP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偏離，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2022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負二十二點九九趴、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2025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只賺零點五五趴；布林通道，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2022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負十二點六一趴、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2025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負零點四二趴；突破交易，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2022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負十點五五趴、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2025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完全沒有訊號、零交易。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結論：逆勢策略在空頭年接到刀、在多頭年又抓不到主升段；均線交叉是唯一兩年都優於買進持有的策略。也要小心事後諸葛亮——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2022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、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2025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都是均線交叉最好，但那是回測後才知道的。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【講師提示】這頁是「策略適應性」的核心證據，放慢講。強調「事後諸葛亮」陷阱。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2" name="PlaceHolder 3"/>
          <p:cNvSpPr>
            <a:spLocks noGrp="1"/>
          </p:cNvSpPr>
          <p:nvPr>
            <p:ph type="sldNum" idx="41"/>
          </p:nvPr>
        </p:nvSpPr>
        <p:spPr>
          <a:xfrm>
            <a:off x="4278960" y="10157400"/>
            <a:ext cx="3279240" cy="532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4D8C2269-1FAF-4B46-BC8E-2E75AAC7A315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&lt;編號&gt;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5840" cy="4007520"/>
          </a:xfrm>
          <a:prstGeom prst="rect">
            <a:avLst/>
          </a:prstGeom>
          <a:ln w="0">
            <a:noFill/>
          </a:ln>
        </p:spPr>
      </p:sp>
      <p:sp>
        <p:nvSpPr>
          <p:cNvPr id="204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6200" cy="4809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⏱ 建議時間：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分鐘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再問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DSH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：聯發科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2024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到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2025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，四策略表現如何？哪幾個區段適合用唐奇安通道？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看結果：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2024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是噴發年，四策略都正——均線交叉正三十一點七六趴最好、布林通道正十六點六四趴、突破交易正十三點三三趴、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VWAP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正十一點七一趴，買進持有正四十三點三二趴；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2025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沒有噴發，只有布林通道正九點八一趴，均線交叉轉虧二十七點七六趴、突破交易負三點二一趴。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結論：突破交易是「時機型」策略——有噴發段才有效，非噴發段就轉虧；但數據也要誠實：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2024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最好的是均線交叉，突破只排第三。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【講師提示】指著表格與走勢圖講，強調「策略要配合盤勢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/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個股階段使用」。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5" name="PlaceHolder 3"/>
          <p:cNvSpPr>
            <a:spLocks noGrp="1"/>
          </p:cNvSpPr>
          <p:nvPr>
            <p:ph type="sldNum" idx="42"/>
          </p:nvPr>
        </p:nvSpPr>
        <p:spPr>
          <a:xfrm>
            <a:off x="4278960" y="10157400"/>
            <a:ext cx="3279240" cy="532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25ED96A7-DC8F-449C-AF2E-3CA21B90E089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&lt;編號&gt;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5840" cy="4007520"/>
          </a:xfrm>
          <a:prstGeom prst="rect">
            <a:avLst/>
          </a:prstGeom>
          <a:ln w="0">
            <a:noFill/>
          </a:ln>
        </p:spPr>
      </p:sp>
      <p:sp>
        <p:nvSpPr>
          <p:cNvPr id="207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6200" cy="4809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⏱ 建議時間：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分鐘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這頁是聯發科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2024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到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2025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年七月的走勢圖。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圖中色塊是突破策略實際持倉的區段：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2024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年二月、五月、九月各進場一次，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2025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年只有七月一次。可以對照上一頁的表格：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2024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突破加十三點三三趴、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2025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負三點二一趴——有噴發段才吃得到，其他時間大多空手。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【講師提示】指著圖中色塊講解，讓學員視覺化理解「噴發期」與「空手期」。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8" name="PlaceHolder 3"/>
          <p:cNvSpPr>
            <a:spLocks noGrp="1"/>
          </p:cNvSpPr>
          <p:nvPr>
            <p:ph type="sldNum" idx="43"/>
          </p:nvPr>
        </p:nvSpPr>
        <p:spPr>
          <a:xfrm>
            <a:off x="4278960" y="10157400"/>
            <a:ext cx="3279240" cy="532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EBF74FE1-8EF4-4D33-AFFA-CDC7BAAEA440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&lt;編號&gt;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5840" cy="4007520"/>
          </a:xfrm>
          <a:prstGeom prst="rect">
            <a:avLst/>
          </a:prstGeom>
          <a:ln w="0">
            <a:noFill/>
          </a:ln>
        </p:spPr>
      </p:sp>
      <p:sp>
        <p:nvSpPr>
          <p:cNvPr id="210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6200" cy="4809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⏱ 建議時間：先切到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plan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模式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)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問：用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g1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備用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（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分鐘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接下來進入今天的重頭戲：自己加一個策略。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先切到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plan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模式，然後輸入需求：「用備用二來完成週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KD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策略」。這個策略來自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Google AI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推薦的穩健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KD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策略：放棄震盪劇烈的日線，改用週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K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線——以週為單位計算。週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KD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的轉折代表的是中長期趨勢改變，涵蓋數個月到半年以上。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買進點：當週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KD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在低檔，小於三十或二十，發生黃金交叉時進場——代表股價經歷大波段修正後，中長期底部成形。持有期：只要週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KD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維持向上或高檔鈍化，就一路抱牢。好處：一年中一檔股票可能只出現一到兩次訊號，交易次數少、手續費低，而且能抓到大波段。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【講師提示】示範「用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plan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模式規劃新策略」的完整流程，強調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AI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會自動產生計畫。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1" name="PlaceHolder 3"/>
          <p:cNvSpPr>
            <a:spLocks noGrp="1"/>
          </p:cNvSpPr>
          <p:nvPr>
            <p:ph type="sldNum" idx="44"/>
          </p:nvPr>
        </p:nvSpPr>
        <p:spPr>
          <a:xfrm>
            <a:off x="4278960" y="10157400"/>
            <a:ext cx="3279240" cy="532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B2A7335D-640C-4ACE-A93F-30EE14B2B393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&lt;編號&gt;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5840" cy="4007520"/>
          </a:xfrm>
          <a:prstGeom prst="rect">
            <a:avLst/>
          </a:prstGeom>
          <a:ln w="0">
            <a:noFill/>
          </a:ln>
        </p:spPr>
      </p:sp>
      <p:sp>
        <p:nvSpPr>
          <p:cNvPr id="213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6200" cy="4809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⏱ 建議時間：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分鐘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這頁是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plan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模式的計畫完成畫面。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大家看畫面——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DSH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已經把「週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KD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策略」拆解成完整的工作計畫（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Markdown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），確認後才開始改檔。計畫裡包含要做什麼、改哪些檔案、怎麼驗證。這就是「先規劃再執行」的標準流程。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【講師提示】指著計畫結構講解，讓學員看到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AI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規劃的專業度。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4" name="PlaceHolder 3"/>
          <p:cNvSpPr>
            <a:spLocks noGrp="1"/>
          </p:cNvSpPr>
          <p:nvPr>
            <p:ph type="sldNum" idx="45"/>
          </p:nvPr>
        </p:nvSpPr>
        <p:spPr>
          <a:xfrm>
            <a:off x="4278960" y="10157400"/>
            <a:ext cx="3279240" cy="532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E6099664-C2AB-4AF4-A4FD-326382494CA0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&lt;編號&gt;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5840" cy="4007520"/>
          </a:xfrm>
          <a:prstGeom prst="rect">
            <a:avLst/>
          </a:prstGeom>
          <a:ln w="0">
            <a:noFill/>
          </a:ln>
        </p:spPr>
      </p:sp>
      <p:sp>
        <p:nvSpPr>
          <p:cNvPr id="216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6200" cy="4809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⏱ 建議時間：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分鐘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確認計畫後開始執行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輸入「執行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weekly-kd-strategy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」就會開始動工。提醒一點：如果執行太久，可以用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ESC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中斷，換成更大的模型續跑——複雜任務換更強模型是合理的。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【講師提示】強調「先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plan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（規劃）再執行」——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DSH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plan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模式會先把計畫送給你看，確認後才動手；複雜任務可換更大模型續跑。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7" name="PlaceHolder 3"/>
          <p:cNvSpPr>
            <a:spLocks noGrp="1"/>
          </p:cNvSpPr>
          <p:nvPr>
            <p:ph type="sldNum" idx="46"/>
          </p:nvPr>
        </p:nvSpPr>
        <p:spPr>
          <a:xfrm>
            <a:off x="4278960" y="10157400"/>
            <a:ext cx="3279240" cy="532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DA951EE0-79E1-4608-B609-5C14545087AA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&lt;編號&gt;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5840" cy="4007520"/>
          </a:xfrm>
          <a:prstGeom prst="rect">
            <a:avLst/>
          </a:prstGeom>
          <a:ln w="0">
            <a:noFill/>
          </a:ln>
        </p:spPr>
      </p:sp>
      <p:sp>
        <p:nvSpPr>
          <p:cNvPr id="219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6200" cy="4809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⏱ 建議時間：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分鐘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策略寫好了，立刻驗證：用聯發科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2022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、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2025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兩年，跟剛才四個策略比較。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先講口徑：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50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萬本金、單一部位——買訊把現金全部投入、賣訊全出，手續費買千分之一點四二五、賣千分之四點四二五（含證交稅）。這是真正反映在帳戶裡的損益，不是「買訊隔日漲跌加總」。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看結果：突破交易合計負四萬六千九百零六，是五個策略中最好的；布林通道負八萬零一百三十；週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KD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預設負十一萬七千一百九十五；均線交叉負十三萬八千八百二十；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VWAP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偏離負十九萬兩千一百一十六，最差；買進持有負二十萬三千二百八十六。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2022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是空頭年，全體大虧——買進持有負四十五點九五趴；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2025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只有布林通道跟買進持有是正的。週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KD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預設兩年三次買進、三次賣出，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2025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完全沒訊號。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預設表現不理想，下一頁看為什麼。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【講師提示】強調「口徑」：這張表是真實部位損益，和前面幾頁「買訊隔日漲跌加總」的算法不同，所以數字不會一樣。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0" name="PlaceHolder 3"/>
          <p:cNvSpPr>
            <a:spLocks noGrp="1"/>
          </p:cNvSpPr>
          <p:nvPr>
            <p:ph type="sldNum" idx="47"/>
          </p:nvPr>
        </p:nvSpPr>
        <p:spPr>
          <a:xfrm>
            <a:off x="4278960" y="10157400"/>
            <a:ext cx="3279240" cy="532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58CC60A9-B16D-496A-A901-1585F1C4B6F4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&lt;編號&gt;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5840" cy="4007520"/>
          </a:xfrm>
          <a:prstGeom prst="rect">
            <a:avLst/>
          </a:prstGeom>
          <a:ln w="0">
            <a:noFill/>
          </a:ln>
        </p:spPr>
      </p:sp>
      <p:sp>
        <p:nvSpPr>
          <p:cNvPr id="222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6200" cy="4809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⏱ 建議時間：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分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30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秒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為什麼週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KD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預設表現不好？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核心問題：訊號太少——兩年只有三次買進。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2022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三筆全在下跌段：八百四十三賣六百七十、七百一十七賣六百二十三、五百八十五賣六百六十，只有第三筆賺；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2025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完全沒訊號：十一月二十八日那根反彈週的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K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值是三十六點三，超過三十的低檔門檻，黃金交叉被門檻擋掉，等於空手錯過整年的反彈。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原因：不是「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K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值九不夠敏感」，而是「低檔門檻三十太嚴」——週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KD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一旦鈍化，就很難回到低檔。解決方向：調整參數——這就是下一頁的參數掃描。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【講師提示】引導學員思考「訊號太少是參數問題，不是策略方向問題」；可用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2025-11-28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「反彈太快、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K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一跳就超過門檻」當實例。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3" name="PlaceHolder 3"/>
          <p:cNvSpPr>
            <a:spLocks noGrp="1"/>
          </p:cNvSpPr>
          <p:nvPr>
            <p:ph type="sldNum" idx="48"/>
          </p:nvPr>
        </p:nvSpPr>
        <p:spPr>
          <a:xfrm>
            <a:off x="4278960" y="10157400"/>
            <a:ext cx="3279240" cy="532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CA8E3D35-4687-4974-8C14-DAC27439C2CC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&lt;編號&gt;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5840" cy="4007520"/>
          </a:xfrm>
          <a:prstGeom prst="rect">
            <a:avLst/>
          </a:prstGeom>
          <a:ln w="0">
            <a:noFill/>
          </a:ln>
        </p:spPr>
      </p:sp>
      <p:sp>
        <p:nvSpPr>
          <p:cNvPr id="225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6200" cy="4809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⏱ 建議時間：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分鐘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用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AI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做參數掃描：搜尋聯發科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2022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、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2025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的最佳參數，再用最佳參數跟其他策略比較。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結果：掃了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K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週期六到二十四、低檔門檻十五到六十、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平滑二到六，最佳落在十五、二十、二——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2022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加二十點五七趴、正十萬兩千八百五十九元，只做兩筆交易、兩筆都賺；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2025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空手、零報酬。合計正十萬兩千八百五十九，是五個策略裡唯一的正報酬。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VWAP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偏離兩年買六次、還是虧十九萬兩千一百一十六。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重點對比：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VWAP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靠頻繁交易還是虧；週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KD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最佳參數只花兩筆就賺十萬兩千八百五十九。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不過結論要誠實：這是「樣本內」挑出來的最佳參數，只靠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2022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的兩筆交易、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2025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完全空手——不要把它當成穩定優勢。這也是回測最重要的態度。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【講師提示】強調「效率」的同時，一定要補「樣本太小、樣本內最佳化」的警告；可以問學員「如果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2026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沒有這種反彈，這個參數還算好嗎？」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6" name="PlaceHolder 3"/>
          <p:cNvSpPr>
            <a:spLocks noGrp="1"/>
          </p:cNvSpPr>
          <p:nvPr>
            <p:ph type="sldNum" idx="49"/>
          </p:nvPr>
        </p:nvSpPr>
        <p:spPr>
          <a:xfrm>
            <a:off x="4278960" y="10157400"/>
            <a:ext cx="3279240" cy="532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F68323E2-1ACC-4F53-BFAA-12C72490AB73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&lt;編號&gt;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PlaceHolder 1"/>
          <p:cNvSpPr>
            <a:spLocks noGrp="1"/>
          </p:cNvSpPr>
          <p:nvPr>
            <p:ph type="sldImg"/>
          </p:nvPr>
        </p:nvSpPr>
        <p:spPr>
          <a:xfrm>
            <a:off x="382680" y="685800"/>
            <a:ext cx="6091560" cy="3427560"/>
          </a:xfrm>
          <a:prstGeom prst="rect">
            <a:avLst/>
          </a:prstGeom>
          <a:ln w="0">
            <a:noFill/>
          </a:ln>
        </p:spPr>
      </p:sp>
      <p:sp>
        <p:nvSpPr>
          <p:cNvPr id="228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4240" cy="411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⏱ 建議時間：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分鐘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把這週的經驗整理成回測的標準流程。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第一步，先用預設參數跑所有策略；第二步，找出表現最好的策略與標的組合；第三步，針對該組合調整參數；第四步，至少跑三年以上的資料，確保策略經歷過多頭、空頭、盤整不同環境；第五步，確認策略邏輯在實盤合理——檢查每個訊號觸發的日期；第六步，用模擬交易測試一到兩週——把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selfselect_trader.py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ESUN_ENVIRONMENT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設成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simulation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觀察。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這個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SOP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就是日後你驗證任何新策略的標準動作。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【講師提示】這頁是「帶得走的方法論」，請學員拍照。強調第六步「模擬交易」是上實盤前的最後防線。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9" name="PlaceHolder 3"/>
          <p:cNvSpPr>
            <a:spLocks noGrp="1"/>
          </p:cNvSpPr>
          <p:nvPr>
            <p:ph type="sldNum" idx="50"/>
          </p:nvPr>
        </p:nvSpPr>
        <p:spPr>
          <a:xfrm>
            <a:off x="3884760" y="8685360"/>
            <a:ext cx="2969640" cy="455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ptos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98B7923A-5292-4BD5-BC65-5545559B85F7}" type="slidenum"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ptos"/>
                <a:ea typeface="+mn-ea"/>
              </a:rPr>
              <a:t>&lt;編號&gt;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0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5840" cy="4007520"/>
          </a:xfrm>
          <a:prstGeom prst="rect">
            <a:avLst/>
          </a:prstGeom>
          <a:ln w="0">
            <a:noFill/>
          </a:ln>
        </p:spPr>
      </p:sp>
      <p:sp>
        <p:nvSpPr>
          <p:cNvPr id="231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6200" cy="4809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⏱ 建議時間：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分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30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秒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回測之外，系統還有選股工具。第一個：翻倍潛力股掃描。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find_catalyst_stocks.py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掃了全市場一千零七十九檔，篩出一百五十三檔符合型態的，取前五名：和桐、全科、全友、鼎固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-KY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、天二科技——評分從六十九到六十四，突破幅度從加九十趴到兩百三十四趴，量能倍數四點七到八點七倍。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注意警告：全數為中小型股。記得先研究基本面，再決定要不要加入候選池——型態好不代表公司好。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【講師提示】強調「型態選股要搭配基本面研究」的風險意識。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2" name="PlaceHolder 3"/>
          <p:cNvSpPr>
            <a:spLocks noGrp="1"/>
          </p:cNvSpPr>
          <p:nvPr>
            <p:ph type="sldNum" idx="51"/>
          </p:nvPr>
        </p:nvSpPr>
        <p:spPr>
          <a:xfrm>
            <a:off x="4278960" y="10157400"/>
            <a:ext cx="3279240" cy="532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42D200DA-42D9-414A-9C4C-886ECF81B660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&lt;編號&gt;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3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5840" cy="4007520"/>
          </a:xfrm>
          <a:prstGeom prst="rect">
            <a:avLst/>
          </a:prstGeom>
          <a:ln w="0">
            <a:noFill/>
          </a:ln>
        </p:spPr>
      </p:sp>
      <p:sp>
        <p:nvSpPr>
          <p:cNvPr id="234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6200" cy="4809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⏱ 建議時間：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分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30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秒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第二個選股工具：下一季推薦持股。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stock_selector_grid.py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基於收盤價，從十六檔候選池選出下季推薦：強勢首選是某檔近季動能加三十一趴的權值股，建議用均線交叉；再來是防禦型、逆勢觀察、還有週期底部的標的——每檔都標註建議策略與動能數據。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5" name="PlaceHolder 3"/>
          <p:cNvSpPr>
            <a:spLocks noGrp="1"/>
          </p:cNvSpPr>
          <p:nvPr>
            <p:ph type="sldNum" idx="52"/>
          </p:nvPr>
        </p:nvSpPr>
        <p:spPr>
          <a:xfrm>
            <a:off x="4278960" y="10157400"/>
            <a:ext cx="3279240" cy="532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E821B2A1-DCA1-406F-9E21-4641DCD9EEEE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&lt;編號&gt;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5840" cy="4007520"/>
          </a:xfrm>
          <a:prstGeom prst="rect">
            <a:avLst/>
          </a:prstGeom>
          <a:ln w="0">
            <a:noFill/>
          </a:ln>
        </p:spPr>
      </p:sp>
      <p:sp>
        <p:nvSpPr>
          <p:cNvPr id="237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6200" cy="4809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⏱ 建議時間：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分鐘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這頁給出一個重要結論。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定期檢討的頻率，遠比檢討方式重要。無論是人工逐年還是機械式每季，只要有紀律地定期檢討，都能大幅優於買入持有。特別是在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2022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熊市中，每季換股更是顯著降低了虧損。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記住：紀律是散戶唯一的護城河。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【講師提示】一句話總結頁，講慢一點，讓結論有分量。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8" name="PlaceHolder 3"/>
          <p:cNvSpPr>
            <a:spLocks noGrp="1"/>
          </p:cNvSpPr>
          <p:nvPr>
            <p:ph type="sldNum" idx="53"/>
          </p:nvPr>
        </p:nvSpPr>
        <p:spPr>
          <a:xfrm>
            <a:off x="4278960" y="10157400"/>
            <a:ext cx="3279240" cy="532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A94E36C7-1A29-42DD-9EFD-B5FB183DC03E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&lt;編號&gt;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9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5840" cy="4007520"/>
          </a:xfrm>
          <a:prstGeom prst="rect">
            <a:avLst/>
          </a:prstGeom>
          <a:ln w="0">
            <a:noFill/>
          </a:ln>
        </p:spPr>
      </p:sp>
      <p:sp>
        <p:nvSpPr>
          <p:cNvPr id="240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6200" cy="4809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⏱ 建議時間：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分鐘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最後，回測的最大目標是什麼？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請記住：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**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回測的目的是「排除壞策略」，而不是「找出完美策略」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**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。一個在各種市場環境下都能穩定小賺的策略，遠比一個在大牛市暴賺、但在崩盤時慘賠的策略更有價值。先用回測驗證，再用小額資金實盤測試，最後才放大資金。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「排除壞策略」這五個字，就是這週的答案。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【講師提示】全週核心金句，放慢、加重語氣講。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1" name="PlaceHolder 3"/>
          <p:cNvSpPr>
            <a:spLocks noGrp="1"/>
          </p:cNvSpPr>
          <p:nvPr>
            <p:ph type="sldNum" idx="54"/>
          </p:nvPr>
        </p:nvSpPr>
        <p:spPr>
          <a:xfrm>
            <a:off x="4278960" y="10157400"/>
            <a:ext cx="3279240" cy="532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BED885D6-0CD5-4F49-A4CC-16E4A8B13369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&lt;編號&gt;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2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5840" cy="4007520"/>
          </a:xfrm>
          <a:prstGeom prst="rect">
            <a:avLst/>
          </a:prstGeom>
          <a:ln w="0">
            <a:noFill/>
          </a:ln>
        </p:spPr>
      </p:sp>
      <p:sp>
        <p:nvSpPr>
          <p:cNvPr id="243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6200" cy="4809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⏱ 建議時間：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30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秒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好，這堂課到這裡。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今天的功課：試著在第五個策略、也就是週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KD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的位置，加一個你自己的策略——盡量不要動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selfselect_trader.py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主程式，只改設定與策略檔。我是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frank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，信箱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frank@dinchen.com.tw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，有問題歡迎寫信。下週我們進入實盤執行。下次見！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【講師提示】功課清楚交代，預告下週主題。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4" name="PlaceHolder 3"/>
          <p:cNvSpPr>
            <a:spLocks noGrp="1"/>
          </p:cNvSpPr>
          <p:nvPr>
            <p:ph type="sldNum" idx="55"/>
          </p:nvPr>
        </p:nvSpPr>
        <p:spPr>
          <a:xfrm>
            <a:off x="4278960" y="10157400"/>
            <a:ext cx="3279240" cy="532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E1E3D0EB-98BC-433B-9074-4CBF3D9FA1C6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&lt;編號&gt;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3.sv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5.sv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7.sv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4.xml"/>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wo Content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4"/>
          <p:cNvSpPr/>
          <p:nvPr/>
        </p:nvSpPr>
        <p:spPr>
          <a:xfrm>
            <a:off x="9958320" y="0"/>
            <a:ext cx="2228400" cy="1978920"/>
          </a:xfrm>
          <a:custGeom>
            <a:avLst/>
            <a:gdLst>
              <a:gd name="textAreaLeft" fmla="*/ 0 w 2228400"/>
              <a:gd name="textAreaRight" fmla="*/ 2230560 w 2228400"/>
              <a:gd name="textAreaTop" fmla="*/ 0 h 1978920"/>
              <a:gd name="textAreaBottom" fmla="*/ 1981080 h 1978920"/>
              <a:gd name="GluePoint1X" fmla="*/ 0 w 2230666"/>
              <a:gd name="GluePoint1Y" fmla="*/ 0 h 1981200"/>
              <a:gd name="GluePoint2X" fmla="*/ 2230666 w 2230666"/>
              <a:gd name="GluePoint2Y" fmla="*/ 0 h 1981200"/>
              <a:gd name="GluePoint3X" fmla="*/ 2230666 w 2230666"/>
              <a:gd name="GluePoint3Y" fmla="*/ 1981200 h 1981200"/>
              <a:gd name="GluePoint4X" fmla="*/ 2029222 w 2230666"/>
              <a:gd name="GluePoint4Y" fmla="*/ 1972296 h 1981200"/>
              <a:gd name="GluePoint5X" fmla="*/ 28437 w 2230666"/>
              <a:gd name="GluePoint5Y" fmla="*/ 186331 h 1981200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</a:cxnLst>
            <a:rect l="textAreaLeft" t="textAreaTop" r="textAreaRight" b="textAreaBottom"/>
            <a:pathLst>
              <a:path w="2230666" h="1981200">
                <a:moveTo>
                  <a:pt x="0" y="0"/>
                </a:moveTo>
                <a:lnTo>
                  <a:pt x="2230666" y="0"/>
                </a:lnTo>
                <a:lnTo>
                  <a:pt x="2230666" y="1981200"/>
                </a:lnTo>
                <a:lnTo>
                  <a:pt x="2029222" y="1972296"/>
                </a:lnTo>
                <a:cubicBezTo>
                  <a:pt x="1033803" y="1883891"/>
                  <a:pt x="224946" y="1146640"/>
                  <a:pt x="28437" y="186331"/>
                </a:cubicBezTo>
                <a:close/>
              </a:path>
            </a:pathLst>
          </a:custGeom>
          <a:gradFill rotWithShape="0">
            <a:gsLst>
              <a:gs pos="0">
                <a:srgbClr val="B3CCE7">
                  <a:alpha val="0"/>
                </a:srgbClr>
              </a:gs>
              <a:gs pos="100000">
                <a:srgbClr val="ACCBF9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3" name="Rectangle 1"/>
          <p:cNvSpPr/>
          <p:nvPr/>
        </p:nvSpPr>
        <p:spPr>
          <a:xfrm>
            <a:off x="0" y="0"/>
            <a:ext cx="758160" cy="685584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algn="ctr" blurRad="127080" rotWithShape="0" sx="102000" sy="102000">
              <a:srgbClr val="000000">
                <a:alpha val="10000"/>
              </a:srgb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4" name="Cross 2"/>
          <p:cNvSpPr/>
          <p:nvPr/>
        </p:nvSpPr>
        <p:spPr>
          <a:xfrm>
            <a:off x="7846920" y="380880"/>
            <a:ext cx="683640" cy="683640"/>
          </a:xfrm>
          <a:prstGeom prst="plus">
            <a:avLst>
              <a:gd name="adj" fmla="val 39796"/>
            </a:avLst>
          </a:prstGeom>
          <a:gradFill rotWithShape="0">
            <a:gsLst>
              <a:gs pos="0">
                <a:srgbClr val="B3CCE7">
                  <a:alpha val="0"/>
                </a:srgbClr>
              </a:gs>
              <a:gs pos="100000">
                <a:srgbClr val="ACCBF9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5" name="Cross 4"/>
          <p:cNvSpPr/>
          <p:nvPr/>
        </p:nvSpPr>
        <p:spPr>
          <a:xfrm>
            <a:off x="8559720" y="1066680"/>
            <a:ext cx="683640" cy="683640"/>
          </a:xfrm>
          <a:prstGeom prst="plus">
            <a:avLst>
              <a:gd name="adj" fmla="val 39796"/>
            </a:avLst>
          </a:prstGeom>
          <a:gradFill rotWithShape="0">
            <a:gsLst>
              <a:gs pos="0">
                <a:srgbClr val="B3CCE7">
                  <a:alpha val="0"/>
                </a:srgbClr>
              </a:gs>
              <a:gs pos="100000">
                <a:srgbClr val="ACCBF9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1293840" y="609480"/>
            <a:ext cx="4912920" cy="1445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indent="0" algn="l" defTabSz="914400">
              <a:lnSpc>
                <a:spcPct val="80000"/>
              </a:lnSpc>
              <a:buNone/>
              <a:tabLst>
                <a:tab pos="0" algn="l"/>
              </a:tabLst>
              <a:def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</a:lstStyle>
          <a:p>
            <a:pPr indent="0" algn="l" defTabSz="914400">
              <a:lnSpc>
                <a:spcPct val="80000"/>
              </a:lnSpc>
              <a:buNone/>
              <a:tabLst>
                <a:tab pos="0" algn="l"/>
              </a:tabLst>
            </a:pP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按一下以編輯母片標題樣式</a:t>
            </a: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 type="sldNum" idx="1"/>
          </p:nvPr>
        </p:nvSpPr>
        <p:spPr>
          <a:xfrm>
            <a:off x="0" y="609480"/>
            <a:ext cx="758160" cy="378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pos="0" algn="l"/>
              </a:tabLst>
              <a:defRPr lang="en-US" sz="2400" b="1" u="none" strike="noStrike">
                <a:solidFill>
                  <a:schemeClr val="dk1"/>
                </a:solidFill>
                <a:effectLst/>
                <a:uFillTx/>
                <a:latin typeface="Century Gothic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fld id="{B38CF6B1-ED98-4A69-99CD-06F40724451D}" type="slidenum"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&lt;編號&gt;</a:t>
            </a:fld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" name="PlaceHolder 3"/>
          <p:cNvSpPr>
            <a:spLocks noGrp="1"/>
          </p:cNvSpPr>
          <p:nvPr>
            <p:ph type="ftr" idx="2"/>
          </p:nvPr>
        </p:nvSpPr>
        <p:spPr>
          <a:xfrm rot="16200000">
            <a:off x="-1827720" y="2593440"/>
            <a:ext cx="4417560" cy="758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&lt;頁尾&gt;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" name="PlaceHolder 4"/>
          <p:cNvSpPr>
            <a:spLocks noGrp="1"/>
          </p:cNvSpPr>
          <p:nvPr>
            <p:ph type="dt" idx="3"/>
          </p:nvPr>
        </p:nvSpPr>
        <p:spPr>
          <a:xfrm rot="16200000">
            <a:off x="-227520" y="5260680"/>
            <a:ext cx="1217160" cy="758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&lt;日期/時間&gt;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" name="PlaceHolder 5"/>
          <p:cNvSpPr>
            <a:spLocks noGrp="1"/>
          </p:cNvSpPr>
          <p:nvPr>
            <p:ph type="body"/>
          </p:nvPr>
        </p:nvSpPr>
        <p:spPr>
          <a:xfrm>
            <a:off x="1293840" y="2286000"/>
            <a:ext cx="4909680" cy="4264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1pPr>
            <a:lvl2pPr marL="365760" indent="0" algn="l" defTabSz="914400">
              <a:lnSpc>
                <a:spcPct val="110000"/>
              </a:lnSpc>
              <a:spcBef>
                <a:spcPts val="1001"/>
              </a:spcBef>
              <a:buNone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2pPr>
            <a:lvl3pPr marL="594360" indent="0" algn="l" defTabSz="914400">
              <a:lnSpc>
                <a:spcPct val="110000"/>
              </a:lnSpc>
              <a:spcBef>
                <a:spcPts val="601"/>
              </a:spcBef>
              <a:buNone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3pPr>
            <a:lvl4pPr marL="777240" indent="0" algn="l" defTabSz="914400">
              <a:lnSpc>
                <a:spcPct val="110000"/>
              </a:lnSpc>
              <a:spcBef>
                <a:spcPts val="601"/>
              </a:spcBef>
              <a:buNone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4pPr>
            <a:lvl5pPr marL="960120" indent="0" algn="l" defTabSz="914400">
              <a:lnSpc>
                <a:spcPct val="110000"/>
              </a:lnSpc>
              <a:spcBef>
                <a:spcPts val="601"/>
              </a:spcBef>
              <a:buNone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5pPr>
          </a:lstStyle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按一下以編輯母片文字樣式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65760" indent="0" algn="l" defTabSz="914400">
              <a:lnSpc>
                <a:spcPct val="11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第二層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594360" indent="0" algn="l" defTabSz="914400">
              <a:lnSpc>
                <a:spcPct val="11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第三層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777240" indent="0" algn="l" defTabSz="914400">
              <a:lnSpc>
                <a:spcPct val="11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第四層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960120" indent="0" algn="l" defTabSz="914400">
              <a:lnSpc>
                <a:spcPct val="11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第五層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11" name="PlaceHolder 6"/>
          <p:cNvSpPr>
            <a:spLocks noGrp="1"/>
          </p:cNvSpPr>
          <p:nvPr>
            <p:ph type="body"/>
          </p:nvPr>
        </p:nvSpPr>
        <p:spPr>
          <a:xfrm>
            <a:off x="6516720" y="2286000"/>
            <a:ext cx="4909680" cy="4264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1pPr>
            <a:lvl2pPr lvl="1" algn="l" defTabSz="914400">
              <a:lnSpc>
                <a:spcPct val="110000"/>
              </a:lnSpc>
              <a:spcBef>
                <a:spcPts val="1001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2pPr>
            <a:lvl3pPr lvl="2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3pPr>
            <a:lvl4pPr lvl="3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4pPr>
            <a:lvl5pPr lvl="4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5pPr>
          </a:lstStyle>
          <a:p>
            <a:pPr marL="274320" indent="-22860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按一下以編輯母片文字樣式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594360" lvl="1" indent="-228600" algn="l" defTabSz="914400">
              <a:lnSpc>
                <a:spcPct val="110000"/>
              </a:lnSpc>
              <a:spcBef>
                <a:spcPts val="1001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第二層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777240" lvl="2" indent="-182880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第三層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960120" lvl="3" indent="-182880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第四層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1097280" lvl="4" indent="-137160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第五層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losing">
    <p:bg>
      <p:bgPr>
        <a:gradFill rotWithShape="0">
          <a:gsLst>
            <a:gs pos="0">
              <a:srgbClr val="B3CCE7">
                <a:alpha val="0"/>
              </a:srgbClr>
            </a:gs>
            <a:gs pos="100000">
              <a:srgbClr val="ACCBF9"/>
            </a:gs>
          </a:gsLst>
          <a:lin ang="5400000"/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Freeform: Shape 8"/>
          <p:cNvSpPr/>
          <p:nvPr/>
        </p:nvSpPr>
        <p:spPr>
          <a:xfrm>
            <a:off x="2131920" y="0"/>
            <a:ext cx="7922520" cy="6855840"/>
          </a:xfrm>
          <a:custGeom>
            <a:avLst/>
            <a:gdLst>
              <a:gd name="textAreaLeft" fmla="*/ 0 w 7922520"/>
              <a:gd name="textAreaRight" fmla="*/ 7924680 w 7922520"/>
              <a:gd name="textAreaTop" fmla="*/ 0 h 6855840"/>
              <a:gd name="textAreaBottom" fmla="*/ 6858000 h 6855840"/>
              <a:gd name="GluePoint1X" fmla="*/ 1982890 w 7924800"/>
              <a:gd name="GluePoint1Y" fmla="*/ 0 h 6858000"/>
              <a:gd name="GluePoint2X" fmla="*/ 5941911 w 7924800"/>
              <a:gd name="GluePoint2Y" fmla="*/ 0 h 6858000"/>
              <a:gd name="GluePoint3X" fmla="*/ 6177816 w 7924800"/>
              <a:gd name="GluePoint3Y" fmla="*/ 143316 h 6858000"/>
              <a:gd name="GluePoint4X" fmla="*/ 7924800 w 7924800"/>
              <a:gd name="GluePoint4Y" fmla="*/ 3429000 h 6858000"/>
              <a:gd name="GluePoint5X" fmla="*/ 6017049 w 7924800"/>
              <a:gd name="GluePoint5Y" fmla="*/ 6817750 h 6858000"/>
              <a:gd name="GluePoint6X" fmla="*/ 5947047 w 7924800"/>
              <a:gd name="GluePoint6Y" fmla="*/ 6858000 h 6858000"/>
              <a:gd name="GluePoint7X" fmla="*/ 1977753 w 7924800"/>
              <a:gd name="GluePoint7Y" fmla="*/ 6858000 h 6858000"/>
              <a:gd name="GluePoint8X" fmla="*/ 1907752 w 7924800"/>
              <a:gd name="GluePoint8Y" fmla="*/ 6817750 h 6858000"/>
              <a:gd name="GluePoint9X" fmla="*/ 0 w 7924800"/>
              <a:gd name="GluePoint9Y" fmla="*/ 3429000 h 6858000"/>
              <a:gd name="GluePoint10X" fmla="*/ 1746985 w 7924800"/>
              <a:gd name="GluePoint10Y" fmla="*/ 143316 h 6858000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  <a:cxn ang="0">
                <a:pos x="GluePoint6X" y="GluePoint6Y"/>
              </a:cxn>
              <a:cxn ang="0">
                <a:pos x="GluePoint7X" y="GluePoint7Y"/>
              </a:cxn>
              <a:cxn ang="0">
                <a:pos x="GluePoint8X" y="GluePoint8Y"/>
              </a:cxn>
              <a:cxn ang="0">
                <a:pos x="GluePoint9X" y="GluePoint9Y"/>
              </a:cxn>
              <a:cxn ang="0">
                <a:pos x="GluePoint10X" y="GluePoint10Y"/>
              </a:cxn>
            </a:cxnLst>
            <a:rect l="textAreaLeft" t="textAreaTop" r="textAreaRight" b="textAreaBottom"/>
            <a:pathLst>
              <a:path w="7924800" h="6858000">
                <a:moveTo>
                  <a:pt x="1982890" y="0"/>
                </a:moveTo>
                <a:lnTo>
                  <a:pt x="5941911" y="0"/>
                </a:lnTo>
                <a:lnTo>
                  <a:pt x="6177816" y="143316"/>
                </a:lnTo>
                <a:cubicBezTo>
                  <a:pt x="7231821" y="855388"/>
                  <a:pt x="7924800" y="2061267"/>
                  <a:pt x="7924800" y="3429000"/>
                </a:cubicBezTo>
                <a:cubicBezTo>
                  <a:pt x="7924800" y="4865120"/>
                  <a:pt x="7160790" y="6122796"/>
                  <a:pt x="6017049" y="6817750"/>
                </a:cubicBezTo>
                <a:lnTo>
                  <a:pt x="5947047" y="6858000"/>
                </a:lnTo>
                <a:lnTo>
                  <a:pt x="1977753" y="6858000"/>
                </a:lnTo>
                <a:lnTo>
                  <a:pt x="1907752" y="6817750"/>
                </a:lnTo>
                <a:cubicBezTo>
                  <a:pt x="764010" y="6122796"/>
                  <a:pt x="0" y="4865120"/>
                  <a:pt x="0" y="3429000"/>
                </a:cubicBezTo>
                <a:cubicBezTo>
                  <a:pt x="0" y="2061267"/>
                  <a:pt x="692980" y="855388"/>
                  <a:pt x="1746985" y="143316"/>
                </a:cubicBezTo>
                <a:close/>
              </a:path>
            </a:pathLst>
          </a:custGeom>
          <a:gradFill rotWithShape="0">
            <a:gsLst>
              <a:gs pos="0">
                <a:srgbClr val="FFFFFF"/>
              </a:gs>
              <a:gs pos="100000">
                <a:srgbClr val="FFFFFF">
                  <a:alpha val="0"/>
                </a:srgbClr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13" name="Left Brace 7"/>
          <p:cNvSpPr/>
          <p:nvPr/>
        </p:nvSpPr>
        <p:spPr>
          <a:xfrm>
            <a:off x="5560920" y="2022120"/>
            <a:ext cx="835920" cy="2811960"/>
          </a:xfrm>
          <a:prstGeom prst="leftBrace">
            <a:avLst>
              <a:gd name="adj1" fmla="val 34932"/>
              <a:gd name="adj2" fmla="val 50000"/>
            </a:avLst>
          </a:prstGeom>
          <a:noFill/>
          <a:ln w="28575">
            <a:solidFill>
              <a:srgbClr val="2626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14" name="PlaceHolder 1"/>
          <p:cNvSpPr>
            <a:spLocks noGrp="1"/>
          </p:cNvSpPr>
          <p:nvPr>
            <p:ph type="title"/>
          </p:nvPr>
        </p:nvSpPr>
        <p:spPr>
          <a:xfrm>
            <a:off x="531720" y="495360"/>
            <a:ext cx="4569840" cy="5865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lstStyle>
            <a:lvl1pPr indent="0" algn="r" defTabSz="914400">
              <a:lnSpc>
                <a:spcPct val="110000"/>
              </a:lnSpc>
              <a:buNone/>
              <a:tabLst>
                <a:tab pos="0" algn="l"/>
              </a:tabLst>
              <a:defRPr lang="zh-TW" sz="4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</a:lstStyle>
          <a:p>
            <a:pPr indent="0" algn="r" defTabSz="914400">
              <a:lnSpc>
                <a:spcPct val="110000"/>
              </a:lnSpc>
              <a:buNone/>
              <a:tabLst>
                <a:tab pos="0" algn="l"/>
              </a:tabLst>
            </a:pPr>
            <a:r>
              <a:rPr lang="zh-TW" sz="4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按一下以編輯母片標題樣式</a:t>
            </a:r>
            <a:endParaRPr lang="en-US" sz="48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15" name="PlaceHolder 2"/>
          <p:cNvSpPr>
            <a:spLocks noGrp="1"/>
          </p:cNvSpPr>
          <p:nvPr>
            <p:ph type="body"/>
          </p:nvPr>
        </p:nvSpPr>
        <p:spPr>
          <a:xfrm>
            <a:off x="6768360" y="2247840"/>
            <a:ext cx="4441320" cy="2398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 fontScale="92500" lnSpcReduction="9999"/>
          </a:bodyPr>
          <a:lstStyle>
            <a:lvl1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  <a:defRPr lang="zh-TW" sz="2000" b="0" u="none" spc="31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  <a:lvl2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  <a:defRPr lang="zh-TW" sz="2000" b="0" u="none" spc="31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2pPr>
            <a:lvl3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  <a:defRPr lang="zh-TW" sz="2000" b="0" u="none" spc="31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3pPr>
            <a:lvl4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  <a:defRPr lang="zh-TW" sz="2000" b="0" u="none" spc="31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4pPr>
            <a:lvl5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  <a:defRPr lang="zh-TW" sz="2000" b="0" u="none" spc="31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5pPr>
          </a:lstStyle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2000" b="0" u="none" spc="31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按一下以編輯母片文字樣式</a:t>
            </a:r>
            <a:endParaRPr lang="en-US" sz="2000" b="0" u="none" spc="31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2000" b="0" u="none" spc="31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第二層</a:t>
            </a:r>
            <a:endParaRPr lang="en-US" sz="2000" b="0" u="none" spc="31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2000" b="0" u="none" spc="31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第三層</a:t>
            </a:r>
            <a:endParaRPr lang="en-US" sz="2000" b="0" u="none" spc="31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2000" b="0" u="none" spc="31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第四層</a:t>
            </a:r>
            <a:endParaRPr lang="en-US" sz="2000" b="0" u="none" spc="31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2000" b="0" u="none" spc="31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第五層</a:t>
            </a:r>
            <a:endParaRPr lang="en-US" sz="2000" b="0" u="none" spc="31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 Only ">
    <p:bg>
      <p:bgPr>
        <a:gradFill rotWithShape="0">
          <a:gsLst>
            <a:gs pos="0">
              <a:srgbClr val="B3CCE7">
                <a:alpha val="0"/>
              </a:srgbClr>
            </a:gs>
            <a:gs pos="100000">
              <a:srgbClr val="ACCBF9"/>
            </a:gs>
          </a:gsLst>
          <a:lin ang="5400000"/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7" descr="A white circles on a black background&#10;&#10;Description automatically generated"/>
          <p:cNvPicPr/>
          <p:nvPr/>
        </p:nvPicPr>
        <p:blipFill>
          <a:blip r:embed="rId2"/>
          <a:srcRect l="0" t="11504" r="4106" b="14442"/>
          <a:stretch/>
        </p:blipFill>
        <p:spPr>
          <a:xfrm>
            <a:off x="3274920" y="0"/>
            <a:ext cx="8911800" cy="6865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7" name="PlaceHolder 1"/>
          <p:cNvSpPr>
            <a:spLocks noGrp="1"/>
          </p:cNvSpPr>
          <p:nvPr>
            <p:ph type="title"/>
          </p:nvPr>
        </p:nvSpPr>
        <p:spPr>
          <a:xfrm>
            <a:off x="684360" y="1295280"/>
            <a:ext cx="10284840" cy="3884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rm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zh-TW" sz="66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zh-TW" sz="66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按一下以編輯母片標題樣式</a:t>
            </a:r>
            <a:endParaRPr lang="en-US" sz="66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18" name="PlaceHolder 2"/>
          <p:cNvSpPr>
            <a:spLocks noGrp="1"/>
          </p:cNvSpPr>
          <p:nvPr>
            <p:ph type="body"/>
          </p:nvPr>
        </p:nvSpPr>
        <p:spPr>
          <a:xfrm>
            <a:off x="684360" y="5600880"/>
            <a:ext cx="10284840" cy="5313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marL="45720" indent="0" algn="l" defTabSz="914400">
              <a:lnSpc>
                <a:spcPct val="90000"/>
              </a:lnSpc>
              <a:spcBef>
                <a:spcPts val="1800"/>
              </a:spcBef>
              <a:buNone/>
              <a:tabLst>
                <a:tab pos="0" algn="l"/>
              </a:tabLst>
              <a:defRPr lang="zh-TW" sz="2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</a:lstStyle>
          <a:p>
            <a:pPr marL="45720" indent="0" algn="l" defTabSz="914400">
              <a:lnSpc>
                <a:spcPct val="9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2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按一下以編輯母片文字樣式</a:t>
            </a:r>
            <a:endParaRPr lang="en-US" sz="24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19" name="Cross 2"/>
          <p:cNvSpPr/>
          <p:nvPr/>
        </p:nvSpPr>
        <p:spPr>
          <a:xfrm>
            <a:off x="10975680" y="4987080"/>
            <a:ext cx="683640" cy="683640"/>
          </a:xfrm>
          <a:prstGeom prst="plus">
            <a:avLst>
              <a:gd name="adj" fmla="val 39796"/>
            </a:avLst>
          </a:prstGeom>
          <a:gradFill rotWithShape="0">
            <a:gsLst>
              <a:gs pos="0">
                <a:srgbClr val="FFFFFF">
                  <a:alpha val="0"/>
                </a:srgbClr>
              </a:gs>
              <a:gs pos="100000">
                <a:srgbClr val="FFFFFF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20" name="Cross 3"/>
          <p:cNvSpPr/>
          <p:nvPr/>
        </p:nvSpPr>
        <p:spPr>
          <a:xfrm>
            <a:off x="10118880" y="3581280"/>
            <a:ext cx="683640" cy="683640"/>
          </a:xfrm>
          <a:prstGeom prst="plus">
            <a:avLst>
              <a:gd name="adj" fmla="val 39796"/>
            </a:avLst>
          </a:prstGeom>
          <a:gradFill rotWithShape="0">
            <a:gsLst>
              <a:gs pos="0">
                <a:srgbClr val="FFFFFF">
                  <a:alpha val="0"/>
                </a:srgbClr>
              </a:gs>
              <a:gs pos="100000">
                <a:srgbClr val="FFFFFF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Agenda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Rectangle 7"/>
          <p:cNvSpPr/>
          <p:nvPr/>
        </p:nvSpPr>
        <p:spPr>
          <a:xfrm>
            <a:off x="0" y="0"/>
            <a:ext cx="12186720" cy="6855840"/>
          </a:xfrm>
          <a:prstGeom prst="rect">
            <a:avLst/>
          </a:prstGeom>
          <a:gradFill rotWithShape="0">
            <a:gsLst>
              <a:gs pos="0">
                <a:srgbClr val="B3CCE7">
                  <a:alpha val="0"/>
                </a:srgbClr>
              </a:gs>
              <a:gs pos="100000">
                <a:srgbClr val="ACCBF9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22" name="Freeform: Shape 12"/>
          <p:cNvSpPr/>
          <p:nvPr/>
        </p:nvSpPr>
        <p:spPr>
          <a:xfrm>
            <a:off x="0" y="1440"/>
            <a:ext cx="3426120" cy="6854400"/>
          </a:xfrm>
          <a:custGeom>
            <a:avLst/>
            <a:gdLst>
              <a:gd name="textAreaLeft" fmla="*/ 0 w 3426120"/>
              <a:gd name="textAreaRight" fmla="*/ 3428280 w 3426120"/>
              <a:gd name="textAreaTop" fmla="*/ 0 h 6854400"/>
              <a:gd name="textAreaBottom" fmla="*/ 6856560 h 6854400"/>
              <a:gd name="GluePoint1X" fmla="*/ 1 w 3428208"/>
              <a:gd name="GluePoint1Y" fmla="*/ 0 h 6856414"/>
              <a:gd name="GluePoint2X" fmla="*/ 3428208 w 3428208"/>
              <a:gd name="GluePoint2Y" fmla="*/ 3428207 h 6856414"/>
              <a:gd name="GluePoint3X" fmla="*/ 1 w 3428208"/>
              <a:gd name="GluePoint3Y" fmla="*/ 6856414 h 6856414"/>
              <a:gd name="GluePoint4X" fmla="*/ 0 w 3428208"/>
              <a:gd name="GluePoint4Y" fmla="*/ 6856414 h 6856414"/>
              <a:gd name="GluePoint5X" fmla="*/ 0 w 3428208"/>
              <a:gd name="GluePoint5Y" fmla="*/ 0 h 6856414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</a:cxnLst>
            <a:rect l="textAreaLeft" t="textAreaTop" r="textAreaRight" b="textAreaBottom"/>
            <a:pathLst>
              <a:path w="3428208" h="6856414">
                <a:moveTo>
                  <a:pt x="1" y="0"/>
                </a:moveTo>
                <a:cubicBezTo>
                  <a:pt x="1893347" y="0"/>
                  <a:pt x="3428208" y="1534861"/>
                  <a:pt x="3428208" y="3428207"/>
                </a:cubicBezTo>
                <a:cubicBezTo>
                  <a:pt x="3428208" y="5321553"/>
                  <a:pt x="1893347" y="6856414"/>
                  <a:pt x="1" y="6856414"/>
                </a:cubicBezTo>
                <a:lnTo>
                  <a:pt x="0" y="6856414"/>
                </a:lnTo>
                <a:lnTo>
                  <a:pt x="0" y="0"/>
                </a:lnTo>
                <a:close/>
              </a:path>
            </a:pathLst>
          </a:custGeom>
          <a:gradFill rotWithShape="0">
            <a:gsLst>
              <a:gs pos="0">
                <a:srgbClr val="FFFFFF"/>
              </a:gs>
              <a:gs pos="100000">
                <a:srgbClr val="FFFFFF">
                  <a:alpha val="0"/>
                </a:srgbClr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23" name="PlaceHolder 1"/>
          <p:cNvSpPr>
            <a:spLocks noGrp="1"/>
          </p:cNvSpPr>
          <p:nvPr>
            <p:ph type="title"/>
          </p:nvPr>
        </p:nvSpPr>
        <p:spPr>
          <a:xfrm>
            <a:off x="988920" y="723960"/>
            <a:ext cx="4112640" cy="52938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zh-TW" sz="4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zh-TW" sz="4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按一下以編輯母片標題樣式</a:t>
            </a:r>
            <a:endParaRPr lang="en-US" sz="48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24" name="PlaceHolder 2"/>
          <p:cNvSpPr>
            <a:spLocks noGrp="1"/>
          </p:cNvSpPr>
          <p:nvPr>
            <p:ph type="body"/>
          </p:nvPr>
        </p:nvSpPr>
        <p:spPr>
          <a:xfrm>
            <a:off x="6932520" y="1981080"/>
            <a:ext cx="4112640" cy="285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marL="45720" indent="0" algn="l" defTabSz="914400">
              <a:lnSpc>
                <a:spcPct val="90000"/>
              </a:lnSpc>
              <a:spcBef>
                <a:spcPts val="1800"/>
              </a:spcBef>
              <a:buNone/>
              <a:tabLst>
                <a:tab pos="0" algn="l"/>
              </a:tabLst>
              <a:def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  <a:lvl2pPr marL="365760"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2pPr>
            <a:lvl3pPr marL="59436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  <a:defRPr lang="zh-TW" sz="16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3pPr>
            <a:lvl4pPr marL="77724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  <a:defRPr lang="zh-TW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4pPr>
            <a:lvl5pPr marL="96012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  <a:defRPr lang="zh-TW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5pPr>
          </a:lstStyle>
          <a:p>
            <a:pPr marL="45720" indent="0" algn="l" defTabSz="914400">
              <a:lnSpc>
                <a:spcPct val="9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按一下以編輯母片文字樣式</a:t>
            </a:r>
            <a:endParaRPr lang="en-US" sz="20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65760"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第二層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59436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zh-TW" sz="16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第三層</a:t>
            </a:r>
            <a:endParaRPr lang="en-US" sz="16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77724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zh-TW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第四層</a:t>
            </a:r>
            <a:endParaRPr lang="en-US" sz="14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96012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zh-TW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第五層</a:t>
            </a:r>
            <a:endParaRPr lang="en-US" sz="14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25" name="Cross 13"/>
          <p:cNvSpPr/>
          <p:nvPr/>
        </p:nvSpPr>
        <p:spPr>
          <a:xfrm>
            <a:off x="4837680" y="914400"/>
            <a:ext cx="683640" cy="683640"/>
          </a:xfrm>
          <a:prstGeom prst="plus">
            <a:avLst>
              <a:gd name="adj" fmla="val 39796"/>
            </a:avLst>
          </a:prstGeom>
          <a:gradFill rotWithShape="0">
            <a:gsLst>
              <a:gs pos="0">
                <a:srgbClr val="FFFFFF">
                  <a:alpha val="0"/>
                </a:srgbClr>
              </a:gs>
              <a:gs pos="100000">
                <a:srgbClr val="FFFFFF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26" name="Cross 14"/>
          <p:cNvSpPr/>
          <p:nvPr/>
        </p:nvSpPr>
        <p:spPr>
          <a:xfrm>
            <a:off x="3085200" y="5695920"/>
            <a:ext cx="683640" cy="683640"/>
          </a:xfrm>
          <a:prstGeom prst="plus">
            <a:avLst>
              <a:gd name="adj" fmla="val 39796"/>
            </a:avLst>
          </a:prstGeom>
          <a:gradFill rotWithShape="0">
            <a:gsLst>
              <a:gs pos="0">
                <a:srgbClr val="FFFFFF">
                  <a:alpha val="0"/>
                </a:srgbClr>
              </a:gs>
              <a:gs pos="100000">
                <a:srgbClr val="FFFFFF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27" name="Left Brace 1"/>
          <p:cNvSpPr/>
          <p:nvPr/>
        </p:nvSpPr>
        <p:spPr>
          <a:xfrm>
            <a:off x="5560920" y="2022120"/>
            <a:ext cx="835920" cy="2811960"/>
          </a:xfrm>
          <a:prstGeom prst="leftBrace">
            <a:avLst>
              <a:gd name="adj1" fmla="val 34932"/>
              <a:gd name="adj2" fmla="val 50000"/>
            </a:avLst>
          </a:prstGeom>
          <a:noFill/>
          <a:ln w="28575">
            <a:solidFill>
              <a:srgbClr val="2626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 heading with Phone imag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Oval 6"/>
          <p:cNvSpPr/>
          <p:nvPr/>
        </p:nvSpPr>
        <p:spPr>
          <a:xfrm>
            <a:off x="6703920" y="1148400"/>
            <a:ext cx="4559040" cy="4559040"/>
          </a:xfrm>
          <a:prstGeom prst="ellipse">
            <a:avLst/>
          </a:prstGeom>
          <a:gradFill rotWithShape="0">
            <a:gsLst>
              <a:gs pos="0">
                <a:srgbClr val="B3CCE7">
                  <a:alpha val="0"/>
                </a:srgbClr>
              </a:gs>
              <a:gs pos="100000">
                <a:srgbClr val="ACCBF9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pic>
        <p:nvPicPr>
          <p:cNvPr id="29" name="Graphic 7"/>
          <p:cNvPicPr/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/>
        </p:blipFill>
        <p:spPr>
          <a:xfrm>
            <a:off x="7432200" y="598320"/>
            <a:ext cx="3094200" cy="56595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0" name="Cross 8"/>
          <p:cNvSpPr/>
          <p:nvPr/>
        </p:nvSpPr>
        <p:spPr>
          <a:xfrm>
            <a:off x="10818720" y="5353200"/>
            <a:ext cx="683640" cy="683640"/>
          </a:xfrm>
          <a:prstGeom prst="plus">
            <a:avLst>
              <a:gd name="adj" fmla="val 39796"/>
            </a:avLst>
          </a:prstGeom>
          <a:gradFill rotWithShape="0">
            <a:gsLst>
              <a:gs pos="0">
                <a:srgbClr val="B3CCE7">
                  <a:alpha val="0"/>
                </a:srgbClr>
              </a:gs>
              <a:gs pos="100000">
                <a:srgbClr val="ACCBF9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31" name="Cross 10"/>
          <p:cNvSpPr/>
          <p:nvPr/>
        </p:nvSpPr>
        <p:spPr>
          <a:xfrm>
            <a:off x="6336000" y="805680"/>
            <a:ext cx="683640" cy="683640"/>
          </a:xfrm>
          <a:prstGeom prst="plus">
            <a:avLst>
              <a:gd name="adj" fmla="val 39796"/>
            </a:avLst>
          </a:prstGeom>
          <a:gradFill rotWithShape="0">
            <a:gsLst>
              <a:gs pos="0">
                <a:srgbClr val="B3CCE7">
                  <a:alpha val="0"/>
                </a:srgbClr>
              </a:gs>
              <a:gs pos="100000">
                <a:srgbClr val="ACCBF9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32" name="PlaceHolder 1"/>
          <p:cNvSpPr>
            <a:spLocks noGrp="1"/>
          </p:cNvSpPr>
          <p:nvPr>
            <p:ph type="title"/>
          </p:nvPr>
        </p:nvSpPr>
        <p:spPr>
          <a:xfrm>
            <a:off x="608040" y="685800"/>
            <a:ext cx="6370560" cy="4036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rm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zh-TW" sz="4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zh-TW" sz="4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按一下以編輯母片標題樣式</a:t>
            </a:r>
            <a:endParaRPr lang="en-US" sz="48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33" name="PlaceHolder 2"/>
          <p:cNvSpPr>
            <a:spLocks noGrp="1"/>
          </p:cNvSpPr>
          <p:nvPr>
            <p:ph type="body"/>
          </p:nvPr>
        </p:nvSpPr>
        <p:spPr>
          <a:xfrm>
            <a:off x="608040" y="4876920"/>
            <a:ext cx="6370560" cy="1102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marL="45720" indent="0" algn="l" defTabSz="914400">
              <a:lnSpc>
                <a:spcPct val="90000"/>
              </a:lnSpc>
              <a:spcBef>
                <a:spcPts val="1800"/>
              </a:spcBef>
              <a:buNone/>
              <a:tabLst>
                <a:tab pos="0" algn="l"/>
              </a:tabLst>
              <a:def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</a:lstStyle>
          <a:p>
            <a:pPr marL="45720" indent="0" algn="l" defTabSz="914400">
              <a:lnSpc>
                <a:spcPct val="9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按一下以編輯母片文字樣式</a:t>
            </a:r>
            <a:endParaRPr lang="en-US" sz="2000" b="0" u="none" strike="noStrike">
              <a:solidFill>
                <a:schemeClr val="lt1"/>
              </a:solidFill>
              <a:effectLst/>
              <a:uFillTx/>
              <a:latin typeface="Century Gothic"/>
            </a:endParaRPr>
          </a:p>
        </p:txBody>
      </p:sp>
      <p:sp>
        <p:nvSpPr>
          <p:cNvPr id="34" name="PlaceHolder 3"/>
          <p:cNvSpPr>
            <a:spLocks noGrp="1"/>
          </p:cNvSpPr>
          <p:nvPr>
            <p:ph type="body"/>
          </p:nvPr>
        </p:nvSpPr>
        <p:spPr>
          <a:xfrm>
            <a:off x="7765200" y="883440"/>
            <a:ext cx="2436840" cy="508896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marL="45720" indent="0" algn="l" defTabSz="9144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  <a:defRPr lang="zh-TW" sz="1800" b="0" u="none" strike="noStrike">
                <a:solidFill>
                  <a:schemeClr val="lt1"/>
                </a:solidFill>
                <a:effectLst/>
                <a:uFillTx/>
                <a:latin typeface="Century Gothic"/>
              </a:defRPr>
            </a:lvl1pPr>
          </a:lstStyle>
          <a:p>
            <a:pPr marL="45720" indent="0" algn="l" defTabSz="9144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lt1"/>
                </a:solidFill>
                <a:effectLst/>
                <a:uFillTx/>
                <a:latin typeface="Century Gothic"/>
              </a:rPr>
              <a:t>按一下圖示以新增圖片</a:t>
            </a:r>
            <a:endParaRPr lang="en-US" sz="1800" b="0" u="none" strike="noStrike">
              <a:solidFill>
                <a:schemeClr val="lt1"/>
              </a:solidFill>
              <a:effectLst/>
              <a:uFillTx/>
              <a:latin typeface="Century Gothic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 + Subtitle 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Oval 4"/>
          <p:cNvSpPr/>
          <p:nvPr/>
        </p:nvSpPr>
        <p:spPr>
          <a:xfrm>
            <a:off x="3274920" y="609480"/>
            <a:ext cx="5636520" cy="5636520"/>
          </a:xfrm>
          <a:prstGeom prst="ellipse">
            <a:avLst/>
          </a:prstGeom>
          <a:gradFill rotWithShape="0">
            <a:gsLst>
              <a:gs pos="0">
                <a:srgbClr val="B3CCE7">
                  <a:alpha val="0"/>
                </a:srgbClr>
              </a:gs>
              <a:gs pos="100000">
                <a:srgbClr val="ACCBF9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36" name="Left Brace 7"/>
          <p:cNvSpPr/>
          <p:nvPr/>
        </p:nvSpPr>
        <p:spPr>
          <a:xfrm>
            <a:off x="5560920" y="2022120"/>
            <a:ext cx="835920" cy="2811960"/>
          </a:xfrm>
          <a:prstGeom prst="leftBrace">
            <a:avLst>
              <a:gd name="adj1" fmla="val 34932"/>
              <a:gd name="adj2" fmla="val 50000"/>
            </a:avLst>
          </a:prstGeom>
          <a:noFill/>
          <a:ln w="28575">
            <a:solidFill>
              <a:srgbClr val="2626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37" name="PlaceHolder 1"/>
          <p:cNvSpPr>
            <a:spLocks noGrp="1"/>
          </p:cNvSpPr>
          <p:nvPr>
            <p:ph type="title"/>
          </p:nvPr>
        </p:nvSpPr>
        <p:spPr>
          <a:xfrm>
            <a:off x="531720" y="495360"/>
            <a:ext cx="4569840" cy="5865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lstStyle>
            <a:lvl1pPr indent="0" algn="r" defTabSz="914400">
              <a:lnSpc>
                <a:spcPct val="110000"/>
              </a:lnSpc>
              <a:buNone/>
              <a:tabLst>
                <a:tab pos="0" algn="l"/>
              </a:tabLst>
              <a:defRPr lang="zh-TW" sz="4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</a:lstStyle>
          <a:p>
            <a:pPr indent="0" algn="r" defTabSz="914400">
              <a:lnSpc>
                <a:spcPct val="110000"/>
              </a:lnSpc>
              <a:buNone/>
              <a:tabLst>
                <a:tab pos="0" algn="l"/>
              </a:tabLst>
            </a:pPr>
            <a:r>
              <a:rPr lang="zh-TW" sz="4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按一下以編輯母片標題樣式</a:t>
            </a:r>
            <a:endParaRPr lang="en-US" sz="48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38" name="PlaceHolder 2"/>
          <p:cNvSpPr>
            <a:spLocks noGrp="1"/>
          </p:cNvSpPr>
          <p:nvPr>
            <p:ph type="body"/>
          </p:nvPr>
        </p:nvSpPr>
        <p:spPr>
          <a:xfrm>
            <a:off x="6768360" y="2022120"/>
            <a:ext cx="4441320" cy="2811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lstStyle>
            <a:lvl1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  <a:defRPr lang="zh-TW" sz="2000" b="0" u="none" spc="31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  <a:lvl2pPr lvl="1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  <a:defRPr lang="zh-TW" sz="2000" b="0" u="none" spc="31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2pPr>
            <a:lvl3pPr lvl="2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  <a:defRPr lang="zh-TW" sz="2000" b="0" u="none" spc="31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3pPr>
            <a:lvl4pPr lvl="3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  <a:defRPr lang="zh-TW" sz="2000" b="0" u="none" spc="31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4pPr>
            <a:lvl5pPr lvl="4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  <a:defRPr lang="zh-TW" sz="2000" b="0" u="none" spc="31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5pPr>
          </a:lstStyle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2000" b="0" u="none" spc="31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按一下以編輯母片文字樣式</a:t>
            </a:r>
            <a:endParaRPr lang="en-US" sz="2000" b="0" u="none" spc="31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274320" lvl="1" indent="-22860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2000" b="0" u="none" spc="31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第二層</a:t>
            </a:r>
            <a:endParaRPr lang="en-US" sz="2000" b="0" u="none" spc="31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594360" lvl="2" indent="-22860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2000" b="0" u="none" spc="31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第三層</a:t>
            </a:r>
            <a:endParaRPr lang="en-US" sz="2000" b="0" u="none" spc="31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777240" lvl="3" indent="-22860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2000" b="0" u="none" spc="31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第四層</a:t>
            </a:r>
            <a:endParaRPr lang="en-US" sz="2000" b="0" u="none" spc="31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960120" lvl="4" indent="-22860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2000" b="0" u="none" spc="31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第五層</a:t>
            </a:r>
            <a:endParaRPr lang="en-US" sz="2000" b="0" u="none" spc="31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標題及內容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Rectangle 3"/>
          <p:cNvSpPr/>
          <p:nvPr/>
        </p:nvSpPr>
        <p:spPr>
          <a:xfrm>
            <a:off x="0" y="0"/>
            <a:ext cx="758160" cy="685584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algn="ctr" blurRad="127080" rotWithShape="0" sx="102000" sy="102000">
              <a:srgbClr val="000000">
                <a:alpha val="10000"/>
              </a:srgb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40" name="Cross 8"/>
          <p:cNvSpPr/>
          <p:nvPr/>
        </p:nvSpPr>
        <p:spPr>
          <a:xfrm>
            <a:off x="8151840" y="5670720"/>
            <a:ext cx="683640" cy="683640"/>
          </a:xfrm>
          <a:prstGeom prst="plus">
            <a:avLst>
              <a:gd name="adj" fmla="val 39796"/>
            </a:avLst>
          </a:prstGeom>
          <a:gradFill rotWithShape="0">
            <a:gsLst>
              <a:gs pos="0">
                <a:srgbClr val="B3CCE7">
                  <a:alpha val="0"/>
                </a:srgbClr>
              </a:gs>
              <a:gs pos="100000">
                <a:srgbClr val="ACCBF9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41" name="PlaceHolder 1"/>
          <p:cNvSpPr>
            <a:spLocks noGrp="1"/>
          </p:cNvSpPr>
          <p:nvPr>
            <p:ph type="title"/>
          </p:nvPr>
        </p:nvSpPr>
        <p:spPr>
          <a:xfrm>
            <a:off x="1293840" y="609480"/>
            <a:ext cx="4912920" cy="1445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indent="0" algn="l" defTabSz="914400">
              <a:lnSpc>
                <a:spcPct val="80000"/>
              </a:lnSpc>
              <a:buNone/>
              <a:tabLst>
                <a:tab pos="0" algn="l"/>
              </a:tabLst>
              <a:def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</a:lstStyle>
          <a:p>
            <a:pPr indent="0" algn="l" defTabSz="914400">
              <a:lnSpc>
                <a:spcPct val="80000"/>
              </a:lnSpc>
              <a:buNone/>
              <a:tabLst>
                <a:tab pos="0" algn="l"/>
              </a:tabLst>
            </a:pP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按一下以編輯母片標題樣式</a:t>
            </a: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42" name="PlaceHolder 2"/>
          <p:cNvSpPr>
            <a:spLocks noGrp="1"/>
          </p:cNvSpPr>
          <p:nvPr>
            <p:ph type="sldNum" idx="4"/>
          </p:nvPr>
        </p:nvSpPr>
        <p:spPr>
          <a:xfrm>
            <a:off x="0" y="609480"/>
            <a:ext cx="758160" cy="378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pos="0" algn="l"/>
              </a:tabLst>
              <a:defRPr lang="en-US" sz="2400" b="1" u="none" strike="noStrike">
                <a:solidFill>
                  <a:schemeClr val="dk1"/>
                </a:solidFill>
                <a:effectLst/>
                <a:uFillTx/>
                <a:latin typeface="Century Gothic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fld id="{E2748733-42BD-4FFF-B04F-CA1852AAE19E}" type="slidenum"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&lt;編號&gt;</a:t>
            </a:fld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3" name="PlaceHolder 3"/>
          <p:cNvSpPr>
            <a:spLocks noGrp="1"/>
          </p:cNvSpPr>
          <p:nvPr>
            <p:ph type="ftr" idx="5"/>
          </p:nvPr>
        </p:nvSpPr>
        <p:spPr>
          <a:xfrm rot="16200000">
            <a:off x="-1827720" y="2593440"/>
            <a:ext cx="4417560" cy="758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&lt;頁尾&gt;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4" name="PlaceHolder 4"/>
          <p:cNvSpPr>
            <a:spLocks noGrp="1"/>
          </p:cNvSpPr>
          <p:nvPr>
            <p:ph type="dt" idx="6"/>
          </p:nvPr>
        </p:nvSpPr>
        <p:spPr>
          <a:xfrm rot="16200000">
            <a:off x="-227520" y="5260680"/>
            <a:ext cx="1217160" cy="758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&lt;日期/時間&gt;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5" name="PlaceHolder 5"/>
          <p:cNvSpPr>
            <a:spLocks noGrp="1"/>
          </p:cNvSpPr>
          <p:nvPr>
            <p:ph type="body"/>
          </p:nvPr>
        </p:nvSpPr>
        <p:spPr>
          <a:xfrm>
            <a:off x="1311120" y="2286000"/>
            <a:ext cx="4569840" cy="4264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1pPr>
            <a:lvl2pPr marL="365760" indent="0" algn="l" defTabSz="914400">
              <a:lnSpc>
                <a:spcPct val="110000"/>
              </a:lnSpc>
              <a:spcBef>
                <a:spcPts val="1001"/>
              </a:spcBef>
              <a:buNone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2pPr>
            <a:lvl3pPr marL="594360" indent="0" algn="l" defTabSz="914400">
              <a:lnSpc>
                <a:spcPct val="110000"/>
              </a:lnSpc>
              <a:spcBef>
                <a:spcPts val="601"/>
              </a:spcBef>
              <a:buNone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3pPr>
            <a:lvl4pPr marL="777240" indent="0" algn="l" defTabSz="914400">
              <a:lnSpc>
                <a:spcPct val="110000"/>
              </a:lnSpc>
              <a:spcBef>
                <a:spcPts val="601"/>
              </a:spcBef>
              <a:buNone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4pPr>
            <a:lvl5pPr marL="960120" indent="0" algn="l" defTabSz="914400">
              <a:lnSpc>
                <a:spcPct val="110000"/>
              </a:lnSpc>
              <a:spcBef>
                <a:spcPts val="601"/>
              </a:spcBef>
              <a:buNone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5pPr>
          </a:lstStyle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按一下以編輯母片文字樣式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65760" indent="0" algn="l" defTabSz="914400">
              <a:lnSpc>
                <a:spcPct val="11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第二層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594360" indent="0" algn="l" defTabSz="914400">
              <a:lnSpc>
                <a:spcPct val="11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第三層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777240" indent="0" algn="l" defTabSz="914400">
              <a:lnSpc>
                <a:spcPct val="11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第四層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960120" indent="0" algn="l" defTabSz="914400">
              <a:lnSpc>
                <a:spcPct val="11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第五層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46" name="Cross 14"/>
          <p:cNvSpPr/>
          <p:nvPr/>
        </p:nvSpPr>
        <p:spPr>
          <a:xfrm>
            <a:off x="7351560" y="4419720"/>
            <a:ext cx="683640" cy="683640"/>
          </a:xfrm>
          <a:prstGeom prst="plus">
            <a:avLst>
              <a:gd name="adj" fmla="val 39796"/>
            </a:avLst>
          </a:prstGeom>
          <a:gradFill rotWithShape="0">
            <a:gsLst>
              <a:gs pos="0">
                <a:srgbClr val="B3CCE7">
                  <a:alpha val="0"/>
                </a:srgbClr>
              </a:gs>
              <a:gs pos="100000">
                <a:srgbClr val="ACCBF9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47" name="Freeform: Shape 4"/>
          <p:cNvSpPr/>
          <p:nvPr/>
        </p:nvSpPr>
        <p:spPr>
          <a:xfrm>
            <a:off x="8609040" y="-21960"/>
            <a:ext cx="3577680" cy="6899760"/>
          </a:xfrm>
          <a:custGeom>
            <a:avLst/>
            <a:gdLst>
              <a:gd name="textAreaLeft" fmla="*/ 0 w 3577680"/>
              <a:gd name="textAreaRight" fmla="*/ 3579840 w 3577680"/>
              <a:gd name="textAreaTop" fmla="*/ 0 h 6899760"/>
              <a:gd name="textAreaBottom" fmla="*/ 6901920 h 6899760"/>
              <a:gd name="GluePoint1X" fmla="*/ 3450999 w 3579812"/>
              <a:gd name="GluePoint1Y" fmla="*/ 0 h 6901998"/>
              <a:gd name="GluePoint2X" fmla="*/ 3579812 w 3579812"/>
              <a:gd name="GluePoint2Y" fmla="*/ 3257 h 6901998"/>
              <a:gd name="GluePoint3X" fmla="*/ 3579812 w 3579812"/>
              <a:gd name="GluePoint3Y" fmla="*/ 6898741 h 6901998"/>
              <a:gd name="GluePoint4X" fmla="*/ 3450999 w 3579812"/>
              <a:gd name="GluePoint4Y" fmla="*/ 6901998 h 6901998"/>
              <a:gd name="GluePoint5X" fmla="*/ 0 w 3579812"/>
              <a:gd name="GluePoint5Y" fmla="*/ 3450999 h 6901998"/>
              <a:gd name="GluePoint6X" fmla="*/ 3450999 w 3579812"/>
              <a:gd name="GluePoint6Y" fmla="*/ 0 h 6901998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  <a:cxn ang="0">
                <a:pos x="GluePoint6X" y="GluePoint6Y"/>
              </a:cxn>
            </a:cxnLst>
            <a:rect l="textAreaLeft" t="textAreaTop" r="textAreaRight" b="textAreaBottom"/>
            <a:pathLst>
              <a:path w="3579812" h="6901998">
                <a:moveTo>
                  <a:pt x="3450999" y="0"/>
                </a:moveTo>
                <a:lnTo>
                  <a:pt x="3579812" y="3257"/>
                </a:lnTo>
                <a:lnTo>
                  <a:pt x="3579812" y="6898741"/>
                </a:lnTo>
                <a:lnTo>
                  <a:pt x="3450999" y="6901998"/>
                </a:lnTo>
                <a:cubicBezTo>
                  <a:pt x="1545065" y="6901998"/>
                  <a:pt x="0" y="5356933"/>
                  <a:pt x="0" y="3450999"/>
                </a:cubicBezTo>
                <a:cubicBezTo>
                  <a:pt x="0" y="1545065"/>
                  <a:pt x="1545065" y="0"/>
                  <a:pt x="3450999" y="0"/>
                </a:cubicBezTo>
                <a:close/>
              </a:path>
            </a:pathLst>
          </a:custGeom>
          <a:gradFill rotWithShape="0">
            <a:gsLst>
              <a:gs pos="0">
                <a:srgbClr val="B3CCE7">
                  <a:alpha val="0"/>
                </a:srgbClr>
              </a:gs>
              <a:gs pos="100000">
                <a:srgbClr val="ACCBF9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 and Content with Computer Monito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Oval 4"/>
          <p:cNvSpPr/>
          <p:nvPr/>
        </p:nvSpPr>
        <p:spPr>
          <a:xfrm>
            <a:off x="6703920" y="838080"/>
            <a:ext cx="5027040" cy="5027040"/>
          </a:xfrm>
          <a:prstGeom prst="ellipse">
            <a:avLst/>
          </a:prstGeom>
          <a:gradFill rotWithShape="0">
            <a:gsLst>
              <a:gs pos="0">
                <a:srgbClr val="B3CCE7">
                  <a:alpha val="0"/>
                </a:srgbClr>
              </a:gs>
              <a:gs pos="100000">
                <a:srgbClr val="ACCBF9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49" name="Rectangle 7"/>
          <p:cNvSpPr/>
          <p:nvPr/>
        </p:nvSpPr>
        <p:spPr>
          <a:xfrm>
            <a:off x="0" y="0"/>
            <a:ext cx="758160" cy="685584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algn="ctr" blurRad="127080" rotWithShape="0" sx="102000" sy="102000">
              <a:srgbClr val="000000">
                <a:alpha val="10000"/>
              </a:srgb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pic>
        <p:nvPicPr>
          <p:cNvPr id="50" name="Graphic 14"/>
          <p:cNvPicPr/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/>
        </p:blipFill>
        <p:spPr>
          <a:xfrm>
            <a:off x="6742080" y="1752480"/>
            <a:ext cx="4948920" cy="3807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1" name="PlaceHolder 1"/>
          <p:cNvSpPr>
            <a:spLocks noGrp="1"/>
          </p:cNvSpPr>
          <p:nvPr>
            <p:ph type="title"/>
          </p:nvPr>
        </p:nvSpPr>
        <p:spPr>
          <a:xfrm>
            <a:off x="1293840" y="609480"/>
            <a:ext cx="4912920" cy="1445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indent="0" algn="l" defTabSz="914400">
              <a:lnSpc>
                <a:spcPct val="80000"/>
              </a:lnSpc>
              <a:buNone/>
              <a:tabLst>
                <a:tab pos="0" algn="l"/>
              </a:tabLst>
              <a:def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</a:lstStyle>
          <a:p>
            <a:pPr indent="0" algn="l" defTabSz="914400">
              <a:lnSpc>
                <a:spcPct val="80000"/>
              </a:lnSpc>
              <a:buNone/>
              <a:tabLst>
                <a:tab pos="0" algn="l"/>
              </a:tabLst>
            </a:pP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按一下以編輯母片標題樣式</a:t>
            </a: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52" name="PlaceHolder 2"/>
          <p:cNvSpPr>
            <a:spLocks noGrp="1"/>
          </p:cNvSpPr>
          <p:nvPr>
            <p:ph type="sldNum" idx="7"/>
          </p:nvPr>
        </p:nvSpPr>
        <p:spPr>
          <a:xfrm>
            <a:off x="0" y="609480"/>
            <a:ext cx="758160" cy="378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pos="0" algn="l"/>
              </a:tabLst>
              <a:defRPr lang="en-US" sz="2400" b="1" u="none" strike="noStrike">
                <a:solidFill>
                  <a:schemeClr val="dk1"/>
                </a:solidFill>
                <a:effectLst/>
                <a:uFillTx/>
                <a:latin typeface="Century Gothic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fld id="{C99358FA-90D3-4E41-9EC4-F3F09CC38D46}" type="slidenum"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&lt;編號&gt;</a:t>
            </a:fld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3" name="PlaceHolder 3"/>
          <p:cNvSpPr>
            <a:spLocks noGrp="1"/>
          </p:cNvSpPr>
          <p:nvPr>
            <p:ph type="ftr" idx="8"/>
          </p:nvPr>
        </p:nvSpPr>
        <p:spPr>
          <a:xfrm rot="16200000">
            <a:off x="-1827720" y="2593440"/>
            <a:ext cx="4417560" cy="758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&lt;頁尾&gt;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4" name="PlaceHolder 4"/>
          <p:cNvSpPr>
            <a:spLocks noGrp="1"/>
          </p:cNvSpPr>
          <p:nvPr>
            <p:ph type="dt" idx="9"/>
          </p:nvPr>
        </p:nvSpPr>
        <p:spPr>
          <a:xfrm rot="16200000">
            <a:off x="-227520" y="5260680"/>
            <a:ext cx="1217160" cy="758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&lt;日期/時間&gt;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5" name="PlaceHolder 5"/>
          <p:cNvSpPr>
            <a:spLocks noGrp="1"/>
          </p:cNvSpPr>
          <p:nvPr>
            <p:ph type="body"/>
          </p:nvPr>
        </p:nvSpPr>
        <p:spPr>
          <a:xfrm>
            <a:off x="1311120" y="2286000"/>
            <a:ext cx="4569840" cy="39603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1pPr>
            <a:lvl2pPr marL="365760" indent="0" algn="l" defTabSz="914400">
              <a:lnSpc>
                <a:spcPct val="110000"/>
              </a:lnSpc>
              <a:spcBef>
                <a:spcPts val="1001"/>
              </a:spcBef>
              <a:buNone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2pPr>
            <a:lvl3pPr marL="594360" indent="0" algn="l" defTabSz="914400">
              <a:lnSpc>
                <a:spcPct val="110000"/>
              </a:lnSpc>
              <a:spcBef>
                <a:spcPts val="601"/>
              </a:spcBef>
              <a:buNone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3pPr>
            <a:lvl4pPr marL="777240" indent="0" algn="l" defTabSz="914400">
              <a:lnSpc>
                <a:spcPct val="110000"/>
              </a:lnSpc>
              <a:spcBef>
                <a:spcPts val="601"/>
              </a:spcBef>
              <a:buNone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4pPr>
            <a:lvl5pPr marL="960120" indent="0" algn="l" defTabSz="914400">
              <a:lnSpc>
                <a:spcPct val="110000"/>
              </a:lnSpc>
              <a:spcBef>
                <a:spcPts val="601"/>
              </a:spcBef>
              <a:buNone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5pPr>
          </a:lstStyle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按一下以編輯母片文字樣式</a:t>
            </a:r>
            <a:endParaRPr lang="en-US" sz="1800" b="0" u="none" strike="noStrike">
              <a:solidFill>
                <a:schemeClr val="lt1"/>
              </a:solidFill>
              <a:effectLst/>
              <a:uFillTx/>
              <a:latin typeface="Century Gothic"/>
            </a:endParaRPr>
          </a:p>
          <a:p>
            <a:pPr marL="365760" indent="0" algn="l" defTabSz="914400">
              <a:lnSpc>
                <a:spcPct val="11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第二層</a:t>
            </a:r>
            <a:endParaRPr lang="en-US" sz="1800" b="0" u="none" strike="noStrike">
              <a:solidFill>
                <a:schemeClr val="lt1"/>
              </a:solidFill>
              <a:effectLst/>
              <a:uFillTx/>
              <a:latin typeface="Century Gothic"/>
            </a:endParaRPr>
          </a:p>
          <a:p>
            <a:pPr marL="594360" indent="0" algn="l" defTabSz="914400">
              <a:lnSpc>
                <a:spcPct val="11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第三層</a:t>
            </a:r>
            <a:endParaRPr lang="en-US" sz="1800" b="0" u="none" strike="noStrike">
              <a:solidFill>
                <a:schemeClr val="lt1"/>
              </a:solidFill>
              <a:effectLst/>
              <a:uFillTx/>
              <a:latin typeface="Century Gothic"/>
            </a:endParaRPr>
          </a:p>
          <a:p>
            <a:pPr marL="777240" indent="0" algn="l" defTabSz="914400">
              <a:lnSpc>
                <a:spcPct val="11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第四層</a:t>
            </a:r>
            <a:endParaRPr lang="en-US" sz="1800" b="0" u="none" strike="noStrike">
              <a:solidFill>
                <a:schemeClr val="lt1"/>
              </a:solidFill>
              <a:effectLst/>
              <a:uFillTx/>
              <a:latin typeface="Century Gothic"/>
            </a:endParaRPr>
          </a:p>
          <a:p>
            <a:pPr marL="960120" indent="0" algn="l" defTabSz="914400">
              <a:lnSpc>
                <a:spcPct val="11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第五層</a:t>
            </a:r>
            <a:endParaRPr lang="en-US" sz="1800" b="0" u="none" strike="noStrike">
              <a:solidFill>
                <a:schemeClr val="lt1"/>
              </a:solidFill>
              <a:effectLst/>
              <a:uFillTx/>
              <a:latin typeface="Century Gothic"/>
            </a:endParaRPr>
          </a:p>
        </p:txBody>
      </p:sp>
      <p:sp>
        <p:nvSpPr>
          <p:cNvPr id="56" name="PlaceHolder 6"/>
          <p:cNvSpPr>
            <a:spLocks noGrp="1"/>
          </p:cNvSpPr>
          <p:nvPr>
            <p:ph type="body"/>
          </p:nvPr>
        </p:nvSpPr>
        <p:spPr>
          <a:xfrm>
            <a:off x="7045920" y="2057400"/>
            <a:ext cx="4341240" cy="2686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marL="45720" indent="0" algn="l" defTabSz="9144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  <a:defRPr lang="zh-TW" sz="1800" b="0" u="none" strike="noStrike">
                <a:solidFill>
                  <a:schemeClr val="lt1"/>
                </a:solidFill>
                <a:effectLst/>
                <a:uFillTx/>
                <a:latin typeface="Century Gothic"/>
              </a:defRPr>
            </a:lvl1pPr>
          </a:lstStyle>
          <a:p>
            <a:pPr marL="45720" indent="0" algn="l" defTabSz="9144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lt1"/>
                </a:solidFill>
                <a:effectLst/>
                <a:uFillTx/>
                <a:latin typeface="Century Gothic"/>
              </a:rPr>
              <a:t>按一下圖示以新增圖片</a:t>
            </a:r>
            <a:endParaRPr lang="en-US" sz="1800" b="0" u="none" strike="noStrike">
              <a:solidFill>
                <a:schemeClr val="lt1"/>
              </a:solidFill>
              <a:effectLst/>
              <a:uFillTx/>
              <a:latin typeface="Century Gothic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 break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PlaceHolder 1"/>
          <p:cNvSpPr>
            <a:spLocks noGrp="1"/>
          </p:cNvSpPr>
          <p:nvPr>
            <p:ph type="title"/>
          </p:nvPr>
        </p:nvSpPr>
        <p:spPr>
          <a:xfrm>
            <a:off x="608040" y="685800"/>
            <a:ext cx="5685120" cy="5286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rm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zh-TW" sz="4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zh-TW" sz="4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按一下以編輯母片標題樣式</a:t>
            </a:r>
            <a:endParaRPr lang="en-US" sz="48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58" name="Cross 2"/>
          <p:cNvSpPr/>
          <p:nvPr/>
        </p:nvSpPr>
        <p:spPr>
          <a:xfrm>
            <a:off x="7130160" y="3969360"/>
            <a:ext cx="638640" cy="638640"/>
          </a:xfrm>
          <a:prstGeom prst="plus">
            <a:avLst>
              <a:gd name="adj" fmla="val 39796"/>
            </a:avLst>
          </a:prstGeom>
          <a:gradFill rotWithShape="0">
            <a:gsLst>
              <a:gs pos="0">
                <a:srgbClr val="B3CCE7">
                  <a:alpha val="0"/>
                </a:srgbClr>
              </a:gs>
              <a:gs pos="100000">
                <a:srgbClr val="ACCBF9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pic>
        <p:nvPicPr>
          <p:cNvPr id="59" name="Graphic 3"/>
          <p:cNvPicPr/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0" t="0" r="42412" b="0"/>
          <a:stretch/>
        </p:blipFill>
        <p:spPr>
          <a:xfrm>
            <a:off x="7134840" y="533520"/>
            <a:ext cx="5051880" cy="5585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0" name="Cross 5"/>
          <p:cNvSpPr/>
          <p:nvPr/>
        </p:nvSpPr>
        <p:spPr>
          <a:xfrm>
            <a:off x="6368040" y="2407320"/>
            <a:ext cx="638640" cy="638640"/>
          </a:xfrm>
          <a:prstGeom prst="plus">
            <a:avLst>
              <a:gd name="adj" fmla="val 39796"/>
            </a:avLst>
          </a:prstGeom>
          <a:gradFill rotWithShape="0">
            <a:gsLst>
              <a:gs pos="0">
                <a:srgbClr val="B3CCE7">
                  <a:alpha val="0"/>
                </a:srgbClr>
              </a:gs>
              <a:gs pos="100000">
                <a:srgbClr val="ACCBF9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61" name="PlaceHolder 2"/>
          <p:cNvSpPr>
            <a:spLocks noGrp="1"/>
          </p:cNvSpPr>
          <p:nvPr>
            <p:ph type="body"/>
          </p:nvPr>
        </p:nvSpPr>
        <p:spPr>
          <a:xfrm>
            <a:off x="8119800" y="990720"/>
            <a:ext cx="4066920" cy="438264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marL="45720" indent="0" algn="l" defTabSz="9144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  <a:defRPr lang="zh-TW" sz="1800" b="0" u="none" strike="noStrike">
                <a:solidFill>
                  <a:schemeClr val="lt1"/>
                </a:solidFill>
                <a:effectLst/>
                <a:uFillTx/>
                <a:latin typeface="Century Gothic"/>
              </a:defRPr>
            </a:lvl1pPr>
          </a:lstStyle>
          <a:p>
            <a:pPr marL="45720" indent="0" algn="l" defTabSz="9144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lt1"/>
                </a:solidFill>
                <a:effectLst/>
                <a:uFillTx/>
                <a:latin typeface="Century Gothic"/>
              </a:rPr>
              <a:t>按一下圖示以新增圖片</a:t>
            </a:r>
            <a:endParaRPr lang="en-US" sz="1800" b="0" u="none" strike="noStrike">
              <a:solidFill>
                <a:schemeClr val="lt1"/>
              </a:solidFill>
              <a:effectLst/>
              <a:uFillTx/>
              <a:latin typeface="Century Gothic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wo Content with Acc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Oval 4"/>
          <p:cNvSpPr/>
          <p:nvPr/>
        </p:nvSpPr>
        <p:spPr>
          <a:xfrm>
            <a:off x="6361200" y="1317240"/>
            <a:ext cx="5027040" cy="5027040"/>
          </a:xfrm>
          <a:prstGeom prst="ellipse">
            <a:avLst/>
          </a:prstGeom>
          <a:gradFill rotWithShape="0">
            <a:gsLst>
              <a:gs pos="0">
                <a:srgbClr val="B3CCE7">
                  <a:alpha val="0"/>
                </a:srgbClr>
              </a:gs>
              <a:gs pos="100000">
                <a:srgbClr val="ACCBF9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63" name="Rectangle 7"/>
          <p:cNvSpPr/>
          <p:nvPr/>
        </p:nvSpPr>
        <p:spPr>
          <a:xfrm>
            <a:off x="0" y="0"/>
            <a:ext cx="758160" cy="685584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algn="ctr" blurRad="127080" rotWithShape="0" sx="102000" sy="102000">
              <a:srgbClr val="000000">
                <a:alpha val="10000"/>
              </a:srgb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64" name="PlaceHolder 1"/>
          <p:cNvSpPr>
            <a:spLocks noGrp="1"/>
          </p:cNvSpPr>
          <p:nvPr>
            <p:ph type="title"/>
          </p:nvPr>
        </p:nvSpPr>
        <p:spPr>
          <a:xfrm>
            <a:off x="1293840" y="609480"/>
            <a:ext cx="4912920" cy="1445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indent="0" algn="l" defTabSz="914400">
              <a:lnSpc>
                <a:spcPct val="80000"/>
              </a:lnSpc>
              <a:buNone/>
              <a:tabLst>
                <a:tab pos="0" algn="l"/>
              </a:tabLst>
              <a:def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</a:lstStyle>
          <a:p>
            <a:pPr indent="0" algn="l" defTabSz="914400">
              <a:lnSpc>
                <a:spcPct val="80000"/>
              </a:lnSpc>
              <a:buNone/>
              <a:tabLst>
                <a:tab pos="0" algn="l"/>
              </a:tabLst>
            </a:pP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按一下以編輯母片標題樣式</a:t>
            </a: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65" name="PlaceHolder 2"/>
          <p:cNvSpPr>
            <a:spLocks noGrp="1"/>
          </p:cNvSpPr>
          <p:nvPr>
            <p:ph type="sldNum" idx="10"/>
          </p:nvPr>
        </p:nvSpPr>
        <p:spPr>
          <a:xfrm>
            <a:off x="0" y="609480"/>
            <a:ext cx="758160" cy="378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pos="0" algn="l"/>
              </a:tabLst>
              <a:defRPr lang="en-US" sz="2400" b="1" u="none" strike="noStrike">
                <a:solidFill>
                  <a:schemeClr val="dk1"/>
                </a:solidFill>
                <a:effectLst/>
                <a:uFillTx/>
                <a:latin typeface="Century Gothic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fld id="{A4032903-D260-4683-9678-DA0426694EA3}" type="slidenum"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&lt;編號&gt;</a:t>
            </a:fld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6" name="PlaceHolder 3"/>
          <p:cNvSpPr>
            <a:spLocks noGrp="1"/>
          </p:cNvSpPr>
          <p:nvPr>
            <p:ph type="ftr" idx="11"/>
          </p:nvPr>
        </p:nvSpPr>
        <p:spPr>
          <a:xfrm rot="16200000">
            <a:off x="-1827720" y="2593440"/>
            <a:ext cx="4417560" cy="758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&lt;頁尾&gt;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7" name="PlaceHolder 4"/>
          <p:cNvSpPr>
            <a:spLocks noGrp="1"/>
          </p:cNvSpPr>
          <p:nvPr>
            <p:ph type="dt" idx="12"/>
          </p:nvPr>
        </p:nvSpPr>
        <p:spPr>
          <a:xfrm rot="16200000">
            <a:off x="-227520" y="5260680"/>
            <a:ext cx="1217160" cy="758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&lt;日期/時間&gt;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8" name="PlaceHolder 5"/>
          <p:cNvSpPr>
            <a:spLocks noGrp="1"/>
          </p:cNvSpPr>
          <p:nvPr>
            <p:ph type="body"/>
          </p:nvPr>
        </p:nvSpPr>
        <p:spPr>
          <a:xfrm>
            <a:off x="1311120" y="2286000"/>
            <a:ext cx="4569840" cy="39603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1pPr>
            <a:lvl2pPr lvl="1" algn="l" defTabSz="914400">
              <a:lnSpc>
                <a:spcPct val="110000"/>
              </a:lnSpc>
              <a:spcBef>
                <a:spcPts val="1001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2pPr>
            <a:lvl3pPr lvl="2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3pPr>
            <a:lvl4pPr lvl="3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4pPr>
            <a:lvl5pPr lvl="4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5pPr>
          </a:lstStyle>
          <a:p>
            <a:pPr marL="331560" indent="-28584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按一下以編輯母片文字樣式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651600" lvl="1" indent="-285840" algn="l" defTabSz="914400">
              <a:lnSpc>
                <a:spcPct val="110000"/>
              </a:lnSpc>
              <a:spcBef>
                <a:spcPts val="1001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第二層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880200" lvl="2" indent="-285840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第三層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1063080" lvl="3" indent="-285840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第四層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1245960" lvl="4" indent="-285840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第五層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69" name="PlaceHolder 6"/>
          <p:cNvSpPr>
            <a:spLocks noGrp="1"/>
          </p:cNvSpPr>
          <p:nvPr>
            <p:ph type="body"/>
          </p:nvPr>
        </p:nvSpPr>
        <p:spPr>
          <a:xfrm>
            <a:off x="6094440" y="2286000"/>
            <a:ext cx="5560560" cy="39603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  <a:lvl2pPr lvl="1" algn="l" defTabSz="914400">
              <a:lnSpc>
                <a:spcPct val="90000"/>
              </a:lnSpc>
              <a:spcBef>
                <a:spcPts val="1001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2pPr>
            <a:lvl3pPr lvl="2" algn="l" defTabSz="914400">
              <a:lnSpc>
                <a:spcPct val="9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16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3pPr>
            <a:lvl4pPr lvl="3" algn="l" defTabSz="914400">
              <a:lnSpc>
                <a:spcPct val="9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4pPr>
            <a:lvl5pPr lvl="4" algn="l" defTabSz="914400">
              <a:lnSpc>
                <a:spcPct val="9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5pPr>
          </a:lstStyle>
          <a:p>
            <a:pPr marL="274320" indent="-228600" algn="l" defTabSz="914400">
              <a:lnSpc>
                <a:spcPct val="9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按一下以編輯母片文字樣式</a:t>
            </a:r>
            <a:endParaRPr lang="en-US" sz="20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594360" lvl="1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第二層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777240" lvl="2" indent="-182880" algn="l" defTabSz="914400">
              <a:lnSpc>
                <a:spcPct val="9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6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第三層</a:t>
            </a:r>
            <a:endParaRPr lang="en-US" sz="16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960120" lvl="3" indent="-182880" algn="l" defTabSz="914400">
              <a:lnSpc>
                <a:spcPct val="9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第四層</a:t>
            </a:r>
            <a:endParaRPr lang="en-US" sz="14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1097280" lvl="4" indent="-137160" algn="l" defTabSz="914400">
              <a:lnSpc>
                <a:spcPct val="9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第五層</a:t>
            </a:r>
            <a:endParaRPr lang="en-US" sz="14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t and Tabl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Rectangle 7"/>
          <p:cNvSpPr/>
          <p:nvPr/>
        </p:nvSpPr>
        <p:spPr>
          <a:xfrm>
            <a:off x="0" y="0"/>
            <a:ext cx="758160" cy="685584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algn="ctr" blurRad="127080" rotWithShape="0" sx="102000" sy="102000">
              <a:srgbClr val="000000">
                <a:alpha val="10000"/>
              </a:srgb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71" name="PlaceHolder 1"/>
          <p:cNvSpPr>
            <a:spLocks noGrp="1"/>
          </p:cNvSpPr>
          <p:nvPr>
            <p:ph type="title"/>
          </p:nvPr>
        </p:nvSpPr>
        <p:spPr>
          <a:xfrm>
            <a:off x="1293840" y="609480"/>
            <a:ext cx="4912920" cy="1445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indent="0" algn="l" defTabSz="914400">
              <a:lnSpc>
                <a:spcPct val="80000"/>
              </a:lnSpc>
              <a:buNone/>
              <a:tabLst>
                <a:tab pos="0" algn="l"/>
              </a:tabLst>
              <a:def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</a:lstStyle>
          <a:p>
            <a:pPr indent="0" algn="l" defTabSz="914400">
              <a:lnSpc>
                <a:spcPct val="80000"/>
              </a:lnSpc>
              <a:buNone/>
              <a:tabLst>
                <a:tab pos="0" algn="l"/>
              </a:tabLst>
            </a:pP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按一下以編輯母片標題樣式</a:t>
            </a: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72" name="PlaceHolder 2"/>
          <p:cNvSpPr>
            <a:spLocks noGrp="1"/>
          </p:cNvSpPr>
          <p:nvPr>
            <p:ph type="sldNum" idx="13"/>
          </p:nvPr>
        </p:nvSpPr>
        <p:spPr>
          <a:xfrm>
            <a:off x="0" y="609480"/>
            <a:ext cx="758160" cy="378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pos="0" algn="l"/>
              </a:tabLst>
              <a:defRPr lang="en-US" sz="2400" b="1" u="none" strike="noStrike">
                <a:solidFill>
                  <a:schemeClr val="dk1"/>
                </a:solidFill>
                <a:effectLst/>
                <a:uFillTx/>
                <a:latin typeface="Century Gothic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fld id="{94E240C6-F365-4E08-8883-040DD314277B}" type="slidenum"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&lt;編號&gt;</a:t>
            </a:fld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3" name="PlaceHolder 3"/>
          <p:cNvSpPr>
            <a:spLocks noGrp="1"/>
          </p:cNvSpPr>
          <p:nvPr>
            <p:ph type="ftr" idx="14"/>
          </p:nvPr>
        </p:nvSpPr>
        <p:spPr>
          <a:xfrm rot="16200000">
            <a:off x="-1827720" y="2593440"/>
            <a:ext cx="4417560" cy="758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&lt;頁尾&gt;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4" name="PlaceHolder 4"/>
          <p:cNvSpPr>
            <a:spLocks noGrp="1"/>
          </p:cNvSpPr>
          <p:nvPr>
            <p:ph type="dt" idx="15"/>
          </p:nvPr>
        </p:nvSpPr>
        <p:spPr>
          <a:xfrm rot="16200000">
            <a:off x="-227520" y="5260680"/>
            <a:ext cx="1217160" cy="758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&lt;日期/時間&gt;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5" name="PlaceHolder 5"/>
          <p:cNvSpPr>
            <a:spLocks noGrp="1"/>
          </p:cNvSpPr>
          <p:nvPr>
            <p:ph type="body"/>
          </p:nvPr>
        </p:nvSpPr>
        <p:spPr>
          <a:xfrm>
            <a:off x="1311120" y="2286000"/>
            <a:ext cx="4569840" cy="39603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  <a:def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1pPr>
            <a:lvl2pPr lvl="1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2pPr>
            <a:lvl3pPr lvl="2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3pPr>
            <a:lvl4pPr lvl="3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4pPr>
            <a:lvl5pPr lvl="4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5pPr>
          </a:lstStyle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按一下以編輯母片文字樣式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  <a:p>
            <a:pPr marL="331560" lvl="1" indent="-28584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第二層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594360" lvl="2" indent="-228600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第三層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777240" lvl="3" indent="-228600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第四層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960120" lvl="4" indent="-228600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第五層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76" name="PlaceHolder 6"/>
          <p:cNvSpPr>
            <a:spLocks noGrp="1"/>
          </p:cNvSpPr>
          <p:nvPr>
            <p:ph type="body"/>
          </p:nvPr>
        </p:nvSpPr>
        <p:spPr>
          <a:xfrm>
            <a:off x="6094440" y="2286000"/>
            <a:ext cx="5556600" cy="396036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marL="45720" indent="0" algn="l" defTabSz="9144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  <a:defRPr lang="zh-TW" sz="1800" b="0" u="none" strike="noStrike">
                <a:solidFill>
                  <a:schemeClr val="dk1"/>
                </a:solidFill>
                <a:effectLst/>
                <a:uFillTx/>
                <a:latin typeface="Century Gothic"/>
              </a:defRPr>
            </a:lvl1pPr>
          </a:lstStyle>
          <a:p>
            <a:pPr marL="45720" indent="0" algn="l" defTabSz="9144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按一下圖示以新增表格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abl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Freeform: Shape 9"/>
          <p:cNvSpPr/>
          <p:nvPr/>
        </p:nvSpPr>
        <p:spPr>
          <a:xfrm>
            <a:off x="7026120" y="0"/>
            <a:ext cx="4459320" cy="1978920"/>
          </a:xfrm>
          <a:custGeom>
            <a:avLst/>
            <a:gdLst>
              <a:gd name="textAreaLeft" fmla="*/ 0 w 4459320"/>
              <a:gd name="textAreaRight" fmla="*/ 4461480 w 4459320"/>
              <a:gd name="textAreaTop" fmla="*/ 0 h 1978920"/>
              <a:gd name="textAreaBottom" fmla="*/ 1981080 h 1978920"/>
              <a:gd name="GluePoint1X" fmla="*/ 0 w 4461334"/>
              <a:gd name="GluePoint1Y" fmla="*/ 0 h 1981200"/>
              <a:gd name="GluePoint2X" fmla="*/ 4461334 w 4461334"/>
              <a:gd name="GluePoint2Y" fmla="*/ 0 h 1981200"/>
              <a:gd name="GluePoint3X" fmla="*/ 4432897 w 4461334"/>
              <a:gd name="GluePoint3Y" fmla="*/ 186331 h 1981200"/>
              <a:gd name="GluePoint4X" fmla="*/ 2230667 w 4461334"/>
              <a:gd name="GluePoint4Y" fmla="*/ 1981200 h 1981200"/>
              <a:gd name="GluePoint5X" fmla="*/ 28437 w 4461334"/>
              <a:gd name="GluePoint5Y" fmla="*/ 186331 h 1981200"/>
              <a:gd name="GluePoint6X" fmla="*/ 0 w 4461334"/>
              <a:gd name="GluePoint6Y" fmla="*/ 0 h 1981200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  <a:cxn ang="0">
                <a:pos x="GluePoint6X" y="GluePoint6Y"/>
              </a:cxn>
            </a:cxnLst>
            <a:rect l="textAreaLeft" t="textAreaTop" r="textAreaRight" b="textAreaBottom"/>
            <a:pathLst>
              <a:path w="4461334" h="1981200">
                <a:moveTo>
                  <a:pt x="0" y="0"/>
                </a:moveTo>
                <a:lnTo>
                  <a:pt x="4461334" y="0"/>
                </a:lnTo>
                <a:lnTo>
                  <a:pt x="4432897" y="186331"/>
                </a:lnTo>
                <a:cubicBezTo>
                  <a:pt x="4223288" y="1210661"/>
                  <a:pt x="3316962" y="1981200"/>
                  <a:pt x="2230667" y="1981200"/>
                </a:cubicBezTo>
                <a:cubicBezTo>
                  <a:pt x="1144372" y="1981200"/>
                  <a:pt x="238046" y="1210661"/>
                  <a:pt x="28437" y="186331"/>
                </a:cubicBezTo>
                <a:lnTo>
                  <a:pt x="0" y="0"/>
                </a:lnTo>
                <a:close/>
              </a:path>
            </a:pathLst>
          </a:custGeom>
          <a:gradFill rotWithShape="0">
            <a:gsLst>
              <a:gs pos="0">
                <a:srgbClr val="B3CCE7">
                  <a:alpha val="0"/>
                </a:srgbClr>
              </a:gs>
              <a:gs pos="100000">
                <a:srgbClr val="ACCBF9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78" name="Rectangle 2"/>
          <p:cNvSpPr/>
          <p:nvPr/>
        </p:nvSpPr>
        <p:spPr>
          <a:xfrm>
            <a:off x="0" y="0"/>
            <a:ext cx="758160" cy="685584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algn="ctr" blurRad="127080" rotWithShape="0" sx="102000" sy="102000">
              <a:srgbClr val="000000">
                <a:alpha val="10000"/>
              </a:srgb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79" name="PlaceHolder 1"/>
          <p:cNvSpPr>
            <a:spLocks noGrp="1"/>
          </p:cNvSpPr>
          <p:nvPr>
            <p:ph type="title"/>
          </p:nvPr>
        </p:nvSpPr>
        <p:spPr>
          <a:xfrm>
            <a:off x="1293840" y="609480"/>
            <a:ext cx="4912920" cy="1445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indent="0" algn="l" defTabSz="914400">
              <a:lnSpc>
                <a:spcPct val="80000"/>
              </a:lnSpc>
              <a:buNone/>
              <a:tabLst>
                <a:tab pos="0" algn="l"/>
              </a:tabLst>
              <a:def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</a:lstStyle>
          <a:p>
            <a:pPr indent="0" algn="l" defTabSz="914400">
              <a:lnSpc>
                <a:spcPct val="80000"/>
              </a:lnSpc>
              <a:buNone/>
              <a:tabLst>
                <a:tab pos="0" algn="l"/>
              </a:tabLst>
            </a:pP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按一下以編輯母片標題樣式</a:t>
            </a: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80" name="PlaceHolder 2"/>
          <p:cNvSpPr>
            <a:spLocks noGrp="1"/>
          </p:cNvSpPr>
          <p:nvPr>
            <p:ph type="sldNum" idx="16"/>
          </p:nvPr>
        </p:nvSpPr>
        <p:spPr>
          <a:xfrm>
            <a:off x="0" y="609480"/>
            <a:ext cx="758160" cy="378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pos="0" algn="l"/>
              </a:tabLst>
              <a:defRPr lang="en-US" sz="2400" b="1" u="none" strike="noStrike">
                <a:solidFill>
                  <a:schemeClr val="dk1"/>
                </a:solidFill>
                <a:effectLst/>
                <a:uFillTx/>
                <a:latin typeface="Century Gothic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fld id="{6250CFD9-4E5E-4FA1-9044-6E608E88B4F8}" type="slidenum"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&lt;編號&gt;</a:t>
            </a:fld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1" name="PlaceHolder 3"/>
          <p:cNvSpPr>
            <a:spLocks noGrp="1"/>
          </p:cNvSpPr>
          <p:nvPr>
            <p:ph type="ftr" idx="17"/>
          </p:nvPr>
        </p:nvSpPr>
        <p:spPr>
          <a:xfrm rot="16200000">
            <a:off x="-1827720" y="2593440"/>
            <a:ext cx="4417560" cy="758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&lt;頁尾&gt;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2" name="PlaceHolder 4"/>
          <p:cNvSpPr>
            <a:spLocks noGrp="1"/>
          </p:cNvSpPr>
          <p:nvPr>
            <p:ph type="dt" idx="18"/>
          </p:nvPr>
        </p:nvSpPr>
        <p:spPr>
          <a:xfrm rot="16200000">
            <a:off x="-227520" y="5260680"/>
            <a:ext cx="1217160" cy="758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&lt;日期/時間&gt;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3" name="PlaceHolder 5"/>
          <p:cNvSpPr>
            <a:spLocks noGrp="1"/>
          </p:cNvSpPr>
          <p:nvPr>
            <p:ph type="body"/>
          </p:nvPr>
        </p:nvSpPr>
        <p:spPr>
          <a:xfrm>
            <a:off x="1293840" y="2743200"/>
            <a:ext cx="10132560" cy="350316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marL="228600" indent="0" algn="l" defTabSz="9144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</a:lstStyle>
          <a:p>
            <a:pPr marL="228600" indent="0" algn="l" defTabSz="9144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按一下圖示以新增表格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</p:spTree>
  </p:cSld>
</p:sldLayout>
</file>

<file path=ppt/slideLayouts/slideLayout1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wo Content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Freeform: Shape 16"/>
          <p:cNvSpPr/>
          <p:nvPr/>
        </p:nvSpPr>
        <p:spPr>
          <a:xfrm>
            <a:off x="7026120" y="0"/>
            <a:ext cx="4459320" cy="1978920"/>
          </a:xfrm>
          <a:custGeom>
            <a:avLst/>
            <a:gdLst>
              <a:gd name="textAreaLeft" fmla="*/ 0 w 4459320"/>
              <a:gd name="textAreaRight" fmla="*/ 4461480 w 4459320"/>
              <a:gd name="textAreaTop" fmla="*/ 0 h 1978920"/>
              <a:gd name="textAreaBottom" fmla="*/ 1981080 h 1978920"/>
              <a:gd name="GluePoint1X" fmla="*/ 0 w 4461334"/>
              <a:gd name="GluePoint1Y" fmla="*/ 0 h 1981200"/>
              <a:gd name="GluePoint2X" fmla="*/ 4461334 w 4461334"/>
              <a:gd name="GluePoint2Y" fmla="*/ 0 h 1981200"/>
              <a:gd name="GluePoint3X" fmla="*/ 4432897 w 4461334"/>
              <a:gd name="GluePoint3Y" fmla="*/ 186331 h 1981200"/>
              <a:gd name="GluePoint4X" fmla="*/ 2230667 w 4461334"/>
              <a:gd name="GluePoint4Y" fmla="*/ 1981200 h 1981200"/>
              <a:gd name="GluePoint5X" fmla="*/ 28437 w 4461334"/>
              <a:gd name="GluePoint5Y" fmla="*/ 186331 h 1981200"/>
              <a:gd name="GluePoint6X" fmla="*/ 0 w 4461334"/>
              <a:gd name="GluePoint6Y" fmla="*/ 0 h 1981200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  <a:cxn ang="0">
                <a:pos x="GluePoint6X" y="GluePoint6Y"/>
              </a:cxn>
            </a:cxnLst>
            <a:rect l="textAreaLeft" t="textAreaTop" r="textAreaRight" b="textAreaBottom"/>
            <a:pathLst>
              <a:path w="4461334" h="1981200">
                <a:moveTo>
                  <a:pt x="0" y="0"/>
                </a:moveTo>
                <a:lnTo>
                  <a:pt x="4461334" y="0"/>
                </a:lnTo>
                <a:lnTo>
                  <a:pt x="4432897" y="186331"/>
                </a:lnTo>
                <a:cubicBezTo>
                  <a:pt x="4223288" y="1210661"/>
                  <a:pt x="3316962" y="1981200"/>
                  <a:pt x="2230667" y="1981200"/>
                </a:cubicBezTo>
                <a:cubicBezTo>
                  <a:pt x="1144372" y="1981200"/>
                  <a:pt x="238046" y="1210661"/>
                  <a:pt x="28437" y="186331"/>
                </a:cubicBezTo>
                <a:lnTo>
                  <a:pt x="0" y="0"/>
                </a:lnTo>
                <a:close/>
              </a:path>
            </a:pathLst>
          </a:custGeom>
          <a:gradFill rotWithShape="0">
            <a:gsLst>
              <a:gs pos="0">
                <a:srgbClr val="B3CCE7">
                  <a:alpha val="0"/>
                </a:srgbClr>
              </a:gs>
              <a:gs pos="100000">
                <a:srgbClr val="ACCBF9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85" name="Rectangle 1"/>
          <p:cNvSpPr/>
          <p:nvPr/>
        </p:nvSpPr>
        <p:spPr>
          <a:xfrm>
            <a:off x="0" y="0"/>
            <a:ext cx="758160" cy="685584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algn="ctr" blurRad="127080" rotWithShape="0" sx="102000" sy="102000">
              <a:srgbClr val="000000">
                <a:alpha val="10000"/>
              </a:srgb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86" name="Cross 5"/>
          <p:cNvSpPr/>
          <p:nvPr/>
        </p:nvSpPr>
        <p:spPr>
          <a:xfrm>
            <a:off x="6683040" y="1397160"/>
            <a:ext cx="683640" cy="683640"/>
          </a:xfrm>
          <a:prstGeom prst="plus">
            <a:avLst>
              <a:gd name="adj" fmla="val 39796"/>
            </a:avLst>
          </a:prstGeom>
          <a:gradFill rotWithShape="0">
            <a:gsLst>
              <a:gs pos="0">
                <a:srgbClr val="B3CCE7">
                  <a:alpha val="0"/>
                </a:srgbClr>
              </a:gs>
              <a:gs pos="100000">
                <a:srgbClr val="ACCBF9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87" name="Cross 6"/>
          <p:cNvSpPr/>
          <p:nvPr/>
        </p:nvSpPr>
        <p:spPr>
          <a:xfrm>
            <a:off x="11085480" y="5638680"/>
            <a:ext cx="683640" cy="683640"/>
          </a:xfrm>
          <a:prstGeom prst="plus">
            <a:avLst>
              <a:gd name="adj" fmla="val 39796"/>
            </a:avLst>
          </a:prstGeom>
          <a:gradFill rotWithShape="0">
            <a:gsLst>
              <a:gs pos="0">
                <a:srgbClr val="B3CCE7">
                  <a:alpha val="0"/>
                </a:srgbClr>
              </a:gs>
              <a:gs pos="100000">
                <a:srgbClr val="ACCBF9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88" name="PlaceHolder 1"/>
          <p:cNvSpPr>
            <a:spLocks noGrp="1"/>
          </p:cNvSpPr>
          <p:nvPr>
            <p:ph type="title"/>
          </p:nvPr>
        </p:nvSpPr>
        <p:spPr>
          <a:xfrm>
            <a:off x="1293840" y="609480"/>
            <a:ext cx="4912920" cy="1445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indent="0" algn="l" defTabSz="914400">
              <a:lnSpc>
                <a:spcPct val="80000"/>
              </a:lnSpc>
              <a:buNone/>
              <a:tabLst>
                <a:tab pos="0" algn="l"/>
              </a:tabLst>
              <a:def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</a:lstStyle>
          <a:p>
            <a:pPr indent="0" algn="l" defTabSz="914400">
              <a:lnSpc>
                <a:spcPct val="80000"/>
              </a:lnSpc>
              <a:buNone/>
              <a:tabLst>
                <a:tab pos="0" algn="l"/>
              </a:tabLst>
            </a:pP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按一下以編輯母片標題樣式</a:t>
            </a: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89" name="PlaceHolder 2"/>
          <p:cNvSpPr>
            <a:spLocks noGrp="1"/>
          </p:cNvSpPr>
          <p:nvPr>
            <p:ph type="sldNum" idx="19"/>
          </p:nvPr>
        </p:nvSpPr>
        <p:spPr>
          <a:xfrm>
            <a:off x="0" y="609480"/>
            <a:ext cx="758160" cy="378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pos="0" algn="l"/>
              </a:tabLst>
              <a:defRPr lang="en-US" sz="2400" b="1" u="none" strike="noStrike">
                <a:solidFill>
                  <a:schemeClr val="dk1"/>
                </a:solidFill>
                <a:effectLst/>
                <a:uFillTx/>
                <a:latin typeface="Century Gothic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fld id="{D38135A6-3A1D-4944-B790-B590C70ABC6B}" type="slidenum"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&lt;編號&gt;</a:t>
            </a:fld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0" name="PlaceHolder 3"/>
          <p:cNvSpPr>
            <a:spLocks noGrp="1"/>
          </p:cNvSpPr>
          <p:nvPr>
            <p:ph type="ftr" idx="20"/>
          </p:nvPr>
        </p:nvSpPr>
        <p:spPr>
          <a:xfrm rot="16200000">
            <a:off x="-1827720" y="2593440"/>
            <a:ext cx="4417560" cy="758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&lt;頁尾&gt;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1" name="PlaceHolder 4"/>
          <p:cNvSpPr>
            <a:spLocks noGrp="1"/>
          </p:cNvSpPr>
          <p:nvPr>
            <p:ph type="dt" idx="21"/>
          </p:nvPr>
        </p:nvSpPr>
        <p:spPr>
          <a:xfrm rot="16200000">
            <a:off x="-227520" y="5260680"/>
            <a:ext cx="1217160" cy="758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&lt;日期/時間&gt;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2" name="PlaceHolder 5"/>
          <p:cNvSpPr>
            <a:spLocks noGrp="1"/>
          </p:cNvSpPr>
          <p:nvPr>
            <p:ph type="body"/>
          </p:nvPr>
        </p:nvSpPr>
        <p:spPr>
          <a:xfrm>
            <a:off x="1293840" y="2438280"/>
            <a:ext cx="4909680" cy="411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1pPr>
            <a:lvl2pPr lvl="1" algn="l" defTabSz="914400">
              <a:lnSpc>
                <a:spcPct val="110000"/>
              </a:lnSpc>
              <a:spcBef>
                <a:spcPts val="1001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2pPr>
            <a:lvl3pPr lvl="2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3pPr>
            <a:lvl4pPr lvl="3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4pPr>
            <a:lvl5pPr lvl="4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5pPr>
          </a:lstStyle>
          <a:p>
            <a:pPr marL="274320" indent="-22860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按一下以編輯母片文字樣式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594360" lvl="1" indent="-228600" algn="l" defTabSz="914400">
              <a:lnSpc>
                <a:spcPct val="110000"/>
              </a:lnSpc>
              <a:spcBef>
                <a:spcPts val="1001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第二層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777240" lvl="2" indent="-182880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第三層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960120" lvl="3" indent="-182880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第四層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1097280" lvl="4" indent="-137160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第五層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93" name="PlaceHolder 6"/>
          <p:cNvSpPr>
            <a:spLocks noGrp="1"/>
          </p:cNvSpPr>
          <p:nvPr>
            <p:ph type="body"/>
          </p:nvPr>
        </p:nvSpPr>
        <p:spPr>
          <a:xfrm>
            <a:off x="6516720" y="2438280"/>
            <a:ext cx="4909680" cy="411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1pPr>
            <a:lvl2pPr lvl="1" algn="l" defTabSz="914400">
              <a:lnSpc>
                <a:spcPct val="110000"/>
              </a:lnSpc>
              <a:spcBef>
                <a:spcPts val="1001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2pPr>
            <a:lvl3pPr lvl="2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3pPr>
            <a:lvl4pPr lvl="3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4pPr>
            <a:lvl5pPr lvl="4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5pPr>
          </a:lstStyle>
          <a:p>
            <a:pPr marL="274320" indent="-22860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按一下以編輯母片文字樣式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594360" lvl="1" indent="-228600" algn="l" defTabSz="914400">
              <a:lnSpc>
                <a:spcPct val="110000"/>
              </a:lnSpc>
              <a:spcBef>
                <a:spcPts val="1001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第二層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777240" lvl="2" indent="-182880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第三層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960120" lvl="3" indent="-182880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第四層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1097280" lvl="4" indent="-137160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第五層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</p:spTree>
  </p:cSld>
</p:sldLayout>
</file>

<file path=ppt/slideLayouts/slideLayout1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<Relationship Id="rId14" Type="http://schemas.openxmlformats.org/officeDocument/2006/relationships/slideLayout" Target="../slideLayouts/slideLayout13.xml"/></Relationships>
</file>

<file path=ppt/slideMasters/_rels/slideMaster14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</p:sldLayoutIdLst>
</p:sldMaster>
</file>

<file path=ppt/slideMasters/slideMaster1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PlaceHolder 1"/>
          <p:cNvSpPr>
            <a:spLocks noGrp="1"/>
          </p:cNvSpPr>
          <p:nvPr>
            <p:ph type="title"/>
          </p:nvPr>
        </p:nvSpPr>
        <p:spPr>
          <a:xfrm>
            <a:off x="609120" y="273600"/>
            <a:ext cx="1096956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 defTabSz="914400">
              <a:lnSpc>
                <a:spcPct val="90000"/>
              </a:lnSpc>
              <a:buNone/>
              <a:tabLst>
                <a:tab pos="0" algn="l"/>
              </a:tabLst>
              <a:defRPr lang="zh-TW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請按這裡編輯題名文字格式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5" name="PlaceHolder 2"/>
          <p:cNvSpPr>
            <a:spLocks noGrp="1"/>
          </p:cNvSpPr>
          <p:nvPr>
            <p:ph type="body"/>
          </p:nvPr>
        </p:nvSpPr>
        <p:spPr>
          <a:xfrm>
            <a:off x="609120" y="1604520"/>
            <a:ext cx="1096956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 defTabSz="9144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zh-TW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9144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zh-TW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9144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zh-TW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9144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zh-TW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zh-TW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  <a:lvl6pPr lvl="5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zh-TW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6pPr>
            <a:lvl7pPr lvl="6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zh-TW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7pPr>
          </a:lstStyle>
          <a:p>
            <a:pPr indent="-324000" algn="l" defTabSz="9144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zh-TW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請按這裡編輯大綱文字格式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864000" lvl="1" indent="-324000" algn="l" defTabSz="9144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zh-TW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第二個大綱層次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296000" lvl="2" indent="-288000" algn="l" defTabSz="9144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zh-TW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第三個大綱層次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728000" lvl="3" indent="-216000" algn="l" defTabSz="9144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zh-TW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第四個大綱層次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160000" lvl="4" indent="-21600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zh-TW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第五個大綱層次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592000" lvl="5" indent="-21600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zh-TW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第六個大綱層次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024000" lvl="6" indent="-21600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zh-TW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第七個大綱層次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3" r:id="rId2"/>
  </p:sldLayoutId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8.png"/><Relationship Id="rId2" Type="http://schemas.openxmlformats.org/officeDocument/2006/relationships/slideLayout" Target="../slideLayouts/slideLayout7.xm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image" Target="../media/image9.png"/><Relationship Id="rId2" Type="http://schemas.openxmlformats.org/officeDocument/2006/relationships/slideLayout" Target="../slideLayouts/slideLayout7.xml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image" Target="../media/image10.png"/><Relationship Id="rId2" Type="http://schemas.openxmlformats.org/officeDocument/2006/relationships/slideLayout" Target="../slideLayouts/slideLayout7.xml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image" Target="../media/image11.png"/><Relationship Id="rId2" Type="http://schemas.openxmlformats.org/officeDocument/2006/relationships/slideLayout" Target="../slideLayouts/slideLayout7.xml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image" Target="../media/image12.png"/><Relationship Id="rId2" Type="http://schemas.openxmlformats.org/officeDocument/2006/relationships/hyperlink" Target="https://github.com/dinchentech/tw-selfselect/blob/main/&#20351;&#29992;&#25163;&#20874;.md#3-&#27599;&#26376;&#20316;&#26989;sop" TargetMode="External"/><Relationship Id="rId3" Type="http://schemas.openxmlformats.org/officeDocument/2006/relationships/slideLayout" Target="../slideLayouts/slideLayout7.xml"/><Relationship Id="rId4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gradFill rotWithShape="0">
          <a:gsLst>
            <a:gs pos="0">
              <a:srgbClr val="B3CCE7">
                <a:alpha val="0"/>
              </a:srgbClr>
            </a:gs>
            <a:gs pos="100000">
              <a:srgbClr val="ACCBF9"/>
            </a:gs>
          </a:gsLst>
          <a:lin ang="5400000"/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PlaceHolder 1"/>
          <p:cNvSpPr>
            <a:spLocks noGrp="1"/>
          </p:cNvSpPr>
          <p:nvPr>
            <p:ph type="title"/>
          </p:nvPr>
        </p:nvSpPr>
        <p:spPr>
          <a:xfrm>
            <a:off x="684360" y="1295280"/>
            <a:ext cx="10284840" cy="3884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rmAutofit/>
          </a:bodyPr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66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TW-SELFSELECT-W5 </a:t>
            </a:r>
            <a:br>
              <a:rPr sz="6600"/>
            </a:br>
            <a:r>
              <a:rPr lang="en-US" sz="66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 </a:t>
            </a:r>
            <a:r>
              <a:rPr lang="zh-TW" sz="66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台股買賣自動化系統</a:t>
            </a:r>
            <a:endParaRPr lang="en-US" sz="66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103" name="PlaceHolder 2"/>
          <p:cNvSpPr>
            <a:spLocks noGrp="1"/>
          </p:cNvSpPr>
          <p:nvPr>
            <p:ph/>
          </p:nvPr>
        </p:nvSpPr>
        <p:spPr>
          <a:xfrm>
            <a:off x="684360" y="5600880"/>
            <a:ext cx="10284840" cy="5313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p>
            <a:pPr marL="45720" indent="0" algn="l" defTabSz="914400">
              <a:lnSpc>
                <a:spcPct val="9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2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回溯</a:t>
            </a:r>
            <a:endParaRPr lang="en-US" sz="24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Text 0"/>
          <p:cNvSpPr/>
          <p:nvPr/>
        </p:nvSpPr>
        <p:spPr>
          <a:xfrm>
            <a:off x="747360" y="427680"/>
            <a:ext cx="11286720" cy="55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107640" anchor="t">
            <a:noAutofit/>
          </a:bodyPr>
          <a:p>
            <a:pPr defTabSz="914040">
              <a:lnSpc>
                <a:spcPct val="109000"/>
              </a:lnSpc>
            </a:pPr>
            <a:r>
              <a:rPr lang="en-US" sz="2830" b="1" u="none" strike="noStrike">
                <a:solidFill>
                  <a:srgbClr val="1F2328"/>
                </a:solidFill>
                <a:effectLst/>
                <a:uFillTx/>
                <a:latin typeface="Segoe UI"/>
                <a:ea typeface="Segoe UI"/>
              </a:rPr>
              <a:t>🤔</a:t>
            </a:r>
            <a:r>
              <a:rPr lang="en-US" sz="2830" b="1" u="none" strike="noStrike">
                <a:solidFill>
                  <a:srgbClr val="1F2328"/>
                </a:solidFill>
                <a:effectLst/>
                <a:uFillTx/>
                <a:latin typeface="Yu Gothic UI"/>
                <a:ea typeface="Yu Gothic UI"/>
              </a:rPr>
              <a:t> 什麼是回溯？</a:t>
            </a:r>
            <a:endParaRPr lang="en-US" sz="28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5" name="Text 1"/>
          <p:cNvSpPr/>
          <p:nvPr/>
        </p:nvSpPr>
        <p:spPr>
          <a:xfrm>
            <a:off x="777600" y="892080"/>
            <a:ext cx="11226240" cy="41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040">
              <a:lnSpc>
                <a:spcPct val="130000"/>
              </a:lnSpc>
            </a:pPr>
            <a:r>
              <a:rPr lang="zh-TW" sz="2170" b="1" u="none" strike="noStrike">
                <a:solidFill>
                  <a:srgbClr val="1F2328"/>
                </a:solidFill>
                <a:effectLst/>
                <a:uFillTx/>
                <a:latin typeface="Yu Gothic UI"/>
                <a:ea typeface="Yu Gothic UI"/>
              </a:rPr>
              <a:t>回溯（</a:t>
            </a:r>
            <a:r>
              <a:rPr lang="en-US" sz="2170" b="1" u="none" strike="noStrike">
                <a:solidFill>
                  <a:srgbClr val="1F2328"/>
                </a:solidFill>
                <a:effectLst/>
                <a:uFillTx/>
                <a:latin typeface="Yu Gothic UI"/>
                <a:ea typeface="Yu Gothic UI"/>
              </a:rPr>
              <a:t>Backtest</a:t>
            </a:r>
            <a:r>
              <a:rPr lang="zh-TW" sz="2170" b="1" u="none" strike="noStrike">
                <a:solidFill>
                  <a:srgbClr val="1F2328"/>
                </a:solidFill>
                <a:effectLst/>
                <a:uFillTx/>
                <a:latin typeface="Yu Gothic UI"/>
                <a:ea typeface="Yu Gothic UI"/>
              </a:rPr>
              <a:t>）</a:t>
            </a:r>
            <a:r>
              <a:rPr lang="en-US" sz="2170" b="0" u="none" strike="noStrike">
                <a:solidFill>
                  <a:srgbClr val="1F2328"/>
                </a:solidFill>
                <a:effectLst/>
                <a:uFillTx/>
                <a:latin typeface="Yu Gothic UI"/>
                <a:ea typeface="Yu Gothic UI"/>
              </a:rPr>
              <a:t> 又稱 </a:t>
            </a:r>
            <a:r>
              <a:rPr lang="zh-TW" sz="2170" b="1" u="none" strike="noStrike">
                <a:solidFill>
                  <a:srgbClr val="1F2328"/>
                </a:solidFill>
                <a:effectLst/>
                <a:uFillTx/>
                <a:latin typeface="Yu Gothic UI"/>
                <a:ea typeface="Yu Gothic UI"/>
              </a:rPr>
              <a:t>回測</a:t>
            </a:r>
            <a:r>
              <a:rPr lang="zh-TW" sz="2170" b="0" u="none" strike="noStrike">
                <a:solidFill>
                  <a:srgbClr val="1F2328"/>
                </a:solidFill>
                <a:effectLst/>
                <a:uFillTx/>
                <a:latin typeface="Yu Gothic UI"/>
                <a:ea typeface="Yu Gothic UI"/>
              </a:rPr>
              <a:t>，是量化交易的核心步驟。它的概念非常簡單：</a:t>
            </a:r>
            <a:endParaRPr lang="en-US" sz="2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6" name="Shape 2"/>
          <p:cNvSpPr/>
          <p:nvPr/>
        </p:nvSpPr>
        <p:spPr>
          <a:xfrm>
            <a:off x="747360" y="2023560"/>
            <a:ext cx="64440" cy="412200"/>
          </a:xfrm>
          <a:prstGeom prst="rect">
            <a:avLst/>
          </a:prstGeom>
          <a:solidFill>
            <a:srgbClr val="D1D9E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2400" tIns="45000" rIns="324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107" name="Text 3"/>
          <p:cNvSpPr/>
          <p:nvPr/>
        </p:nvSpPr>
        <p:spPr>
          <a:xfrm>
            <a:off x="780840" y="1281600"/>
            <a:ext cx="10625040" cy="41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6120" tIns="0" rIns="276120" bIns="0" anchor="t">
            <a:noAutofit/>
          </a:bodyPr>
          <a:p>
            <a:pPr defTabSz="914040">
              <a:lnSpc>
                <a:spcPct val="130000"/>
              </a:lnSpc>
            </a:pPr>
            <a:r>
              <a:rPr lang="zh-TW" sz="2170" b="1" u="none" strike="noStrike">
                <a:solidFill>
                  <a:srgbClr val="59636E"/>
                </a:solidFill>
                <a:effectLst/>
                <a:uFillTx/>
                <a:latin typeface="Yu Gothic UI"/>
                <a:ea typeface="Yu Gothic UI"/>
              </a:rPr>
              <a:t>用過去的歷史數據，去驗證你的交易策略如果在那個當下執行，到底會不會賺錢。</a:t>
            </a:r>
            <a:endParaRPr lang="en-US" sz="2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8" name="Text 4"/>
          <p:cNvSpPr/>
          <p:nvPr/>
        </p:nvSpPr>
        <p:spPr>
          <a:xfrm>
            <a:off x="747360" y="1734120"/>
            <a:ext cx="10691640" cy="1654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040">
              <a:lnSpc>
                <a:spcPct val="125000"/>
              </a:lnSpc>
            </a:pPr>
            <a:r>
              <a:rPr lang="zh-TW" sz="2170" b="0" u="none" strike="noStrike">
                <a:solidFill>
                  <a:srgbClr val="1F2328"/>
                </a:solidFill>
                <a:effectLst/>
                <a:uFillTx/>
                <a:latin typeface="Yu Gothic UI"/>
                <a:ea typeface="Yu Gothic UI"/>
              </a:rPr>
              <a:t>舉例來說：如果你發明了一套號稱能穩定獲利的策略，你不能直接拿真錢去市場上測試。你應該先讓程式讀取過去三年（</a:t>
            </a:r>
            <a:r>
              <a:rPr lang="en-US" sz="2170" b="0" u="none" strike="noStrike">
                <a:solidFill>
                  <a:srgbClr val="1F2328"/>
                </a:solidFill>
                <a:effectLst/>
                <a:uFillTx/>
                <a:latin typeface="Yu Gothic UI"/>
                <a:ea typeface="Yu Gothic UI"/>
              </a:rPr>
              <a:t>2023~2026 </a:t>
            </a:r>
            <a:r>
              <a:rPr lang="zh-TW" sz="2170" b="0" u="none" strike="noStrike">
                <a:solidFill>
                  <a:srgbClr val="1F2328"/>
                </a:solidFill>
                <a:effectLst/>
                <a:uFillTx/>
                <a:latin typeface="Yu Gothic UI"/>
                <a:ea typeface="Yu Gothic UI"/>
              </a:rPr>
              <a:t>年）台積電（</a:t>
            </a:r>
            <a:r>
              <a:rPr lang="en-US" sz="2170" b="0" u="none" strike="noStrike">
                <a:solidFill>
                  <a:srgbClr val="1F2328"/>
                </a:solidFill>
                <a:effectLst/>
                <a:uFillTx/>
                <a:latin typeface="Yu Gothic UI"/>
                <a:ea typeface="Yu Gothic UI"/>
              </a:rPr>
              <a:t>2330</a:t>
            </a:r>
            <a:r>
              <a:rPr lang="zh-TW" sz="2170" b="0" u="none" strike="noStrike">
                <a:solidFill>
                  <a:srgbClr val="1F2328"/>
                </a:solidFill>
                <a:effectLst/>
                <a:uFillTx/>
                <a:latin typeface="Yu Gothic UI"/>
                <a:ea typeface="Yu Gothic UI"/>
              </a:rPr>
              <a:t>）的每日股價資料，然後模擬在過去的每一天，策略是否會觸發買進或賣出訊號，最後統計這段期間的總報酬、勝率等績效指標。</a:t>
            </a:r>
            <a:endParaRPr lang="en-US" sz="2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9" name="Text 5"/>
          <p:cNvSpPr/>
          <p:nvPr/>
        </p:nvSpPr>
        <p:spPr>
          <a:xfrm>
            <a:off x="763920" y="3647160"/>
            <a:ext cx="11286720" cy="37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040">
              <a:lnSpc>
                <a:spcPct val="109000"/>
              </a:lnSpc>
            </a:pPr>
            <a:r>
              <a:rPr lang="zh-TW" sz="2390" b="1" u="none" strike="noStrike">
                <a:solidFill>
                  <a:srgbClr val="1F2328"/>
                </a:solidFill>
                <a:effectLst/>
                <a:uFillTx/>
                <a:latin typeface="Yu Gothic UI"/>
                <a:ea typeface="Yu Gothic UI"/>
              </a:rPr>
              <a:t>回溯的核心價值</a:t>
            </a:r>
            <a:endParaRPr lang="en-US" sz="239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10" name="Table 0"/>
          <p:cNvGraphicFramePr/>
          <p:nvPr/>
        </p:nvGraphicFramePr>
        <p:xfrm>
          <a:off x="651600" y="4159440"/>
          <a:ext cx="11217600" cy="2246400"/>
        </p:xfrm>
        <a:graphic>
          <a:graphicData uri="http://schemas.openxmlformats.org/drawingml/2006/table">
            <a:tbl>
              <a:tblPr/>
              <a:tblGrid>
                <a:gridCol w="2269440"/>
                <a:gridCol w="8948520"/>
              </a:tblGrid>
              <a:tr h="445320">
                <a:tc>
                  <a:txBody>
                    <a:bodyPr lIns="123480" tIns="56880" rIns="123480" bIns="56880" anchor="t">
                      <a:noAutofit/>
                    </a:bodyPr>
                    <a:p>
                      <a:pPr algn="ctr" defTabSz="91404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zh-TW" sz="2200" b="1" u="none" strike="noStrike">
                          <a:solidFill>
                            <a:srgbClr val="1F2328"/>
                          </a:solidFill>
                          <a:effectLst/>
                          <a:uFillTx/>
                          <a:latin typeface="Yu Gothic UI"/>
                          <a:ea typeface="Yu Gothic UI"/>
                        </a:rPr>
                        <a:t>目的</a:t>
                      </a:r>
                      <a:endParaRPr lang="en-US" sz="2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23480" marR="123480" marT="56880" marB="56880">
                    <a:lnL w="12240">
                      <a:solidFill>
                        <a:srgbClr val="D1D9E0"/>
                      </a:solidFill>
                      <a:prstDash val="solid"/>
                    </a:lnL>
                    <a:lnR w="12240">
                      <a:solidFill>
                        <a:srgbClr val="D1D9E0"/>
                      </a:solidFill>
                      <a:prstDash val="solid"/>
                    </a:lnR>
                    <a:lnT w="12240">
                      <a:solidFill>
                        <a:srgbClr val="D1D9E0"/>
                      </a:solidFill>
                      <a:prstDash val="solid"/>
                    </a:lnT>
                    <a:lnB w="12240">
                      <a:solidFill>
                        <a:srgbClr val="D1D9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23480" tIns="56880" rIns="123480" bIns="56880" anchor="t">
                      <a:noAutofit/>
                    </a:bodyPr>
                    <a:p>
                      <a:pPr algn="ctr" defTabSz="91404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zh-TW" sz="2200" b="1" u="none" strike="noStrike">
                          <a:solidFill>
                            <a:srgbClr val="1F2328"/>
                          </a:solidFill>
                          <a:effectLst/>
                          <a:uFillTx/>
                          <a:latin typeface="Yu Gothic UI"/>
                          <a:ea typeface="Yu Gothic UI"/>
                        </a:rPr>
                        <a:t>說明</a:t>
                      </a:r>
                      <a:endParaRPr lang="en-US" sz="2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23480" marR="123480" marT="56880" marB="56880">
                    <a:lnL w="12240">
                      <a:solidFill>
                        <a:srgbClr val="D1D9E0"/>
                      </a:solidFill>
                      <a:prstDash val="solid"/>
                    </a:lnL>
                    <a:lnR w="12240">
                      <a:solidFill>
                        <a:srgbClr val="D1D9E0"/>
                      </a:solidFill>
                      <a:prstDash val="solid"/>
                    </a:lnR>
                    <a:lnT w="12240">
                      <a:solidFill>
                        <a:srgbClr val="D1D9E0"/>
                      </a:solidFill>
                      <a:prstDash val="solid"/>
                    </a:lnT>
                    <a:lnB w="12240">
                      <a:solidFill>
                        <a:srgbClr val="D1D9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45320">
                <a:tc>
                  <a:txBody>
                    <a:bodyPr lIns="123480" tIns="56880" rIns="123480" bIns="56880" anchor="t">
                      <a:noAutofit/>
                    </a:bodyPr>
                    <a:p>
                      <a:pPr defTabSz="91404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zh-TW" sz="2200" b="1" u="none" strike="noStrike">
                          <a:solidFill>
                            <a:srgbClr val="1F2328"/>
                          </a:solidFill>
                          <a:effectLst/>
                          <a:uFillTx/>
                          <a:latin typeface="Yu Gothic UI"/>
                          <a:ea typeface="Yu Gothic UI"/>
                        </a:rPr>
                        <a:t>驗證策略有效性</a:t>
                      </a:r>
                      <a:endParaRPr lang="en-US" sz="2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23480" marR="123480" marT="56880" marB="56880">
                    <a:lnL w="12240">
                      <a:solidFill>
                        <a:srgbClr val="D1D9E0"/>
                      </a:solidFill>
                      <a:prstDash val="solid"/>
                    </a:lnL>
                    <a:lnR w="12240">
                      <a:solidFill>
                        <a:srgbClr val="D1D9E0"/>
                      </a:solidFill>
                      <a:prstDash val="solid"/>
                    </a:lnR>
                    <a:lnT w="12240">
                      <a:solidFill>
                        <a:srgbClr val="D1D9E0"/>
                      </a:solidFill>
                      <a:prstDash val="solid"/>
                    </a:lnT>
                    <a:lnB w="12240">
                      <a:solidFill>
                        <a:srgbClr val="D1D9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23480" tIns="56880" rIns="123480" bIns="56880" anchor="t">
                      <a:noAutofit/>
                    </a:bodyPr>
                    <a:p>
                      <a:pPr defTabSz="91404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zh-TW" sz="2200" b="0" u="none" strike="noStrike">
                          <a:solidFill>
                            <a:srgbClr val="1F2328"/>
                          </a:solidFill>
                          <a:effectLst/>
                          <a:uFillTx/>
                          <a:latin typeface="Yu Gothic UI"/>
                          <a:ea typeface="Yu Gothic UI"/>
                        </a:rPr>
                        <a:t>在投入真實資金之前，先用歷史數據檢驗策略是否真的能賺錢</a:t>
                      </a:r>
                      <a:endParaRPr lang="en-US" sz="2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23480" marR="123480" marT="56880" marB="56880">
                    <a:lnL w="12240">
                      <a:solidFill>
                        <a:srgbClr val="D1D9E0"/>
                      </a:solidFill>
                      <a:prstDash val="solid"/>
                    </a:lnL>
                    <a:lnR w="12240">
                      <a:solidFill>
                        <a:srgbClr val="D1D9E0"/>
                      </a:solidFill>
                      <a:prstDash val="solid"/>
                    </a:lnR>
                    <a:lnT w="12240">
                      <a:solidFill>
                        <a:srgbClr val="D1D9E0"/>
                      </a:solidFill>
                      <a:prstDash val="solid"/>
                    </a:lnT>
                    <a:lnB w="12240">
                      <a:solidFill>
                        <a:srgbClr val="D1D9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45320">
                <a:tc>
                  <a:txBody>
                    <a:bodyPr lIns="123480" tIns="56880" rIns="123480" bIns="56880" anchor="t">
                      <a:noAutofit/>
                    </a:bodyPr>
                    <a:p>
                      <a:pPr defTabSz="91404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zh-TW" sz="2200" b="1" u="none" strike="noStrike">
                          <a:solidFill>
                            <a:srgbClr val="1F2328"/>
                          </a:solidFill>
                          <a:effectLst/>
                          <a:uFillTx/>
                          <a:latin typeface="Yu Gothic UI"/>
                          <a:ea typeface="Yu Gothic UI"/>
                        </a:rPr>
                        <a:t>參數最佳化</a:t>
                      </a:r>
                      <a:endParaRPr lang="en-US" sz="2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23480" marR="123480" marT="56880" marB="56880">
                    <a:lnL w="12240">
                      <a:solidFill>
                        <a:srgbClr val="D1D9E0"/>
                      </a:solidFill>
                      <a:prstDash val="solid"/>
                    </a:lnL>
                    <a:lnR w="12240">
                      <a:solidFill>
                        <a:srgbClr val="D1D9E0"/>
                      </a:solidFill>
                      <a:prstDash val="solid"/>
                    </a:lnR>
                    <a:lnT w="12240">
                      <a:solidFill>
                        <a:srgbClr val="D1D9E0"/>
                      </a:solidFill>
                      <a:prstDash val="solid"/>
                    </a:lnT>
                    <a:lnB w="12240">
                      <a:solidFill>
                        <a:srgbClr val="D1D9E0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lIns="123480" tIns="56880" rIns="123480" bIns="56880" anchor="t">
                      <a:noAutofit/>
                    </a:bodyPr>
                    <a:p>
                      <a:pPr defTabSz="91404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zh-TW" sz="2200" b="0" u="none" strike="noStrike">
                          <a:solidFill>
                            <a:srgbClr val="1F2328"/>
                          </a:solidFill>
                          <a:effectLst/>
                          <a:uFillTx/>
                          <a:latin typeface="Yu Gothic UI"/>
                          <a:ea typeface="Yu Gothic UI"/>
                        </a:rPr>
                        <a:t>調整策略參數（如均線週期、標準差倍數），找出歷史表現最好的組合</a:t>
                      </a:r>
                      <a:endParaRPr lang="en-US" sz="2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23480" marR="123480" marT="56880" marB="56880">
                    <a:lnL w="12240">
                      <a:solidFill>
                        <a:srgbClr val="D1D9E0"/>
                      </a:solidFill>
                      <a:prstDash val="solid"/>
                    </a:lnL>
                    <a:lnR w="12240">
                      <a:solidFill>
                        <a:srgbClr val="D1D9E0"/>
                      </a:solidFill>
                      <a:prstDash val="solid"/>
                    </a:lnR>
                    <a:lnT w="12240">
                      <a:solidFill>
                        <a:srgbClr val="D1D9E0"/>
                      </a:solidFill>
                      <a:prstDash val="solid"/>
                    </a:lnT>
                    <a:lnB w="12240">
                      <a:solidFill>
                        <a:srgbClr val="D1D9E0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</a:tr>
              <a:tr h="445320">
                <a:tc>
                  <a:txBody>
                    <a:bodyPr lIns="123480" tIns="56880" rIns="123480" bIns="56880" anchor="t">
                      <a:noAutofit/>
                    </a:bodyPr>
                    <a:p>
                      <a:pPr defTabSz="91404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zh-TW" sz="2200" b="1" u="none" strike="noStrike">
                          <a:solidFill>
                            <a:srgbClr val="1F2328"/>
                          </a:solidFill>
                          <a:effectLst/>
                          <a:uFillTx/>
                          <a:latin typeface="Yu Gothic UI"/>
                          <a:ea typeface="Yu Gothic UI"/>
                        </a:rPr>
                        <a:t>了解策略特性</a:t>
                      </a:r>
                      <a:endParaRPr lang="en-US" sz="2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23480" marR="123480" marT="56880" marB="56880">
                    <a:lnL w="12240">
                      <a:solidFill>
                        <a:srgbClr val="D1D9E0"/>
                      </a:solidFill>
                      <a:prstDash val="solid"/>
                    </a:lnL>
                    <a:lnR w="12240">
                      <a:solidFill>
                        <a:srgbClr val="D1D9E0"/>
                      </a:solidFill>
                      <a:prstDash val="solid"/>
                    </a:lnR>
                    <a:lnT w="12240">
                      <a:solidFill>
                        <a:srgbClr val="D1D9E0"/>
                      </a:solidFill>
                      <a:prstDash val="solid"/>
                    </a:lnT>
                    <a:lnB w="12240">
                      <a:solidFill>
                        <a:srgbClr val="D1D9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23480" tIns="56880" rIns="123480" bIns="56880" anchor="t">
                      <a:noAutofit/>
                    </a:bodyPr>
                    <a:p>
                      <a:pPr defTabSz="91404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zh-TW" sz="2200" b="0" u="none" strike="noStrike">
                          <a:solidFill>
                            <a:srgbClr val="1F2328"/>
                          </a:solidFill>
                          <a:effectLst/>
                          <a:uFillTx/>
                          <a:latin typeface="Yu Gothic UI"/>
                          <a:ea typeface="Yu Gothic UI"/>
                        </a:rPr>
                        <a:t>了解策略在什麼市場環境（震盪盤、大牛市、崩盤）表現好或差</a:t>
                      </a:r>
                      <a:endParaRPr lang="en-US" sz="2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23480" marR="123480" marT="56880" marB="56880">
                    <a:lnL w="12240">
                      <a:solidFill>
                        <a:srgbClr val="D1D9E0"/>
                      </a:solidFill>
                      <a:prstDash val="solid"/>
                    </a:lnL>
                    <a:lnR w="12240">
                      <a:solidFill>
                        <a:srgbClr val="D1D9E0"/>
                      </a:solidFill>
                      <a:prstDash val="solid"/>
                    </a:lnR>
                    <a:lnT w="12240">
                      <a:solidFill>
                        <a:srgbClr val="D1D9E0"/>
                      </a:solidFill>
                      <a:prstDash val="solid"/>
                    </a:lnT>
                    <a:lnB w="12240">
                      <a:solidFill>
                        <a:srgbClr val="D1D9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45320">
                <a:tc>
                  <a:txBody>
                    <a:bodyPr lIns="123480" tIns="56880" rIns="123480" bIns="56880" anchor="t">
                      <a:noAutofit/>
                    </a:bodyPr>
                    <a:p>
                      <a:pPr defTabSz="91404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zh-TW" sz="2200" b="1" u="none" strike="noStrike">
                          <a:solidFill>
                            <a:srgbClr val="1F2328"/>
                          </a:solidFill>
                          <a:effectLst/>
                          <a:uFillTx/>
                          <a:latin typeface="Yu Gothic UI"/>
                          <a:ea typeface="Yu Gothic UI"/>
                        </a:rPr>
                        <a:t>建立交易信心</a:t>
                      </a:r>
                      <a:endParaRPr lang="en-US" sz="2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23480" marR="123480" marT="56880" marB="56880">
                    <a:lnL w="12240">
                      <a:solidFill>
                        <a:srgbClr val="D1D9E0"/>
                      </a:solidFill>
                      <a:prstDash val="solid"/>
                    </a:lnL>
                    <a:lnR w="12240">
                      <a:solidFill>
                        <a:srgbClr val="D1D9E0"/>
                      </a:solidFill>
                      <a:prstDash val="solid"/>
                    </a:lnR>
                    <a:lnT w="12240">
                      <a:solidFill>
                        <a:srgbClr val="D1D9E0"/>
                      </a:solidFill>
                      <a:prstDash val="solid"/>
                    </a:lnT>
                    <a:lnB w="12240">
                      <a:solidFill>
                        <a:srgbClr val="D1D9E0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lIns="123480" tIns="56880" rIns="123480" bIns="56880" anchor="t">
                      <a:noAutofit/>
                    </a:bodyPr>
                    <a:p>
                      <a:pPr defTabSz="91404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zh-TW" sz="2200" b="0" u="none" strike="noStrike">
                          <a:solidFill>
                            <a:srgbClr val="1F2328"/>
                          </a:solidFill>
                          <a:effectLst/>
                          <a:uFillTx/>
                          <a:latin typeface="Yu Gothic UI"/>
                          <a:ea typeface="Yu Gothic UI"/>
                        </a:rPr>
                        <a:t>經過足夠的回溯驗證後，在實盤執行時才不會因為短線虧損而恐慌</a:t>
                      </a:r>
                      <a:endParaRPr lang="en-US" sz="2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23480" marR="123480" marT="56880" marB="56880">
                    <a:lnL w="12240">
                      <a:solidFill>
                        <a:srgbClr val="D1D9E0"/>
                      </a:solidFill>
                      <a:prstDash val="solid"/>
                    </a:lnL>
                    <a:lnR w="12240">
                      <a:solidFill>
                        <a:srgbClr val="D1D9E0"/>
                      </a:solidFill>
                      <a:prstDash val="solid"/>
                    </a:lnR>
                    <a:lnT w="12240">
                      <a:solidFill>
                        <a:srgbClr val="D1D9E0"/>
                      </a:solidFill>
                      <a:prstDash val="solid"/>
                    </a:lnT>
                    <a:lnB w="12240">
                      <a:solidFill>
                        <a:srgbClr val="D1D9E0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</a:tr>
            </a:tbl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PlaceHolder 1"/>
          <p:cNvSpPr>
            <a:spLocks noGrp="1"/>
          </p:cNvSpPr>
          <p:nvPr>
            <p:ph type="title"/>
          </p:nvPr>
        </p:nvSpPr>
        <p:spPr>
          <a:xfrm>
            <a:off x="1293840" y="609480"/>
            <a:ext cx="4912920" cy="1445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p>
            <a:pPr indent="0" algn="l" defTabSz="914400">
              <a:lnSpc>
                <a:spcPct val="80000"/>
              </a:lnSpc>
              <a:buNone/>
              <a:tabLst>
                <a:tab pos="0" algn="l"/>
              </a:tabLst>
            </a:pP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策略的回測</a:t>
            </a: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112" name="PlaceHolder 2"/>
          <p:cNvSpPr>
            <a:spLocks noGrp="1"/>
          </p:cNvSpPr>
          <p:nvPr>
            <p:ph type="sldNum" idx="25"/>
          </p:nvPr>
        </p:nvSpPr>
        <p:spPr>
          <a:xfrm>
            <a:off x="0" y="609480"/>
            <a:ext cx="758160" cy="378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pos="0" algn="l"/>
              </a:tabLst>
              <a:defRPr lang="en-US" sz="2400" b="1" u="none" strike="noStrike">
                <a:solidFill>
                  <a:schemeClr val="dk1"/>
                </a:solidFill>
                <a:effectLst/>
                <a:uFillTx/>
                <a:latin typeface="Century Gothic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fld id="{203B44CE-3C6E-486B-96AF-17557E190DE0}" type="slidenum"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3</a:t>
            </a:fld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3" name="PlaceHolder 3"/>
          <p:cNvSpPr>
            <a:spLocks noGrp="1"/>
          </p:cNvSpPr>
          <p:nvPr>
            <p:ph/>
          </p:nvPr>
        </p:nvSpPr>
        <p:spPr>
          <a:xfrm>
            <a:off x="1311120" y="1143000"/>
            <a:ext cx="8209800" cy="540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 lnSpcReduction="9999"/>
          </a:bodyPr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模式一：</a:t>
            </a:r>
            <a:r>
              <a:rPr lang="en-US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backtest.py — Yahoo Finance </a:t>
            </a: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批次回溯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這是</a:t>
            </a: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主要回溯工具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，使用 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Yahoo Finance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的免費歷史股價資料。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特性：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✅  資料源：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Yahoo Finance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（無需 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API Key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，完全免費）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✅  自動掃描 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config/symbols.py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中定義的所有標的（目前 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12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檔：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2330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、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2454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、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2317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、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2881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、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2382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、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2886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、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0050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、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0056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、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00632R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、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00646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、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006208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、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00878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）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✅  單一策略執行，一次跑完全部標的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✅  自動匯出 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CSV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績效報表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✅  支援命令列參數：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--strategy 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選擇策略、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--start 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設定開始日期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❌  不支援複委託手續費與證交稅計算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適用場景：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 快速驗證單一策略在整個觀察清單上的表現。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PlaceHolder 1"/>
          <p:cNvSpPr>
            <a:spLocks noGrp="1"/>
          </p:cNvSpPr>
          <p:nvPr>
            <p:ph type="title"/>
          </p:nvPr>
        </p:nvSpPr>
        <p:spPr>
          <a:xfrm>
            <a:off x="1293840" y="609480"/>
            <a:ext cx="4912920" cy="1445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p>
            <a:pPr indent="0" algn="l" defTabSz="914400">
              <a:lnSpc>
                <a:spcPct val="80000"/>
              </a:lnSpc>
              <a:buNone/>
              <a:tabLst>
                <a:tab pos="0" algn="l"/>
              </a:tabLst>
            </a:pP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策略的回測</a:t>
            </a: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115" name="PlaceHolder 2"/>
          <p:cNvSpPr>
            <a:spLocks noGrp="1"/>
          </p:cNvSpPr>
          <p:nvPr>
            <p:ph type="sldNum" idx="26"/>
          </p:nvPr>
        </p:nvSpPr>
        <p:spPr>
          <a:xfrm>
            <a:off x="0" y="609480"/>
            <a:ext cx="758160" cy="378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pos="0" algn="l"/>
              </a:tabLst>
              <a:defRPr lang="en-US" sz="2400" b="1" u="none" strike="noStrike">
                <a:solidFill>
                  <a:schemeClr val="dk1"/>
                </a:solidFill>
                <a:effectLst/>
                <a:uFillTx/>
                <a:latin typeface="Century Gothic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fld id="{01F95FF8-561C-4F71-83B5-03BFB271ADC2}" type="slidenum"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4</a:t>
            </a:fld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6" name="PlaceHolder 3"/>
          <p:cNvSpPr>
            <a:spLocks noGrp="1"/>
          </p:cNvSpPr>
          <p:nvPr>
            <p:ph/>
          </p:nvPr>
        </p:nvSpPr>
        <p:spPr>
          <a:xfrm>
            <a:off x="1311120" y="1143000"/>
            <a:ext cx="8209800" cy="540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模式二：</a:t>
            </a:r>
            <a:r>
              <a:rPr lang="en-US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backtest_finmind.py — FinMind </a:t>
            </a: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多策略比較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進階回溯工具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，使用 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FinMind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台灣股市資料庫。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特性：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✅  資料源：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FinMind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（台灣在地資料庫，需免費註冊取得 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API Token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）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✅  四個內建策略（＋週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KD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、買進持有對照）同時跑在同一支股票上，方便橫向比較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✅  支援手續費設定：買進 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0.1425%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、賣出 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0.4425%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（含證交稅）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✅  回傳完整績效數據：最終權益、買賣次數、勝率、報酬率；支援 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--years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逐年比較與 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CSV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匯出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適用場景： 針對單一標的，比較各策略哪個歷史表現最好。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PlaceHolder 1"/>
          <p:cNvSpPr>
            <a:spLocks noGrp="1"/>
          </p:cNvSpPr>
          <p:nvPr>
            <p:ph type="title"/>
          </p:nvPr>
        </p:nvSpPr>
        <p:spPr>
          <a:xfrm>
            <a:off x="1293840" y="609480"/>
            <a:ext cx="4912920" cy="1445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p>
            <a:pPr indent="0" algn="l" defTabSz="914400">
              <a:lnSpc>
                <a:spcPct val="80000"/>
              </a:lnSpc>
              <a:buNone/>
              <a:tabLst>
                <a:tab pos="0" algn="l"/>
              </a:tabLst>
            </a:pP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策略的回測</a:t>
            </a: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118" name="PlaceHolder 2"/>
          <p:cNvSpPr>
            <a:spLocks noGrp="1"/>
          </p:cNvSpPr>
          <p:nvPr>
            <p:ph type="sldNum" idx="27"/>
          </p:nvPr>
        </p:nvSpPr>
        <p:spPr>
          <a:xfrm>
            <a:off x="0" y="609480"/>
            <a:ext cx="758160" cy="378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pos="0" algn="l"/>
              </a:tabLst>
              <a:defRPr lang="en-US" sz="2400" b="1" u="none" strike="noStrike">
                <a:solidFill>
                  <a:schemeClr val="dk1"/>
                </a:solidFill>
                <a:effectLst/>
                <a:uFillTx/>
                <a:latin typeface="Century Gothic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fld id="{20B6AE3C-5A9C-45C2-B133-47B833DFC186}" type="slidenum"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5</a:t>
            </a:fld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9" name="PlaceHolder 3"/>
          <p:cNvSpPr>
            <a:spLocks noGrp="1"/>
          </p:cNvSpPr>
          <p:nvPr>
            <p:ph/>
          </p:nvPr>
        </p:nvSpPr>
        <p:spPr>
          <a:xfrm>
            <a:off x="1311120" y="1143000"/>
            <a:ext cx="8209800" cy="540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 lnSpcReduction="9999"/>
          </a:bodyPr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模式三：</a:t>
            </a:r>
            <a:r>
              <a:rPr lang="en-US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backtest_esun.py — </a:t>
            </a: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玉山 </a:t>
            </a:r>
            <a:r>
              <a:rPr lang="en-US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E.Sun SDK </a:t>
            </a: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回溯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使用玉山證券提供的 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SDK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擷取歷史行情資料進行回測。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特性：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✅  資料源：玉山 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E.Sun MarketData API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（需先完成 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SDK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安裝）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✅  支援 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--symbol 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指定單一標的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✅  支援 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--strategy 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指定策略（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vwap / ma_cross / bollinger / breakout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）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✅  使用 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config.simulation.ini.example 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中的 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API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設定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✅  支援函式版策略（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strategies/vwap_deviation.py 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等）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🚫  </a:t>
            </a: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限單一標的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，非批次執行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適用場景：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 使用券商的真實歷史行情資料驗證策略，避免 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Yahoo Finance / FinMind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的資料偏差。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PlaceHolder 1"/>
          <p:cNvSpPr>
            <a:spLocks noGrp="1"/>
          </p:cNvSpPr>
          <p:nvPr>
            <p:ph type="title"/>
          </p:nvPr>
        </p:nvSpPr>
        <p:spPr>
          <a:xfrm>
            <a:off x="1293840" y="609480"/>
            <a:ext cx="9827640" cy="5313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p>
            <a:pPr indent="0" algn="l" defTabSz="914400">
              <a:lnSpc>
                <a:spcPct val="80000"/>
              </a:lnSpc>
              <a:buNone/>
              <a:tabLst>
                <a:tab pos="0" algn="l"/>
              </a:tabLst>
            </a:pP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策略的回測</a:t>
            </a: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121" name="PlaceHolder 2"/>
          <p:cNvSpPr>
            <a:spLocks noGrp="1"/>
          </p:cNvSpPr>
          <p:nvPr>
            <p:ph type="sldNum" idx="28"/>
          </p:nvPr>
        </p:nvSpPr>
        <p:spPr>
          <a:xfrm>
            <a:off x="0" y="609480"/>
            <a:ext cx="758160" cy="378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lstStyle>
            <a:lvl1pPr indent="0" algn="ctr" defTabSz="914400">
              <a:lnSpc>
                <a:spcPct val="90000"/>
              </a:lnSpc>
              <a:spcAft>
                <a:spcPts val="601"/>
              </a:spcAft>
              <a:buNone/>
              <a:tabLst>
                <a:tab pos="0" algn="l"/>
              </a:tabLst>
              <a:defRPr lang="en-US" sz="2000" b="1" u="none" strike="noStrike">
                <a:solidFill>
                  <a:schemeClr val="dk1"/>
                </a:solidFill>
                <a:effectLst/>
                <a:uFillTx/>
                <a:latin typeface="Century Gothic"/>
              </a:defRPr>
            </a:lvl1pPr>
          </a:lstStyle>
          <a:p>
            <a:pPr indent="0" algn="ctr" defTabSz="914400">
              <a:lnSpc>
                <a:spcPct val="90000"/>
              </a:lnSpc>
              <a:spcAft>
                <a:spcPts val="601"/>
              </a:spcAft>
              <a:buNone/>
              <a:tabLst>
                <a:tab pos="0" algn="l"/>
              </a:tabLst>
            </a:pPr>
            <a:fld id="{2E947417-8152-476F-89D0-E5DF9411CCA7}" type="slidenum"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6</a:t>
            </a:fld>
            <a:endParaRPr lang="en-US" sz="2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2" name="文字方塊 8"/>
          <p:cNvSpPr/>
          <p:nvPr/>
        </p:nvSpPr>
        <p:spPr>
          <a:xfrm>
            <a:off x="1293840" y="1324080"/>
            <a:ext cx="9370440" cy="515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rmAutofit/>
          </a:bodyPr>
          <a:p>
            <a:pPr marL="45720" defTabSz="914400">
              <a:lnSpc>
                <a:spcPts val="1500"/>
              </a:lnSpc>
              <a:spcAft>
                <a:spcPts val="1199"/>
              </a:spcAft>
            </a:pP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模式四：</a:t>
            </a:r>
            <a:r>
              <a:rPr lang="en-US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simulate_portfolio.py — </a:t>
            </a: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投資組合模擬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502920" defTabSz="914400">
              <a:lnSpc>
                <a:spcPts val="1500"/>
              </a:lnSpc>
              <a:spcAft>
                <a:spcPts val="1199"/>
              </a:spcAft>
            </a:pP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將回測結果延伸為完整投資組合模擬，支援兩種資金模型：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502920" defTabSz="914400">
              <a:lnSpc>
                <a:spcPts val="1500"/>
              </a:lnSpc>
              <a:spcAft>
                <a:spcPts val="1199"/>
              </a:spcAft>
            </a:pP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輸出： 自動產生 </a:t>
            </a:r>
            <a:r>
              <a:rPr lang="en-US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Markdown </a:t>
            </a: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回溯報告（含各標的明細、總績效、策略比較表）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502920" defTabSz="914400">
              <a:lnSpc>
                <a:spcPts val="1500"/>
              </a:lnSpc>
              <a:spcAft>
                <a:spcPts val="1199"/>
              </a:spcAft>
            </a:pP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（註：模式一～三為單一策略／單一標的；模式四才是多策略投資組合）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defTabSz="914400">
              <a:lnSpc>
                <a:spcPct val="100000"/>
              </a:lnSpc>
            </a:pPr>
            <a:r>
              <a:rPr lang="zh-TW" sz="1800" b="0" u="none" strike="noStrike">
                <a:solidFill>
                  <a:schemeClr val="dk1"/>
                </a:solidFill>
                <a:effectLst/>
                <a:uFillTx/>
                <a:latin typeface="Century Gothic"/>
                <a:ea typeface="Century Gothic"/>
              </a:rPr>
              <a:t>使用 </a:t>
            </a: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entury Gothic"/>
                <a:ea typeface="Century Gothic"/>
              </a:rPr>
              <a:t>TWSE </a:t>
            </a:r>
            <a:r>
              <a:rPr lang="zh-TW" sz="1800" b="0" u="none" strike="noStrike">
                <a:solidFill>
                  <a:schemeClr val="dk1"/>
                </a:solidFill>
                <a:effectLst/>
                <a:uFillTx/>
                <a:latin typeface="Century Gothic"/>
                <a:ea typeface="Century Gothic"/>
              </a:rPr>
              <a:t>公開 </a:t>
            </a: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entury Gothic"/>
                <a:ea typeface="Century Gothic"/>
              </a:rPr>
              <a:t>API</a:t>
            </a:r>
            <a:r>
              <a:rPr lang="zh-TW" sz="1800" b="0" u="none" strike="noStrike">
                <a:solidFill>
                  <a:schemeClr val="dk1"/>
                </a:solidFill>
                <a:effectLst/>
                <a:uFillTx/>
                <a:latin typeface="Century Gothic"/>
                <a:ea typeface="Century Gothic"/>
              </a:rPr>
              <a:t>（免 </a:t>
            </a: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entury Gothic"/>
                <a:ea typeface="Century Gothic"/>
              </a:rPr>
              <a:t>Key</a:t>
            </a:r>
            <a:r>
              <a:rPr lang="zh-TW" sz="1800" b="0" u="none" strike="noStrike">
                <a:solidFill>
                  <a:schemeClr val="dk1"/>
                </a:solidFill>
                <a:effectLst/>
                <a:uFillTx/>
                <a:latin typeface="Century Gothic"/>
                <a:ea typeface="Century Gothic"/>
              </a:rPr>
              <a:t>、免註冊）取得三大法人買賣資料，搭配 </a:t>
            </a: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entury Gothic"/>
                <a:ea typeface="Century Gothic"/>
              </a:rPr>
              <a:t>FinMind </a:t>
            </a:r>
            <a:r>
              <a:rPr lang="zh-TW" sz="1800" b="0" u="none" strike="noStrike">
                <a:solidFill>
                  <a:schemeClr val="dk1"/>
                </a:solidFill>
                <a:effectLst/>
                <a:uFillTx/>
                <a:latin typeface="Century Gothic"/>
                <a:ea typeface="Century Gothic"/>
              </a:rPr>
              <a:t>價格資料進行回測。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" defTabSz="914400">
              <a:lnSpc>
                <a:spcPct val="110000"/>
              </a:lnSpc>
              <a:spcBef>
                <a:spcPts val="1800"/>
              </a:spcBef>
              <a:spcAft>
                <a:spcPts val="1199"/>
              </a:spcAft>
            </a:pP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簡單選擇：　（不確定就直接讓ＡＩ執行）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" defTabSz="914400">
              <a:lnSpc>
                <a:spcPts val="1559"/>
              </a:lnSpc>
              <a:spcAft>
                <a:spcPts val="1199"/>
              </a:spcAft>
            </a:pP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單一策略多目標＝＞模式一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" defTabSz="914400">
              <a:lnSpc>
                <a:spcPts val="1559"/>
              </a:lnSpc>
              <a:spcAft>
                <a:spcPts val="1199"/>
              </a:spcAft>
            </a:pP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單一目標多策略＝＞模式二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" defTabSz="914400">
              <a:lnSpc>
                <a:spcPts val="1559"/>
              </a:lnSpc>
              <a:spcAft>
                <a:spcPts val="1199"/>
              </a:spcAft>
            </a:pP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玉山資料／單一目標／單一策略＝＞模式三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" defTabSz="914400">
              <a:lnSpc>
                <a:spcPts val="1559"/>
              </a:lnSpc>
              <a:spcAft>
                <a:spcPts val="1199"/>
              </a:spcAft>
            </a:pP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實盤設定多目標多策略回測＝＞模式四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" defTabSz="914400">
              <a:lnSpc>
                <a:spcPts val="1559"/>
              </a:lnSpc>
              <a:spcAft>
                <a:spcPts val="1199"/>
              </a:spcAf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" defTabSz="914400">
              <a:lnSpc>
                <a:spcPct val="110000"/>
              </a:lnSpc>
              <a:spcBef>
                <a:spcPts val="1800"/>
              </a:spcBef>
              <a:spcAft>
                <a:spcPts val="1199"/>
              </a:spcAf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PlaceHolder 1"/>
          <p:cNvSpPr>
            <a:spLocks noGrp="1"/>
          </p:cNvSpPr>
          <p:nvPr>
            <p:ph type="title"/>
          </p:nvPr>
        </p:nvSpPr>
        <p:spPr>
          <a:xfrm>
            <a:off x="1293840" y="609480"/>
            <a:ext cx="9827640" cy="5313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p>
            <a:pPr indent="0" algn="l" defTabSz="914400">
              <a:lnSpc>
                <a:spcPct val="80000"/>
              </a:lnSpc>
              <a:buNone/>
              <a:tabLst>
                <a:tab pos="0" algn="l"/>
              </a:tabLst>
            </a:pP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回測的執行</a:t>
            </a: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124" name="PlaceHolder 2"/>
          <p:cNvSpPr>
            <a:spLocks noGrp="1"/>
          </p:cNvSpPr>
          <p:nvPr>
            <p:ph type="sldNum" idx="29"/>
          </p:nvPr>
        </p:nvSpPr>
        <p:spPr>
          <a:xfrm>
            <a:off x="0" y="609480"/>
            <a:ext cx="758160" cy="378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lstStyle>
            <a:lvl1pPr indent="0" algn="ctr" defTabSz="914400">
              <a:lnSpc>
                <a:spcPct val="90000"/>
              </a:lnSpc>
              <a:spcAft>
                <a:spcPts val="601"/>
              </a:spcAft>
              <a:buNone/>
              <a:tabLst>
                <a:tab pos="0" algn="l"/>
              </a:tabLst>
              <a:defRPr lang="en-US" sz="2000" b="1" u="none" strike="noStrike">
                <a:solidFill>
                  <a:schemeClr val="dk1"/>
                </a:solidFill>
                <a:effectLst/>
                <a:uFillTx/>
                <a:latin typeface="Century Gothic"/>
              </a:defRPr>
            </a:lvl1pPr>
          </a:lstStyle>
          <a:p>
            <a:pPr indent="0" algn="ctr" defTabSz="914400">
              <a:lnSpc>
                <a:spcPct val="90000"/>
              </a:lnSpc>
              <a:spcAft>
                <a:spcPts val="601"/>
              </a:spcAft>
              <a:buNone/>
              <a:tabLst>
                <a:tab pos="0" algn="l"/>
              </a:tabLst>
            </a:pPr>
            <a:fld id="{4076D2F8-C3CD-4EBB-B565-006D0A0716F0}" type="slidenum"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7</a:t>
            </a:fld>
            <a:endParaRPr lang="en-US" sz="2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5" name="文字方塊 8"/>
          <p:cNvSpPr/>
          <p:nvPr/>
        </p:nvSpPr>
        <p:spPr>
          <a:xfrm>
            <a:off x="1293840" y="1324080"/>
            <a:ext cx="9370440" cy="515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rmAutofit fontScale="77500" lnSpcReduction="19999"/>
          </a:bodyPr>
          <a:p>
            <a:pPr defTabSz="914400">
              <a:lnSpc>
                <a:spcPct val="100000"/>
              </a:lnSpc>
            </a:pPr>
            <a:r>
              <a:rPr lang="zh-TW" sz="1800" b="0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步驟 </a:t>
            </a: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1</a:t>
            </a:r>
            <a:r>
              <a:rPr lang="zh-TW" sz="1800" b="0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：讀取</a:t>
            </a:r>
            <a:r>
              <a:rPr lang="zh-TW" sz="1800" b="0" u="none" strike="noStrike">
                <a:solidFill>
                  <a:schemeClr val="dk1"/>
                </a:solidFill>
                <a:effectLst/>
                <a:highlight>
                  <a:srgbClr val="FFFF00"/>
                </a:highlight>
                <a:uFillTx/>
                <a:latin typeface="Century Gothic"/>
              </a:rPr>
              <a:t>策略與參數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  └─ 從命令列或環境變數取得策略名稱（預設 </a:t>
            </a: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vwap</a:t>
            </a:r>
            <a:r>
              <a:rPr lang="zh-TW" sz="1800" b="0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）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  └─ 從 </a:t>
            </a: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STRATEGY_CONFIG </a:t>
            </a:r>
            <a:r>
              <a:rPr lang="zh-TW" sz="1800" b="0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映射表取得對應的策略函式與參數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zh-TW" sz="1800" b="0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步驟 </a:t>
            </a: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2</a:t>
            </a:r>
            <a:r>
              <a:rPr lang="zh-TW" sz="1800" b="0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：初始化</a:t>
            </a:r>
            <a:r>
              <a:rPr lang="zh-TW" sz="1800" b="0" u="none" strike="noStrike">
                <a:solidFill>
                  <a:schemeClr val="dk1"/>
                </a:solidFill>
                <a:effectLst/>
                <a:highlight>
                  <a:srgbClr val="FFFF00"/>
                </a:highlight>
                <a:uFillTx/>
                <a:latin typeface="Century Gothic"/>
              </a:rPr>
              <a:t>策略引</a:t>
            </a:r>
            <a:r>
              <a:rPr lang="zh-TW" sz="1800" b="0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擎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  └─ StrategyEngine(strategy_func, **params)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  └─ 引擎本身非常輕量，主要負責轉發呼叫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zh-TW" sz="1800" b="0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步驟 </a:t>
            </a: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3</a:t>
            </a:r>
            <a:r>
              <a:rPr lang="zh-TW" sz="1800" b="0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：對</a:t>
            </a:r>
            <a:r>
              <a:rPr lang="zh-TW" sz="1800" b="0" u="none" strike="noStrike">
                <a:solidFill>
                  <a:schemeClr val="dk1"/>
                </a:solidFill>
                <a:effectLst/>
                <a:highlight>
                  <a:srgbClr val="FFFF00"/>
                </a:highlight>
                <a:uFillTx/>
                <a:latin typeface="Century Gothic"/>
              </a:rPr>
              <a:t>每個標的依序執行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  └─ 遍歷 </a:t>
            </a: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ALL_SYMBOLS</a:t>
            </a:r>
            <a:r>
              <a:rPr lang="zh-TW" sz="1800" b="0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（目前 </a:t>
            </a: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12</a:t>
            </a:r>
            <a:r>
              <a:rPr lang="zh-TW" sz="1800" b="0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檔）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  └─ 根據股票代號決定 </a:t>
            </a: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Yahoo Finance </a:t>
            </a:r>
            <a:r>
              <a:rPr lang="zh-TW" sz="1800" b="0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後綴（</a:t>
            </a: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.TW / .TWO</a:t>
            </a:r>
            <a:r>
              <a:rPr lang="zh-TW" sz="1800" b="0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）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  └─ 呼叫 </a:t>
            </a: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load_historical_data() </a:t>
            </a:r>
            <a:r>
              <a:rPr lang="zh-TW" sz="1800" b="0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下載歷史股價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  └─ 若資料為空則跳過該標的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zh-TW" sz="1800" b="0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步驟 </a:t>
            </a: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4</a:t>
            </a:r>
            <a:r>
              <a:rPr lang="zh-TW" sz="1800" b="0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：</a:t>
            </a:r>
            <a:r>
              <a:rPr lang="zh-TW" sz="1800" b="0" u="none" strike="noStrike">
                <a:solidFill>
                  <a:schemeClr val="dk1"/>
                </a:solidFill>
                <a:effectLst/>
                <a:highlight>
                  <a:srgbClr val="FFFF00"/>
                </a:highlight>
                <a:uFillTx/>
                <a:latin typeface="Century Gothic"/>
              </a:rPr>
              <a:t>執行策略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  └─ engine.run(df) → </a:t>
            </a:r>
            <a:r>
              <a:rPr lang="zh-TW" sz="1800" b="0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呼叫策略函式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  └─ 策略函式在 </a:t>
            </a: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DataFrame </a:t>
            </a:r>
            <a:r>
              <a:rPr lang="zh-TW" sz="1800" b="0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中新增 </a:t>
            </a: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signal </a:t>
            </a:r>
            <a:r>
              <a:rPr lang="zh-TW" sz="1800" b="0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欄位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  └─ signal = 1</a:t>
            </a:r>
            <a:r>
              <a:rPr lang="zh-TW" sz="1800" b="0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（買進）</a:t>
            </a: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, -1</a:t>
            </a:r>
            <a:r>
              <a:rPr lang="zh-TW" sz="1800" b="0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（賣出）</a:t>
            </a: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, 0</a:t>
            </a:r>
            <a:r>
              <a:rPr lang="zh-TW" sz="1800" b="0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（無動作）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zh-TW" sz="1800" b="0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步驟 </a:t>
            </a: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5</a:t>
            </a:r>
            <a:r>
              <a:rPr lang="zh-TW" sz="1800" b="0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：</a:t>
            </a:r>
            <a:r>
              <a:rPr lang="zh-TW" sz="1800" b="0" u="none" strike="noStrike">
                <a:solidFill>
                  <a:schemeClr val="dk1"/>
                </a:solidFill>
                <a:effectLst/>
                <a:highlight>
                  <a:srgbClr val="FFFF00"/>
                </a:highlight>
                <a:uFillTx/>
                <a:latin typeface="Century Gothic"/>
              </a:rPr>
              <a:t>計算績效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  └─ calculate_performance(df)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  └─ 根據 </a:t>
            </a: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signal </a:t>
            </a:r>
            <a:r>
              <a:rPr lang="zh-TW" sz="1800" b="0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欄位計算每筆交易的報酬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  └─ 回傳交易次數、勝率、總報酬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zh-TW" sz="1800" b="0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步驟 </a:t>
            </a: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6</a:t>
            </a:r>
            <a:r>
              <a:rPr lang="zh-TW" sz="1800" b="0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：</a:t>
            </a:r>
            <a:r>
              <a:rPr lang="zh-TW" sz="1800" b="0" u="none" strike="noStrike">
                <a:solidFill>
                  <a:schemeClr val="dk1"/>
                </a:solidFill>
                <a:effectLst/>
                <a:highlight>
                  <a:srgbClr val="FFFF00"/>
                </a:highlight>
                <a:uFillTx/>
                <a:latin typeface="Century Gothic"/>
              </a:rPr>
              <a:t>匯出結果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  └─ 將所有非空的結果寫入 </a:t>
            </a: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CSV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  └─ 檔案命名包含策略名稱與時間戳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PlaceHolder 1"/>
          <p:cNvSpPr>
            <a:spLocks noGrp="1"/>
          </p:cNvSpPr>
          <p:nvPr>
            <p:ph type="title"/>
          </p:nvPr>
        </p:nvSpPr>
        <p:spPr>
          <a:xfrm>
            <a:off x="1311120" y="338400"/>
            <a:ext cx="10419840" cy="650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 fontScale="85000" lnSpcReduction="9999"/>
          </a:bodyPr>
          <a:p>
            <a:pPr indent="0" algn="l" defTabSz="914400">
              <a:lnSpc>
                <a:spcPct val="80000"/>
              </a:lnSpc>
              <a:buNone/>
              <a:tabLst>
                <a:tab pos="0" algn="l"/>
              </a:tabLst>
            </a:pPr>
            <a:r>
              <a:rPr lang="zh-TW" sz="32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問：給我台積電今年</a:t>
            </a:r>
            <a:r>
              <a:rPr lang="en-US" sz="32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1~6</a:t>
            </a:r>
            <a:r>
              <a:rPr lang="zh-TW" sz="32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月用策略</a:t>
            </a:r>
            <a:r>
              <a:rPr lang="en-US" sz="32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1~4</a:t>
            </a:r>
            <a:r>
              <a:rPr lang="zh-TW" sz="32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回測單筆投資</a:t>
            </a:r>
            <a:r>
              <a:rPr lang="en-US" sz="32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50</a:t>
            </a:r>
            <a:r>
              <a:rPr lang="zh-TW" sz="32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萬的結果</a:t>
            </a: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graphicFrame>
        <p:nvGraphicFramePr>
          <p:cNvPr id="127" name="內容版面配置區 4"/>
          <p:cNvGraphicFramePr/>
          <p:nvPr/>
        </p:nvGraphicFramePr>
        <p:xfrm>
          <a:off x="1311120" y="1066680"/>
          <a:ext cx="9598680" cy="2963160"/>
        </p:xfrm>
        <a:graphic>
          <a:graphicData uri="http://schemas.openxmlformats.org/drawingml/2006/table">
            <a:tbl>
              <a:tblPr/>
              <a:tblGrid>
                <a:gridCol w="1199880"/>
                <a:gridCol w="1199880"/>
                <a:gridCol w="1199880"/>
                <a:gridCol w="1199880"/>
                <a:gridCol w="1199880"/>
                <a:gridCol w="1199880"/>
                <a:gridCol w="1199880"/>
                <a:gridCol w="1199880"/>
              </a:tblGrid>
              <a:tr h="547560">
                <a:tc>
                  <a:txBody>
                    <a:bodyPr lIns="56880" tIns="56880" rIns="56880" bIns="56880"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spcBef>
                          <a:spcPts val="1800"/>
                        </a:spcBef>
                        <a:spcAft>
                          <a:spcPts val="1800"/>
                        </a:spcAft>
                        <a:tabLst>
                          <a:tab pos="0" algn="l"/>
                        </a:tabLst>
                      </a:pPr>
                      <a:r>
                        <a:rPr lang="zh-TW" sz="1200" b="0" u="none" strike="noStrike">
                          <a:solidFill>
                            <a:srgbClr val="EDEDED"/>
                          </a:solidFill>
                          <a:effectLst/>
                          <a:uFillTx/>
                          <a:latin typeface="ui-sans-serif"/>
                        </a:rPr>
                        <a:t>策略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56880" marR="56880" marT="56880" marB="56880">
                    <a:lnL w="12240">
                      <a:solidFill>
                        <a:srgbClr val="C0C4BD"/>
                      </a:solidFill>
                      <a:prstDash val="solid"/>
                    </a:lnL>
                    <a:lnR w="12240">
                      <a:solidFill>
                        <a:srgbClr val="60C4BD"/>
                      </a:solidFill>
                      <a:prstDash val="solid"/>
                    </a:lnR>
                    <a:lnT w="12240">
                      <a:solidFill>
                        <a:srgbClr val="C0C4BD"/>
                      </a:solidFill>
                      <a:prstDash val="solid"/>
                    </a:lnT>
                    <a:lnB w="12240">
                      <a:solidFill>
                        <a:srgbClr val="E0C5BD"/>
                      </a:solidFill>
                      <a:prstDash val="solid"/>
                    </a:lnB>
                    <a:solidFill>
                      <a:srgbClr val="151515"/>
                    </a:solidFill>
                  </a:tcPr>
                </a:tc>
                <a:tc>
                  <a:txBody>
                    <a:bodyPr lIns="56880" tIns="56880" rIns="56880" bIns="56880"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spcBef>
                          <a:spcPts val="1800"/>
                        </a:spcBef>
                        <a:spcAft>
                          <a:spcPts val="1800"/>
                        </a:spcAft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EDEDED"/>
                          </a:solidFill>
                          <a:effectLst/>
                          <a:uFillTx/>
                          <a:latin typeface="ui-sans-serif"/>
                        </a:rPr>
                        <a:t>Jan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56880" marR="56880" marT="56880" marB="56880">
                    <a:lnL w="12240">
                      <a:solidFill>
                        <a:srgbClr val="60C4BD"/>
                      </a:solidFill>
                      <a:prstDash val="solid"/>
                    </a:lnL>
                    <a:lnR w="12240">
                      <a:solidFill>
                        <a:srgbClr val="C0BEBD"/>
                      </a:solidFill>
                      <a:prstDash val="solid"/>
                    </a:lnR>
                    <a:lnT w="12240">
                      <a:solidFill>
                        <a:srgbClr val="60C4BD"/>
                      </a:solidFill>
                      <a:prstDash val="solid"/>
                    </a:lnT>
                    <a:lnB w="12240">
                      <a:solidFill>
                        <a:srgbClr val="40C6BD"/>
                      </a:solidFill>
                      <a:prstDash val="solid"/>
                    </a:lnB>
                    <a:solidFill>
                      <a:srgbClr val="151515"/>
                    </a:solidFill>
                  </a:tcPr>
                </a:tc>
                <a:tc>
                  <a:txBody>
                    <a:bodyPr lIns="56880" tIns="56880" rIns="56880" bIns="56880"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spcBef>
                          <a:spcPts val="1800"/>
                        </a:spcBef>
                        <a:spcAft>
                          <a:spcPts val="1800"/>
                        </a:spcAft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EDEDED"/>
                          </a:solidFill>
                          <a:effectLst/>
                          <a:uFillTx/>
                          <a:latin typeface="ui-sans-serif"/>
                        </a:rPr>
                        <a:t>Feb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56880" marR="56880" marT="56880" marB="56880">
                    <a:lnL w="12240">
                      <a:solidFill>
                        <a:srgbClr val="C0BEBD"/>
                      </a:solidFill>
                      <a:prstDash val="solid"/>
                    </a:lnL>
                    <a:lnR w="12240">
                      <a:solidFill>
                        <a:srgbClr val="40BDBD"/>
                      </a:solidFill>
                      <a:prstDash val="solid"/>
                    </a:lnR>
                    <a:lnT w="12240">
                      <a:solidFill>
                        <a:srgbClr val="C0BEBD"/>
                      </a:solidFill>
                      <a:prstDash val="solid"/>
                    </a:lnT>
                    <a:lnB w="12240">
                      <a:solidFill>
                        <a:srgbClr val="A0C6BD"/>
                      </a:solidFill>
                      <a:prstDash val="solid"/>
                    </a:lnB>
                    <a:solidFill>
                      <a:srgbClr val="151515"/>
                    </a:solidFill>
                  </a:tcPr>
                </a:tc>
                <a:tc>
                  <a:txBody>
                    <a:bodyPr lIns="56880" tIns="56880" rIns="56880" bIns="56880"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spcBef>
                          <a:spcPts val="1800"/>
                        </a:spcBef>
                        <a:spcAft>
                          <a:spcPts val="1800"/>
                        </a:spcAft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EDEDED"/>
                          </a:solidFill>
                          <a:effectLst/>
                          <a:uFillTx/>
                          <a:latin typeface="ui-sans-serif"/>
                        </a:rPr>
                        <a:t>Mar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56880" marR="56880" marT="56880" marB="56880">
                    <a:lnL w="12240">
                      <a:solidFill>
                        <a:srgbClr val="40BDBD"/>
                      </a:solidFill>
                      <a:prstDash val="solid"/>
                    </a:lnL>
                    <a:lnR w="12240">
                      <a:solidFill>
                        <a:srgbClr val="80C5BD"/>
                      </a:solidFill>
                      <a:prstDash val="solid"/>
                    </a:lnR>
                    <a:lnT w="12240">
                      <a:solidFill>
                        <a:srgbClr val="40BDBD"/>
                      </a:solidFill>
                      <a:prstDash val="solid"/>
                    </a:lnT>
                    <a:lnB w="12240">
                      <a:solidFill>
                        <a:srgbClr val="60C7BD"/>
                      </a:solidFill>
                      <a:prstDash val="solid"/>
                    </a:lnB>
                    <a:solidFill>
                      <a:srgbClr val="151515"/>
                    </a:solidFill>
                  </a:tcPr>
                </a:tc>
                <a:tc>
                  <a:txBody>
                    <a:bodyPr lIns="56880" tIns="56880" rIns="56880" bIns="56880"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spcBef>
                          <a:spcPts val="1800"/>
                        </a:spcBef>
                        <a:spcAft>
                          <a:spcPts val="1800"/>
                        </a:spcAft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EDEDED"/>
                          </a:solidFill>
                          <a:effectLst/>
                          <a:uFillTx/>
                          <a:latin typeface="ui-sans-serif"/>
                        </a:rPr>
                        <a:t>Apr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56880" marR="56880" marT="56880" marB="56880">
                    <a:lnL w="12240">
                      <a:solidFill>
                        <a:srgbClr val="80C5BD"/>
                      </a:solidFill>
                      <a:prstDash val="solid"/>
                    </a:lnL>
                    <a:lnR w="12240">
                      <a:solidFill>
                        <a:srgbClr val="00C4BD"/>
                      </a:solidFill>
                      <a:prstDash val="solid"/>
                    </a:lnR>
                    <a:lnT w="12240">
                      <a:solidFill>
                        <a:srgbClr val="80C5BD"/>
                      </a:solidFill>
                      <a:prstDash val="solid"/>
                    </a:lnT>
                    <a:lnB w="12240">
                      <a:solidFill>
                        <a:srgbClr val="20CBBD"/>
                      </a:solidFill>
                      <a:prstDash val="solid"/>
                    </a:lnB>
                    <a:solidFill>
                      <a:srgbClr val="151515"/>
                    </a:solidFill>
                  </a:tcPr>
                </a:tc>
                <a:tc>
                  <a:txBody>
                    <a:bodyPr lIns="56880" tIns="56880" rIns="56880" bIns="56880"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spcBef>
                          <a:spcPts val="1800"/>
                        </a:spcBef>
                        <a:spcAft>
                          <a:spcPts val="1800"/>
                        </a:spcAft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EDEDED"/>
                          </a:solidFill>
                          <a:effectLst/>
                          <a:uFillTx/>
                          <a:latin typeface="ui-sans-serif"/>
                        </a:rPr>
                        <a:t>May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56880" marR="56880" marT="56880" marB="56880">
                    <a:lnL w="12240">
                      <a:solidFill>
                        <a:srgbClr val="00C4BD"/>
                      </a:solidFill>
                      <a:prstDash val="solid"/>
                    </a:lnL>
                    <a:lnR w="12240">
                      <a:solidFill>
                        <a:srgbClr val="40C0BD"/>
                      </a:solidFill>
                      <a:prstDash val="solid"/>
                    </a:lnR>
                    <a:lnT w="12240">
                      <a:solidFill>
                        <a:srgbClr val="00C4BD"/>
                      </a:solidFill>
                      <a:prstDash val="solid"/>
                    </a:lnT>
                    <a:lnB w="12240">
                      <a:solidFill>
                        <a:srgbClr val="40CFBD"/>
                      </a:solidFill>
                      <a:prstDash val="solid"/>
                    </a:lnB>
                    <a:solidFill>
                      <a:srgbClr val="151515"/>
                    </a:solidFill>
                  </a:tcPr>
                </a:tc>
                <a:tc>
                  <a:txBody>
                    <a:bodyPr lIns="56880" tIns="56880" rIns="56880" bIns="56880"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spcBef>
                          <a:spcPts val="1800"/>
                        </a:spcBef>
                        <a:spcAft>
                          <a:spcPts val="1800"/>
                        </a:spcAft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EDEDED"/>
                          </a:solidFill>
                          <a:effectLst/>
                          <a:uFillTx/>
                          <a:latin typeface="ui-sans-serif"/>
                        </a:rPr>
                        <a:t>Jun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56880" marR="56880" marT="56880" marB="56880">
                    <a:lnL w="12240">
                      <a:solidFill>
                        <a:srgbClr val="40C0BD"/>
                      </a:solidFill>
                      <a:prstDash val="solid"/>
                    </a:lnL>
                    <a:lnR w="12240">
                      <a:solidFill>
                        <a:srgbClr val="00D0BD"/>
                      </a:solidFill>
                      <a:prstDash val="solid"/>
                    </a:lnR>
                    <a:lnT w="12240">
                      <a:solidFill>
                        <a:srgbClr val="40C0BD"/>
                      </a:solidFill>
                      <a:prstDash val="solid"/>
                    </a:lnT>
                    <a:lnB w="12240">
                      <a:solidFill>
                        <a:srgbClr val="E0D1BD"/>
                      </a:solidFill>
                      <a:prstDash val="solid"/>
                    </a:lnB>
                    <a:solidFill>
                      <a:srgbClr val="151515"/>
                    </a:solidFill>
                  </a:tcPr>
                </a:tc>
                <a:tc>
                  <a:txBody>
                    <a:bodyPr lIns="56880" tIns="56880" rIns="56880" bIns="56880"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spcBef>
                          <a:spcPts val="1800"/>
                        </a:spcBef>
                        <a:spcAft>
                          <a:spcPts val="1800"/>
                        </a:spcAft>
                        <a:tabLst>
                          <a:tab pos="0" algn="l"/>
                        </a:tabLst>
                      </a:pPr>
                      <a:r>
                        <a:rPr lang="zh-TW" sz="1200" b="0" u="none" strike="noStrike">
                          <a:solidFill>
                            <a:srgbClr val="EDEDED"/>
                          </a:solidFill>
                          <a:effectLst/>
                          <a:uFillTx/>
                          <a:latin typeface="ui-sans-serif"/>
                        </a:rPr>
                        <a:t>半年合計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56880" marR="56880" marT="56880" marB="56880">
                    <a:lnL w="12240">
                      <a:solidFill>
                        <a:srgbClr val="00D0BD"/>
                      </a:solidFill>
                      <a:prstDash val="solid"/>
                    </a:lnL>
                    <a:lnR w="12240">
                      <a:solidFill>
                        <a:srgbClr val="00D0BD"/>
                      </a:solidFill>
                      <a:prstDash val="solid"/>
                    </a:lnR>
                    <a:lnT w="12240">
                      <a:solidFill>
                        <a:srgbClr val="00D0BD"/>
                      </a:solidFill>
                      <a:prstDash val="solid"/>
                    </a:lnT>
                    <a:lnB w="12240">
                      <a:solidFill>
                        <a:srgbClr val="60D9BD"/>
                      </a:solidFill>
                      <a:prstDash val="solid"/>
                    </a:lnB>
                    <a:solidFill>
                      <a:srgbClr val="151515"/>
                    </a:solidFill>
                  </a:tcPr>
                </a:tc>
              </a:tr>
              <a:tr h="547560">
                <a:tc>
                  <a:txBody>
                    <a:bodyPr lIns="56880" tIns="56880" rIns="56880" bIns="56880"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spcBef>
                          <a:spcPts val="1800"/>
                        </a:spcBef>
                        <a:spcAft>
                          <a:spcPts val="1800"/>
                        </a:spcAft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EDEDED"/>
                          </a:solidFill>
                          <a:effectLst/>
                          <a:uFillTx/>
                          <a:latin typeface="ui-sans-serif"/>
                        </a:rPr>
                        <a:t>1. VWAP</a:t>
                      </a:r>
                      <a:r>
                        <a:rPr lang="zh-TW" sz="1200" b="0" u="none" strike="noStrike">
                          <a:solidFill>
                            <a:srgbClr val="EDEDED"/>
                          </a:solidFill>
                          <a:effectLst/>
                          <a:uFillTx/>
                          <a:latin typeface="ui-sans-serif"/>
                        </a:rPr>
                        <a:t>偏離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56880" marR="56880" marT="56880" marB="56880">
                    <a:lnL w="12240">
                      <a:solidFill>
                        <a:srgbClr val="E0C5BD"/>
                      </a:solidFill>
                      <a:prstDash val="solid"/>
                    </a:lnL>
                    <a:lnR w="12240">
                      <a:solidFill>
                        <a:srgbClr val="40C6BD"/>
                      </a:solidFill>
                      <a:prstDash val="solid"/>
                    </a:lnR>
                    <a:lnT w="12240">
                      <a:solidFill>
                        <a:srgbClr val="E0C5BD"/>
                      </a:solidFill>
                      <a:prstDash val="solid"/>
                    </a:lnT>
                    <a:lnB w="12240">
                      <a:solidFill>
                        <a:srgbClr val="00DCBD"/>
                      </a:solidFill>
                      <a:prstDash val="solid"/>
                    </a:lnB>
                    <a:solidFill>
                      <a:srgbClr val="151515"/>
                    </a:solidFill>
                  </a:tcPr>
                </a:tc>
                <a:tc>
                  <a:txBody>
                    <a:bodyPr lIns="56880" tIns="56880" rIns="56880" bIns="56880"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spcBef>
                          <a:spcPts val="1800"/>
                        </a:spcBef>
                        <a:spcAft>
                          <a:spcPts val="1800"/>
                        </a:spcAft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EDEDED"/>
                          </a:solidFill>
                          <a:effectLst/>
                          <a:uFillTx/>
                          <a:latin typeface="ui-sans-serif"/>
                        </a:rPr>
                        <a:t>+5.94%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56880" marR="56880" marT="56880" marB="56880">
                    <a:lnL w="12240">
                      <a:solidFill>
                        <a:srgbClr val="40C6BD"/>
                      </a:solidFill>
                      <a:prstDash val="solid"/>
                    </a:lnL>
                    <a:lnR w="12240">
                      <a:solidFill>
                        <a:srgbClr val="A0C6BD"/>
                      </a:solidFill>
                      <a:prstDash val="solid"/>
                    </a:lnR>
                    <a:lnT w="12240">
                      <a:solidFill>
                        <a:srgbClr val="40C6BD"/>
                      </a:solidFill>
                      <a:prstDash val="solid"/>
                    </a:lnT>
                    <a:lnB w="12240">
                      <a:solidFill>
                        <a:srgbClr val="C0D3BD"/>
                      </a:solidFill>
                      <a:prstDash val="solid"/>
                    </a:lnB>
                    <a:solidFill>
                      <a:srgbClr val="151515"/>
                    </a:solidFill>
                  </a:tcPr>
                </a:tc>
                <a:tc>
                  <a:txBody>
                    <a:bodyPr lIns="56880" tIns="56880" rIns="56880" bIns="56880"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spcBef>
                          <a:spcPts val="1800"/>
                        </a:spcBef>
                        <a:spcAft>
                          <a:spcPts val="1800"/>
                        </a:spcAft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EDEDED"/>
                          </a:solidFill>
                          <a:effectLst/>
                          <a:uFillTx/>
                          <a:latin typeface="ui-sans-serif"/>
                        </a:rPr>
                        <a:t>-2.15%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56880" marR="56880" marT="56880" marB="56880">
                    <a:lnL w="12240">
                      <a:solidFill>
                        <a:srgbClr val="A0C6BD"/>
                      </a:solidFill>
                      <a:prstDash val="solid"/>
                    </a:lnL>
                    <a:lnR w="12240">
                      <a:solidFill>
                        <a:srgbClr val="60C7BD"/>
                      </a:solidFill>
                      <a:prstDash val="solid"/>
                    </a:lnR>
                    <a:lnT w="12240">
                      <a:solidFill>
                        <a:srgbClr val="A0C6BD"/>
                      </a:solidFill>
                      <a:prstDash val="solid"/>
                    </a:lnT>
                    <a:lnB w="12240">
                      <a:solidFill>
                        <a:srgbClr val="A0D2BD"/>
                      </a:solidFill>
                      <a:prstDash val="solid"/>
                    </a:lnB>
                    <a:solidFill>
                      <a:srgbClr val="151515"/>
                    </a:solidFill>
                  </a:tcPr>
                </a:tc>
                <a:tc>
                  <a:txBody>
                    <a:bodyPr lIns="56880" tIns="56880" rIns="56880" bIns="56880"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spcBef>
                          <a:spcPts val="1800"/>
                        </a:spcBef>
                        <a:spcAft>
                          <a:spcPts val="1800"/>
                        </a:spcAft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EDEDED"/>
                          </a:solidFill>
                          <a:effectLst/>
                          <a:uFillTx/>
                          <a:latin typeface="ui-sans-serif"/>
                        </a:rPr>
                        <a:t>-12.97%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56880" marR="56880" marT="56880" marB="56880">
                    <a:lnL w="12240">
                      <a:solidFill>
                        <a:srgbClr val="60C7BD"/>
                      </a:solidFill>
                      <a:prstDash val="solid"/>
                    </a:lnL>
                    <a:lnR w="12240">
                      <a:solidFill>
                        <a:srgbClr val="20CBBD"/>
                      </a:solidFill>
                      <a:prstDash val="solid"/>
                    </a:lnR>
                    <a:lnT w="12240">
                      <a:solidFill>
                        <a:srgbClr val="60C7BD"/>
                      </a:solidFill>
                      <a:prstDash val="solid"/>
                    </a:lnT>
                    <a:lnB w="12240">
                      <a:solidFill>
                        <a:srgbClr val="20DABD"/>
                      </a:solidFill>
                      <a:prstDash val="solid"/>
                    </a:lnB>
                    <a:solidFill>
                      <a:srgbClr val="151515"/>
                    </a:solidFill>
                  </a:tcPr>
                </a:tc>
                <a:tc>
                  <a:txBody>
                    <a:bodyPr lIns="56880" tIns="56880" rIns="56880" bIns="56880"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spcBef>
                          <a:spcPts val="1800"/>
                        </a:spcBef>
                        <a:spcAft>
                          <a:spcPts val="1800"/>
                        </a:spcAft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EDEDED"/>
                          </a:solidFill>
                          <a:effectLst/>
                          <a:uFillTx/>
                          <a:latin typeface="ui-sans-serif"/>
                        </a:rPr>
                        <a:t>-0.20%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56880" marR="56880" marT="56880" marB="56880">
                    <a:lnL w="12240">
                      <a:solidFill>
                        <a:srgbClr val="20CBBD"/>
                      </a:solidFill>
                      <a:prstDash val="solid"/>
                    </a:lnL>
                    <a:lnR w="12240">
                      <a:solidFill>
                        <a:srgbClr val="40CFBD"/>
                      </a:solidFill>
                      <a:prstDash val="solid"/>
                    </a:lnR>
                    <a:lnT w="12240">
                      <a:solidFill>
                        <a:srgbClr val="20CBBD"/>
                      </a:solidFill>
                      <a:prstDash val="solid"/>
                    </a:lnT>
                    <a:lnB w="12240">
                      <a:solidFill>
                        <a:srgbClr val="00D6BD"/>
                      </a:solidFill>
                      <a:prstDash val="solid"/>
                    </a:lnB>
                    <a:solidFill>
                      <a:srgbClr val="151515"/>
                    </a:solidFill>
                  </a:tcPr>
                </a:tc>
                <a:tc>
                  <a:txBody>
                    <a:bodyPr lIns="56880" tIns="56880" rIns="56880" bIns="56880"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spcBef>
                          <a:spcPts val="1800"/>
                        </a:spcBef>
                        <a:spcAft>
                          <a:spcPts val="1800"/>
                        </a:spcAft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EDEDED"/>
                          </a:solidFill>
                          <a:effectLst/>
                          <a:uFillTx/>
                          <a:latin typeface="ui-sans-serif"/>
                        </a:rPr>
                        <a:t>+3.77%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56880" marR="56880" marT="56880" marB="56880">
                    <a:lnL w="12240">
                      <a:solidFill>
                        <a:srgbClr val="40CFBD"/>
                      </a:solidFill>
                      <a:prstDash val="solid"/>
                    </a:lnL>
                    <a:lnR w="12240">
                      <a:solidFill>
                        <a:srgbClr val="E0D1BD"/>
                      </a:solidFill>
                      <a:prstDash val="solid"/>
                    </a:lnR>
                    <a:lnT w="12240">
                      <a:solidFill>
                        <a:srgbClr val="40CFBD"/>
                      </a:solidFill>
                      <a:prstDash val="solid"/>
                    </a:lnT>
                    <a:lnB w="12240">
                      <a:solidFill>
                        <a:srgbClr val="00D3BD"/>
                      </a:solidFill>
                      <a:prstDash val="solid"/>
                    </a:lnB>
                    <a:solidFill>
                      <a:srgbClr val="151515"/>
                    </a:solidFill>
                  </a:tcPr>
                </a:tc>
                <a:tc>
                  <a:txBody>
                    <a:bodyPr lIns="56880" tIns="56880" rIns="56880" bIns="56880"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spcBef>
                          <a:spcPts val="1800"/>
                        </a:spcBef>
                        <a:spcAft>
                          <a:spcPts val="1800"/>
                        </a:spcAft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EDEDED"/>
                          </a:solidFill>
                          <a:effectLst/>
                          <a:uFillTx/>
                          <a:latin typeface="ui-sans-serif"/>
                        </a:rPr>
                        <a:t>0</a:t>
                      </a:r>
                      <a:r>
                        <a:rPr lang="zh-TW" sz="1200" b="0" u="none" strike="noStrike">
                          <a:solidFill>
                            <a:srgbClr val="EDEDED"/>
                          </a:solidFill>
                          <a:effectLst/>
                          <a:uFillTx/>
                          <a:latin typeface="ui-sans-serif"/>
                        </a:rPr>
                        <a:t>筆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56880" marR="56880" marT="56880" marB="56880">
                    <a:lnL w="12240">
                      <a:solidFill>
                        <a:srgbClr val="E0D1BD"/>
                      </a:solidFill>
                      <a:prstDash val="solid"/>
                    </a:lnL>
                    <a:lnR w="12240">
                      <a:solidFill>
                        <a:srgbClr val="60D9BD"/>
                      </a:solidFill>
                      <a:prstDash val="solid"/>
                    </a:lnR>
                    <a:lnT w="12240">
                      <a:solidFill>
                        <a:srgbClr val="E0D1BD"/>
                      </a:solidFill>
                      <a:prstDash val="solid"/>
                    </a:lnT>
                    <a:lnB w="12240">
                      <a:solidFill>
                        <a:srgbClr val="C0DCBD"/>
                      </a:solidFill>
                      <a:prstDash val="solid"/>
                    </a:lnB>
                    <a:solidFill>
                      <a:srgbClr val="151515"/>
                    </a:solidFill>
                  </a:tcPr>
                </a:tc>
                <a:tc>
                  <a:txBody>
                    <a:bodyPr lIns="56880" tIns="56880" rIns="56880" bIns="56880"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spcBef>
                          <a:spcPts val="1800"/>
                        </a:spcBef>
                        <a:spcAft>
                          <a:spcPts val="1800"/>
                        </a:spcAft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EDEDED"/>
                          </a:solidFill>
                          <a:effectLst/>
                          <a:uFillTx/>
                          <a:latin typeface="ui-sans-serif"/>
                        </a:rPr>
                        <a:t>-5.61%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56880" marR="56880" marT="56880" marB="56880">
                    <a:lnL w="12240">
                      <a:solidFill>
                        <a:srgbClr val="60D9BD"/>
                      </a:solidFill>
                      <a:prstDash val="solid"/>
                    </a:lnL>
                    <a:lnR w="12240">
                      <a:solidFill>
                        <a:srgbClr val="60D9BD"/>
                      </a:solidFill>
                      <a:prstDash val="solid"/>
                    </a:lnR>
                    <a:lnT w="12240">
                      <a:solidFill>
                        <a:srgbClr val="60D9BD"/>
                      </a:solidFill>
                      <a:prstDash val="solid"/>
                    </a:lnT>
                    <a:lnB w="12240">
                      <a:solidFill>
                        <a:srgbClr val="80D4BD"/>
                      </a:solidFill>
                      <a:prstDash val="solid"/>
                    </a:lnB>
                    <a:solidFill>
                      <a:srgbClr val="151515"/>
                    </a:solidFill>
                  </a:tcPr>
                </a:tc>
              </a:tr>
              <a:tr h="547560">
                <a:tc>
                  <a:txBody>
                    <a:bodyPr lIns="56880" tIns="56880" rIns="56880" bIns="56880"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spcBef>
                          <a:spcPts val="1800"/>
                        </a:spcBef>
                        <a:spcAft>
                          <a:spcPts val="1800"/>
                        </a:spcAft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EDEDED"/>
                          </a:solidFill>
                          <a:effectLst/>
                          <a:uFillTx/>
                          <a:latin typeface="ui-sans-serif"/>
                        </a:rPr>
                        <a:t>2. </a:t>
                      </a:r>
                      <a:r>
                        <a:rPr lang="zh-TW" sz="1200" b="0" u="none" strike="noStrike">
                          <a:solidFill>
                            <a:srgbClr val="EDEDED"/>
                          </a:solidFill>
                          <a:effectLst/>
                          <a:uFillTx/>
                          <a:latin typeface="ui-sans-serif"/>
                        </a:rPr>
                        <a:t>均線交叉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56880" marR="56880" marT="56880" marB="56880">
                    <a:lnL w="12240">
                      <a:solidFill>
                        <a:srgbClr val="00DCBD"/>
                      </a:solidFill>
                      <a:prstDash val="solid"/>
                    </a:lnL>
                    <a:lnR w="12240">
                      <a:solidFill>
                        <a:srgbClr val="C0D3BD"/>
                      </a:solidFill>
                      <a:prstDash val="solid"/>
                    </a:lnR>
                    <a:lnT w="12240">
                      <a:solidFill>
                        <a:srgbClr val="00DCBD"/>
                      </a:solidFill>
                      <a:prstDash val="solid"/>
                    </a:lnT>
                    <a:lnB w="12240">
                      <a:solidFill>
                        <a:srgbClr val="A0DEBD"/>
                      </a:solidFill>
                      <a:prstDash val="solid"/>
                    </a:lnB>
                    <a:solidFill>
                      <a:srgbClr val="151515"/>
                    </a:solidFill>
                  </a:tcPr>
                </a:tc>
                <a:tc>
                  <a:txBody>
                    <a:bodyPr lIns="56880" tIns="56880" rIns="56880" bIns="56880"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spcBef>
                          <a:spcPts val="1800"/>
                        </a:spcBef>
                        <a:spcAft>
                          <a:spcPts val="1800"/>
                        </a:spcAft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EDEDED"/>
                          </a:solidFill>
                          <a:effectLst/>
                          <a:uFillTx/>
                          <a:latin typeface="ui-sans-serif"/>
                        </a:rPr>
                        <a:t>+4.39%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56880" marR="56880" marT="56880" marB="56880">
                    <a:lnL w="12240">
                      <a:solidFill>
                        <a:srgbClr val="C0D3BD"/>
                      </a:solidFill>
                      <a:prstDash val="solid"/>
                    </a:lnL>
                    <a:lnR w="12240">
                      <a:solidFill>
                        <a:srgbClr val="A0D2BD"/>
                      </a:solidFill>
                      <a:prstDash val="solid"/>
                    </a:lnR>
                    <a:lnT w="12240">
                      <a:solidFill>
                        <a:srgbClr val="C0D3BD"/>
                      </a:solidFill>
                      <a:prstDash val="solid"/>
                    </a:lnT>
                    <a:lnB w="12240">
                      <a:solidFill>
                        <a:srgbClr val="00E2BD"/>
                      </a:solidFill>
                      <a:prstDash val="solid"/>
                    </a:lnB>
                    <a:solidFill>
                      <a:srgbClr val="151515"/>
                    </a:solidFill>
                  </a:tcPr>
                </a:tc>
                <a:tc>
                  <a:txBody>
                    <a:bodyPr lIns="56880" tIns="56880" rIns="56880" bIns="56880"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spcBef>
                          <a:spcPts val="1800"/>
                        </a:spcBef>
                        <a:spcAft>
                          <a:spcPts val="1800"/>
                        </a:spcAft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EDEDED"/>
                          </a:solidFill>
                          <a:effectLst/>
                          <a:uFillTx/>
                          <a:latin typeface="ui-sans-serif"/>
                        </a:rPr>
                        <a:t>-1.41%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56880" marR="56880" marT="56880" marB="56880">
                    <a:lnL w="12240">
                      <a:solidFill>
                        <a:srgbClr val="A0D2BD"/>
                      </a:solidFill>
                      <a:prstDash val="solid"/>
                    </a:lnL>
                    <a:lnR w="12240">
                      <a:solidFill>
                        <a:srgbClr val="20DABD"/>
                      </a:solidFill>
                      <a:prstDash val="solid"/>
                    </a:lnR>
                    <a:lnT w="12240">
                      <a:solidFill>
                        <a:srgbClr val="A0D2BD"/>
                      </a:solidFill>
                      <a:prstDash val="solid"/>
                    </a:lnT>
                    <a:lnB w="12240">
                      <a:solidFill>
                        <a:srgbClr val="80E0BD"/>
                      </a:solidFill>
                      <a:prstDash val="solid"/>
                    </a:lnB>
                    <a:solidFill>
                      <a:srgbClr val="151515"/>
                    </a:solidFill>
                  </a:tcPr>
                </a:tc>
                <a:tc>
                  <a:txBody>
                    <a:bodyPr lIns="56880" tIns="56880" rIns="56880" bIns="56880"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spcBef>
                          <a:spcPts val="1800"/>
                        </a:spcBef>
                        <a:spcAft>
                          <a:spcPts val="1800"/>
                        </a:spcAft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EDEDED"/>
                          </a:solidFill>
                          <a:effectLst/>
                          <a:uFillTx/>
                          <a:latin typeface="ui-sans-serif"/>
                        </a:rPr>
                        <a:t>0</a:t>
                      </a:r>
                      <a:r>
                        <a:rPr lang="zh-TW" sz="1200" b="0" u="none" strike="noStrike">
                          <a:solidFill>
                            <a:srgbClr val="EDEDED"/>
                          </a:solidFill>
                          <a:effectLst/>
                          <a:uFillTx/>
                          <a:latin typeface="ui-sans-serif"/>
                        </a:rPr>
                        <a:t>筆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56880" marR="56880" marT="56880" marB="56880">
                    <a:lnL w="12240">
                      <a:solidFill>
                        <a:srgbClr val="20DABD"/>
                      </a:solidFill>
                      <a:prstDash val="solid"/>
                    </a:lnL>
                    <a:lnR w="12240">
                      <a:solidFill>
                        <a:srgbClr val="00D6BD"/>
                      </a:solidFill>
                      <a:prstDash val="solid"/>
                    </a:lnR>
                    <a:lnT w="12240">
                      <a:solidFill>
                        <a:srgbClr val="20DABD"/>
                      </a:solidFill>
                      <a:prstDash val="solid"/>
                    </a:lnT>
                    <a:lnB w="12240">
                      <a:solidFill>
                        <a:srgbClr val="E0E0BD"/>
                      </a:solidFill>
                      <a:prstDash val="solid"/>
                    </a:lnB>
                    <a:solidFill>
                      <a:srgbClr val="151515"/>
                    </a:solidFill>
                  </a:tcPr>
                </a:tc>
                <a:tc>
                  <a:txBody>
                    <a:bodyPr lIns="56880" tIns="56880" rIns="56880" bIns="56880"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spcBef>
                          <a:spcPts val="1800"/>
                        </a:spcBef>
                        <a:spcAft>
                          <a:spcPts val="1800"/>
                        </a:spcAft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EDEDED"/>
                          </a:solidFill>
                          <a:effectLst/>
                          <a:uFillTx/>
                          <a:latin typeface="ui-sans-serif"/>
                        </a:rPr>
                        <a:t>-0.15%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56880" marR="56880" marT="56880" marB="56880">
                    <a:lnL w="12240">
                      <a:solidFill>
                        <a:srgbClr val="00D6BD"/>
                      </a:solidFill>
                      <a:prstDash val="solid"/>
                    </a:lnL>
                    <a:lnR w="12240">
                      <a:solidFill>
                        <a:srgbClr val="00D3BD"/>
                      </a:solidFill>
                      <a:prstDash val="solid"/>
                    </a:lnR>
                    <a:lnT w="12240">
                      <a:solidFill>
                        <a:srgbClr val="00D6BD"/>
                      </a:solidFill>
                      <a:prstDash val="solid"/>
                    </a:lnT>
                    <a:lnB w="12240">
                      <a:solidFill>
                        <a:srgbClr val="20E3BD"/>
                      </a:solidFill>
                      <a:prstDash val="solid"/>
                    </a:lnB>
                    <a:solidFill>
                      <a:srgbClr val="151515"/>
                    </a:solidFill>
                  </a:tcPr>
                </a:tc>
                <a:tc>
                  <a:txBody>
                    <a:bodyPr lIns="56880" tIns="56880" rIns="56880" bIns="56880"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spcBef>
                          <a:spcPts val="1800"/>
                        </a:spcBef>
                        <a:spcAft>
                          <a:spcPts val="1800"/>
                        </a:spcAft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EDEDED"/>
                          </a:solidFill>
                          <a:effectLst/>
                          <a:uFillTx/>
                          <a:latin typeface="ui-sans-serif"/>
                        </a:rPr>
                        <a:t>+6.68%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56880" marR="56880" marT="56880" marB="56880">
                    <a:lnL w="12240">
                      <a:solidFill>
                        <a:srgbClr val="00D3BD"/>
                      </a:solidFill>
                      <a:prstDash val="solid"/>
                    </a:lnL>
                    <a:lnR w="12240">
                      <a:solidFill>
                        <a:srgbClr val="C0DCBD"/>
                      </a:solidFill>
                      <a:prstDash val="solid"/>
                    </a:lnR>
                    <a:lnT w="12240">
                      <a:solidFill>
                        <a:srgbClr val="00D3BD"/>
                      </a:solidFill>
                      <a:prstDash val="solid"/>
                    </a:lnT>
                    <a:lnB w="12240">
                      <a:solidFill>
                        <a:srgbClr val="A0E7BD"/>
                      </a:solidFill>
                      <a:prstDash val="solid"/>
                    </a:lnB>
                    <a:solidFill>
                      <a:srgbClr val="151515"/>
                    </a:solidFill>
                  </a:tcPr>
                </a:tc>
                <a:tc>
                  <a:txBody>
                    <a:bodyPr lIns="56880" tIns="56880" rIns="56880" bIns="56880"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spcBef>
                          <a:spcPts val="1800"/>
                        </a:spcBef>
                        <a:spcAft>
                          <a:spcPts val="1800"/>
                        </a:spcAft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EDEDED"/>
                          </a:solidFill>
                          <a:effectLst/>
                          <a:uFillTx/>
                          <a:latin typeface="ui-sans-serif"/>
                        </a:rPr>
                        <a:t>+3.62%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56880" marR="56880" marT="56880" marB="56880">
                    <a:lnL w="12240">
                      <a:solidFill>
                        <a:srgbClr val="C0DCBD"/>
                      </a:solidFill>
                      <a:prstDash val="solid"/>
                    </a:lnL>
                    <a:lnR w="12240">
                      <a:solidFill>
                        <a:srgbClr val="80D4BD"/>
                      </a:solidFill>
                      <a:prstDash val="solid"/>
                    </a:lnR>
                    <a:lnT w="12240">
                      <a:solidFill>
                        <a:srgbClr val="C0DCBD"/>
                      </a:solidFill>
                      <a:prstDash val="solid"/>
                    </a:lnT>
                    <a:lnB w="12240">
                      <a:solidFill>
                        <a:srgbClr val="40E4BD"/>
                      </a:solidFill>
                      <a:prstDash val="solid"/>
                    </a:lnB>
                    <a:solidFill>
                      <a:srgbClr val="151515"/>
                    </a:solidFill>
                  </a:tcPr>
                </a:tc>
                <a:tc>
                  <a:txBody>
                    <a:bodyPr lIns="56880" tIns="56880" rIns="56880" bIns="56880"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spcBef>
                          <a:spcPts val="1800"/>
                        </a:spcBef>
                        <a:spcAft>
                          <a:spcPts val="1800"/>
                        </a:spcAft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EDEDED"/>
                          </a:solidFill>
                          <a:effectLst/>
                          <a:uFillTx/>
                          <a:latin typeface="ui-sans-serif"/>
                        </a:rPr>
                        <a:t>+13.13%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56880" marR="56880" marT="56880" marB="56880">
                    <a:lnL w="12240">
                      <a:solidFill>
                        <a:srgbClr val="80D4BD"/>
                      </a:solidFill>
                      <a:prstDash val="solid"/>
                    </a:lnL>
                    <a:lnR w="12240">
                      <a:solidFill>
                        <a:srgbClr val="80D4BD"/>
                      </a:solidFill>
                      <a:prstDash val="solid"/>
                    </a:lnR>
                    <a:lnT w="12240">
                      <a:solidFill>
                        <a:srgbClr val="80D4BD"/>
                      </a:solidFill>
                      <a:prstDash val="solid"/>
                    </a:lnT>
                    <a:lnB w="12240">
                      <a:solidFill>
                        <a:srgbClr val="A0E4BD"/>
                      </a:solidFill>
                      <a:prstDash val="solid"/>
                    </a:lnB>
                    <a:solidFill>
                      <a:srgbClr val="151515"/>
                    </a:solidFill>
                  </a:tcPr>
                </a:tc>
              </a:tr>
              <a:tr h="772920">
                <a:tc>
                  <a:txBody>
                    <a:bodyPr lIns="56880" tIns="56880" rIns="56880" bIns="56880"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spcBef>
                          <a:spcPts val="1800"/>
                        </a:spcBef>
                        <a:spcAft>
                          <a:spcPts val="1800"/>
                        </a:spcAft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EDEDED"/>
                          </a:solidFill>
                          <a:effectLst/>
                          <a:uFillTx/>
                          <a:latin typeface="ui-sans-serif"/>
                        </a:rPr>
                        <a:t>3. </a:t>
                      </a:r>
                      <a:r>
                        <a:rPr lang="zh-TW" sz="1200" b="0" u="none" strike="noStrike">
                          <a:solidFill>
                            <a:srgbClr val="EDEDED"/>
                          </a:solidFill>
                          <a:effectLst/>
                          <a:uFillTx/>
                          <a:latin typeface="ui-sans-serif"/>
                        </a:rPr>
                        <a:t>布林通道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56880" marR="56880" marT="56880" marB="56880">
                    <a:lnL w="12240">
                      <a:solidFill>
                        <a:srgbClr val="A0DEBD"/>
                      </a:solidFill>
                      <a:prstDash val="solid"/>
                    </a:lnL>
                    <a:lnR w="12240">
                      <a:solidFill>
                        <a:srgbClr val="00E2BD"/>
                      </a:solidFill>
                      <a:prstDash val="solid"/>
                    </a:lnR>
                    <a:lnT w="12240">
                      <a:solidFill>
                        <a:srgbClr val="A0DEBD"/>
                      </a:solidFill>
                      <a:prstDash val="solid"/>
                    </a:lnT>
                    <a:lnB w="12240">
                      <a:solidFill>
                        <a:srgbClr val="20E6BD"/>
                      </a:solidFill>
                      <a:prstDash val="solid"/>
                    </a:lnB>
                    <a:solidFill>
                      <a:srgbClr val="151515"/>
                    </a:solidFill>
                  </a:tcPr>
                </a:tc>
                <a:tc>
                  <a:txBody>
                    <a:bodyPr lIns="56880" tIns="56880" rIns="56880" bIns="56880"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spcBef>
                          <a:spcPts val="1800"/>
                        </a:spcBef>
                        <a:spcAft>
                          <a:spcPts val="1800"/>
                        </a:spcAft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EDEDED"/>
                          </a:solidFill>
                          <a:effectLst/>
                          <a:uFillTx/>
                          <a:latin typeface="ui-sans-serif"/>
                        </a:rPr>
                        <a:t>0</a:t>
                      </a:r>
                      <a:r>
                        <a:rPr lang="zh-TW" sz="1200" b="0" u="none" strike="noStrike">
                          <a:solidFill>
                            <a:srgbClr val="EDEDED"/>
                          </a:solidFill>
                          <a:effectLst/>
                          <a:uFillTx/>
                          <a:latin typeface="ui-sans-serif"/>
                        </a:rPr>
                        <a:t>筆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56880" marR="56880" marT="56880" marB="56880">
                    <a:lnL w="12240">
                      <a:solidFill>
                        <a:srgbClr val="00E2BD"/>
                      </a:solidFill>
                      <a:prstDash val="solid"/>
                    </a:lnL>
                    <a:lnR w="12240">
                      <a:solidFill>
                        <a:srgbClr val="80E0BD"/>
                      </a:solidFill>
                      <a:prstDash val="solid"/>
                    </a:lnR>
                    <a:lnT w="12240">
                      <a:solidFill>
                        <a:srgbClr val="00E2BD"/>
                      </a:solidFill>
                      <a:prstDash val="solid"/>
                    </a:lnT>
                    <a:lnB w="12240">
                      <a:solidFill>
                        <a:srgbClr val="00DFBD"/>
                      </a:solidFill>
                      <a:prstDash val="solid"/>
                    </a:lnB>
                    <a:solidFill>
                      <a:srgbClr val="151515"/>
                    </a:solidFill>
                  </a:tcPr>
                </a:tc>
                <a:tc>
                  <a:txBody>
                    <a:bodyPr lIns="56880" tIns="56880" rIns="56880" bIns="56880"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spcBef>
                          <a:spcPts val="1800"/>
                        </a:spcBef>
                        <a:spcAft>
                          <a:spcPts val="1800"/>
                        </a:spcAft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EDEDED"/>
                          </a:solidFill>
                          <a:effectLst/>
                          <a:uFillTx/>
                          <a:latin typeface="ui-sans-serif"/>
                        </a:rPr>
                        <a:t>-0.14%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56880" marR="56880" marT="56880" marB="56880">
                    <a:lnL w="12240">
                      <a:solidFill>
                        <a:srgbClr val="80E0BD"/>
                      </a:solidFill>
                      <a:prstDash val="solid"/>
                    </a:lnL>
                    <a:lnR w="12240">
                      <a:solidFill>
                        <a:srgbClr val="E0E0BD"/>
                      </a:solidFill>
                      <a:prstDash val="solid"/>
                    </a:lnR>
                    <a:lnT w="12240">
                      <a:solidFill>
                        <a:srgbClr val="80E0BD"/>
                      </a:solidFill>
                      <a:prstDash val="solid"/>
                    </a:lnT>
                    <a:lnB w="12240">
                      <a:solidFill>
                        <a:srgbClr val="40E7BD"/>
                      </a:solidFill>
                      <a:prstDash val="solid"/>
                    </a:lnB>
                    <a:solidFill>
                      <a:srgbClr val="151515"/>
                    </a:solidFill>
                  </a:tcPr>
                </a:tc>
                <a:tc>
                  <a:txBody>
                    <a:bodyPr lIns="56880" tIns="56880" rIns="56880" bIns="56880"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spcBef>
                          <a:spcPts val="1800"/>
                        </a:spcBef>
                        <a:spcAft>
                          <a:spcPts val="1800"/>
                        </a:spcAft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EDEDED"/>
                          </a:solidFill>
                          <a:effectLst/>
                          <a:uFillTx/>
                          <a:latin typeface="ui-sans-serif"/>
                        </a:rPr>
                        <a:t>-12.48%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56880" marR="56880" marT="56880" marB="56880">
                    <a:lnL w="12240">
                      <a:solidFill>
                        <a:srgbClr val="E0E0BD"/>
                      </a:solidFill>
                      <a:prstDash val="solid"/>
                    </a:lnL>
                    <a:lnR w="12240">
                      <a:solidFill>
                        <a:srgbClr val="20E3BD"/>
                      </a:solidFill>
                      <a:prstDash val="solid"/>
                    </a:lnR>
                    <a:lnT w="12240">
                      <a:solidFill>
                        <a:srgbClr val="E0E0BD"/>
                      </a:solidFill>
                      <a:prstDash val="solid"/>
                    </a:lnT>
                    <a:lnB w="12240">
                      <a:solidFill>
                        <a:srgbClr val="20E9BD"/>
                      </a:solidFill>
                      <a:prstDash val="solid"/>
                    </a:lnB>
                    <a:solidFill>
                      <a:srgbClr val="151515"/>
                    </a:solidFill>
                  </a:tcPr>
                </a:tc>
                <a:tc>
                  <a:txBody>
                    <a:bodyPr lIns="56880" tIns="56880" rIns="56880" bIns="56880"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spcBef>
                          <a:spcPts val="1800"/>
                        </a:spcBef>
                        <a:spcAft>
                          <a:spcPts val="1800"/>
                        </a:spcAft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EDEDED"/>
                          </a:solidFill>
                          <a:effectLst/>
                          <a:uFillTx/>
                          <a:latin typeface="ui-sans-serif"/>
                        </a:rPr>
                        <a:t>-0.19%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56880" marR="56880" marT="56880" marB="56880">
                    <a:lnL w="12240">
                      <a:solidFill>
                        <a:srgbClr val="20E3BD"/>
                      </a:solidFill>
                      <a:prstDash val="solid"/>
                    </a:lnL>
                    <a:lnR w="12240">
                      <a:solidFill>
                        <a:srgbClr val="A0E7BD"/>
                      </a:solidFill>
                      <a:prstDash val="solid"/>
                    </a:lnR>
                    <a:lnT w="12240">
                      <a:solidFill>
                        <a:srgbClr val="20E3BD"/>
                      </a:solidFill>
                      <a:prstDash val="solid"/>
                    </a:lnT>
                    <a:lnB w="12240">
                      <a:solidFill>
                        <a:srgbClr val="E0EFBD"/>
                      </a:solidFill>
                      <a:prstDash val="solid"/>
                    </a:lnB>
                    <a:solidFill>
                      <a:srgbClr val="151515"/>
                    </a:solidFill>
                  </a:tcPr>
                </a:tc>
                <a:tc>
                  <a:txBody>
                    <a:bodyPr lIns="56880" tIns="56880" rIns="56880" bIns="56880"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spcBef>
                          <a:spcPts val="1800"/>
                        </a:spcBef>
                        <a:spcAft>
                          <a:spcPts val="1800"/>
                        </a:spcAft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EDEDED"/>
                          </a:solidFill>
                          <a:effectLst/>
                          <a:uFillTx/>
                          <a:latin typeface="ui-sans-serif"/>
                        </a:rPr>
                        <a:t>+3.63%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56880" marR="56880" marT="56880" marB="56880">
                    <a:lnL w="12240">
                      <a:solidFill>
                        <a:srgbClr val="A0E7BD"/>
                      </a:solidFill>
                      <a:prstDash val="solid"/>
                    </a:lnL>
                    <a:lnR w="12240">
                      <a:solidFill>
                        <a:srgbClr val="40E4BD"/>
                      </a:solidFill>
                      <a:prstDash val="solid"/>
                    </a:lnR>
                    <a:lnT w="12240">
                      <a:solidFill>
                        <a:srgbClr val="A0E7BD"/>
                      </a:solidFill>
                      <a:prstDash val="solid"/>
                    </a:lnT>
                    <a:lnB w="12240">
                      <a:solidFill>
                        <a:srgbClr val="60EEBD"/>
                      </a:solidFill>
                      <a:prstDash val="solid"/>
                    </a:lnB>
                    <a:solidFill>
                      <a:srgbClr val="151515"/>
                    </a:solidFill>
                  </a:tcPr>
                </a:tc>
                <a:tc>
                  <a:txBody>
                    <a:bodyPr lIns="56880" tIns="56880" rIns="56880" bIns="56880"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spcBef>
                          <a:spcPts val="1800"/>
                        </a:spcBef>
                        <a:spcAft>
                          <a:spcPts val="1800"/>
                        </a:spcAft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EDEDED"/>
                          </a:solidFill>
                          <a:effectLst/>
                          <a:uFillTx/>
                          <a:latin typeface="ui-sans-serif"/>
                        </a:rPr>
                        <a:t>0</a:t>
                      </a:r>
                      <a:r>
                        <a:rPr lang="zh-TW" sz="1200" b="0" u="none" strike="noStrike">
                          <a:solidFill>
                            <a:srgbClr val="EDEDED"/>
                          </a:solidFill>
                          <a:effectLst/>
                          <a:uFillTx/>
                          <a:latin typeface="ui-sans-serif"/>
                        </a:rPr>
                        <a:t>筆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56880" marR="56880" marT="56880" marB="56880">
                    <a:lnL w="12240">
                      <a:solidFill>
                        <a:srgbClr val="40E4BD"/>
                      </a:solidFill>
                      <a:prstDash val="solid"/>
                    </a:lnL>
                    <a:lnR w="12240">
                      <a:solidFill>
                        <a:srgbClr val="A0E4BD"/>
                      </a:solidFill>
                      <a:prstDash val="solid"/>
                    </a:lnR>
                    <a:lnT w="12240">
                      <a:solidFill>
                        <a:srgbClr val="40E4BD"/>
                      </a:solidFill>
                      <a:prstDash val="solid"/>
                    </a:lnT>
                    <a:lnB w="12240">
                      <a:solidFill>
                        <a:srgbClr val="A0F3BD"/>
                      </a:solidFill>
                      <a:prstDash val="solid"/>
                    </a:lnB>
                    <a:solidFill>
                      <a:srgbClr val="151515"/>
                    </a:solidFill>
                  </a:tcPr>
                </a:tc>
                <a:tc>
                  <a:txBody>
                    <a:bodyPr lIns="56880" tIns="56880" rIns="56880" bIns="56880"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spcBef>
                          <a:spcPts val="1800"/>
                        </a:spcBef>
                        <a:spcAft>
                          <a:spcPts val="1800"/>
                        </a:spcAft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EDEDED"/>
                          </a:solidFill>
                          <a:effectLst/>
                          <a:uFillTx/>
                          <a:latin typeface="ui-sans-serif"/>
                        </a:rPr>
                        <a:t>-9.19%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56880" marR="56880" marT="56880" marB="56880">
                    <a:lnL w="12240">
                      <a:solidFill>
                        <a:srgbClr val="A0E4BD"/>
                      </a:solidFill>
                      <a:prstDash val="solid"/>
                    </a:lnL>
                    <a:lnR w="12240">
                      <a:solidFill>
                        <a:srgbClr val="A0E4BD"/>
                      </a:solidFill>
                      <a:prstDash val="solid"/>
                    </a:lnR>
                    <a:lnT w="12240">
                      <a:solidFill>
                        <a:srgbClr val="A0E4BD"/>
                      </a:solidFill>
                      <a:prstDash val="solid"/>
                    </a:lnT>
                    <a:lnB w="12240">
                      <a:solidFill>
                        <a:srgbClr val="80F5BD"/>
                      </a:solidFill>
                      <a:prstDash val="solid"/>
                    </a:lnB>
                    <a:solidFill>
                      <a:srgbClr val="151515"/>
                    </a:solidFill>
                  </a:tcPr>
                </a:tc>
              </a:tr>
              <a:tr h="547560">
                <a:tc>
                  <a:txBody>
                    <a:bodyPr lIns="56880" tIns="56880" rIns="56880" bIns="56880"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spcBef>
                          <a:spcPts val="1800"/>
                        </a:spcBef>
                        <a:spcAft>
                          <a:spcPts val="1800"/>
                        </a:spcAft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EDEDED"/>
                          </a:solidFill>
                          <a:effectLst/>
                          <a:uFillTx/>
                          <a:latin typeface="ui-sans-serif"/>
                        </a:rPr>
                        <a:t>4. </a:t>
                      </a:r>
                      <a:r>
                        <a:rPr lang="zh-TW" sz="1200" b="0" u="none" strike="noStrike">
                          <a:solidFill>
                            <a:srgbClr val="EDEDED"/>
                          </a:solidFill>
                          <a:effectLst/>
                          <a:uFillTx/>
                          <a:latin typeface="ui-sans-serif"/>
                        </a:rPr>
                        <a:t>突破交易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56880" marR="56880" marT="56880" marB="56880">
                    <a:lnL w="12240">
                      <a:solidFill>
                        <a:srgbClr val="20E6BD"/>
                      </a:solidFill>
                      <a:prstDash val="solid"/>
                    </a:lnL>
                    <a:lnR w="12240">
                      <a:solidFill>
                        <a:srgbClr val="00DFBD"/>
                      </a:solidFill>
                      <a:prstDash val="solid"/>
                    </a:lnR>
                    <a:lnT w="12240">
                      <a:solidFill>
                        <a:srgbClr val="20E6BD"/>
                      </a:solidFill>
                      <a:prstDash val="solid"/>
                    </a:lnT>
                    <a:lnB w="7200">
                      <a:solidFill>
                        <a:srgbClr val="20E6BD"/>
                      </a:solidFill>
                      <a:prstDash val="solid"/>
                    </a:lnB>
                    <a:solidFill>
                      <a:srgbClr val="151515"/>
                    </a:solidFill>
                  </a:tcPr>
                </a:tc>
                <a:tc>
                  <a:txBody>
                    <a:bodyPr lIns="56880" tIns="56880" rIns="56880" bIns="56880"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spcBef>
                          <a:spcPts val="1800"/>
                        </a:spcBef>
                        <a:spcAft>
                          <a:spcPts val="1800"/>
                        </a:spcAft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EDEDED"/>
                          </a:solidFill>
                          <a:effectLst/>
                          <a:uFillTx/>
                          <a:latin typeface="ui-sans-serif"/>
                        </a:rPr>
                        <a:t>0</a:t>
                      </a:r>
                      <a:r>
                        <a:rPr lang="zh-TW" sz="1200" b="0" u="none" strike="noStrike">
                          <a:solidFill>
                            <a:srgbClr val="EDEDED"/>
                          </a:solidFill>
                          <a:effectLst/>
                          <a:uFillTx/>
                          <a:latin typeface="ui-sans-serif"/>
                        </a:rPr>
                        <a:t>筆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56880" marR="56880" marT="56880" marB="56880">
                    <a:lnL w="12240">
                      <a:solidFill>
                        <a:srgbClr val="00DFBD"/>
                      </a:solidFill>
                      <a:prstDash val="solid"/>
                    </a:lnL>
                    <a:lnR w="12240">
                      <a:solidFill>
                        <a:srgbClr val="40E7BD"/>
                      </a:solidFill>
                      <a:prstDash val="solid"/>
                    </a:lnR>
                    <a:lnT w="12240">
                      <a:solidFill>
                        <a:srgbClr val="00DFBD"/>
                      </a:solidFill>
                      <a:prstDash val="solid"/>
                    </a:lnT>
                    <a:lnB w="7200">
                      <a:solidFill>
                        <a:srgbClr val="00DFBD"/>
                      </a:solidFill>
                      <a:prstDash val="solid"/>
                    </a:lnB>
                    <a:solidFill>
                      <a:srgbClr val="151515"/>
                    </a:solidFill>
                  </a:tcPr>
                </a:tc>
                <a:tc>
                  <a:txBody>
                    <a:bodyPr lIns="56880" tIns="56880" rIns="56880" bIns="56880"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spcBef>
                          <a:spcPts val="1800"/>
                        </a:spcBef>
                        <a:spcAft>
                          <a:spcPts val="1800"/>
                        </a:spcAft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EDEDED"/>
                          </a:solidFill>
                          <a:effectLst/>
                          <a:uFillTx/>
                          <a:latin typeface="ui-sans-serif"/>
                        </a:rPr>
                        <a:t>0</a:t>
                      </a:r>
                      <a:r>
                        <a:rPr lang="zh-TW" sz="1200" b="0" u="none" strike="noStrike">
                          <a:solidFill>
                            <a:srgbClr val="EDEDED"/>
                          </a:solidFill>
                          <a:effectLst/>
                          <a:uFillTx/>
                          <a:latin typeface="ui-sans-serif"/>
                        </a:rPr>
                        <a:t>筆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56880" marR="56880" marT="56880" marB="56880">
                    <a:lnL w="12240">
                      <a:solidFill>
                        <a:srgbClr val="40E7BD"/>
                      </a:solidFill>
                      <a:prstDash val="solid"/>
                    </a:lnL>
                    <a:lnR w="12240">
                      <a:solidFill>
                        <a:srgbClr val="20E9BD"/>
                      </a:solidFill>
                      <a:prstDash val="solid"/>
                    </a:lnR>
                    <a:lnT w="12240">
                      <a:solidFill>
                        <a:srgbClr val="40E7BD"/>
                      </a:solidFill>
                      <a:prstDash val="solid"/>
                    </a:lnT>
                    <a:lnB w="7200">
                      <a:solidFill>
                        <a:srgbClr val="40E7BD"/>
                      </a:solidFill>
                      <a:prstDash val="solid"/>
                    </a:lnB>
                    <a:solidFill>
                      <a:srgbClr val="151515"/>
                    </a:solidFill>
                  </a:tcPr>
                </a:tc>
                <a:tc>
                  <a:txBody>
                    <a:bodyPr lIns="56880" tIns="56880" rIns="56880" bIns="56880"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spcBef>
                          <a:spcPts val="1800"/>
                        </a:spcBef>
                        <a:spcAft>
                          <a:spcPts val="1800"/>
                        </a:spcAft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EDEDED"/>
                          </a:solidFill>
                          <a:effectLst/>
                          <a:uFillTx/>
                          <a:latin typeface="ui-sans-serif"/>
                        </a:rPr>
                        <a:t>0</a:t>
                      </a:r>
                      <a:r>
                        <a:rPr lang="zh-TW" sz="1200" b="0" u="none" strike="noStrike">
                          <a:solidFill>
                            <a:srgbClr val="EDEDED"/>
                          </a:solidFill>
                          <a:effectLst/>
                          <a:uFillTx/>
                          <a:latin typeface="ui-sans-serif"/>
                        </a:rPr>
                        <a:t>筆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56880" marR="56880" marT="56880" marB="56880">
                    <a:lnL w="12240">
                      <a:solidFill>
                        <a:srgbClr val="20E9BD"/>
                      </a:solidFill>
                      <a:prstDash val="solid"/>
                    </a:lnL>
                    <a:lnR w="12240">
                      <a:solidFill>
                        <a:srgbClr val="E0EFBD"/>
                      </a:solidFill>
                      <a:prstDash val="solid"/>
                    </a:lnR>
                    <a:lnT w="12240">
                      <a:solidFill>
                        <a:srgbClr val="20E9BD"/>
                      </a:solidFill>
                      <a:prstDash val="solid"/>
                    </a:lnT>
                    <a:lnB w="7200">
                      <a:solidFill>
                        <a:srgbClr val="20E9BD"/>
                      </a:solidFill>
                      <a:prstDash val="solid"/>
                    </a:lnB>
                    <a:solidFill>
                      <a:srgbClr val="151515"/>
                    </a:solidFill>
                  </a:tcPr>
                </a:tc>
                <a:tc>
                  <a:txBody>
                    <a:bodyPr lIns="56880" tIns="56880" rIns="56880" bIns="56880"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spcBef>
                          <a:spcPts val="1800"/>
                        </a:spcBef>
                        <a:spcAft>
                          <a:spcPts val="1800"/>
                        </a:spcAft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EDEDED"/>
                          </a:solidFill>
                          <a:effectLst/>
                          <a:uFillTx/>
                          <a:latin typeface="ui-sans-serif"/>
                        </a:rPr>
                        <a:t>0</a:t>
                      </a:r>
                      <a:r>
                        <a:rPr lang="zh-TW" sz="1200" b="0" u="none" strike="noStrike">
                          <a:solidFill>
                            <a:srgbClr val="EDEDED"/>
                          </a:solidFill>
                          <a:effectLst/>
                          <a:uFillTx/>
                          <a:latin typeface="ui-sans-serif"/>
                        </a:rPr>
                        <a:t>筆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56880" marR="56880" marT="56880" marB="56880">
                    <a:lnL w="12240">
                      <a:solidFill>
                        <a:srgbClr val="E0EFBD"/>
                      </a:solidFill>
                      <a:prstDash val="solid"/>
                    </a:lnL>
                    <a:lnR w="12240">
                      <a:solidFill>
                        <a:srgbClr val="60EEBD"/>
                      </a:solidFill>
                      <a:prstDash val="solid"/>
                    </a:lnR>
                    <a:lnT w="12240">
                      <a:solidFill>
                        <a:srgbClr val="E0EFBD"/>
                      </a:solidFill>
                      <a:prstDash val="solid"/>
                    </a:lnT>
                    <a:lnB w="7200">
                      <a:solidFill>
                        <a:srgbClr val="E0EFBD"/>
                      </a:solidFill>
                      <a:prstDash val="solid"/>
                    </a:lnB>
                    <a:solidFill>
                      <a:srgbClr val="151515"/>
                    </a:solidFill>
                  </a:tcPr>
                </a:tc>
                <a:tc>
                  <a:txBody>
                    <a:bodyPr lIns="56880" tIns="56880" rIns="56880" bIns="56880"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spcBef>
                          <a:spcPts val="1800"/>
                        </a:spcBef>
                        <a:spcAft>
                          <a:spcPts val="1800"/>
                        </a:spcAft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EDEDED"/>
                          </a:solidFill>
                          <a:effectLst/>
                          <a:uFillTx/>
                          <a:latin typeface="ui-sans-serif"/>
                        </a:rPr>
                        <a:t>0</a:t>
                      </a:r>
                      <a:r>
                        <a:rPr lang="zh-TW" sz="1200" b="0" u="none" strike="noStrike">
                          <a:solidFill>
                            <a:srgbClr val="EDEDED"/>
                          </a:solidFill>
                          <a:effectLst/>
                          <a:uFillTx/>
                          <a:latin typeface="ui-sans-serif"/>
                        </a:rPr>
                        <a:t>筆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56880" marR="56880" marT="56880" marB="56880">
                    <a:lnL w="12240">
                      <a:solidFill>
                        <a:srgbClr val="60EEBD"/>
                      </a:solidFill>
                      <a:prstDash val="solid"/>
                    </a:lnL>
                    <a:lnR w="12240">
                      <a:solidFill>
                        <a:srgbClr val="A0F3BD"/>
                      </a:solidFill>
                      <a:prstDash val="solid"/>
                    </a:lnR>
                    <a:lnT w="12240">
                      <a:solidFill>
                        <a:srgbClr val="60EEBD"/>
                      </a:solidFill>
                      <a:prstDash val="solid"/>
                    </a:lnT>
                    <a:lnB w="7200">
                      <a:solidFill>
                        <a:srgbClr val="60EEBD"/>
                      </a:solidFill>
                      <a:prstDash val="solid"/>
                    </a:lnB>
                    <a:solidFill>
                      <a:srgbClr val="151515"/>
                    </a:solidFill>
                  </a:tcPr>
                </a:tc>
                <a:tc>
                  <a:txBody>
                    <a:bodyPr lIns="56880" tIns="56880" rIns="56880" bIns="56880"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spcBef>
                          <a:spcPts val="1800"/>
                        </a:spcBef>
                        <a:spcAft>
                          <a:spcPts val="1800"/>
                        </a:spcAft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EDEDED"/>
                          </a:solidFill>
                          <a:effectLst/>
                          <a:uFillTx/>
                          <a:latin typeface="ui-sans-serif"/>
                        </a:rPr>
                        <a:t>0</a:t>
                      </a:r>
                      <a:r>
                        <a:rPr lang="zh-TW" sz="1200" b="0" u="none" strike="noStrike">
                          <a:solidFill>
                            <a:srgbClr val="EDEDED"/>
                          </a:solidFill>
                          <a:effectLst/>
                          <a:uFillTx/>
                          <a:latin typeface="ui-sans-serif"/>
                        </a:rPr>
                        <a:t>筆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56880" marR="56880" marT="56880" marB="56880">
                    <a:lnL w="12240">
                      <a:solidFill>
                        <a:srgbClr val="A0F3BD"/>
                      </a:solidFill>
                      <a:prstDash val="solid"/>
                    </a:lnL>
                    <a:lnR w="12240">
                      <a:solidFill>
                        <a:srgbClr val="80F5BD"/>
                      </a:solidFill>
                      <a:prstDash val="solid"/>
                    </a:lnR>
                    <a:lnT w="12240">
                      <a:solidFill>
                        <a:srgbClr val="A0F3BD"/>
                      </a:solidFill>
                      <a:prstDash val="solid"/>
                    </a:lnT>
                    <a:lnB w="7200">
                      <a:solidFill>
                        <a:srgbClr val="A0F3BD"/>
                      </a:solidFill>
                      <a:prstDash val="solid"/>
                    </a:lnB>
                    <a:solidFill>
                      <a:srgbClr val="151515"/>
                    </a:solidFill>
                  </a:tcPr>
                </a:tc>
                <a:tc>
                  <a:txBody>
                    <a:bodyPr lIns="56880" tIns="56880" rIns="56880" bIns="56880"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spcBef>
                          <a:spcPts val="1800"/>
                        </a:spcBef>
                        <a:spcAft>
                          <a:spcPts val="1800"/>
                        </a:spcAft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EDEDED"/>
                          </a:solidFill>
                          <a:effectLst/>
                          <a:uFillTx/>
                          <a:latin typeface="ui-sans-serif"/>
                        </a:rPr>
                        <a:t>0.00%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56880" marR="56880" marT="56880" marB="56880">
                    <a:lnL w="12240">
                      <a:solidFill>
                        <a:srgbClr val="80F5BD"/>
                      </a:solidFill>
                      <a:prstDash val="solid"/>
                    </a:lnL>
                    <a:lnR w="12240">
                      <a:solidFill>
                        <a:srgbClr val="80F5BD"/>
                      </a:solidFill>
                      <a:prstDash val="solid"/>
                    </a:lnR>
                    <a:lnT w="12240">
                      <a:solidFill>
                        <a:srgbClr val="80F5BD"/>
                      </a:solidFill>
                      <a:prstDash val="solid"/>
                    </a:lnT>
                    <a:lnB w="7200">
                      <a:solidFill>
                        <a:srgbClr val="80F5BD"/>
                      </a:solidFill>
                      <a:prstDash val="solid"/>
                    </a:lnB>
                    <a:solidFill>
                      <a:srgbClr val="151515"/>
                    </a:solidFill>
                  </a:tcPr>
                </a:tc>
              </a:tr>
            </a:tbl>
          </a:graphicData>
        </a:graphic>
      </p:graphicFrame>
      <p:sp>
        <p:nvSpPr>
          <p:cNvPr id="128" name="文字方塊 7"/>
          <p:cNvSpPr/>
          <p:nvPr/>
        </p:nvSpPr>
        <p:spPr>
          <a:xfrm>
            <a:off x="1065240" y="4343400"/>
            <a:ext cx="9505440" cy="175212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29880" anchor="t">
            <a:noAutofit/>
          </a:bodyPr>
          <a:p>
            <a:pPr defTabSz="914400">
              <a:lnSpc>
                <a:spcPct val="100000"/>
              </a:lnSpc>
            </a:pPr>
            <a:r>
              <a:rPr lang="zh-TW" sz="1400" b="1" u="none" strike="noStrike">
                <a:solidFill>
                  <a:srgbClr val="333333"/>
                </a:solidFill>
                <a:effectLst/>
                <a:uFillTx/>
                <a:latin typeface="Century Gothic"/>
              </a:rPr>
              <a:t>重點觀察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zh-TW" sz="1300" b="0" u="none" strike="noStrike">
                <a:solidFill>
                  <a:srgbClr val="333333"/>
                </a:solidFill>
                <a:effectLst/>
                <a:uFillTx/>
                <a:latin typeface="Century Gothic"/>
              </a:rPr>
              <a:t>均線交叉 是唯一半年正報酬（</a:t>
            </a:r>
            <a:r>
              <a:rPr lang="en-US" sz="1300" b="0" u="none" strike="noStrike">
                <a:solidFill>
                  <a:srgbClr val="333333"/>
                </a:solidFill>
                <a:effectLst/>
                <a:uFillTx/>
                <a:latin typeface="Century Gothic"/>
              </a:rPr>
              <a:t>+13.13%</a:t>
            </a:r>
            <a:r>
              <a:rPr lang="zh-TW" sz="1300" b="0" u="none" strike="noStrike">
                <a:solidFill>
                  <a:srgbClr val="333333"/>
                </a:solidFill>
                <a:effectLst/>
                <a:uFillTx/>
                <a:latin typeface="Century Gothic"/>
              </a:rPr>
              <a:t>、</a:t>
            </a:r>
            <a:r>
              <a:rPr lang="en-US" sz="1300" b="0" u="none" strike="noStrike">
                <a:solidFill>
                  <a:srgbClr val="333333"/>
                </a:solidFill>
                <a:effectLst/>
                <a:uFillTx/>
                <a:latin typeface="Century Gothic"/>
              </a:rPr>
              <a:t>NT$65,647</a:t>
            </a:r>
            <a:r>
              <a:rPr lang="zh-TW" sz="1300" b="0" u="none" strike="noStrike">
                <a:solidFill>
                  <a:srgbClr val="333333"/>
                </a:solidFill>
                <a:effectLst/>
                <a:uFillTx/>
                <a:latin typeface="Century Gothic"/>
              </a:rPr>
              <a:t>）；</a:t>
            </a:r>
            <a:r>
              <a:rPr lang="en-US" sz="1300" b="0" u="none" strike="noStrike">
                <a:solidFill>
                  <a:srgbClr val="333333"/>
                </a:solidFill>
                <a:effectLst/>
                <a:uFillTx/>
                <a:latin typeface="Century Gothic"/>
              </a:rPr>
              <a:t>VWAP </a:t>
            </a:r>
            <a:r>
              <a:rPr lang="zh-TW" sz="1300" b="0" u="none" strike="noStrike">
                <a:solidFill>
                  <a:srgbClr val="333333"/>
                </a:solidFill>
                <a:effectLst/>
                <a:uFillTx/>
                <a:latin typeface="Century Gothic"/>
              </a:rPr>
              <a:t>偏離 −</a:t>
            </a:r>
            <a:r>
              <a:rPr lang="en-US" sz="1300" b="0" u="none" strike="noStrike">
                <a:solidFill>
                  <a:srgbClr val="333333"/>
                </a:solidFill>
                <a:effectLst/>
                <a:uFillTx/>
                <a:latin typeface="Century Gothic"/>
              </a:rPr>
              <a:t>5.61%</a:t>
            </a:r>
            <a:r>
              <a:rPr lang="zh-TW" sz="1300" b="0" u="none" strike="noStrike">
                <a:solidFill>
                  <a:srgbClr val="333333"/>
                </a:solidFill>
                <a:effectLst/>
                <a:uFillTx/>
                <a:latin typeface="Century Gothic"/>
              </a:rPr>
              <a:t>、布林通道 −</a:t>
            </a:r>
            <a:r>
              <a:rPr lang="en-US" sz="1300" b="0" u="none" strike="noStrike">
                <a:solidFill>
                  <a:srgbClr val="333333"/>
                </a:solidFill>
                <a:effectLst/>
                <a:uFillTx/>
                <a:latin typeface="Century Gothic"/>
              </a:rPr>
              <a:t>9.19%</a:t>
            </a:r>
            <a:r>
              <a:rPr lang="zh-TW" sz="1300" b="0" u="none" strike="noStrike">
                <a:solidFill>
                  <a:srgbClr val="333333"/>
                </a:solidFill>
                <a:effectLst/>
                <a:uFillTx/>
                <a:latin typeface="Century Gothic"/>
              </a:rPr>
              <a:t>、突破交易 </a:t>
            </a:r>
            <a:r>
              <a:rPr lang="en-US" sz="1300" b="0" u="none" strike="noStrike">
                <a:solidFill>
                  <a:srgbClr val="333333"/>
                </a:solidFill>
                <a:effectLst/>
                <a:uFillTx/>
                <a:latin typeface="Century Gothic"/>
              </a:rPr>
              <a:t>0 </a:t>
            </a:r>
            <a:r>
              <a:rPr lang="zh-TW" sz="1300" b="0" u="none" strike="noStrike">
                <a:solidFill>
                  <a:srgbClr val="333333"/>
                </a:solidFill>
                <a:effectLst/>
                <a:uFillTx/>
                <a:latin typeface="Century Gothic"/>
              </a:rPr>
              <a:t>筆 </a:t>
            </a:r>
            <a:r>
              <a:rPr lang="en-US" sz="1300" b="0" u="none" strike="noStrike">
                <a:solidFill>
                  <a:srgbClr val="333333"/>
                </a:solidFill>
                <a:effectLst/>
                <a:uFillTx/>
                <a:latin typeface="Century Gothic"/>
              </a:rPr>
              <a:t>0%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300" b="0" u="none" strike="noStrike">
                <a:solidFill>
                  <a:srgbClr val="333333"/>
                </a:solidFill>
                <a:effectLst/>
                <a:uFillTx/>
                <a:latin typeface="Century Gothic"/>
              </a:rPr>
              <a:t>VWAP </a:t>
            </a:r>
            <a:r>
              <a:rPr lang="zh-TW" sz="1300" b="0" u="none" strike="noStrike">
                <a:solidFill>
                  <a:srgbClr val="333333"/>
                </a:solidFill>
                <a:effectLst/>
                <a:uFillTx/>
                <a:latin typeface="Century Gothic"/>
              </a:rPr>
              <a:t>二月 </a:t>
            </a:r>
            <a:r>
              <a:rPr lang="en-US" sz="1300" b="0" u="none" strike="noStrike">
                <a:solidFill>
                  <a:srgbClr val="333333"/>
                </a:solidFill>
                <a:effectLst/>
                <a:uFillTx/>
                <a:latin typeface="Century Gothic"/>
              </a:rPr>
              <a:t>1060 </a:t>
            </a:r>
            <a:r>
              <a:rPr lang="zh-TW" sz="1300" b="0" u="none" strike="noStrike">
                <a:solidFill>
                  <a:srgbClr val="333333"/>
                </a:solidFill>
                <a:effectLst/>
                <a:uFillTx/>
                <a:latin typeface="Century Gothic"/>
              </a:rPr>
              <a:t>進場後抱到五月 </a:t>
            </a:r>
            <a:r>
              <a:rPr lang="en-US" sz="1300" b="0" u="none" strike="noStrike">
                <a:solidFill>
                  <a:srgbClr val="333333"/>
                </a:solidFill>
                <a:effectLst/>
                <a:uFillTx/>
                <a:latin typeface="Century Gothic"/>
              </a:rPr>
              <a:t>950 </a:t>
            </a:r>
            <a:r>
              <a:rPr lang="zh-TW" sz="1300" b="0" u="none" strike="noStrike">
                <a:solidFill>
                  <a:srgbClr val="333333"/>
                </a:solidFill>
                <a:effectLst/>
                <a:uFillTx/>
                <a:latin typeface="Century Gothic"/>
              </a:rPr>
              <a:t>才出：三月單月 −</a:t>
            </a:r>
            <a:r>
              <a:rPr lang="en-US" sz="1300" b="0" u="none" strike="noStrike">
                <a:solidFill>
                  <a:srgbClr val="333333"/>
                </a:solidFill>
                <a:effectLst/>
                <a:uFillTx/>
                <a:latin typeface="Century Gothic"/>
              </a:rPr>
              <a:t>12.97% </a:t>
            </a:r>
            <a:r>
              <a:rPr lang="zh-TW" sz="1300" b="0" u="none" strike="noStrike">
                <a:solidFill>
                  <a:srgbClr val="333333"/>
                </a:solidFill>
                <a:effectLst/>
                <a:uFillTx/>
                <a:latin typeface="Century Gothic"/>
              </a:rPr>
              <a:t>是「持倉」虧損，不是新交易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zh-TW" sz="1300" b="0" u="none" strike="noStrike">
                <a:solidFill>
                  <a:srgbClr val="333333"/>
                </a:solidFill>
                <a:effectLst/>
                <a:uFillTx/>
                <a:latin typeface="Century Gothic"/>
              </a:rPr>
              <a:t>布林通道 二月進場、同樣抱到五月，三月 −</a:t>
            </a:r>
            <a:r>
              <a:rPr lang="en-US" sz="1300" b="0" u="none" strike="noStrike">
                <a:solidFill>
                  <a:srgbClr val="333333"/>
                </a:solidFill>
                <a:effectLst/>
                <a:uFillTx/>
                <a:latin typeface="Century Gothic"/>
              </a:rPr>
              <a:t>12.48%——</a:t>
            </a:r>
            <a:r>
              <a:rPr lang="zh-TW" sz="1300" b="0" u="none" strike="noStrike">
                <a:solidFill>
                  <a:srgbClr val="333333"/>
                </a:solidFill>
                <a:effectLst/>
                <a:uFillTx/>
                <a:latin typeface="Century Gothic"/>
              </a:rPr>
              <a:t>逆勢搶反彈接到刀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zh-TW" sz="1300" b="0" u="none" strike="noStrike">
                <a:solidFill>
                  <a:srgbClr val="333333"/>
                </a:solidFill>
                <a:effectLst/>
                <a:uFillTx/>
                <a:latin typeface="Century Gothic"/>
              </a:rPr>
              <a:t>突破交易整半年零訊號（</a:t>
            </a:r>
            <a:r>
              <a:rPr lang="en-US" sz="1300" b="0" u="none" strike="noStrike">
                <a:solidFill>
                  <a:srgbClr val="333333"/>
                </a:solidFill>
                <a:effectLst/>
                <a:uFillTx/>
                <a:latin typeface="Century Gothic"/>
              </a:rPr>
              <a:t>ATR</a:t>
            </a:r>
            <a:r>
              <a:rPr lang="zh-TW" sz="1300" b="0" u="none" strike="noStrike">
                <a:solidFill>
                  <a:srgbClr val="333333"/>
                </a:solidFill>
                <a:effectLst/>
                <a:uFillTx/>
                <a:latin typeface="Century Gothic"/>
              </a:rPr>
              <a:t>／突破條件都沒成立）；均線交叉 </a:t>
            </a:r>
            <a:r>
              <a:rPr lang="en-US" sz="1300" b="0" u="none" strike="noStrike">
                <a:solidFill>
                  <a:srgbClr val="333333"/>
                </a:solidFill>
                <a:effectLst/>
                <a:uFillTx/>
                <a:latin typeface="Century Gothic"/>
              </a:rPr>
              <a:t>4/30 </a:t>
            </a:r>
            <a:r>
              <a:rPr lang="zh-TW" sz="1300" b="0" u="none" strike="noStrike">
                <a:solidFill>
                  <a:srgbClr val="333333"/>
                </a:solidFill>
                <a:effectLst/>
                <a:uFillTx/>
                <a:latin typeface="Century Gothic"/>
              </a:rPr>
              <a:t>進場吃到 </a:t>
            </a:r>
            <a:r>
              <a:rPr lang="en-US" sz="1300" b="0" u="none" strike="noStrike">
                <a:solidFill>
                  <a:srgbClr val="333333"/>
                </a:solidFill>
                <a:effectLst/>
                <a:uFillTx/>
                <a:latin typeface="Century Gothic"/>
              </a:rPr>
              <a:t>4–6 </a:t>
            </a:r>
            <a:r>
              <a:rPr lang="zh-TW" sz="1300" b="0" u="none" strike="noStrike">
                <a:solidFill>
                  <a:srgbClr val="333333"/>
                </a:solidFill>
                <a:effectLst/>
                <a:uFillTx/>
                <a:latin typeface="Century Gothic"/>
              </a:rPr>
              <a:t>月反彈（</a:t>
            </a:r>
            <a:r>
              <a:rPr lang="en-US" sz="1300" b="0" u="none" strike="noStrike">
                <a:solidFill>
                  <a:srgbClr val="333333"/>
                </a:solidFill>
                <a:effectLst/>
                <a:uFillTx/>
                <a:latin typeface="Century Gothic"/>
              </a:rPr>
              <a:t>+9.6%</a:t>
            </a:r>
            <a:r>
              <a:rPr lang="zh-TW" sz="1300" b="0" u="none" strike="noStrike">
                <a:solidFill>
                  <a:srgbClr val="333333"/>
                </a:solidFill>
                <a:effectLst/>
                <a:uFillTx/>
                <a:latin typeface="Century Gothic"/>
              </a:rPr>
              <a:t>）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ldNum" idx="4"/>
          </p:nvPr>
        </p:nvSpPr>
        <p:spPr/>
        <p:txBody>
          <a:bodyPr/>
          <a:p>
            <a:fld id="{DEBAF182-65AE-4669-A8AA-2AFE3557E9B8}" type="slidenum">
              <a:t>8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PlaceHolder 1"/>
          <p:cNvSpPr>
            <a:spLocks noGrp="1"/>
          </p:cNvSpPr>
          <p:nvPr>
            <p:ph type="title"/>
          </p:nvPr>
        </p:nvSpPr>
        <p:spPr>
          <a:xfrm>
            <a:off x="1293840" y="609480"/>
            <a:ext cx="4912920" cy="1445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 defTabSz="914400">
              <a:lnSpc>
                <a:spcPct val="80000"/>
              </a:lnSpc>
              <a:buNone/>
              <a:tabLst>
                <a:tab pos="0" algn="l"/>
              </a:tabLst>
            </a:pP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pic>
        <p:nvPicPr>
          <p:cNvPr id="130" name="內容版面配置區 5"/>
          <p:cNvPicPr/>
          <p:nvPr/>
        </p:nvPicPr>
        <p:blipFill>
          <a:blip r:embed="rId1"/>
          <a:stretch/>
        </p:blipFill>
        <p:spPr>
          <a:xfrm>
            <a:off x="1217520" y="230040"/>
            <a:ext cx="9446760" cy="63954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" name="PlaceHolder 2"/>
          <p:cNvSpPr>
            <a:spLocks noGrp="1"/>
          </p:cNvSpPr>
          <p:nvPr>
            <p:ph type="sldNum" idx="4"/>
          </p:nvPr>
        </p:nvSpPr>
        <p:spPr/>
        <p:txBody>
          <a:bodyPr/>
          <a:p>
            <a:fld id="{E0ACE404-CA5D-4685-A91B-CED0EDAE43A4}" type="slidenum">
              <a:t>9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PlaceHolder 1"/>
          <p:cNvSpPr>
            <a:spLocks noGrp="1"/>
          </p:cNvSpPr>
          <p:nvPr>
            <p:ph type="title"/>
          </p:nvPr>
        </p:nvSpPr>
        <p:spPr>
          <a:xfrm>
            <a:off x="1293840" y="609480"/>
            <a:ext cx="6550920" cy="607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 fontScale="62500" lnSpcReduction="19999"/>
          </a:bodyPr>
          <a:p>
            <a:pPr indent="0" algn="l" defTabSz="914400">
              <a:lnSpc>
                <a:spcPct val="80000"/>
              </a:lnSpc>
              <a:buNone/>
              <a:tabLst>
                <a:tab pos="0" algn="l"/>
              </a:tabLst>
            </a:pP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盤整盤與震盪盤</a:t>
            </a:r>
            <a:br>
              <a:rPr sz="3200"/>
            </a:b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132" name="PlaceHolder 2"/>
          <p:cNvSpPr>
            <a:spLocks noGrp="1"/>
          </p:cNvSpPr>
          <p:nvPr>
            <p:ph/>
          </p:nvPr>
        </p:nvSpPr>
        <p:spPr>
          <a:xfrm>
            <a:off x="1313640" y="3450000"/>
            <a:ext cx="9734040" cy="295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 fontScale="92500" lnSpcReduction="9999"/>
          </a:bodyPr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以台積電為例：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65760" indent="0" algn="l" defTabSz="914400">
              <a:lnSpc>
                <a:spcPct val="11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  <a:ea typeface="Century Gothic"/>
              </a:rPr>
              <a:t>盤整盤：股價在 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  <a:ea typeface="Century Gothic"/>
              </a:rPr>
              <a:t>950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  <a:ea typeface="Century Gothic"/>
              </a:rPr>
              <a:t>～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  <a:ea typeface="Century Gothic"/>
              </a:rPr>
              <a:t>1000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  <a:ea typeface="Century Gothic"/>
              </a:rPr>
              <a:t>之間磨一個月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65760" indent="0" algn="l" defTabSz="914400">
              <a:lnSpc>
                <a:spcPct val="11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  <a:ea typeface="Century Gothic"/>
              </a:rPr>
              <a:t>震盪盤：股價三天內 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  <a:ea typeface="Century Gothic"/>
              </a:rPr>
              <a:t>950↗1050↘920↗1020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  <a:ea typeface="Century Gothic"/>
              </a:rPr>
              <a:t>這樣甩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65760" indent="0" algn="l" defTabSz="914400">
              <a:lnSpc>
                <a:spcPct val="11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對交易者來說，震盪盤比盤整盤更致命 — 同是被雙巴，震盪盤每巴一次傷口大得多。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4"/>
          </p:nvPr>
        </p:nvSpPr>
        <p:spPr/>
        <p:txBody>
          <a:bodyPr/>
          <a:p>
            <a:fld id="{229F686D-F075-452A-A133-C90BEA304509}" type="slidenum">
              <a:t>10</a:t>
            </a:fld>
          </a:p>
        </p:txBody>
      </p:sp>
      <p:graphicFrame>
        <p:nvGraphicFramePr>
          <p:cNvPr id="133" name="Table 132"/>
          <p:cNvGraphicFramePr>
            <a:graphicFrameLocks noGrp="1"/>
          </p:cNvGraphicFramePr>
          <p:nvPr/>
        </p:nvGraphicFramePr>
        <p:xfrm>
          <a:off x="1313640" y="1400000"/>
          <a:ext cx="9700000" cy="19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00000"/>
                <a:gridCol w="3700000"/>
                <a:gridCol w="3700000"/>
              </a:tblGrid>
              <a:tr h="380000">
                <a:tc>
                  <a:txBody>
                    <a:bodyPr/>
                    <a:lstStyle/>
                    <a:p>
                      <a:r>
                        <a:rPr lang="zh-TW" sz="1100" dirty="0"/>
                        <a:t/>
                      </a:r>
                    </a:p>
                  </a:txBody>
                  <a:tcPr marT="15000" marB="15000" marL="50000" marR="30000"/>
                </a:tc>
                <a:tc>
                  <a:txBody>
                    <a:bodyPr/>
                    <a:lstStyle/>
                    <a:p>
                      <a:r>
                        <a:rPr lang="zh-TW" sz="1100" dirty="0" b="1"/>
                        <a:t>盤整盤</a:t>
                      </a:r>
                    </a:p>
                  </a:txBody>
                  <a:tcPr marT="15000" marB="15000" marL="50000" marR="30000"/>
                </a:tc>
                <a:tc>
                  <a:txBody>
                    <a:bodyPr/>
                    <a:lstStyle/>
                    <a:p>
                      <a:r>
                        <a:rPr lang="zh-TW" sz="1100" dirty="0" b="1"/>
                        <a:t>震盪盤</a:t>
                      </a:r>
                    </a:p>
                  </a:txBody>
                  <a:tcPr marT="15000" marB="15000" marL="50000" marR="30000"/>
                </a:tc>
              </a:tr>
              <a:tr h="380000">
                <a:tc>
                  <a:txBody>
                    <a:bodyPr/>
                    <a:lstStyle/>
                    <a:p>
                      <a:r>
                        <a:rPr lang="zh-TW" sz="1800" b="0" u="none" strike="noStrike">
                          <a:solidFill>
                            <a:schemeClr val="dk1">
                              <a:lumMod val="85000"/>
                              <a:lumOff val="15000"/>
                            </a:schemeClr>
                          </a:solidFill>
                          <a:effectLst/>
                          <a:uFillTx/>
                          <a:latin typeface="Century Gothic"/>
                          <a:ea typeface="Century Gothic"/>
                        </a:rPr>
                        <a:t>波動幅度</a:t>
                      </a:r>
                    </a:p>
                  </a:txBody>
                  <a:tcPr marT="15000" marB="15000" marL="50000" marR="30000"/>
                </a:tc>
                <a:tc>
                  <a:txBody>
                    <a:bodyPr/>
                    <a:lstStyle/>
                    <a:p>
                      <a:r>
                        <a:rPr lang="zh-TW" sz="1800" b="0" u="none" strike="noStrike">
                          <a:solidFill>
                            <a:schemeClr val="dk1">
                              <a:lumMod val="85000"/>
                              <a:lumOff val="15000"/>
                            </a:schemeClr>
                          </a:solidFill>
                          <a:effectLst/>
                          <a:uFillTx/>
                          <a:latin typeface="Century Gothic"/>
                          <a:ea typeface="Century Gothic"/>
                        </a:rPr>
                        <a:t>小（窄幅）</a:t>
                      </a:r>
                    </a:p>
                  </a:txBody>
                  <a:tcPr marT="15000" marB="15000" marL="50000" marR="30000"/>
                </a:tc>
                <a:tc>
                  <a:txBody>
                    <a:bodyPr/>
                    <a:lstStyle/>
                    <a:p>
                      <a:r>
                        <a:rPr lang="zh-TW" sz="1800" b="0" u="none" strike="noStrike">
                          <a:solidFill>
                            <a:schemeClr val="dk1">
                              <a:lumMod val="85000"/>
                              <a:lumOff val="15000"/>
                            </a:schemeClr>
                          </a:solidFill>
                          <a:effectLst/>
                          <a:highlight>
                            <a:srgbClr val="FFFF00"/>
                          </a:highlight>
                          <a:uFillTx/>
                          <a:latin typeface="Century Gothic"/>
                          <a:ea typeface="Century Gothic"/>
                        </a:rPr>
                        <a:t>大</a:t>
                      </a:r>
                      <a:r>
                        <a:rPr lang="zh-TW" sz="1800" b="0" u="none" strike="noStrike">
                          <a:solidFill>
                            <a:schemeClr val="dk1">
                              <a:lumMod val="85000"/>
                              <a:lumOff val="15000"/>
                            </a:schemeClr>
                          </a:solidFill>
                          <a:effectLst/>
                          <a:uFillTx/>
                          <a:latin typeface="Century Gothic"/>
                          <a:ea typeface="Century Gothic"/>
                        </a:rPr>
                        <a:t>（寬幅）</a:t>
                      </a:r>
                    </a:p>
                  </a:txBody>
                  <a:tcPr marT="15000" marB="15000" marL="50000" marR="30000"/>
                </a:tc>
              </a:tr>
              <a:tr h="380000">
                <a:tc>
                  <a:txBody>
                    <a:bodyPr/>
                    <a:lstStyle/>
                    <a:p>
                      <a:r>
                        <a:rPr lang="zh-TW" sz="1800" b="0" u="none" strike="noStrike">
                          <a:solidFill>
                            <a:schemeClr val="dk1">
                              <a:lumMod val="85000"/>
                              <a:lumOff val="15000"/>
                            </a:schemeClr>
                          </a:solidFill>
                          <a:effectLst/>
                          <a:uFillTx/>
                          <a:latin typeface="Century Gothic"/>
                          <a:ea typeface="Century Gothic"/>
                        </a:rPr>
                        <a:t>波動速度</a:t>
                      </a:r>
                    </a:p>
                  </a:txBody>
                  <a:tcPr marT="15000" marB="15000" marL="50000" marR="30000"/>
                </a:tc>
                <a:tc>
                  <a:txBody>
                    <a:bodyPr/>
                    <a:lstStyle/>
                    <a:p>
                      <a:r>
                        <a:rPr lang="zh-TW" sz="1800" b="0" u="none" strike="noStrike">
                          <a:solidFill>
                            <a:schemeClr val="dk1">
                              <a:lumMod val="85000"/>
                              <a:lumOff val="15000"/>
                            </a:schemeClr>
                          </a:solidFill>
                          <a:effectLst/>
                          <a:uFillTx/>
                          <a:latin typeface="Century Gothic"/>
                          <a:ea typeface="Century Gothic"/>
                        </a:rPr>
                        <a:t>慢</a:t>
                      </a:r>
                    </a:p>
                  </a:txBody>
                  <a:tcPr marT="15000" marB="15000" marL="50000" marR="30000"/>
                </a:tc>
                <a:tc>
                  <a:txBody>
                    <a:bodyPr/>
                    <a:lstStyle/>
                    <a:p>
                      <a:r>
                        <a:rPr lang="zh-TW" sz="1800" b="0" u="none" strike="noStrike">
                          <a:solidFill>
                            <a:schemeClr val="dk1">
                              <a:lumMod val="85000"/>
                              <a:lumOff val="15000"/>
                            </a:schemeClr>
                          </a:solidFill>
                          <a:effectLst/>
                          <a:highlight>
                            <a:srgbClr val="FFFF00"/>
                          </a:highlight>
                          <a:uFillTx/>
                          <a:latin typeface="Century Gothic"/>
                          <a:ea typeface="Century Gothic"/>
                        </a:rPr>
                        <a:t>快</a:t>
                      </a:r>
                    </a:p>
                  </a:txBody>
                  <a:tcPr marT="15000" marB="15000" marL="50000" marR="30000"/>
                </a:tc>
              </a:tr>
              <a:tr h="380000">
                <a:tc>
                  <a:txBody>
                    <a:bodyPr/>
                    <a:lstStyle/>
                    <a:p>
                      <a:r>
                        <a:rPr lang="zh-TW" sz="1800" b="0" u="none" strike="noStrike">
                          <a:solidFill>
                            <a:schemeClr val="dk1">
                              <a:lumMod val="85000"/>
                              <a:lumOff val="15000"/>
                            </a:schemeClr>
                          </a:solidFill>
                          <a:effectLst/>
                          <a:uFillTx/>
                          <a:latin typeface="Century Gothic"/>
                          <a:ea typeface="Century Gothic"/>
                        </a:rPr>
                        <a:t>價格行為</a:t>
                      </a:r>
                    </a:p>
                  </a:txBody>
                  <a:tcPr marT="15000" marB="15000" marL="50000" marR="30000"/>
                </a:tc>
                <a:tc>
                  <a:txBody>
                    <a:bodyPr/>
                    <a:lstStyle/>
                    <a:p>
                      <a:r>
                        <a:rPr lang="zh-TW" sz="1800" b="0" u="none" strike="noStrike">
                          <a:solidFill>
                            <a:schemeClr val="dk1">
                              <a:lumMod val="85000"/>
                              <a:lumOff val="15000"/>
                            </a:schemeClr>
                          </a:solidFill>
                          <a:effectLst/>
                          <a:uFillTx/>
                          <a:latin typeface="Century Gothic"/>
                          <a:ea typeface="Century Gothic"/>
                        </a:rPr>
                        <a:t>像睡著，在一個小區間內慢慢磨</a:t>
                      </a:r>
                    </a:p>
                  </a:txBody>
                  <a:tcPr marT="15000" marB="15000" marL="50000" marR="30000"/>
                </a:tc>
                <a:tc>
                  <a:txBody>
                    <a:bodyPr/>
                    <a:lstStyle/>
                    <a:p>
                      <a:r>
                        <a:rPr lang="zh-TW" sz="1800" b="0" u="none" strike="noStrike">
                          <a:solidFill>
                            <a:schemeClr val="dk1">
                              <a:lumMod val="85000"/>
                              <a:lumOff val="15000"/>
                            </a:schemeClr>
                          </a:solidFill>
                          <a:effectLst/>
                          <a:uFillTx/>
                          <a:latin typeface="Century Gothic"/>
                          <a:ea typeface="Century Gothic"/>
                        </a:rPr>
                        <a:t>像打架，急拉急跌來回甩</a:t>
                      </a:r>
                    </a:p>
                  </a:txBody>
                  <a:tcPr marT="15000" marB="15000" marL="50000" marR="30000"/>
                </a:tc>
              </a:tr>
              <a:tr h="380000">
                <a:tc>
                  <a:txBody>
                    <a:bodyPr/>
                    <a:lstStyle/>
                    <a:p>
                      <a:r>
                        <a:rPr lang="zh-TW" sz="1800" b="0" u="none" strike="noStrike">
                          <a:solidFill>
                            <a:schemeClr val="dk1">
                              <a:lumMod val="85000"/>
                              <a:lumOff val="15000"/>
                            </a:schemeClr>
                          </a:solidFill>
                          <a:effectLst/>
                          <a:uFillTx/>
                          <a:latin typeface="Century Gothic"/>
                          <a:ea typeface="Century Gothic"/>
                        </a:rPr>
                        <a:t>對策略的影響</a:t>
                      </a:r>
                    </a:p>
                  </a:txBody>
                  <a:tcPr marT="15000" marB="15000" marL="50000" marR="30000"/>
                </a:tc>
                <a:tc>
                  <a:txBody>
                    <a:bodyPr/>
                    <a:lstStyle/>
                    <a:p>
                      <a:r>
                        <a:rPr lang="zh-TW" sz="1800" b="0" u="none" strike="noStrike">
                          <a:solidFill>
                            <a:schemeClr val="dk1">
                              <a:lumMod val="85000"/>
                              <a:lumOff val="15000"/>
                            </a:schemeClr>
                          </a:solidFill>
                          <a:effectLst/>
                          <a:uFillTx/>
                          <a:latin typeface="Century Gothic"/>
                          <a:ea typeface="Century Gothic"/>
                        </a:rPr>
                        <a:t>雙巴但虧不多（每次輸一點）</a:t>
                      </a:r>
                    </a:p>
                  </a:txBody>
                  <a:tcPr marT="15000" marB="15000" marL="50000" marR="30000"/>
                </a:tc>
                <a:tc>
                  <a:txBody>
                    <a:bodyPr/>
                    <a:lstStyle/>
                    <a:p>
                      <a:r>
                        <a:rPr lang="zh-TW" sz="1800" b="0" u="none" strike="noStrike">
                          <a:solidFill>
                            <a:schemeClr val="dk1">
                              <a:lumMod val="85000"/>
                              <a:lumOff val="15000"/>
                            </a:schemeClr>
                          </a:solidFill>
                          <a:effectLst/>
                          <a:uFillTx/>
                          <a:latin typeface="Century Gothic"/>
                          <a:ea typeface="Century Gothic"/>
                        </a:rPr>
                        <a:t>雙巴且虧很大（每次輸一大段）</a:t>
                      </a:r>
                    </a:p>
                  </a:txBody>
                  <a:tcPr marT="15000" marB="15000" marL="50000" marR="30000"/>
                </a:tc>
              </a:tr>
            </a:tbl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PlaceHolder 1"/>
          <p:cNvSpPr>
            <a:spLocks noGrp="1"/>
          </p:cNvSpPr>
          <p:nvPr>
            <p:ph type="title"/>
          </p:nvPr>
        </p:nvSpPr>
        <p:spPr>
          <a:xfrm>
            <a:off x="1293840" y="609480"/>
            <a:ext cx="8836920" cy="607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 fontScale="62500" lnSpcReduction="19999"/>
          </a:bodyPr>
          <a:p>
            <a:pPr indent="0" algn="l" defTabSz="914400">
              <a:lnSpc>
                <a:spcPct val="80000"/>
              </a:lnSpc>
              <a:buNone/>
              <a:tabLst>
                <a:tab pos="0" algn="l"/>
              </a:tabLst>
            </a:pP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🛡️如何避免雙巴？</a:t>
            </a:r>
            <a:br>
              <a:rPr sz="3200"/>
            </a:b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134" name="PlaceHolder 2"/>
          <p:cNvSpPr>
            <a:spLocks noGrp="1"/>
          </p:cNvSpPr>
          <p:nvPr>
            <p:ph/>
          </p:nvPr>
        </p:nvSpPr>
        <p:spPr>
          <a:xfrm>
            <a:off x="1270800" y="1295280"/>
            <a:ext cx="10155240" cy="4950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en-US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❌  不要做的：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 在盤整盤中死抱均線交叉策略，不加入任何過濾條件。上圖已經證明了——在沒有趨勢的行情中，單純的均線交叉就是送錢。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en-US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✅  可以做的：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en-US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1</a:t>
            </a: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加入大盤趨勢過濾（</a:t>
            </a:r>
            <a:r>
              <a:rPr lang="en-US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Market Filter</a:t>
            </a: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）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當大盤（如加權指數）在 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MA200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之上才做多，之下 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keep_wait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空手。 系統中的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  <a:ea typeface="Century Gothic"/>
              </a:rPr>
              <a:t> 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  <a:ea typeface="Century Gothic"/>
              </a:rPr>
              <a:t>MARKET_TREND_FILTER 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就是做這件事。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en-US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2</a:t>
            </a: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加入 </a:t>
            </a:r>
            <a:r>
              <a:rPr lang="en-US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ATR </a:t>
            </a: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波動度過濾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ATR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太低代表市場正在盤整，不進場。系統中的 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  <a:ea typeface="Century Gothic"/>
              </a:rPr>
              <a:t>atr_threshold 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參數就是為了避開這種環境。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en-US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3</a:t>
            </a: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  <a:ea typeface="Century Gothic"/>
              </a:rPr>
              <a:t>改用逆勢策略</a:t>
            </a: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（布林通道、</a:t>
            </a:r>
            <a:r>
              <a:rPr lang="en-US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VWAP </a:t>
            </a: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偏離）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盤整盤中逆勢策略反而表現較好——在區間下緣買、上緣賣。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en-US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4</a:t>
            </a: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認清市場狀態，空手也是一種操作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盤整盤最好的策略就是 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keep_wait——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不做單就不會被雙巴。等趨勢明確再進場。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4"/>
          </p:nvPr>
        </p:nvSpPr>
        <p:spPr/>
        <p:txBody>
          <a:bodyPr/>
          <a:p>
            <a:fld id="{A15FCD3C-96FB-4C45-A2D6-2CAA5403DAFF}" type="slidenum">
              <a:t>11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PlaceHolder 1"/>
          <p:cNvSpPr>
            <a:spLocks noGrp="1"/>
          </p:cNvSpPr>
          <p:nvPr>
            <p:ph type="title"/>
          </p:nvPr>
        </p:nvSpPr>
        <p:spPr>
          <a:xfrm>
            <a:off x="1217520" y="152280"/>
            <a:ext cx="10589760" cy="988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 fontScale="92500" lnSpcReduction="9999"/>
          </a:bodyPr>
          <a:p>
            <a:pPr indent="0" algn="l" defTabSz="914400">
              <a:lnSpc>
                <a:spcPct val="80000"/>
              </a:lnSpc>
              <a:buNone/>
              <a:tabLst>
                <a:tab pos="0" algn="l"/>
              </a:tabLst>
            </a:pP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問：我們分別看看同樣是台積電</a:t>
            </a: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,2022</a:t>
            </a: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（空）</a:t>
            </a: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,2025</a:t>
            </a: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（多）這兩年</a:t>
            </a: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,</a:t>
            </a: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這兩個年度四個策略的表現</a:t>
            </a: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(</a:t>
            </a: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一樣單筆</a:t>
            </a: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50</a:t>
            </a: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萬本金</a:t>
            </a: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)</a:t>
            </a: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136" name="PlaceHolder 2"/>
          <p:cNvSpPr>
            <a:spLocks noGrp="1"/>
          </p:cNvSpPr>
          <p:nvPr>
            <p:ph/>
          </p:nvPr>
        </p:nvSpPr>
        <p:spPr>
          <a:xfrm>
            <a:off x="988920" y="4100000"/>
            <a:ext cx="10742040" cy="25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p>
            <a:pPr marL="331560" indent="-285840" algn="l" defTabSz="914400">
              <a:lnSpc>
                <a:spcPts val="216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12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Sarasa Mono TC"/>
                <a:ea typeface="Sarasa Mono TC"/>
              </a:rPr>
              <a:t>均線交叉：</a:t>
            </a:r>
            <a:r>
              <a:rPr lang="en-US" sz="12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Sarasa Mono TC"/>
                <a:ea typeface="Sarasa Mono TC"/>
              </a:rPr>
              <a:t>2022 </a:t>
            </a:r>
            <a:r>
              <a:rPr lang="zh-TW" sz="12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Sarasa Mono TC"/>
                <a:ea typeface="Sarasa Mono TC"/>
              </a:rPr>
              <a:t>只小虧 </a:t>
            </a:r>
            <a:r>
              <a:rPr lang="en-US" sz="12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Sarasa Mono TC"/>
                <a:ea typeface="Sarasa Mono TC"/>
              </a:rPr>
              <a:t>3.71%</a:t>
            </a:r>
            <a:r>
              <a:rPr lang="zh-TW" sz="12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Sarasa Mono TC"/>
                <a:ea typeface="Sarasa Mono TC"/>
              </a:rPr>
              <a:t>、</a:t>
            </a:r>
            <a:r>
              <a:rPr lang="en-US" sz="12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Sarasa Mono TC"/>
                <a:ea typeface="Sarasa Mono TC"/>
              </a:rPr>
              <a:t>2025 </a:t>
            </a:r>
            <a:r>
              <a:rPr lang="zh-TW" sz="12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Sarasa Mono TC"/>
                <a:ea typeface="Sarasa Mono TC"/>
              </a:rPr>
              <a:t>大賺 </a:t>
            </a:r>
            <a:r>
              <a:rPr lang="en-US" sz="12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Sarasa Mono TC"/>
                <a:ea typeface="Sarasa Mono TC"/>
              </a:rPr>
              <a:t>54.79%</a:t>
            </a:r>
            <a:r>
              <a:rPr lang="zh-TW" sz="12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Sarasa Mono TC"/>
                <a:ea typeface="Sarasa Mono TC"/>
              </a:rPr>
              <a:t>（合計 </a:t>
            </a:r>
            <a:r>
              <a:rPr lang="en-US" sz="12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Sarasa Mono TC"/>
                <a:ea typeface="Sarasa Mono TC"/>
              </a:rPr>
              <a:t>+NT$255,372</a:t>
            </a:r>
            <a:r>
              <a:rPr lang="zh-TW" sz="12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Sarasa Mono TC"/>
                <a:ea typeface="Sarasa Mono TC"/>
              </a:rPr>
              <a:t>），兩年都優於買進持有</a:t>
            </a:r>
            <a:endParaRPr lang="en-US" sz="12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31560" indent="-285840" algn="l" defTabSz="914400">
              <a:lnSpc>
                <a:spcPts val="216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Sarasa Mono TC"/>
                <a:ea typeface="Sarasa Mono TC"/>
              </a:rPr>
              <a:t>VWAP </a:t>
            </a:r>
            <a:r>
              <a:rPr lang="zh-TW" sz="12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Sarasa Mono TC"/>
                <a:ea typeface="Sarasa Mono TC"/>
              </a:rPr>
              <a:t>偏離：</a:t>
            </a:r>
            <a:r>
              <a:rPr lang="en-US" sz="12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Sarasa Mono TC"/>
                <a:ea typeface="Sarasa Mono TC"/>
              </a:rPr>
              <a:t>2022 -22.99%</a:t>
            </a:r>
            <a:r>
              <a:rPr lang="zh-TW" sz="12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Sarasa Mono TC"/>
                <a:ea typeface="Sarasa Mono TC"/>
              </a:rPr>
              <a:t>、</a:t>
            </a:r>
            <a:r>
              <a:rPr lang="en-US" sz="12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Sarasa Mono TC"/>
                <a:ea typeface="Sarasa Mono TC"/>
              </a:rPr>
              <a:t>2025 +0.55%</a:t>
            </a:r>
            <a:r>
              <a:rPr lang="zh-TW" sz="12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Sarasa Mono TC"/>
                <a:ea typeface="Sarasa Mono TC"/>
              </a:rPr>
              <a:t>（合計 </a:t>
            </a:r>
            <a:r>
              <a:rPr lang="en-US" sz="12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Sarasa Mono TC"/>
                <a:ea typeface="Sarasa Mono TC"/>
              </a:rPr>
              <a:t>-NT$112,168</a:t>
            </a:r>
            <a:r>
              <a:rPr lang="zh-TW" sz="12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Sarasa Mono TC"/>
                <a:ea typeface="Sarasa Mono TC"/>
              </a:rPr>
              <a:t>）——逆勢策略在多頭年抓不到主升段</a:t>
            </a:r>
            <a:endParaRPr lang="en-US" sz="12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31560" indent="-285840" algn="l" defTabSz="914400">
              <a:lnSpc>
                <a:spcPts val="216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12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Sarasa Mono TC"/>
                <a:ea typeface="Sarasa Mono TC"/>
              </a:rPr>
              <a:t>突破交易：</a:t>
            </a:r>
            <a:r>
              <a:rPr lang="en-US" sz="12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Sarasa Mono TC"/>
                <a:ea typeface="Sarasa Mono TC"/>
              </a:rPr>
              <a:t>2022 -10.55%</a:t>
            </a:r>
            <a:r>
              <a:rPr lang="zh-TW" sz="12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Sarasa Mono TC"/>
                <a:ea typeface="Sarasa Mono TC"/>
              </a:rPr>
              <a:t>、</a:t>
            </a:r>
            <a:r>
              <a:rPr lang="en-US" sz="12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Sarasa Mono TC"/>
                <a:ea typeface="Sarasa Mono TC"/>
              </a:rPr>
              <a:t>2025 </a:t>
            </a:r>
            <a:r>
              <a:rPr lang="zh-TW" sz="12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Sarasa Mono TC"/>
                <a:ea typeface="Sarasa Mono TC"/>
              </a:rPr>
              <a:t>零交易（</a:t>
            </a:r>
            <a:r>
              <a:rPr lang="en-US" sz="12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Sarasa Mono TC"/>
                <a:ea typeface="Sarasa Mono TC"/>
              </a:rPr>
              <a:t>0 </a:t>
            </a:r>
            <a:r>
              <a:rPr lang="zh-TW" sz="12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Sarasa Mono TC"/>
                <a:ea typeface="Sarasa Mono TC"/>
              </a:rPr>
              <a:t>筆）＝</a:t>
            </a:r>
            <a:r>
              <a:rPr lang="en-US" sz="12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Sarasa Mono TC"/>
                <a:ea typeface="Sarasa Mono TC"/>
              </a:rPr>
              <a:t>&gt;</a:t>
            </a:r>
            <a:r>
              <a:rPr lang="zh-TW" sz="12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Sarasa Mono TC"/>
                <a:ea typeface="Sarasa Mono TC"/>
              </a:rPr>
              <a:t>沒有噴發段就不出手，不是「連兩年虧」</a:t>
            </a:r>
            <a:endParaRPr lang="en-US" sz="12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31560" indent="-285840" algn="l" defTabSz="914400">
              <a:lnSpc>
                <a:spcPts val="216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12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Sarasa Mono TC"/>
                <a:ea typeface="Sarasa Mono TC"/>
              </a:rPr>
              <a:t>事後諸葛亮＝＞</a:t>
            </a:r>
            <a:r>
              <a:rPr lang="en-US" sz="12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Sarasa Mono TC"/>
                <a:ea typeface="Sarasa Mono TC"/>
              </a:rPr>
              <a:t>2022</a:t>
            </a:r>
            <a:r>
              <a:rPr lang="zh-TW" sz="12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Sarasa Mono TC"/>
                <a:ea typeface="Sarasa Mono TC"/>
              </a:rPr>
              <a:t>、</a:t>
            </a:r>
            <a:r>
              <a:rPr lang="en-US" sz="12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Sarasa Mono TC"/>
                <a:ea typeface="Sarasa Mono TC"/>
              </a:rPr>
              <a:t>2025 </a:t>
            </a:r>
            <a:r>
              <a:rPr lang="zh-TW" sz="12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Sarasa Mono TC"/>
                <a:ea typeface="Sarasa Mono TC"/>
              </a:rPr>
              <a:t>都是均線交叉最好；但那是回測後才知道的，不能保證下一年也一樣</a:t>
            </a:r>
            <a:endParaRPr lang="en-US" sz="12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4"/>
          </p:nvPr>
        </p:nvSpPr>
        <p:spPr/>
        <p:txBody>
          <a:bodyPr/>
          <a:p>
            <a:fld id="{AE1947E4-9745-4404-965D-10884EF2D440}" type="slidenum">
              <a:t>12</a:t>
            </a:fld>
          </a:p>
        </p:txBody>
      </p:sp>
      <p:graphicFrame>
        <p:nvGraphicFramePr>
          <p:cNvPr id="137" name="Table 136"/>
          <p:cNvGraphicFramePr>
            <a:graphicFrameLocks noGrp="1"/>
          </p:cNvGraphicFramePr>
          <p:nvPr/>
        </p:nvGraphicFramePr>
        <p:xfrm>
          <a:off x="1000000" y="1200000"/>
          <a:ext cx="10500000" cy="9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00000"/>
                <a:gridCol w="2600000"/>
                <a:gridCol w="3400000"/>
                <a:gridCol w="3600000"/>
              </a:tblGrid>
              <a:tr h="300000">
                <a:tc>
                  <a:txBody>
                    <a:bodyPr/>
                    <a:lstStyle/>
                    <a:p>
                      <a:r>
                        <a:rPr sz="1100" b="1"/>
                        <a:t>年度</a:t>
                      </a:r>
                    </a:p>
                  </a:txBody>
                  <a:tcPr marT="15000" marB="15000" marL="50000" marR="30000"/>
                </a:tc>
                <a:tc>
                  <a:txBody>
                    <a:bodyPr/>
                    <a:lstStyle/>
                    <a:p>
                      <a:r>
                        <a:rPr sz="1100" b="1"/>
                        <a:t>台積電價格</a:t>
                      </a:r>
                    </a:p>
                  </a:txBody>
                  <a:tcPr marT="15000" marB="15000" marL="50000" marR="30000"/>
                </a:tc>
                <a:tc>
                  <a:txBody>
                    <a:bodyPr/>
                    <a:lstStyle/>
                    <a:p>
                      <a:r>
                        <a:rPr sz="1100" b="1"/>
                        <a:t>買進持有報酬</a:t>
                      </a:r>
                    </a:p>
                  </a:txBody>
                  <a:tcPr marT="15000" marB="15000" marL="50000" marR="30000"/>
                </a:tc>
                <a:tc>
                  <a:txBody>
                    <a:bodyPr/>
                    <a:lstStyle/>
                    <a:p>
                      <a:r>
                        <a:rPr sz="1100" b="1"/>
                        <a:t>市場</a:t>
                      </a:r>
                    </a:p>
                  </a:txBody>
                  <a:tcPr marT="15000" marB="15000" marL="50000" marR="30000"/>
                </a:tc>
              </a:tr>
              <a:tr h="300000">
                <a:tc>
                  <a:txBody>
                    <a:bodyPr/>
                    <a:lstStyle/>
                    <a:p>
                      <a:r>
                        <a:rPr sz="1100" b="0"/>
                        <a:t>2022</a:t>
                      </a:r>
                    </a:p>
                  </a:txBody>
                  <a:tcPr marT="15000" marB="15000" marL="50000" marR="30000"/>
                </a:tc>
                <a:tc>
                  <a:txBody>
                    <a:bodyPr/>
                    <a:lstStyle/>
                    <a:p>
                      <a:r>
                        <a:rPr sz="1100" b="0"/>
                        <a:t>NT$631→NT$449</a:t>
                      </a:r>
                    </a:p>
                  </a:txBody>
                  <a:tcPr marT="15000" marB="15000" marL="50000" marR="30000"/>
                </a:tc>
                <a:tc>
                  <a:txBody>
                    <a:bodyPr/>
                    <a:lstStyle/>
                    <a:p>
                      <a:r>
                        <a:rPr sz="1100" b="0"/>
                        <a:t>-29.33% (-NT$146,639)</a:t>
                      </a:r>
                    </a:p>
                  </a:txBody>
                  <a:tcPr marT="15000" marB="15000" marL="50000" marR="30000"/>
                </a:tc>
                <a:tc>
                  <a:txBody>
                    <a:bodyPr/>
                    <a:lstStyle/>
                    <a:p>
                      <a:r>
                        <a:rPr sz="1100" b="0"/>
                        <a:t>🐻 空頭年（Fed 升息循環）</a:t>
                      </a:r>
                    </a:p>
                  </a:txBody>
                  <a:tcPr marT="15000" marB="15000" marL="50000" marR="30000"/>
                </a:tc>
              </a:tr>
              <a:tr h="300000">
                <a:tc>
                  <a:txBody>
                    <a:bodyPr/>
                    <a:lstStyle/>
                    <a:p>
                      <a:r>
                        <a:rPr sz="1100" b="0"/>
                        <a:t>2025</a:t>
                      </a:r>
                    </a:p>
                  </a:txBody>
                  <a:tcPr marT="15000" marB="15000" marL="50000" marR="30000"/>
                </a:tc>
                <a:tc>
                  <a:txBody>
                    <a:bodyPr/>
                    <a:lstStyle/>
                    <a:p>
                      <a:r>
                        <a:rPr sz="1100" b="0"/>
                        <a:t>NT$1,065→NT$1,550</a:t>
                      </a:r>
                    </a:p>
                  </a:txBody>
                  <a:tcPr marT="15000" marB="15000" marL="50000" marR="30000"/>
                </a:tc>
                <a:tc>
                  <a:txBody>
                    <a:bodyPr/>
                    <a:lstStyle/>
                    <a:p>
                      <a:r>
                        <a:rPr sz="1100" b="0"/>
                        <a:t>+44.61% (+NT$223,060)</a:t>
                      </a:r>
                    </a:p>
                  </a:txBody>
                  <a:tcPr marT="15000" marB="15000" marL="50000" marR="30000"/>
                </a:tc>
                <a:tc>
                  <a:txBody>
                    <a:bodyPr/>
                    <a:lstStyle/>
                    <a:p>
                      <a:r>
                        <a:rPr sz="1100" b="0"/>
                        <a:t>🐂 多頭年（AI 需求爆發）</a:t>
                      </a:r>
                    </a:p>
                  </a:txBody>
                  <a:tcPr marT="15000" marB="15000" marL="50000" marR="30000"/>
                </a:tc>
              </a:tr>
            </a:tbl>
          </a:graphicData>
        </a:graphic>
      </p:graphicFrame>
      <p:graphicFrame>
        <p:nvGraphicFramePr>
          <p:cNvPr id="138" name="Table 137"/>
          <p:cNvGraphicFramePr>
            <a:graphicFrameLocks noGrp="1"/>
          </p:cNvGraphicFramePr>
          <p:nvPr/>
        </p:nvGraphicFramePr>
        <p:xfrm>
          <a:off x="1000000" y="2250000"/>
          <a:ext cx="11300000" cy="155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00000"/>
                <a:gridCol w="2000000"/>
                <a:gridCol w="2000000"/>
                <a:gridCol w="2000000"/>
                <a:gridCol w="2000000"/>
              </a:tblGrid>
              <a:tr h="310000">
                <a:tc>
                  <a:txBody>
                    <a:bodyPr/>
                    <a:lstStyle/>
                    <a:p>
                      <a:r>
                        <a:rPr sz="1150" b="1"/>
                        <a:t>策略</a:t>
                      </a:r>
                    </a:p>
                  </a:txBody>
                  <a:tcPr marT="15000" marB="15000" marL="50000" marR="30000"/>
                </a:tc>
                <a:tc>
                  <a:txBody>
                    <a:bodyPr/>
                    <a:lstStyle/>
                    <a:p>
                      <a:r>
                        <a:rPr sz="1150" b="1"/>
                        <a:t>2022 報酬</a:t>
                      </a:r>
                    </a:p>
                  </a:txBody>
                  <a:tcPr marT="15000" marB="15000" marL="50000" marR="30000"/>
                </a:tc>
                <a:tc>
                  <a:txBody>
                    <a:bodyPr/>
                    <a:lstStyle/>
                    <a:p>
                      <a:r>
                        <a:rPr sz="1150" b="1"/>
                        <a:t>2022 損益</a:t>
                      </a:r>
                    </a:p>
                  </a:txBody>
                  <a:tcPr marT="15000" marB="15000" marL="50000" marR="30000"/>
                </a:tc>
                <a:tc>
                  <a:txBody>
                    <a:bodyPr/>
                    <a:lstStyle/>
                    <a:p>
                      <a:r>
                        <a:rPr sz="1150" b="1"/>
                        <a:t>2025 報酬</a:t>
                      </a:r>
                    </a:p>
                  </a:txBody>
                  <a:tcPr marT="15000" marB="15000" marL="50000" marR="30000"/>
                </a:tc>
                <a:tc>
                  <a:txBody>
                    <a:bodyPr/>
                    <a:lstStyle/>
                    <a:p>
                      <a:r>
                        <a:rPr sz="1150" b="1"/>
                        <a:t>2025 損益</a:t>
                      </a:r>
                    </a:p>
                  </a:txBody>
                  <a:tcPr marT="15000" marB="15000" marL="50000" marR="30000"/>
                </a:tc>
              </a:tr>
              <a:tr h="310000">
                <a:tc>
                  <a:txBody>
                    <a:bodyPr/>
                    <a:lstStyle/>
                    <a:p>
                      <a:r>
                        <a:rPr sz="1150" b="0"/>
                        <a:t>1. VWAP 偏離</a:t>
                      </a:r>
                    </a:p>
                  </a:txBody>
                  <a:tcPr marT="15000" marB="15000" marL="50000" marR="30000"/>
                </a:tc>
                <a:tc>
                  <a:txBody>
                    <a:bodyPr/>
                    <a:lstStyle/>
                    <a:p>
                      <a:r>
                        <a:rPr sz="1150" b="0"/>
                        <a:t>-22.99%</a:t>
                      </a:r>
                    </a:p>
                  </a:txBody>
                  <a:tcPr marT="15000" marB="15000" marL="50000" marR="30000"/>
                </a:tc>
                <a:tc>
                  <a:txBody>
                    <a:bodyPr/>
                    <a:lstStyle/>
                    <a:p>
                      <a:r>
                        <a:rPr sz="1150" b="0"/>
                        <a:t>-NT$114,927</a:t>
                      </a:r>
                    </a:p>
                  </a:txBody>
                  <a:tcPr marT="15000" marB="15000" marL="50000" marR="30000"/>
                </a:tc>
                <a:tc>
                  <a:txBody>
                    <a:bodyPr/>
                    <a:lstStyle/>
                    <a:p>
                      <a:r>
                        <a:rPr sz="1150" b="0"/>
                        <a:t>+0.55%</a:t>
                      </a:r>
                    </a:p>
                  </a:txBody>
                  <a:tcPr marT="15000" marB="15000" marL="50000" marR="30000"/>
                </a:tc>
                <a:tc>
                  <a:txBody>
                    <a:bodyPr/>
                    <a:lstStyle/>
                    <a:p>
                      <a:r>
                        <a:rPr sz="1150" b="0"/>
                        <a:t>+NT$2,759</a:t>
                      </a:r>
                    </a:p>
                  </a:txBody>
                  <a:tcPr marT="15000" marB="15000" marL="50000" marR="30000"/>
                </a:tc>
              </a:tr>
              <a:tr h="310000">
                <a:tc>
                  <a:txBody>
                    <a:bodyPr/>
                    <a:lstStyle/>
                    <a:p>
                      <a:r>
                        <a:rPr sz="1150" b="0"/>
                        <a:t>2. 均線交叉</a:t>
                      </a:r>
                    </a:p>
                  </a:txBody>
                  <a:tcPr marT="15000" marB="15000" marL="50000" marR="30000"/>
                </a:tc>
                <a:tc>
                  <a:txBody>
                    <a:bodyPr/>
                    <a:lstStyle/>
                    <a:p>
                      <a:r>
                        <a:rPr sz="1150" b="0"/>
                        <a:t>-3.71%</a:t>
                      </a:r>
                    </a:p>
                  </a:txBody>
                  <a:tcPr marT="15000" marB="15000" marL="50000" marR="30000"/>
                </a:tc>
                <a:tc>
                  <a:txBody>
                    <a:bodyPr/>
                    <a:lstStyle/>
                    <a:p>
                      <a:r>
                        <a:rPr sz="1150" b="0"/>
                        <a:t>-NT$18,553</a:t>
                      </a:r>
                    </a:p>
                  </a:txBody>
                  <a:tcPr marT="15000" marB="15000" marL="50000" marR="30000"/>
                </a:tc>
                <a:tc>
                  <a:txBody>
                    <a:bodyPr/>
                    <a:lstStyle/>
                    <a:p>
                      <a:r>
                        <a:rPr sz="1150" b="0"/>
                        <a:t>+54.79%</a:t>
                      </a:r>
                    </a:p>
                  </a:txBody>
                  <a:tcPr marT="15000" marB="15000" marL="50000" marR="30000"/>
                </a:tc>
                <a:tc>
                  <a:txBody>
                    <a:bodyPr/>
                    <a:lstStyle/>
                    <a:p>
                      <a:r>
                        <a:rPr sz="1150" b="0"/>
                        <a:t>+NT$273,925</a:t>
                      </a:r>
                    </a:p>
                  </a:txBody>
                  <a:tcPr marT="15000" marB="15000" marL="50000" marR="30000"/>
                </a:tc>
              </a:tr>
              <a:tr h="310000">
                <a:tc>
                  <a:txBody>
                    <a:bodyPr/>
                    <a:lstStyle/>
                    <a:p>
                      <a:r>
                        <a:rPr sz="1150" b="0"/>
                        <a:t>3. 布林通道反轉</a:t>
                      </a:r>
                    </a:p>
                  </a:txBody>
                  <a:tcPr marT="15000" marB="15000" marL="50000" marR="30000"/>
                </a:tc>
                <a:tc>
                  <a:txBody>
                    <a:bodyPr/>
                    <a:lstStyle/>
                    <a:p>
                      <a:r>
                        <a:rPr sz="1150" b="0"/>
                        <a:t>-12.61%</a:t>
                      </a:r>
                    </a:p>
                  </a:txBody>
                  <a:tcPr marT="15000" marB="15000" marL="50000" marR="30000"/>
                </a:tc>
                <a:tc>
                  <a:txBody>
                    <a:bodyPr/>
                    <a:lstStyle/>
                    <a:p>
                      <a:r>
                        <a:rPr sz="1150" b="0"/>
                        <a:t>-NT$63,044</a:t>
                      </a:r>
                    </a:p>
                  </a:txBody>
                  <a:tcPr marT="15000" marB="15000" marL="50000" marR="30000"/>
                </a:tc>
                <a:tc>
                  <a:txBody>
                    <a:bodyPr/>
                    <a:lstStyle/>
                    <a:p>
                      <a:r>
                        <a:rPr sz="1150" b="0"/>
                        <a:t>-0.42%</a:t>
                      </a:r>
                    </a:p>
                  </a:txBody>
                  <a:tcPr marT="15000" marB="15000" marL="50000" marR="30000"/>
                </a:tc>
                <a:tc>
                  <a:txBody>
                    <a:bodyPr/>
                    <a:lstStyle/>
                    <a:p>
                      <a:r>
                        <a:rPr sz="1150" b="0"/>
                        <a:t>-NT$2,092</a:t>
                      </a:r>
                    </a:p>
                  </a:txBody>
                  <a:tcPr marT="15000" marB="15000" marL="50000" marR="30000"/>
                </a:tc>
              </a:tr>
              <a:tr h="310000">
                <a:tc>
                  <a:txBody>
                    <a:bodyPr/>
                    <a:lstStyle/>
                    <a:p>
                      <a:r>
                        <a:rPr sz="1150" b="0"/>
                        <a:t>4. 突破交易</a:t>
                      </a:r>
                    </a:p>
                  </a:txBody>
                  <a:tcPr marT="15000" marB="15000" marL="50000" marR="30000"/>
                </a:tc>
                <a:tc>
                  <a:txBody>
                    <a:bodyPr/>
                    <a:lstStyle/>
                    <a:p>
                      <a:r>
                        <a:rPr sz="1150" b="0"/>
                        <a:t>-10.55%</a:t>
                      </a:r>
                    </a:p>
                  </a:txBody>
                  <a:tcPr marT="15000" marB="15000" marL="50000" marR="30000"/>
                </a:tc>
                <a:tc>
                  <a:txBody>
                    <a:bodyPr/>
                    <a:lstStyle/>
                    <a:p>
                      <a:r>
                        <a:rPr sz="1150" b="0"/>
                        <a:t>-NT$52,748</a:t>
                      </a:r>
                    </a:p>
                  </a:txBody>
                  <a:tcPr marT="15000" marB="15000" marL="50000" marR="30000"/>
                </a:tc>
                <a:tc>
                  <a:txBody>
                    <a:bodyPr/>
                    <a:lstStyle/>
                    <a:p>
                      <a:r>
                        <a:rPr sz="1150" b="0"/>
                        <a:t>0.00%</a:t>
                      </a:r>
                    </a:p>
                  </a:txBody>
                  <a:tcPr marT="15000" marB="15000" marL="50000" marR="30000"/>
                </a:tc>
                <a:tc>
                  <a:txBody>
                    <a:bodyPr/>
                    <a:lstStyle/>
                    <a:p>
                      <a:r>
                        <a:rPr sz="1150" b="0"/>
                        <a:t>NT$0</a:t>
                      </a:r>
                    </a:p>
                  </a:txBody>
                  <a:tcPr marT="15000" marB="15000" marL="50000" marR="30000"/>
                </a:tc>
              </a:tr>
            </a:tbl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PlaceHolder 1"/>
          <p:cNvSpPr>
            <a:spLocks noGrp="1"/>
          </p:cNvSpPr>
          <p:nvPr>
            <p:ph type="title"/>
          </p:nvPr>
        </p:nvSpPr>
        <p:spPr>
          <a:xfrm>
            <a:off x="1311120" y="76320"/>
            <a:ext cx="10513440" cy="1445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p>
            <a:pPr indent="0" algn="l" defTabSz="914400">
              <a:lnSpc>
                <a:spcPct val="80000"/>
              </a:lnSpc>
              <a:buNone/>
              <a:tabLst>
                <a:tab pos="0" algn="l"/>
              </a:tabLst>
            </a:pPr>
            <a:r>
              <a:rPr lang="zh-TW" sz="32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問：聯發科</a:t>
            </a:r>
            <a:r>
              <a:rPr lang="en-US" sz="32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2024~2025</a:t>
            </a:r>
            <a:r>
              <a:rPr lang="zh-TW" sz="32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這兩個年度四個策略的表現</a:t>
            </a:r>
            <a:r>
              <a:rPr lang="en-US" sz="32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(</a:t>
            </a:r>
            <a:r>
              <a:rPr lang="zh-TW" sz="32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一樣單筆</a:t>
            </a:r>
            <a:r>
              <a:rPr lang="en-US" sz="32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50</a:t>
            </a:r>
            <a:r>
              <a:rPr lang="zh-TW" sz="32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萬本金</a:t>
            </a:r>
            <a:r>
              <a:rPr lang="en-US" sz="32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), </a:t>
            </a:r>
            <a:r>
              <a:rPr lang="zh-TW" sz="32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有哪幾區段是適合用唐安奇通道的</a:t>
            </a:r>
            <a:r>
              <a:rPr lang="en-US" sz="32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.</a:t>
            </a:r>
            <a:r>
              <a:rPr lang="zh-TW" sz="32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把那時期的走勢圖放到</a:t>
            </a:r>
            <a:r>
              <a:rPr lang="en-US" sz="32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img</a:t>
            </a:r>
            <a:r>
              <a:rPr lang="zh-TW" sz="32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下</a:t>
            </a: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138" name="PlaceHolder 2"/>
          <p:cNvSpPr>
            <a:spLocks noGrp="1"/>
          </p:cNvSpPr>
          <p:nvPr>
            <p:ph/>
          </p:nvPr>
        </p:nvSpPr>
        <p:spPr>
          <a:xfrm>
            <a:off x="1311120" y="1450000"/>
            <a:ext cx="9810000" cy="43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聯發科（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2454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）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2024 vs 2025 —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四策略 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NT$500,000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4"/>
          </p:nvPr>
        </p:nvSpPr>
        <p:spPr/>
        <p:txBody>
          <a:bodyPr/>
          <a:p>
            <a:fld id="{55D7B75F-0C34-4778-A14C-33E714123581}" type="slidenum">
              <a:t>13</a:t>
            </a:fld>
          </a:p>
        </p:txBody>
      </p:sp>
      <p:graphicFrame>
        <p:nvGraphicFramePr>
          <p:cNvPr id="139" name="Table 138"/>
          <p:cNvGraphicFramePr>
            <a:graphicFrameLocks noGrp="1"/>
          </p:cNvGraphicFramePr>
          <p:nvPr/>
        </p:nvGraphicFramePr>
        <p:xfrm>
          <a:off x="1311120" y="1950000"/>
          <a:ext cx="9600000" cy="198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00000"/>
                <a:gridCol w="1900000"/>
                <a:gridCol w="1800000"/>
                <a:gridCol w="1800000"/>
                <a:gridCol w="1800000"/>
              </a:tblGrid>
              <a:tr h="330000">
                <a:tc>
                  <a:txBody>
                    <a:bodyPr/>
                    <a:lstStyle/>
                    <a:p>
                      <a:r>
                        <a:rPr lang="zh-TW" sz="1100" dirty="0" b="1"/>
                        <a:t>策略</a:t>
                      </a:r>
                    </a:p>
                  </a:txBody>
                  <a:tcPr marT="15000" marB="15000" marL="50000" marR="30000"/>
                </a:tc>
                <a:tc>
                  <a:txBody>
                    <a:bodyPr/>
                    <a:lstStyle/>
                    <a:p>
                      <a:r>
                        <a:rPr lang="zh-TW" sz="1100" dirty="0" b="1"/>
                        <a:t>2024 報酬</a:t>
                      </a:r>
                    </a:p>
                  </a:txBody>
                  <a:tcPr marT="15000" marB="15000" marL="50000" marR="30000"/>
                </a:tc>
                <a:tc>
                  <a:txBody>
                    <a:bodyPr/>
                    <a:lstStyle/>
                    <a:p>
                      <a:r>
                        <a:rPr lang="zh-TW" sz="1100" dirty="0" b="1"/>
                        <a:t>2024 損益</a:t>
                      </a:r>
                    </a:p>
                  </a:txBody>
                  <a:tcPr marT="15000" marB="15000" marL="50000" marR="30000"/>
                </a:tc>
                <a:tc>
                  <a:txBody>
                    <a:bodyPr/>
                    <a:lstStyle/>
                    <a:p>
                      <a:r>
                        <a:rPr lang="zh-TW" sz="1100" dirty="0" b="1"/>
                        <a:t>2025 報酬</a:t>
                      </a:r>
                    </a:p>
                  </a:txBody>
                  <a:tcPr marT="15000" marB="15000" marL="50000" marR="30000"/>
                </a:tc>
                <a:tc>
                  <a:txBody>
                    <a:bodyPr/>
                    <a:lstStyle/>
                    <a:p>
                      <a:r>
                        <a:rPr lang="zh-TW" sz="1100" dirty="0" b="1"/>
                        <a:t>2025 損益</a:t>
                      </a:r>
                    </a:p>
                  </a:txBody>
                  <a:tcPr marT="15000" marB="15000" marL="50000" marR="30000"/>
                </a:tc>
              </a:tr>
              <a:tr h="330000">
                <a:tc>
                  <a:txBody>
                    <a:bodyPr/>
                    <a:lstStyle/>
                    <a:p>
                      <a:r>
                        <a:rPr lang="zh-TW" sz="1100" dirty="0"/>
                        <a:t>突破交易</a:t>
                      </a:r>
                    </a:p>
                  </a:txBody>
                  <a:tcPr marT="15000" marB="15000" marL="50000" marR="30000"/>
                </a:tc>
                <a:tc>
                  <a:txBody>
                    <a:bodyPr/>
                    <a:lstStyle/>
                    <a:p>
                      <a:r>
                        <a:rPr lang="zh-TW" sz="1100" dirty="0"/>
                        <a:t>+13.33%</a:t>
                      </a:r>
                    </a:p>
                  </a:txBody>
                  <a:tcPr marT="15000" marB="15000" marL="50000" marR="30000"/>
                </a:tc>
                <a:tc>
                  <a:txBody>
                    <a:bodyPr/>
                    <a:lstStyle/>
                    <a:p>
                      <a:r>
                        <a:rPr lang="zh-TW" sz="1100" dirty="0"/>
                        <a:t>+NT$66,673</a:t>
                      </a:r>
                    </a:p>
                  </a:txBody>
                  <a:tcPr marT="15000" marB="15000" marL="50000" marR="30000"/>
                </a:tc>
                <a:tc>
                  <a:txBody>
                    <a:bodyPr/>
                    <a:lstStyle/>
                    <a:p>
                      <a:r>
                        <a:rPr lang="zh-TW" sz="1100" dirty="0"/>
                        <a:t>-3.21%</a:t>
                      </a:r>
                    </a:p>
                  </a:txBody>
                  <a:tcPr marT="15000" marB="15000" marL="50000" marR="30000"/>
                </a:tc>
                <a:tc>
                  <a:txBody>
                    <a:bodyPr/>
                    <a:lstStyle/>
                    <a:p>
                      <a:r>
                        <a:rPr lang="zh-TW" sz="1100" dirty="0"/>
                        <a:t>-NT$16,073</a:t>
                      </a:r>
                    </a:p>
                  </a:txBody>
                  <a:tcPr marT="15000" marB="15000" marL="50000" marR="30000"/>
                </a:tc>
              </a:tr>
              <a:tr h="330000">
                <a:tc>
                  <a:txBody>
                    <a:bodyPr/>
                    <a:lstStyle/>
                    <a:p>
                      <a:r>
                        <a:rPr lang="zh-TW" sz="1100" dirty="0"/>
                        <a:t>均線交叉</a:t>
                      </a:r>
                    </a:p>
                  </a:txBody>
                  <a:tcPr marT="15000" marB="15000" marL="50000" marR="30000"/>
                </a:tc>
                <a:tc>
                  <a:txBody>
                    <a:bodyPr/>
                    <a:lstStyle/>
                    <a:p>
                      <a:r>
                        <a:rPr lang="zh-TW" sz="1100" dirty="0"/>
                        <a:t>+31.76%</a:t>
                      </a:r>
                    </a:p>
                  </a:txBody>
                  <a:tcPr marT="15000" marB="15000" marL="50000" marR="30000"/>
                </a:tc>
                <a:tc>
                  <a:txBody>
                    <a:bodyPr/>
                    <a:lstStyle/>
                    <a:p>
                      <a:r>
                        <a:rPr lang="zh-TW" sz="1100" dirty="0"/>
                        <a:t>+NT$158,811</a:t>
                      </a:r>
                    </a:p>
                  </a:txBody>
                  <a:tcPr marT="15000" marB="15000" marL="50000" marR="30000"/>
                </a:tc>
                <a:tc>
                  <a:txBody>
                    <a:bodyPr/>
                    <a:lstStyle/>
                    <a:p>
                      <a:r>
                        <a:rPr lang="zh-TW" sz="1100" dirty="0"/>
                        <a:t>-27.76%</a:t>
                      </a:r>
                    </a:p>
                  </a:txBody>
                  <a:tcPr marT="15000" marB="15000" marL="50000" marR="30000"/>
                </a:tc>
                <a:tc>
                  <a:txBody>
                    <a:bodyPr/>
                    <a:lstStyle/>
                    <a:p>
                      <a:r>
                        <a:rPr lang="zh-TW" sz="1100" dirty="0"/>
                        <a:t>-NT$138,787</a:t>
                      </a:r>
                    </a:p>
                  </a:txBody>
                  <a:tcPr marT="15000" marB="15000" marL="50000" marR="30000"/>
                </a:tc>
              </a:tr>
              <a:tr h="330000">
                <a:tc>
                  <a:txBody>
                    <a:bodyPr/>
                    <a:lstStyle/>
                    <a:p>
                      <a:r>
                        <a:rPr lang="zh-TW" sz="1100" dirty="0"/>
                        <a:t>布林通道反轉</a:t>
                      </a:r>
                    </a:p>
                  </a:txBody>
                  <a:tcPr marT="15000" marB="15000" marL="50000" marR="30000"/>
                </a:tc>
                <a:tc>
                  <a:txBody>
                    <a:bodyPr/>
                    <a:lstStyle/>
                    <a:p>
                      <a:r>
                        <a:rPr lang="zh-TW" sz="1100" dirty="0"/>
                        <a:t>+16.64%</a:t>
                      </a:r>
                    </a:p>
                  </a:txBody>
                  <a:tcPr marT="15000" marB="15000" marL="50000" marR="30000"/>
                </a:tc>
                <a:tc>
                  <a:txBody>
                    <a:bodyPr/>
                    <a:lstStyle/>
                    <a:p>
                      <a:r>
                        <a:rPr lang="zh-TW" sz="1100" dirty="0"/>
                        <a:t>+NT$83,209</a:t>
                      </a:r>
                    </a:p>
                  </a:txBody>
                  <a:tcPr marT="15000" marB="15000" marL="50000" marR="30000"/>
                </a:tc>
                <a:tc>
                  <a:txBody>
                    <a:bodyPr/>
                    <a:lstStyle/>
                    <a:p>
                      <a:r>
                        <a:rPr lang="zh-TW" sz="1100" dirty="0"/>
                        <a:t>+9.81%</a:t>
                      </a:r>
                    </a:p>
                  </a:txBody>
                  <a:tcPr marT="15000" marB="15000" marL="50000" marR="30000"/>
                </a:tc>
                <a:tc>
                  <a:txBody>
                    <a:bodyPr/>
                    <a:lstStyle/>
                    <a:p>
                      <a:r>
                        <a:rPr lang="zh-TW" sz="1100" dirty="0"/>
                        <a:t>+NT$49,041</a:t>
                      </a:r>
                    </a:p>
                  </a:txBody>
                  <a:tcPr marT="15000" marB="15000" marL="50000" marR="30000"/>
                </a:tc>
              </a:tr>
              <a:tr h="330000">
                <a:tc>
                  <a:txBody>
                    <a:bodyPr/>
                    <a:lstStyle/>
                    <a:p>
                      <a:r>
                        <a:rPr lang="zh-TW" sz="1100" dirty="0"/>
                        <a:t>VWAP 偏離</a:t>
                      </a:r>
                    </a:p>
                  </a:txBody>
                  <a:tcPr marT="15000" marB="15000" marL="50000" marR="30000"/>
                </a:tc>
                <a:tc>
                  <a:txBody>
                    <a:bodyPr/>
                    <a:lstStyle/>
                    <a:p>
                      <a:r>
                        <a:rPr lang="zh-TW" sz="1100" dirty="0"/>
                        <a:t>+11.71%</a:t>
                      </a:r>
                    </a:p>
                  </a:txBody>
                  <a:tcPr marT="15000" marB="15000" marL="50000" marR="30000"/>
                </a:tc>
                <a:tc>
                  <a:txBody>
                    <a:bodyPr/>
                    <a:lstStyle/>
                    <a:p>
                      <a:r>
                        <a:rPr lang="zh-TW" sz="1100" dirty="0"/>
                        <a:t>+NT$58,539</a:t>
                      </a:r>
                    </a:p>
                  </a:txBody>
                  <a:tcPr marT="15000" marB="15000" marL="50000" marR="30000"/>
                </a:tc>
                <a:tc>
                  <a:txBody>
                    <a:bodyPr/>
                    <a:lstStyle/>
                    <a:p>
                      <a:r>
                        <a:rPr lang="zh-TW" sz="1100" dirty="0"/>
                        <a:t>-0.06%</a:t>
                      </a:r>
                    </a:p>
                  </a:txBody>
                  <a:tcPr marT="15000" marB="15000" marL="50000" marR="30000"/>
                </a:tc>
                <a:tc>
                  <a:txBody>
                    <a:bodyPr/>
                    <a:lstStyle/>
                    <a:p>
                      <a:r>
                        <a:rPr lang="zh-TW" sz="1100" dirty="0"/>
                        <a:t>-NT$323</a:t>
                      </a:r>
                    </a:p>
                  </a:txBody>
                  <a:tcPr marT="15000" marB="15000" marL="50000" marR="30000"/>
                </a:tc>
              </a:tr>
              <a:tr h="330000">
                <a:tc>
                  <a:txBody>
                    <a:bodyPr/>
                    <a:lstStyle/>
                    <a:p>
                      <a:r>
                        <a:rPr lang="zh-TW" sz="1100" dirty="0"/>
                        <a:t>買進持有</a:t>
                      </a:r>
                    </a:p>
                  </a:txBody>
                  <a:tcPr marT="15000" marB="15000" marL="50000" marR="30000"/>
                </a:tc>
                <a:tc>
                  <a:txBody>
                    <a:bodyPr/>
                    <a:lstStyle/>
                    <a:p>
                      <a:r>
                        <a:rPr lang="zh-TW" sz="1100" dirty="0"/>
                        <a:t>+43.32%</a:t>
                      </a:r>
                    </a:p>
                  </a:txBody>
                  <a:tcPr marT="15000" marB="15000" marL="50000" marR="30000"/>
                </a:tc>
                <a:tc>
                  <a:txBody>
                    <a:bodyPr/>
                    <a:lstStyle/>
                    <a:p>
                      <a:r>
                        <a:rPr lang="zh-TW" sz="1100" dirty="0"/>
                        <a:t>+NT$216,581</a:t>
                      </a:r>
                    </a:p>
                  </a:txBody>
                  <a:tcPr marT="15000" marB="15000" marL="50000" marR="30000"/>
                </a:tc>
                <a:tc>
                  <a:txBody>
                    <a:bodyPr/>
                    <a:lstStyle/>
                    <a:p>
                      <a:r>
                        <a:rPr lang="zh-TW" sz="1100" dirty="0"/>
                        <a:t>+5.30%</a:t>
                      </a:r>
                    </a:p>
                  </a:txBody>
                  <a:tcPr marT="15000" marB="15000" marL="50000" marR="30000"/>
                </a:tc>
                <a:tc>
                  <a:txBody>
                    <a:bodyPr/>
                    <a:lstStyle/>
                    <a:p>
                      <a:r>
                        <a:rPr lang="zh-TW" sz="1100" dirty="0"/>
                        <a:t>+NT$26,475</a:t>
                      </a:r>
                    </a:p>
                  </a:txBody>
                  <a:tcPr marT="15000" marB="15000" marL="50000" marR="30000"/>
                </a:tc>
              </a:tr>
            </a:tbl>
          </a:graphicData>
        </a:graphic>
      </p:graphicFrame>
      <p:sp>
        <p:nvSpPr>
          <p:cNvPr id="140" name="TextBox 139"/>
          <p:cNvSpPr txBox="1"/>
          <p:nvPr/>
        </p:nvSpPr>
        <p:spPr>
          <a:xfrm>
            <a:off x="1311120" y="3950000"/>
            <a:ext cx="96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  <a:ea typeface="Century Gothic"/>
              </a:rPr>
              <a:t>突發策略＝＞只適用噴發期：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  <a:ea typeface="Century Gothic"/>
              </a:rPr>
              <a:t>2024 +13.33%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  <a:ea typeface="Century Gothic"/>
              </a:rPr>
              <a:t>、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  <a:ea typeface="Century Gothic"/>
              </a:rPr>
              <a:t>2025 -3.21%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（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2024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最好其實是均線交叉 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+31.76%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，突破只排第三）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PlaceHolder 1"/>
          <p:cNvSpPr>
            <a:spLocks noGrp="1"/>
          </p:cNvSpPr>
          <p:nvPr>
            <p:ph/>
          </p:nvPr>
        </p:nvSpPr>
        <p:spPr>
          <a:xfrm>
            <a:off x="1311120" y="2286000"/>
            <a:ext cx="4569840" cy="4264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pic>
        <p:nvPicPr>
          <p:cNvPr id="140" name="Picture 140" descr="s14_new.png"/>
          <p:cNvPicPr/>
          <p:nvPr/>
        </p:nvPicPr>
        <p:blipFill>
          <a:blip r:embed="rId1"/>
          <a:stretch/>
        </p:blipFill>
        <p:spPr>
          <a:xfrm>
            <a:off x="502560" y="675720"/>
            <a:ext cx="11181600" cy="55040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" name="PlaceHolder 2"/>
          <p:cNvSpPr>
            <a:spLocks noGrp="1"/>
          </p:cNvSpPr>
          <p:nvPr>
            <p:ph type="sldNum" idx="4"/>
          </p:nvPr>
        </p:nvSpPr>
        <p:spPr/>
        <p:txBody>
          <a:bodyPr/>
          <a:p>
            <a:fld id="{42554697-8A9C-4C8F-BA65-4E433281DF09}" type="slidenum">
              <a:t>14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PlaceHolder 1"/>
          <p:cNvSpPr>
            <a:spLocks noGrp="1"/>
          </p:cNvSpPr>
          <p:nvPr>
            <p:ph type="title"/>
          </p:nvPr>
        </p:nvSpPr>
        <p:spPr>
          <a:xfrm>
            <a:off x="1293840" y="609480"/>
            <a:ext cx="10764720" cy="5869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 lnSpcReduction="9999"/>
          </a:bodyPr>
          <a:p>
            <a:pPr indent="0" algn="l" defTabSz="914400">
              <a:lnSpc>
                <a:spcPct val="80000"/>
              </a:lnSpc>
              <a:buNone/>
              <a:tabLst>
                <a:tab pos="0" algn="l"/>
              </a:tabLst>
            </a:pP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增加策略＝＞（先切到 </a:t>
            </a: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plan </a:t>
            </a: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模式</a:t>
            </a: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)</a:t>
            </a:r>
            <a:br>
              <a:rPr sz="3200"/>
            </a:br>
            <a:br>
              <a:rPr sz="3200"/>
            </a:b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問：用</a:t>
            </a: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g1</a:t>
            </a: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備用</a:t>
            </a: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2</a:t>
            </a: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來完成以下</a:t>
            </a: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KD</a:t>
            </a: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策略</a:t>
            </a: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: </a:t>
            </a: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週 </a:t>
            </a: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KD </a:t>
            </a: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黃金交叉策略（最推薦來自</a:t>
            </a: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Google AI</a:t>
            </a: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推薦穩健的ＫＤ策略）</a:t>
            </a: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: </a:t>
            </a:r>
            <a:br>
              <a:rPr sz="3200"/>
            </a:br>
            <a:br>
              <a:rPr sz="3200"/>
            </a:b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放棄震盪劇烈的日線，改用 週 </a:t>
            </a: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K </a:t>
            </a: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線（以週為單位計算）。</a:t>
            </a:r>
            <a:br>
              <a:rPr sz="3200"/>
            </a:b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 週 </a:t>
            </a: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KD </a:t>
            </a: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的轉折代表的是中長期（數個月到半年以上）的趨勢改變。 </a:t>
            </a:r>
            <a:br>
              <a:rPr sz="3200"/>
            </a:b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買進點：當週 </a:t>
            </a: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KD </a:t>
            </a: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在 低檔（小於 </a:t>
            </a: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30 </a:t>
            </a: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或 </a:t>
            </a: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20</a:t>
            </a: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）發生黃金交叉 時進場。這通常代表股價經歷大波段修正後，中長期底部成形。</a:t>
            </a:r>
            <a:br>
              <a:rPr sz="3200"/>
            </a:b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持有期：只要週 </a:t>
            </a: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KD </a:t>
            </a: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維持向上，或是維持在高檔鈍化，就一路抱牢。</a:t>
            </a:r>
            <a:br>
              <a:rPr sz="3200"/>
            </a:b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好處：一年中一檔股票可能只會出現 </a:t>
            </a: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1~2 </a:t>
            </a: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次訊號，交易次數少，手續費低，且能抓到大波段波幅。</a:t>
            </a: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ldNum" idx="4"/>
          </p:nvPr>
        </p:nvSpPr>
        <p:spPr/>
        <p:txBody>
          <a:bodyPr/>
          <a:p>
            <a:fld id="{19AC1716-2C6F-4EEA-970D-2F24152E5748}" type="slidenum">
              <a:t>15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PlaceHolder 1"/>
          <p:cNvSpPr>
            <a:spLocks noGrp="1"/>
          </p:cNvSpPr>
          <p:nvPr>
            <p:ph type="title"/>
          </p:nvPr>
        </p:nvSpPr>
        <p:spPr>
          <a:xfrm>
            <a:off x="1293840" y="609480"/>
            <a:ext cx="4912920" cy="455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 lnSpcReduction="9999"/>
          </a:bodyPr>
          <a:p>
            <a:pPr indent="0" algn="l" defTabSz="914400">
              <a:lnSpc>
                <a:spcPct val="80000"/>
              </a:lnSpc>
              <a:buNone/>
              <a:tabLst>
                <a:tab pos="0" algn="l"/>
              </a:tabLst>
            </a:pP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計畫完成（</a:t>
            </a: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plan </a:t>
            </a: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模式）</a:t>
            </a: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pic>
        <p:nvPicPr>
          <p:cNvPr id="143" name=""/>
          <p:cNvPicPr/>
          <p:nvPr/>
        </p:nvPicPr>
        <p:blipFill>
          <a:blip r:embed="rId1"/>
          <a:stretch/>
        </p:blipFill>
        <p:spPr>
          <a:xfrm>
            <a:off x="1282680" y="1289160"/>
            <a:ext cx="9724680" cy="5352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" name="PlaceHolder 2"/>
          <p:cNvSpPr>
            <a:spLocks noGrp="1"/>
          </p:cNvSpPr>
          <p:nvPr>
            <p:ph type="sldNum" idx="4"/>
          </p:nvPr>
        </p:nvSpPr>
        <p:spPr/>
        <p:txBody>
          <a:bodyPr/>
          <a:p>
            <a:fld id="{C88FCD67-AF7A-4858-8A50-4E7F8E4A629A}" type="slidenum">
              <a:t>16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PlaceHolder 1"/>
          <p:cNvSpPr>
            <a:spLocks noGrp="1"/>
          </p:cNvSpPr>
          <p:nvPr>
            <p:ph type="title"/>
          </p:nvPr>
        </p:nvSpPr>
        <p:spPr>
          <a:xfrm>
            <a:off x="1294560" y="195120"/>
            <a:ext cx="9903960" cy="883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p>
            <a:pPr indent="0" algn="l" defTabSz="914400">
              <a:lnSpc>
                <a:spcPct val="80000"/>
              </a:lnSpc>
              <a:buNone/>
              <a:tabLst>
                <a:tab pos="0" algn="l"/>
              </a:tabLst>
            </a:pPr>
            <a:r>
              <a:rPr lang="zh-TW" sz="24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確認計畫後開始執行</a:t>
            </a:r>
            <a:br>
              <a:rPr sz="2400"/>
            </a:br>
            <a:endParaRPr lang="en-US" sz="24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pic>
        <p:nvPicPr>
          <p:cNvPr id="145" name=""/>
          <p:cNvPicPr/>
          <p:nvPr/>
        </p:nvPicPr>
        <p:blipFill>
          <a:blip r:embed="rId1"/>
          <a:stretch/>
        </p:blipFill>
        <p:spPr>
          <a:xfrm>
            <a:off x="1092240" y="894240"/>
            <a:ext cx="11095560" cy="57340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" name="PlaceHolder 2"/>
          <p:cNvSpPr>
            <a:spLocks noGrp="1"/>
          </p:cNvSpPr>
          <p:nvPr>
            <p:ph type="sldNum" idx="4"/>
          </p:nvPr>
        </p:nvSpPr>
        <p:spPr/>
        <p:txBody>
          <a:bodyPr/>
          <a:p>
            <a:fld id="{7B85F17C-F563-4E0A-9F9D-E8FF3FC45617}" type="slidenum">
              <a:t>17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PlaceHolder 1"/>
          <p:cNvSpPr>
            <a:spLocks noGrp="1"/>
          </p:cNvSpPr>
          <p:nvPr>
            <p:ph type="title"/>
          </p:nvPr>
        </p:nvSpPr>
        <p:spPr>
          <a:xfrm>
            <a:off x="1293840" y="609480"/>
            <a:ext cx="10513440" cy="759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 fontScale="92500" lnSpcReduction="9999"/>
          </a:bodyPr>
          <a:p>
            <a:pPr indent="0" algn="l" defTabSz="914400">
              <a:lnSpc>
                <a:spcPct val="80000"/>
              </a:lnSpc>
              <a:buNone/>
              <a:tabLst>
                <a:tab pos="0" algn="l"/>
              </a:tabLst>
            </a:pP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輸入：</a:t>
            </a: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2022,2025</a:t>
            </a: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年 聯發科用這個周</a:t>
            </a: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KD</a:t>
            </a: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策略試試</a:t>
            </a: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,</a:t>
            </a: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跟剛才</a:t>
            </a: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4</a:t>
            </a: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個策略比較一下</a:t>
            </a: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147" name="PlaceHolder 2"/>
          <p:cNvSpPr>
            <a:spLocks noGrp="1"/>
          </p:cNvSpPr>
          <p:nvPr>
            <p:ph/>
          </p:nvPr>
        </p:nvSpPr>
        <p:spPr>
          <a:xfrm>
            <a:off x="1311120" y="1371600"/>
            <a:ext cx="9124200" cy="5179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	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	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graphicFrame>
        <p:nvGraphicFramePr>
          <p:cNvPr id="148" name="表格 6"/>
          <p:cNvGraphicFramePr/>
          <p:nvPr/>
        </p:nvGraphicFramePr>
        <p:xfrm>
          <a:off x="1311120" y="1828800"/>
          <a:ext cx="9275040" cy="3807720"/>
        </p:xfrm>
        <a:graphic>
          <a:graphicData uri="http://schemas.openxmlformats.org/drawingml/2006/table">
            <a:tbl>
              <a:tblPr/>
              <a:tblGrid>
                <a:gridCol w="1350000"/>
                <a:gridCol w="1132200"/>
                <a:gridCol w="1132200"/>
                <a:gridCol w="1132200"/>
                <a:gridCol w="1132200"/>
                <a:gridCol w="1132200"/>
                <a:gridCol w="1132200"/>
                <a:gridCol w="1132200"/>
              </a:tblGrid>
              <a:tr h="543960">
                <a:tc>
                  <a:txBody>
                    <a:bodyPr lIns="36000" tIns="18000" rIns="36000" bIns="180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spcBef>
                          <a:spcPts val="1800"/>
                        </a:spcBef>
                        <a:spcAft>
                          <a:spcPts val="1800"/>
                        </a:spcAft>
                        <a:tabLst>
                          <a:tab pos="0" algn="l"/>
                        </a:tabLst>
                      </a:pPr>
                      <a:r>
                        <a:rPr lang="zh-TW" sz="1200" b="0" u="none" strike="noStrike">
                          <a:solidFill>
                            <a:srgbClr val="EDEDED"/>
                          </a:solidFill>
                          <a:effectLst/>
                          <a:uFillTx/>
                          <a:latin typeface="ui-sans-serif"/>
                        </a:rPr>
                        <a:t>策略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36000" marR="36000" marT="18000" marB="18000">
                    <a:lnL w="12240">
                      <a:solidFill>
                        <a:srgbClr val="2081CC"/>
                      </a:solidFill>
                      <a:prstDash val="solid"/>
                    </a:lnL>
                    <a:lnR w="12240">
                      <a:solidFill>
                        <a:srgbClr val="607ACC"/>
                      </a:solidFill>
                      <a:prstDash val="solid"/>
                    </a:lnR>
                    <a:lnT w="12240">
                      <a:solidFill>
                        <a:srgbClr val="2081CC"/>
                      </a:solidFill>
                      <a:prstDash val="solid"/>
                    </a:lnT>
                    <a:lnB w="12240">
                      <a:solidFill>
                        <a:srgbClr val="6098CC"/>
                      </a:solidFill>
                      <a:prstDash val="solid"/>
                    </a:lnB>
                    <a:solidFill>
                      <a:srgbClr val="151515"/>
                    </a:solidFill>
                  </a:tcPr>
                </a:tc>
                <a:tc>
                  <a:txBody>
                    <a:bodyPr lIns="36000" tIns="18000" rIns="36000" bIns="180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spcBef>
                          <a:spcPts val="1800"/>
                        </a:spcBef>
                        <a:spcAft>
                          <a:spcPts val="1800"/>
                        </a:spcAft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EDEDED"/>
                          </a:solidFill>
                          <a:effectLst/>
                          <a:uFillTx/>
                          <a:latin typeface="ui-sans-serif"/>
                        </a:rPr>
                        <a:t>2022</a:t>
                      </a:r>
                      <a:r>
                        <a:rPr lang="zh-TW" sz="1200" b="0" u="none" strike="noStrike">
                          <a:solidFill>
                            <a:srgbClr val="EDEDED"/>
                          </a:solidFill>
                          <a:effectLst/>
                          <a:uFillTx/>
                          <a:latin typeface="ui-sans-serif"/>
                        </a:rPr>
                        <a:t>報酬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36000" marR="36000" marT="18000" marB="18000">
                    <a:lnL w="12240">
                      <a:solidFill>
                        <a:srgbClr val="607ACC"/>
                      </a:solidFill>
                      <a:prstDash val="solid"/>
                    </a:lnL>
                    <a:lnR w="12240">
                      <a:solidFill>
                        <a:srgbClr val="E07ECC"/>
                      </a:solidFill>
                      <a:prstDash val="solid"/>
                    </a:lnR>
                    <a:lnT w="12240">
                      <a:solidFill>
                        <a:srgbClr val="607ACC"/>
                      </a:solidFill>
                      <a:prstDash val="solid"/>
                    </a:lnT>
                    <a:lnB w="12240">
                      <a:solidFill>
                        <a:srgbClr val="8090CC"/>
                      </a:solidFill>
                      <a:prstDash val="solid"/>
                    </a:lnB>
                    <a:solidFill>
                      <a:srgbClr val="151515"/>
                    </a:solidFill>
                  </a:tcPr>
                </a:tc>
                <a:tc>
                  <a:txBody>
                    <a:bodyPr lIns="36000" tIns="18000" rIns="36000" bIns="180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spcBef>
                          <a:spcPts val="1800"/>
                        </a:spcBef>
                        <a:spcAft>
                          <a:spcPts val="1800"/>
                        </a:spcAft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EDEDED"/>
                          </a:solidFill>
                          <a:effectLst/>
                          <a:uFillTx/>
                          <a:latin typeface="ui-sans-serif"/>
                        </a:rPr>
                        <a:t>2022</a:t>
                      </a:r>
                      <a:r>
                        <a:rPr lang="zh-TW" sz="1200" b="0" u="none" strike="noStrike">
                          <a:solidFill>
                            <a:srgbClr val="EDEDED"/>
                          </a:solidFill>
                          <a:effectLst/>
                          <a:uFillTx/>
                          <a:latin typeface="ui-sans-serif"/>
                        </a:rPr>
                        <a:t>損益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36000" marR="36000" marT="18000" marB="18000">
                    <a:lnL w="12240">
                      <a:solidFill>
                        <a:srgbClr val="E07ECC"/>
                      </a:solidFill>
                      <a:prstDash val="solid"/>
                    </a:lnL>
                    <a:lnR w="12240">
                      <a:solidFill>
                        <a:srgbClr val="008CCC"/>
                      </a:solidFill>
                      <a:prstDash val="solid"/>
                    </a:lnR>
                    <a:lnT w="12240">
                      <a:solidFill>
                        <a:srgbClr val="E07ECC"/>
                      </a:solidFill>
                      <a:prstDash val="solid"/>
                    </a:lnT>
                    <a:lnB w="12240">
                      <a:solidFill>
                        <a:srgbClr val="A091CC"/>
                      </a:solidFill>
                      <a:prstDash val="solid"/>
                    </a:lnB>
                    <a:solidFill>
                      <a:srgbClr val="151515"/>
                    </a:solidFill>
                  </a:tcPr>
                </a:tc>
                <a:tc>
                  <a:txBody>
                    <a:bodyPr lIns="36000" tIns="18000" rIns="36000" bIns="180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spcBef>
                          <a:spcPts val="1800"/>
                        </a:spcBef>
                        <a:spcAft>
                          <a:spcPts val="1800"/>
                        </a:spcAft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EDEDED"/>
                          </a:solidFill>
                          <a:effectLst/>
                          <a:uFillTx/>
                          <a:latin typeface="ui-sans-serif"/>
                        </a:rPr>
                        <a:t>2022</a:t>
                      </a:r>
                      <a:r>
                        <a:rPr lang="zh-TW" sz="1200" b="0" u="none" strike="noStrike">
                          <a:solidFill>
                            <a:srgbClr val="EDEDED"/>
                          </a:solidFill>
                          <a:effectLst/>
                          <a:uFillTx/>
                          <a:latin typeface="ui-sans-serif"/>
                        </a:rPr>
                        <a:t>買</a:t>
                      </a:r>
                      <a:r>
                        <a:rPr lang="en-US" sz="1200" b="0" u="none" strike="noStrike">
                          <a:solidFill>
                            <a:srgbClr val="EDEDED"/>
                          </a:solidFill>
                          <a:effectLst/>
                          <a:uFillTx/>
                          <a:latin typeface="ui-sans-serif"/>
                        </a:rPr>
                        <a:t>/</a:t>
                      </a:r>
                      <a:r>
                        <a:rPr lang="zh-TW" sz="1200" b="0" u="none" strike="noStrike">
                          <a:solidFill>
                            <a:srgbClr val="EDEDED"/>
                          </a:solidFill>
                          <a:effectLst/>
                          <a:uFillTx/>
                          <a:latin typeface="ui-sans-serif"/>
                        </a:rPr>
                        <a:t>賣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36000" marR="36000" marT="18000" marB="18000">
                    <a:lnL w="12240">
                      <a:solidFill>
                        <a:srgbClr val="008CCC"/>
                      </a:solidFill>
                      <a:prstDash val="solid"/>
                    </a:lnL>
                    <a:lnR w="12240">
                      <a:solidFill>
                        <a:srgbClr val="4082CC"/>
                      </a:solidFill>
                      <a:prstDash val="solid"/>
                    </a:lnR>
                    <a:lnT w="12240">
                      <a:solidFill>
                        <a:srgbClr val="008CCC"/>
                      </a:solidFill>
                      <a:prstDash val="solid"/>
                    </a:lnT>
                    <a:lnB w="12240">
                      <a:solidFill>
                        <a:srgbClr val="8093CC"/>
                      </a:solidFill>
                      <a:prstDash val="solid"/>
                    </a:lnB>
                    <a:solidFill>
                      <a:srgbClr val="151515"/>
                    </a:solidFill>
                  </a:tcPr>
                </a:tc>
                <a:tc>
                  <a:txBody>
                    <a:bodyPr lIns="36000" tIns="18000" rIns="36000" bIns="180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spcBef>
                          <a:spcPts val="1800"/>
                        </a:spcBef>
                        <a:spcAft>
                          <a:spcPts val="1800"/>
                        </a:spcAft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EDEDED"/>
                          </a:solidFill>
                          <a:effectLst/>
                          <a:uFillTx/>
                          <a:latin typeface="ui-sans-serif"/>
                        </a:rPr>
                        <a:t>2025</a:t>
                      </a:r>
                      <a:r>
                        <a:rPr lang="zh-TW" sz="1200" b="0" u="none" strike="noStrike">
                          <a:solidFill>
                            <a:srgbClr val="EDEDED"/>
                          </a:solidFill>
                          <a:effectLst/>
                          <a:uFillTx/>
                          <a:latin typeface="ui-sans-serif"/>
                        </a:rPr>
                        <a:t>報酬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36000" marR="36000" marT="18000" marB="18000">
                    <a:lnL w="12240">
                      <a:solidFill>
                        <a:srgbClr val="4082CC"/>
                      </a:solidFill>
                      <a:prstDash val="solid"/>
                    </a:lnL>
                    <a:lnR w="12240">
                      <a:solidFill>
                        <a:srgbClr val="2084CC"/>
                      </a:solidFill>
                      <a:prstDash val="solid"/>
                    </a:lnR>
                    <a:lnT w="12240">
                      <a:solidFill>
                        <a:srgbClr val="4082CC"/>
                      </a:solidFill>
                      <a:prstDash val="solid"/>
                    </a:lnT>
                    <a:lnB w="12240">
                      <a:solidFill>
                        <a:srgbClr val="2099CC"/>
                      </a:solidFill>
                      <a:prstDash val="solid"/>
                    </a:lnB>
                    <a:solidFill>
                      <a:srgbClr val="151515"/>
                    </a:solidFill>
                  </a:tcPr>
                </a:tc>
                <a:tc>
                  <a:txBody>
                    <a:bodyPr lIns="36000" tIns="18000" rIns="36000" bIns="180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spcBef>
                          <a:spcPts val="1800"/>
                        </a:spcBef>
                        <a:spcAft>
                          <a:spcPts val="1800"/>
                        </a:spcAft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EDEDED"/>
                          </a:solidFill>
                          <a:effectLst/>
                          <a:uFillTx/>
                          <a:latin typeface="ui-sans-serif"/>
                        </a:rPr>
                        <a:t>2025</a:t>
                      </a:r>
                      <a:r>
                        <a:rPr lang="zh-TW" sz="1200" b="0" u="none" strike="noStrike">
                          <a:solidFill>
                            <a:srgbClr val="EDEDED"/>
                          </a:solidFill>
                          <a:effectLst/>
                          <a:uFillTx/>
                          <a:latin typeface="ui-sans-serif"/>
                        </a:rPr>
                        <a:t>損益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36000" marR="36000" marT="18000" marB="18000">
                    <a:lnL w="12240">
                      <a:solidFill>
                        <a:srgbClr val="2084CC"/>
                      </a:solidFill>
                      <a:prstDash val="solid"/>
                    </a:lnL>
                    <a:lnR w="12240">
                      <a:solidFill>
                        <a:srgbClr val="2087CC"/>
                      </a:solidFill>
                      <a:prstDash val="solid"/>
                    </a:lnR>
                    <a:lnT w="12240">
                      <a:solidFill>
                        <a:srgbClr val="2084CC"/>
                      </a:solidFill>
                      <a:prstDash val="solid"/>
                    </a:lnT>
                    <a:lnB w="12240">
                      <a:solidFill>
                        <a:srgbClr val="E093CC"/>
                      </a:solidFill>
                      <a:prstDash val="solid"/>
                    </a:lnB>
                    <a:solidFill>
                      <a:srgbClr val="151515"/>
                    </a:solidFill>
                  </a:tcPr>
                </a:tc>
                <a:tc>
                  <a:txBody>
                    <a:bodyPr lIns="36000" tIns="18000" rIns="36000" bIns="180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spcBef>
                          <a:spcPts val="1800"/>
                        </a:spcBef>
                        <a:spcAft>
                          <a:spcPts val="1800"/>
                        </a:spcAft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EDEDED"/>
                          </a:solidFill>
                          <a:effectLst/>
                          <a:uFillTx/>
                          <a:latin typeface="ui-sans-serif"/>
                        </a:rPr>
                        <a:t>2025</a:t>
                      </a:r>
                      <a:r>
                        <a:rPr lang="zh-TW" sz="1200" b="0" u="none" strike="noStrike">
                          <a:solidFill>
                            <a:srgbClr val="EDEDED"/>
                          </a:solidFill>
                          <a:effectLst/>
                          <a:uFillTx/>
                          <a:latin typeface="ui-sans-serif"/>
                        </a:rPr>
                        <a:t>買</a:t>
                      </a:r>
                      <a:r>
                        <a:rPr lang="en-US" sz="1200" b="0" u="none" strike="noStrike">
                          <a:solidFill>
                            <a:srgbClr val="EDEDED"/>
                          </a:solidFill>
                          <a:effectLst/>
                          <a:uFillTx/>
                          <a:latin typeface="ui-sans-serif"/>
                        </a:rPr>
                        <a:t>/</a:t>
                      </a:r>
                      <a:r>
                        <a:rPr lang="zh-TW" sz="1200" b="0" u="none" strike="noStrike">
                          <a:solidFill>
                            <a:srgbClr val="EDEDED"/>
                          </a:solidFill>
                          <a:effectLst/>
                          <a:uFillTx/>
                          <a:latin typeface="ui-sans-serif"/>
                        </a:rPr>
                        <a:t>賣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36000" marR="36000" marT="18000" marB="18000">
                    <a:lnL w="12240">
                      <a:solidFill>
                        <a:srgbClr val="2087CC"/>
                      </a:solidFill>
                      <a:prstDash val="solid"/>
                    </a:lnL>
                    <a:lnR w="12240">
                      <a:solidFill>
                        <a:srgbClr val="6083CC"/>
                      </a:solidFill>
                      <a:prstDash val="solid"/>
                    </a:lnR>
                    <a:lnT w="12240">
                      <a:solidFill>
                        <a:srgbClr val="2087CC"/>
                      </a:solidFill>
                      <a:prstDash val="solid"/>
                    </a:lnT>
                    <a:lnB w="12240">
                      <a:solidFill>
                        <a:srgbClr val="0098CC"/>
                      </a:solidFill>
                      <a:prstDash val="solid"/>
                    </a:lnB>
                    <a:solidFill>
                      <a:srgbClr val="151515"/>
                    </a:solidFill>
                  </a:tcPr>
                </a:tc>
                <a:tc>
                  <a:txBody>
                    <a:bodyPr lIns="36000" tIns="18000" rIns="36000" bIns="180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spcBef>
                          <a:spcPts val="1800"/>
                        </a:spcBef>
                        <a:spcAft>
                          <a:spcPts val="1800"/>
                        </a:spcAft>
                        <a:tabLst>
                          <a:tab pos="0" algn="l"/>
                        </a:tabLst>
                      </a:pPr>
                      <a:r>
                        <a:rPr lang="zh-TW" sz="1200" b="0" u="none" strike="noStrike">
                          <a:solidFill>
                            <a:srgbClr val="EDEDED"/>
                          </a:solidFill>
                          <a:effectLst/>
                          <a:uFillTx/>
                          <a:latin typeface="ui-sans-serif"/>
                        </a:rPr>
                        <a:t>合計損益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36000" marR="36000" marT="18000" marB="18000">
                    <a:lnL w="12240">
                      <a:solidFill>
                        <a:srgbClr val="6083CC"/>
                      </a:solidFill>
                      <a:prstDash val="solid"/>
                    </a:lnL>
                    <a:lnR w="12240">
                      <a:solidFill>
                        <a:srgbClr val="6083CC"/>
                      </a:solidFill>
                      <a:prstDash val="solid"/>
                    </a:lnR>
                    <a:lnT w="12240">
                      <a:solidFill>
                        <a:srgbClr val="6083CC"/>
                      </a:solidFill>
                      <a:prstDash val="solid"/>
                    </a:lnT>
                    <a:lnB w="12240">
                      <a:solidFill>
                        <a:srgbClr val="E090CC"/>
                      </a:solidFill>
                      <a:prstDash val="solid"/>
                    </a:lnB>
                    <a:solidFill>
                      <a:srgbClr val="151515"/>
                    </a:solidFill>
                  </a:tcPr>
                </a:tc>
              </a:tr>
              <a:tr h="543960">
                <a:tc>
                  <a:txBody>
                    <a:bodyPr lIns="36000" tIns="18000" rIns="36000" bIns="180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spcBef>
                          <a:spcPts val="1800"/>
                        </a:spcBef>
                        <a:spcAft>
                          <a:spcPts val="1800"/>
                        </a:spcAft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EDEDED"/>
                          </a:solidFill>
                          <a:effectLst/>
                          <a:uFillTx/>
                          <a:latin typeface="ui-sans-serif"/>
                        </a:rPr>
                        <a:t>4.</a:t>
                      </a:r>
                      <a:r>
                        <a:rPr lang="zh-TW" sz="1200" b="0" u="none" strike="noStrike">
                          <a:solidFill>
                            <a:srgbClr val="EDEDED"/>
                          </a:solidFill>
                          <a:effectLst/>
                          <a:uFillTx/>
                          <a:latin typeface="ui-sans-serif"/>
                        </a:rPr>
                        <a:t>突破交易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36000" marR="36000" marT="18000" marB="18000">
                    <a:lnL w="12240">
                      <a:solidFill>
                        <a:srgbClr val="6098CC"/>
                      </a:solidFill>
                      <a:prstDash val="solid"/>
                    </a:lnL>
                    <a:lnR w="12240">
                      <a:solidFill>
                        <a:srgbClr val="8090CC"/>
                      </a:solidFill>
                      <a:prstDash val="solid"/>
                    </a:lnR>
                    <a:lnT w="12240">
                      <a:solidFill>
                        <a:srgbClr val="6098CC"/>
                      </a:solidFill>
                      <a:prstDash val="solid"/>
                    </a:lnT>
                    <a:lnB w="12240">
                      <a:solidFill>
                        <a:srgbClr val="4097CC"/>
                      </a:solidFill>
                      <a:prstDash val="solid"/>
                    </a:lnB>
                    <a:solidFill>
                      <a:srgbClr val="151515"/>
                    </a:solidFill>
                  </a:tcPr>
                </a:tc>
                <a:tc>
                  <a:txBody>
                    <a:bodyPr lIns="36000" tIns="18000" rIns="36000" bIns="180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spcBef>
                          <a:spcPts val="1800"/>
                        </a:spcBef>
                        <a:spcAft>
                          <a:spcPts val="1800"/>
                        </a:spcAft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EDEDED"/>
                          </a:solidFill>
                          <a:effectLst/>
                          <a:uFillTx/>
                          <a:latin typeface="ui-sans-serif"/>
                        </a:rPr>
                        <a:t>-6.17%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36000" marR="36000" marT="18000" marB="18000">
                    <a:lnL w="12240">
                      <a:solidFill>
                        <a:srgbClr val="8090CC"/>
                      </a:solidFill>
                      <a:prstDash val="solid"/>
                    </a:lnL>
                    <a:lnR w="12240">
                      <a:solidFill>
                        <a:srgbClr val="A091CC"/>
                      </a:solidFill>
                      <a:prstDash val="solid"/>
                    </a:lnR>
                    <a:lnT w="12240">
                      <a:solidFill>
                        <a:srgbClr val="8090CC"/>
                      </a:solidFill>
                      <a:prstDash val="solid"/>
                    </a:lnT>
                    <a:lnB w="12240">
                      <a:solidFill>
                        <a:srgbClr val="4094CC"/>
                      </a:solidFill>
                      <a:prstDash val="solid"/>
                    </a:lnB>
                    <a:solidFill>
                      <a:srgbClr val="151515"/>
                    </a:solidFill>
                  </a:tcPr>
                </a:tc>
                <a:tc>
                  <a:txBody>
                    <a:bodyPr lIns="36000" tIns="18000" rIns="36000" bIns="180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spcBef>
                          <a:spcPts val="1800"/>
                        </a:spcBef>
                        <a:spcAft>
                          <a:spcPts val="1800"/>
                        </a:spcAft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EDEDED"/>
                          </a:solidFill>
                          <a:effectLst/>
                          <a:uFillTx/>
                          <a:latin typeface="ui-sans-serif"/>
                        </a:rPr>
                        <a:t>-NT$30,832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36000" marR="36000" marT="18000" marB="18000">
                    <a:lnL w="12240">
                      <a:solidFill>
                        <a:srgbClr val="A091CC"/>
                      </a:solidFill>
                      <a:prstDash val="solid"/>
                    </a:lnL>
                    <a:lnR w="12240">
                      <a:solidFill>
                        <a:srgbClr val="8093CC"/>
                      </a:solidFill>
                      <a:prstDash val="solid"/>
                    </a:lnR>
                    <a:lnT w="12240">
                      <a:solidFill>
                        <a:srgbClr val="A091CC"/>
                      </a:solidFill>
                      <a:prstDash val="solid"/>
                    </a:lnT>
                    <a:lnB w="12240">
                      <a:solidFill>
                        <a:srgbClr val="A08ECC"/>
                      </a:solidFill>
                      <a:prstDash val="solid"/>
                    </a:lnB>
                    <a:solidFill>
                      <a:srgbClr val="151515"/>
                    </a:solidFill>
                  </a:tcPr>
                </a:tc>
                <a:tc>
                  <a:txBody>
                    <a:bodyPr lIns="36000" tIns="18000" rIns="36000" bIns="180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spcBef>
                          <a:spcPts val="1800"/>
                        </a:spcBef>
                        <a:spcAft>
                          <a:spcPts val="1800"/>
                        </a:spcAft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EDEDED"/>
                          </a:solidFill>
                          <a:effectLst/>
                          <a:uFillTx/>
                          <a:latin typeface="ui-sans-serif"/>
                        </a:rPr>
                        <a:t>2/2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36000" marR="36000" marT="18000" marB="18000">
                    <a:lnL w="12240">
                      <a:solidFill>
                        <a:srgbClr val="8093CC"/>
                      </a:solidFill>
                      <a:prstDash val="solid"/>
                    </a:lnL>
                    <a:lnR w="12240">
                      <a:solidFill>
                        <a:srgbClr val="2099CC"/>
                      </a:solidFill>
                      <a:prstDash val="solid"/>
                    </a:lnR>
                    <a:lnT w="12240">
                      <a:solidFill>
                        <a:srgbClr val="8093CC"/>
                      </a:solidFill>
                      <a:prstDash val="solid"/>
                    </a:lnT>
                    <a:lnB w="12240">
                      <a:solidFill>
                        <a:srgbClr val="6095CC"/>
                      </a:solidFill>
                      <a:prstDash val="solid"/>
                    </a:lnB>
                    <a:solidFill>
                      <a:srgbClr val="151515"/>
                    </a:solidFill>
                  </a:tcPr>
                </a:tc>
                <a:tc>
                  <a:txBody>
                    <a:bodyPr lIns="36000" tIns="18000" rIns="36000" bIns="180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spcBef>
                          <a:spcPts val="1800"/>
                        </a:spcBef>
                        <a:spcAft>
                          <a:spcPts val="1800"/>
                        </a:spcAft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EDEDED"/>
                          </a:solidFill>
                          <a:effectLst/>
                          <a:uFillTx/>
                          <a:latin typeface="ui-sans-serif"/>
                        </a:rPr>
                        <a:t>-3.21%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36000" marR="36000" marT="18000" marB="18000">
                    <a:lnL w="12240">
                      <a:solidFill>
                        <a:srgbClr val="2099CC"/>
                      </a:solidFill>
                      <a:prstDash val="solid"/>
                    </a:lnL>
                    <a:lnR w="12240">
                      <a:solidFill>
                        <a:srgbClr val="E093CC"/>
                      </a:solidFill>
                      <a:prstDash val="solid"/>
                    </a:lnR>
                    <a:lnT w="12240">
                      <a:solidFill>
                        <a:srgbClr val="2099CC"/>
                      </a:solidFill>
                      <a:prstDash val="solid"/>
                    </a:lnT>
                    <a:lnB w="12240">
                      <a:solidFill>
                        <a:srgbClr val="C092CC"/>
                      </a:solidFill>
                      <a:prstDash val="solid"/>
                    </a:lnB>
                    <a:solidFill>
                      <a:srgbClr val="151515"/>
                    </a:solidFill>
                  </a:tcPr>
                </a:tc>
                <a:tc>
                  <a:txBody>
                    <a:bodyPr lIns="36000" tIns="18000" rIns="36000" bIns="180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spcBef>
                          <a:spcPts val="1800"/>
                        </a:spcBef>
                        <a:spcAft>
                          <a:spcPts val="1800"/>
                        </a:spcAft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EDEDED"/>
                          </a:solidFill>
                          <a:effectLst/>
                          <a:uFillTx/>
                          <a:latin typeface="ui-sans-serif"/>
                        </a:rPr>
                        <a:t>-NT$16,073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36000" marR="36000" marT="18000" marB="18000">
                    <a:lnL w="12240">
                      <a:solidFill>
                        <a:srgbClr val="E093CC"/>
                      </a:solidFill>
                      <a:prstDash val="solid"/>
                    </a:lnL>
                    <a:lnR w="12240">
                      <a:solidFill>
                        <a:srgbClr val="0098CC"/>
                      </a:solidFill>
                      <a:prstDash val="solid"/>
                    </a:lnR>
                    <a:lnT w="12240">
                      <a:solidFill>
                        <a:srgbClr val="E093CC"/>
                      </a:solidFill>
                      <a:prstDash val="solid"/>
                    </a:lnT>
                    <a:lnB w="12240">
                      <a:solidFill>
                        <a:srgbClr val="C098CC"/>
                      </a:solidFill>
                      <a:prstDash val="solid"/>
                    </a:lnB>
                    <a:solidFill>
                      <a:srgbClr val="151515"/>
                    </a:solidFill>
                  </a:tcPr>
                </a:tc>
                <a:tc>
                  <a:txBody>
                    <a:bodyPr lIns="36000" tIns="18000" rIns="36000" bIns="180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spcBef>
                          <a:spcPts val="1800"/>
                        </a:spcBef>
                        <a:spcAft>
                          <a:spcPts val="1800"/>
                        </a:spcAft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EDEDED"/>
                          </a:solidFill>
                          <a:effectLst/>
                          <a:uFillTx/>
                          <a:latin typeface="ui-sans-serif"/>
                        </a:rPr>
                        <a:t>3/3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36000" marR="36000" marT="18000" marB="18000">
                    <a:lnL w="12240">
                      <a:solidFill>
                        <a:srgbClr val="0098CC"/>
                      </a:solidFill>
                      <a:prstDash val="solid"/>
                    </a:lnL>
                    <a:lnR w="12240">
                      <a:solidFill>
                        <a:srgbClr val="E090CC"/>
                      </a:solidFill>
                      <a:prstDash val="solid"/>
                    </a:lnR>
                    <a:lnT w="12240">
                      <a:solidFill>
                        <a:srgbClr val="0098CC"/>
                      </a:solidFill>
                      <a:prstDash val="solid"/>
                    </a:lnT>
                    <a:lnB w="12240">
                      <a:solidFill>
                        <a:srgbClr val="60A4CC"/>
                      </a:solidFill>
                      <a:prstDash val="solid"/>
                    </a:lnB>
                    <a:solidFill>
                      <a:srgbClr val="151515"/>
                    </a:solidFill>
                  </a:tcPr>
                </a:tc>
                <a:tc>
                  <a:txBody>
                    <a:bodyPr lIns="36000" tIns="18000" rIns="36000" bIns="180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spcBef>
                          <a:spcPts val="1800"/>
                        </a:spcBef>
                        <a:spcAft>
                          <a:spcPts val="1800"/>
                        </a:spcAft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EDEDED"/>
                          </a:solidFill>
                          <a:effectLst/>
                          <a:uFillTx/>
                          <a:latin typeface="ui-sans-serif"/>
                        </a:rPr>
                        <a:t>-NT$46,906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36000" marR="36000" marT="18000" marB="18000">
                    <a:lnL w="12240">
                      <a:solidFill>
                        <a:srgbClr val="E090CC"/>
                      </a:solidFill>
                      <a:prstDash val="solid"/>
                    </a:lnL>
                    <a:lnR w="12240">
                      <a:solidFill>
                        <a:srgbClr val="E090CC"/>
                      </a:solidFill>
                      <a:prstDash val="solid"/>
                    </a:lnR>
                    <a:lnT w="12240">
                      <a:solidFill>
                        <a:srgbClr val="E090CC"/>
                      </a:solidFill>
                      <a:prstDash val="solid"/>
                    </a:lnT>
                    <a:lnB w="12240">
                      <a:solidFill>
                        <a:srgbClr val="20A5CC"/>
                      </a:solidFill>
                      <a:prstDash val="solid"/>
                    </a:lnB>
                    <a:solidFill>
                      <a:srgbClr val="151515"/>
                    </a:solidFill>
                  </a:tcPr>
                </a:tc>
              </a:tr>
              <a:tr h="543960">
                <a:tc>
                  <a:txBody>
                    <a:bodyPr lIns="36000" tIns="18000" rIns="36000" bIns="180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spcBef>
                          <a:spcPts val="1800"/>
                        </a:spcBef>
                        <a:spcAft>
                          <a:spcPts val="1800"/>
                        </a:spcAft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EDEDED"/>
                          </a:solidFill>
                          <a:effectLst/>
                          <a:uFillTx/>
                          <a:latin typeface="ui-sans-serif"/>
                        </a:rPr>
                        <a:t>3.</a:t>
                      </a:r>
                      <a:r>
                        <a:rPr lang="zh-TW" sz="1200" b="0" u="none" strike="noStrike">
                          <a:solidFill>
                            <a:srgbClr val="EDEDED"/>
                          </a:solidFill>
                          <a:effectLst/>
                          <a:uFillTx/>
                          <a:latin typeface="ui-sans-serif"/>
                        </a:rPr>
                        <a:t>布林通道反轉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36000" marR="36000" marT="18000" marB="18000">
                    <a:lnL w="12240">
                      <a:solidFill>
                        <a:srgbClr val="4097CC"/>
                      </a:solidFill>
                      <a:prstDash val="solid"/>
                    </a:lnL>
                    <a:lnR w="12240">
                      <a:solidFill>
                        <a:srgbClr val="4094CC"/>
                      </a:solidFill>
                      <a:prstDash val="solid"/>
                    </a:lnR>
                    <a:lnT w="12240">
                      <a:solidFill>
                        <a:srgbClr val="4097CC"/>
                      </a:solidFill>
                      <a:prstDash val="solid"/>
                    </a:lnT>
                    <a:lnB w="12240">
                      <a:solidFill>
                        <a:srgbClr val="C0A4CC"/>
                      </a:solidFill>
                      <a:prstDash val="solid"/>
                    </a:lnB>
                    <a:solidFill>
                      <a:srgbClr val="151515"/>
                    </a:solidFill>
                  </a:tcPr>
                </a:tc>
                <a:tc>
                  <a:txBody>
                    <a:bodyPr lIns="36000" tIns="18000" rIns="36000" bIns="180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spcBef>
                          <a:spcPts val="1800"/>
                        </a:spcBef>
                        <a:spcAft>
                          <a:spcPts val="1800"/>
                        </a:spcAft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EDEDED"/>
                          </a:solidFill>
                          <a:effectLst/>
                          <a:uFillTx/>
                          <a:latin typeface="ui-sans-serif"/>
                        </a:rPr>
                        <a:t>-25.83%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36000" marR="36000" marT="18000" marB="18000">
                    <a:lnL w="12240">
                      <a:solidFill>
                        <a:srgbClr val="4094CC"/>
                      </a:solidFill>
                      <a:prstDash val="solid"/>
                    </a:lnL>
                    <a:lnR w="12240">
                      <a:solidFill>
                        <a:srgbClr val="A08ECC"/>
                      </a:solidFill>
                      <a:prstDash val="solid"/>
                    </a:lnR>
                    <a:lnT w="12240">
                      <a:solidFill>
                        <a:srgbClr val="4094CC"/>
                      </a:solidFill>
                      <a:prstDash val="solid"/>
                    </a:lnT>
                    <a:lnB w="12240">
                      <a:solidFill>
                        <a:srgbClr val="40A0CC"/>
                      </a:solidFill>
                      <a:prstDash val="solid"/>
                    </a:lnB>
                    <a:solidFill>
                      <a:srgbClr val="151515"/>
                    </a:solidFill>
                  </a:tcPr>
                </a:tc>
                <a:tc>
                  <a:txBody>
                    <a:bodyPr lIns="36000" tIns="18000" rIns="36000" bIns="180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spcBef>
                          <a:spcPts val="1800"/>
                        </a:spcBef>
                        <a:spcAft>
                          <a:spcPts val="1800"/>
                        </a:spcAft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EDEDED"/>
                          </a:solidFill>
                          <a:effectLst/>
                          <a:uFillTx/>
                          <a:latin typeface="ui-sans-serif"/>
                        </a:rPr>
                        <a:t>-NT$129,171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36000" marR="36000" marT="18000" marB="18000">
                    <a:lnL w="12240">
                      <a:solidFill>
                        <a:srgbClr val="A08ECC"/>
                      </a:solidFill>
                      <a:prstDash val="solid"/>
                    </a:lnL>
                    <a:lnR w="12240">
                      <a:solidFill>
                        <a:srgbClr val="6095CC"/>
                      </a:solidFill>
                      <a:prstDash val="solid"/>
                    </a:lnR>
                    <a:lnT w="12240">
                      <a:solidFill>
                        <a:srgbClr val="A08ECC"/>
                      </a:solidFill>
                      <a:prstDash val="solid"/>
                    </a:lnT>
                    <a:lnB w="12240">
                      <a:solidFill>
                        <a:srgbClr val="E09FCC"/>
                      </a:solidFill>
                      <a:prstDash val="solid"/>
                    </a:lnB>
                    <a:solidFill>
                      <a:srgbClr val="151515"/>
                    </a:solidFill>
                  </a:tcPr>
                </a:tc>
                <a:tc>
                  <a:txBody>
                    <a:bodyPr lIns="36000" tIns="18000" rIns="36000" bIns="180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spcBef>
                          <a:spcPts val="1800"/>
                        </a:spcBef>
                        <a:spcAft>
                          <a:spcPts val="1800"/>
                        </a:spcAft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EDEDED"/>
                          </a:solidFill>
                          <a:effectLst/>
                          <a:uFillTx/>
                          <a:latin typeface="ui-sans-serif"/>
                        </a:rPr>
                        <a:t>4/4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36000" marR="36000" marT="18000" marB="18000">
                    <a:lnL w="12240">
                      <a:solidFill>
                        <a:srgbClr val="6095CC"/>
                      </a:solidFill>
                      <a:prstDash val="solid"/>
                    </a:lnL>
                    <a:lnR w="12240">
                      <a:solidFill>
                        <a:srgbClr val="C092CC"/>
                      </a:solidFill>
                      <a:prstDash val="solid"/>
                    </a:lnR>
                    <a:lnT w="12240">
                      <a:solidFill>
                        <a:srgbClr val="6095CC"/>
                      </a:solidFill>
                      <a:prstDash val="solid"/>
                    </a:lnT>
                    <a:lnB w="12240">
                      <a:solidFill>
                        <a:srgbClr val="60A1CC"/>
                      </a:solidFill>
                      <a:prstDash val="solid"/>
                    </a:lnB>
                    <a:solidFill>
                      <a:srgbClr val="151515"/>
                    </a:solidFill>
                  </a:tcPr>
                </a:tc>
                <a:tc>
                  <a:txBody>
                    <a:bodyPr lIns="36000" tIns="18000" rIns="36000" bIns="180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spcBef>
                          <a:spcPts val="1800"/>
                        </a:spcBef>
                        <a:spcAft>
                          <a:spcPts val="1800"/>
                        </a:spcAft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EDEDED"/>
                          </a:solidFill>
                          <a:effectLst/>
                          <a:uFillTx/>
                          <a:latin typeface="ui-sans-serif"/>
                        </a:rPr>
                        <a:t>+9.81%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36000" marR="36000" marT="18000" marB="18000">
                    <a:lnL w="12240">
                      <a:solidFill>
                        <a:srgbClr val="C092CC"/>
                      </a:solidFill>
                      <a:prstDash val="solid"/>
                    </a:lnL>
                    <a:lnR w="12240">
                      <a:solidFill>
                        <a:srgbClr val="C098CC"/>
                      </a:solidFill>
                      <a:prstDash val="solid"/>
                    </a:lnR>
                    <a:lnT w="12240">
                      <a:solidFill>
                        <a:srgbClr val="C092CC"/>
                      </a:solidFill>
                      <a:prstDash val="solid"/>
                    </a:lnT>
                    <a:lnB w="12240">
                      <a:solidFill>
                        <a:srgbClr val="80A2CC"/>
                      </a:solidFill>
                      <a:prstDash val="solid"/>
                    </a:lnB>
                    <a:solidFill>
                      <a:srgbClr val="151515"/>
                    </a:solidFill>
                  </a:tcPr>
                </a:tc>
                <a:tc>
                  <a:txBody>
                    <a:bodyPr lIns="36000" tIns="18000" rIns="36000" bIns="180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spcBef>
                          <a:spcPts val="1800"/>
                        </a:spcBef>
                        <a:spcAft>
                          <a:spcPts val="1800"/>
                        </a:spcAft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EDEDED"/>
                          </a:solidFill>
                          <a:effectLst/>
                          <a:uFillTx/>
                          <a:latin typeface="ui-sans-serif"/>
                        </a:rPr>
                        <a:t>+NT$49,041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36000" marR="36000" marT="18000" marB="18000">
                    <a:lnL w="12240">
                      <a:solidFill>
                        <a:srgbClr val="C098CC"/>
                      </a:solidFill>
                      <a:prstDash val="solid"/>
                    </a:lnL>
                    <a:lnR w="12240">
                      <a:solidFill>
                        <a:srgbClr val="60A4CC"/>
                      </a:solidFill>
                      <a:prstDash val="solid"/>
                    </a:lnR>
                    <a:lnT w="12240">
                      <a:solidFill>
                        <a:srgbClr val="C098CC"/>
                      </a:solidFill>
                      <a:prstDash val="solid"/>
                    </a:lnT>
                    <a:lnB w="12240">
                      <a:solidFill>
                        <a:srgbClr val="A0A3CC"/>
                      </a:solidFill>
                      <a:prstDash val="solid"/>
                    </a:lnB>
                    <a:solidFill>
                      <a:srgbClr val="151515"/>
                    </a:solidFill>
                  </a:tcPr>
                </a:tc>
                <a:tc>
                  <a:txBody>
                    <a:bodyPr lIns="36000" tIns="18000" rIns="36000" bIns="180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spcBef>
                          <a:spcPts val="1800"/>
                        </a:spcBef>
                        <a:spcAft>
                          <a:spcPts val="1800"/>
                        </a:spcAft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EDEDED"/>
                          </a:solidFill>
                          <a:effectLst/>
                          <a:uFillTx/>
                          <a:latin typeface="ui-sans-serif"/>
                        </a:rPr>
                        <a:t>2/2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36000" marR="36000" marT="18000" marB="18000">
                    <a:lnL w="12240">
                      <a:solidFill>
                        <a:srgbClr val="60A4CC"/>
                      </a:solidFill>
                      <a:prstDash val="solid"/>
                    </a:lnL>
                    <a:lnR w="12240">
                      <a:solidFill>
                        <a:srgbClr val="20A5CC"/>
                      </a:solidFill>
                      <a:prstDash val="solid"/>
                    </a:lnR>
                    <a:lnT w="12240">
                      <a:solidFill>
                        <a:srgbClr val="60A4CC"/>
                      </a:solidFill>
                      <a:prstDash val="solid"/>
                    </a:lnT>
                    <a:lnB w="12240">
                      <a:solidFill>
                        <a:srgbClr val="209CCC"/>
                      </a:solidFill>
                      <a:prstDash val="solid"/>
                    </a:lnB>
                    <a:solidFill>
                      <a:srgbClr val="151515"/>
                    </a:solidFill>
                  </a:tcPr>
                </a:tc>
                <a:tc>
                  <a:txBody>
                    <a:bodyPr lIns="36000" tIns="18000" rIns="36000" bIns="180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spcBef>
                          <a:spcPts val="1800"/>
                        </a:spcBef>
                        <a:spcAft>
                          <a:spcPts val="1800"/>
                        </a:spcAft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EDEDED"/>
                          </a:solidFill>
                          <a:effectLst/>
                          <a:uFillTx/>
                          <a:latin typeface="ui-sans-serif"/>
                        </a:rPr>
                        <a:t>-NT$80,130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36000" marR="36000" marT="18000" marB="18000">
                    <a:lnL w="12240">
                      <a:solidFill>
                        <a:srgbClr val="20A5CC"/>
                      </a:solidFill>
                      <a:prstDash val="solid"/>
                    </a:lnL>
                    <a:lnR w="12240">
                      <a:solidFill>
                        <a:srgbClr val="20A5CC"/>
                      </a:solidFill>
                      <a:prstDash val="solid"/>
                    </a:lnR>
                    <a:lnT w="12240">
                      <a:solidFill>
                        <a:srgbClr val="20A5CC"/>
                      </a:solidFill>
                      <a:prstDash val="solid"/>
                    </a:lnT>
                    <a:lnB w="12240">
                      <a:solidFill>
                        <a:srgbClr val="809FCC"/>
                      </a:solidFill>
                      <a:prstDash val="solid"/>
                    </a:lnB>
                    <a:solidFill>
                      <a:srgbClr val="151515"/>
                    </a:solidFill>
                  </a:tcPr>
                </a:tc>
              </a:tr>
              <a:tr h="543960">
                <a:tc>
                  <a:txBody>
                    <a:bodyPr lIns="36000" tIns="18000" rIns="36000" bIns="180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spcBef>
                          <a:spcPts val="1800"/>
                        </a:spcBef>
                        <a:spcAft>
                          <a:spcPts val="1800"/>
                        </a:spcAft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EDEDED"/>
                          </a:solidFill>
                          <a:effectLst/>
                          <a:uFillTx/>
                          <a:latin typeface="ui-sans-serif"/>
                        </a:rPr>
                        <a:t>5.</a:t>
                      </a:r>
                      <a:r>
                        <a:rPr lang="zh-TW" sz="1200" b="0" u="none" strike="noStrike">
                          <a:solidFill>
                            <a:srgbClr val="EDEDED"/>
                          </a:solidFill>
                          <a:effectLst/>
                          <a:uFillTx/>
                          <a:latin typeface="ui-sans-serif"/>
                        </a:rPr>
                        <a:t>週</a:t>
                      </a:r>
                      <a:r>
                        <a:rPr lang="en-US" sz="1200" b="0" u="none" strike="noStrike">
                          <a:solidFill>
                            <a:srgbClr val="EDEDED"/>
                          </a:solidFill>
                          <a:effectLst/>
                          <a:uFillTx/>
                          <a:latin typeface="ui-sans-serif"/>
                        </a:rPr>
                        <a:t>KD(</a:t>
                      </a:r>
                      <a:r>
                        <a:rPr lang="zh-TW" sz="1200" b="0" u="none" strike="noStrike">
                          <a:solidFill>
                            <a:srgbClr val="EDEDED"/>
                          </a:solidFill>
                          <a:effectLst/>
                          <a:uFillTx/>
                          <a:latin typeface="ui-sans-serif"/>
                        </a:rPr>
                        <a:t>預設</a:t>
                      </a:r>
                      <a:r>
                        <a:rPr lang="en-US" sz="1200" b="0" u="none" strike="noStrike">
                          <a:solidFill>
                            <a:srgbClr val="EDEDED"/>
                          </a:solidFill>
                          <a:effectLst/>
                          <a:uFillTx/>
                          <a:latin typeface="ui-sans-serif"/>
                        </a:rPr>
                        <a:t>)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36000" marR="36000" marT="18000" marB="18000">
                    <a:lnL w="12240">
                      <a:solidFill>
                        <a:srgbClr val="C0A4CC"/>
                      </a:solidFill>
                      <a:prstDash val="solid"/>
                    </a:lnL>
                    <a:lnR w="12240">
                      <a:solidFill>
                        <a:srgbClr val="40A0CC"/>
                      </a:solidFill>
                      <a:prstDash val="solid"/>
                    </a:lnR>
                    <a:lnT w="12240">
                      <a:solidFill>
                        <a:srgbClr val="C0A4CC"/>
                      </a:solidFill>
                      <a:prstDash val="solid"/>
                    </a:lnT>
                    <a:lnB w="12240">
                      <a:solidFill>
                        <a:srgbClr val="20ABCC"/>
                      </a:solidFill>
                      <a:prstDash val="solid"/>
                    </a:lnB>
                    <a:solidFill>
                      <a:srgbClr val="151515"/>
                    </a:solidFill>
                  </a:tcPr>
                </a:tc>
                <a:tc>
                  <a:txBody>
                    <a:bodyPr lIns="36000" tIns="18000" rIns="36000" bIns="180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spcBef>
                          <a:spcPts val="1800"/>
                        </a:spcBef>
                        <a:spcAft>
                          <a:spcPts val="1800"/>
                        </a:spcAft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EDEDED"/>
                          </a:solidFill>
                          <a:effectLst/>
                          <a:uFillTx/>
                          <a:latin typeface="ui-sans-serif"/>
                        </a:rPr>
                        <a:t>-23.44%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36000" marR="36000" marT="18000" marB="18000">
                    <a:lnL w="12240">
                      <a:solidFill>
                        <a:srgbClr val="40A0CC"/>
                      </a:solidFill>
                      <a:prstDash val="solid"/>
                    </a:lnL>
                    <a:lnR w="12240">
                      <a:solidFill>
                        <a:srgbClr val="E09FCC"/>
                      </a:solidFill>
                      <a:prstDash val="solid"/>
                    </a:lnR>
                    <a:lnT w="12240">
                      <a:solidFill>
                        <a:srgbClr val="40A0CC"/>
                      </a:solidFill>
                      <a:prstDash val="solid"/>
                    </a:lnT>
                    <a:lnB w="12240">
                      <a:solidFill>
                        <a:srgbClr val="00A7CC"/>
                      </a:solidFill>
                      <a:prstDash val="solid"/>
                    </a:lnB>
                    <a:solidFill>
                      <a:srgbClr val="151515"/>
                    </a:solidFill>
                  </a:tcPr>
                </a:tc>
                <a:tc>
                  <a:txBody>
                    <a:bodyPr lIns="36000" tIns="18000" rIns="36000" bIns="180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spcBef>
                          <a:spcPts val="1800"/>
                        </a:spcBef>
                        <a:spcAft>
                          <a:spcPts val="1800"/>
                        </a:spcAft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EDEDED"/>
                          </a:solidFill>
                          <a:effectLst/>
                          <a:uFillTx/>
                          <a:latin typeface="ui-sans-serif"/>
                        </a:rPr>
                        <a:t>-NT$117,195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36000" marR="36000" marT="18000" marB="18000">
                    <a:lnL w="12240">
                      <a:solidFill>
                        <a:srgbClr val="E09FCC"/>
                      </a:solidFill>
                      <a:prstDash val="solid"/>
                    </a:lnL>
                    <a:lnR w="12240">
                      <a:solidFill>
                        <a:srgbClr val="60A1CC"/>
                      </a:solidFill>
                      <a:prstDash val="solid"/>
                    </a:lnR>
                    <a:lnT w="12240">
                      <a:solidFill>
                        <a:srgbClr val="E09FCC"/>
                      </a:solidFill>
                      <a:prstDash val="solid"/>
                    </a:lnT>
                    <a:lnB w="12240">
                      <a:solidFill>
                        <a:srgbClr val="C0ADCC"/>
                      </a:solidFill>
                      <a:prstDash val="solid"/>
                    </a:lnB>
                    <a:solidFill>
                      <a:srgbClr val="151515"/>
                    </a:solidFill>
                  </a:tcPr>
                </a:tc>
                <a:tc>
                  <a:txBody>
                    <a:bodyPr lIns="36000" tIns="18000" rIns="36000" bIns="180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spcBef>
                          <a:spcPts val="1800"/>
                        </a:spcBef>
                        <a:spcAft>
                          <a:spcPts val="1800"/>
                        </a:spcAft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EDEDED"/>
                          </a:solidFill>
                          <a:effectLst/>
                          <a:uFillTx/>
                          <a:latin typeface="ui-sans-serif"/>
                        </a:rPr>
                        <a:t>3/3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36000" marR="36000" marT="18000" marB="18000">
                    <a:lnL w="12240">
                      <a:solidFill>
                        <a:srgbClr val="60A1CC"/>
                      </a:solidFill>
                      <a:prstDash val="solid"/>
                    </a:lnL>
                    <a:lnR w="12240">
                      <a:solidFill>
                        <a:srgbClr val="80A2CC"/>
                      </a:solidFill>
                      <a:prstDash val="solid"/>
                    </a:lnR>
                    <a:lnT w="12240">
                      <a:solidFill>
                        <a:srgbClr val="60A1CC"/>
                      </a:solidFill>
                      <a:prstDash val="solid"/>
                    </a:lnT>
                    <a:lnB w="12240">
                      <a:solidFill>
                        <a:srgbClr val="40ACCC"/>
                      </a:solidFill>
                      <a:prstDash val="solid"/>
                    </a:lnB>
                    <a:solidFill>
                      <a:srgbClr val="151515"/>
                    </a:solidFill>
                  </a:tcPr>
                </a:tc>
                <a:tc>
                  <a:txBody>
                    <a:bodyPr lIns="36000" tIns="18000" rIns="36000" bIns="180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spcBef>
                          <a:spcPts val="1800"/>
                        </a:spcBef>
                        <a:spcAft>
                          <a:spcPts val="1800"/>
                        </a:spcAft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EDEDED"/>
                          </a:solidFill>
                          <a:effectLst/>
                          <a:uFillTx/>
                          <a:latin typeface="ui-sans-serif"/>
                        </a:rPr>
                        <a:t>0.00%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36000" marR="36000" marT="18000" marB="18000">
                    <a:lnL w="12240">
                      <a:solidFill>
                        <a:srgbClr val="80A2CC"/>
                      </a:solidFill>
                      <a:prstDash val="solid"/>
                    </a:lnL>
                    <a:lnR w="12240">
                      <a:solidFill>
                        <a:srgbClr val="A0A3CC"/>
                      </a:solidFill>
                      <a:prstDash val="solid"/>
                    </a:lnR>
                    <a:lnT w="12240">
                      <a:solidFill>
                        <a:srgbClr val="80A2CC"/>
                      </a:solidFill>
                      <a:prstDash val="solid"/>
                    </a:lnT>
                    <a:lnB w="12240">
                      <a:solidFill>
                        <a:srgbClr val="40BBCC"/>
                      </a:solidFill>
                      <a:prstDash val="solid"/>
                    </a:lnB>
                    <a:solidFill>
                      <a:srgbClr val="151515"/>
                    </a:solidFill>
                  </a:tcPr>
                </a:tc>
                <a:tc>
                  <a:txBody>
                    <a:bodyPr lIns="36000" tIns="18000" rIns="36000" bIns="180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spcBef>
                          <a:spcPts val="1800"/>
                        </a:spcBef>
                        <a:spcAft>
                          <a:spcPts val="1800"/>
                        </a:spcAft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EDEDED"/>
                          </a:solidFill>
                          <a:effectLst/>
                          <a:uFillTx/>
                          <a:latin typeface="ui-sans-serif"/>
                        </a:rPr>
                        <a:t>NT$0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36000" marR="36000" marT="18000" marB="18000">
                    <a:lnL w="12240">
                      <a:solidFill>
                        <a:srgbClr val="A0A3CC"/>
                      </a:solidFill>
                      <a:prstDash val="solid"/>
                    </a:lnL>
                    <a:lnR w="12240">
                      <a:solidFill>
                        <a:srgbClr val="209CCC"/>
                      </a:solidFill>
                      <a:prstDash val="solid"/>
                    </a:lnR>
                    <a:lnT w="12240">
                      <a:solidFill>
                        <a:srgbClr val="A0A3CC"/>
                      </a:solidFill>
                      <a:prstDash val="solid"/>
                    </a:lnT>
                    <a:lnB w="12240">
                      <a:solidFill>
                        <a:srgbClr val="E0BACC"/>
                      </a:solidFill>
                      <a:prstDash val="solid"/>
                    </a:lnB>
                    <a:solidFill>
                      <a:srgbClr val="151515"/>
                    </a:solidFill>
                  </a:tcPr>
                </a:tc>
                <a:tc>
                  <a:txBody>
                    <a:bodyPr lIns="36000" tIns="18000" rIns="36000" bIns="180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spcBef>
                          <a:spcPts val="1800"/>
                        </a:spcBef>
                        <a:spcAft>
                          <a:spcPts val="1800"/>
                        </a:spcAft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EDEDED"/>
                          </a:solidFill>
                          <a:effectLst/>
                          <a:uFillTx/>
                          <a:latin typeface="ui-sans-serif"/>
                        </a:rPr>
                        <a:t>0/0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36000" marR="36000" marT="18000" marB="18000">
                    <a:lnL w="12240">
                      <a:solidFill>
                        <a:srgbClr val="209CCC"/>
                      </a:solidFill>
                      <a:prstDash val="solid"/>
                    </a:lnL>
                    <a:lnR w="12240">
                      <a:solidFill>
                        <a:srgbClr val="809FCC"/>
                      </a:solidFill>
                      <a:prstDash val="solid"/>
                    </a:lnR>
                    <a:lnT w="12240">
                      <a:solidFill>
                        <a:srgbClr val="209CCC"/>
                      </a:solidFill>
                      <a:prstDash val="solid"/>
                    </a:lnT>
                    <a:lnB w="12240">
                      <a:solidFill>
                        <a:srgbClr val="E0B4CC"/>
                      </a:solidFill>
                      <a:prstDash val="solid"/>
                    </a:lnB>
                    <a:solidFill>
                      <a:srgbClr val="151515"/>
                    </a:solidFill>
                  </a:tcPr>
                </a:tc>
                <a:tc>
                  <a:txBody>
                    <a:bodyPr lIns="36000" tIns="18000" rIns="36000" bIns="180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spcBef>
                          <a:spcPts val="1800"/>
                        </a:spcBef>
                        <a:spcAft>
                          <a:spcPts val="1800"/>
                        </a:spcAft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EDEDED"/>
                          </a:solidFill>
                          <a:effectLst/>
                          <a:uFillTx/>
                          <a:latin typeface="ui-sans-serif"/>
                        </a:rPr>
                        <a:t>-NT$117,195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36000" marR="36000" marT="18000" marB="18000">
                    <a:lnL w="12240">
                      <a:solidFill>
                        <a:srgbClr val="809FCC"/>
                      </a:solidFill>
                      <a:prstDash val="solid"/>
                    </a:lnL>
                    <a:lnR w="12240">
                      <a:solidFill>
                        <a:srgbClr val="809FCC"/>
                      </a:solidFill>
                      <a:prstDash val="solid"/>
                    </a:lnR>
                    <a:lnT w="12240">
                      <a:solidFill>
                        <a:srgbClr val="809FCC"/>
                      </a:solidFill>
                      <a:prstDash val="solid"/>
                    </a:lnT>
                    <a:lnB w="12240">
                      <a:solidFill>
                        <a:srgbClr val="60B9CC"/>
                      </a:solidFill>
                      <a:prstDash val="solid"/>
                    </a:lnB>
                    <a:solidFill>
                      <a:srgbClr val="151515"/>
                    </a:solidFill>
                  </a:tcPr>
                </a:tc>
              </a:tr>
              <a:tr h="543960">
                <a:tc>
                  <a:txBody>
                    <a:bodyPr lIns="36000" tIns="18000" rIns="36000" bIns="180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spcBef>
                          <a:spcPts val="1800"/>
                        </a:spcBef>
                        <a:spcAft>
                          <a:spcPts val="1800"/>
                        </a:spcAft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EDEDED"/>
                          </a:solidFill>
                          <a:effectLst/>
                          <a:uFillTx/>
                          <a:latin typeface="ui-sans-serif"/>
                        </a:rPr>
                        <a:t>2.</a:t>
                      </a:r>
                      <a:r>
                        <a:rPr lang="zh-TW" sz="1200" b="0" u="none" strike="noStrike">
                          <a:solidFill>
                            <a:srgbClr val="EDEDED"/>
                          </a:solidFill>
                          <a:effectLst/>
                          <a:uFillTx/>
                          <a:latin typeface="ui-sans-serif"/>
                        </a:rPr>
                        <a:t>均線交叉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36000" marR="36000" marT="18000" marB="18000">
                    <a:lnL w="12240">
                      <a:solidFill>
                        <a:srgbClr val="20ABCC"/>
                      </a:solidFill>
                      <a:prstDash val="solid"/>
                    </a:lnL>
                    <a:lnR w="12240">
                      <a:solidFill>
                        <a:srgbClr val="00A7CC"/>
                      </a:solidFill>
                      <a:prstDash val="solid"/>
                    </a:lnR>
                    <a:lnT w="12240">
                      <a:solidFill>
                        <a:srgbClr val="20ABCC"/>
                      </a:solidFill>
                      <a:prstDash val="solid"/>
                    </a:lnT>
                    <a:lnB w="12240">
                      <a:solidFill>
                        <a:srgbClr val="E0B7CC"/>
                      </a:solidFill>
                      <a:prstDash val="solid"/>
                    </a:lnB>
                    <a:solidFill>
                      <a:srgbClr val="151515"/>
                    </a:solidFill>
                  </a:tcPr>
                </a:tc>
                <a:tc>
                  <a:txBody>
                    <a:bodyPr lIns="36000" tIns="18000" rIns="36000" bIns="180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spcBef>
                          <a:spcPts val="1800"/>
                        </a:spcBef>
                        <a:spcAft>
                          <a:spcPts val="1800"/>
                        </a:spcAft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EDEDED"/>
                          </a:solidFill>
                          <a:effectLst/>
                          <a:uFillTx/>
                          <a:latin typeface="ui-sans-serif"/>
                        </a:rPr>
                        <a:t>-0.01%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36000" marR="36000" marT="18000" marB="18000">
                    <a:lnL w="12240">
                      <a:solidFill>
                        <a:srgbClr val="00A7CC"/>
                      </a:solidFill>
                      <a:prstDash val="solid"/>
                    </a:lnL>
                    <a:lnR w="12240">
                      <a:solidFill>
                        <a:srgbClr val="C0ADCC"/>
                      </a:solidFill>
                      <a:prstDash val="solid"/>
                    </a:lnR>
                    <a:lnT w="12240">
                      <a:solidFill>
                        <a:srgbClr val="00A7CC"/>
                      </a:solidFill>
                      <a:prstDash val="solid"/>
                    </a:lnT>
                    <a:lnB w="12240">
                      <a:solidFill>
                        <a:srgbClr val="80B4CC"/>
                      </a:solidFill>
                      <a:prstDash val="solid"/>
                    </a:lnB>
                    <a:solidFill>
                      <a:srgbClr val="151515"/>
                    </a:solidFill>
                  </a:tcPr>
                </a:tc>
                <a:tc>
                  <a:txBody>
                    <a:bodyPr lIns="36000" tIns="18000" rIns="36000" bIns="180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spcBef>
                          <a:spcPts val="1800"/>
                        </a:spcBef>
                        <a:spcAft>
                          <a:spcPts val="1800"/>
                        </a:spcAft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EDEDED"/>
                          </a:solidFill>
                          <a:effectLst/>
                          <a:uFillTx/>
                          <a:latin typeface="ui-sans-serif"/>
                        </a:rPr>
                        <a:t>-NT$33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36000" marR="36000" marT="18000" marB="18000">
                    <a:lnL w="12240">
                      <a:solidFill>
                        <a:srgbClr val="C0ADCC"/>
                      </a:solidFill>
                      <a:prstDash val="solid"/>
                    </a:lnL>
                    <a:lnR w="12240">
                      <a:solidFill>
                        <a:srgbClr val="40ACCC"/>
                      </a:solidFill>
                      <a:prstDash val="solid"/>
                    </a:lnR>
                    <a:lnT w="12240">
                      <a:solidFill>
                        <a:srgbClr val="C0ADCC"/>
                      </a:solidFill>
                      <a:prstDash val="solid"/>
                    </a:lnT>
                    <a:lnB w="12240">
                      <a:solidFill>
                        <a:srgbClr val="20BDCC"/>
                      </a:solidFill>
                      <a:prstDash val="solid"/>
                    </a:lnB>
                    <a:solidFill>
                      <a:srgbClr val="151515"/>
                    </a:solidFill>
                  </a:tcPr>
                </a:tc>
                <a:tc>
                  <a:txBody>
                    <a:bodyPr lIns="36000" tIns="18000" rIns="36000" bIns="180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spcBef>
                          <a:spcPts val="1800"/>
                        </a:spcBef>
                        <a:spcAft>
                          <a:spcPts val="1800"/>
                        </a:spcAft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EDEDED"/>
                          </a:solidFill>
                          <a:effectLst/>
                          <a:uFillTx/>
                          <a:latin typeface="ui-sans-serif"/>
                        </a:rPr>
                        <a:t>5/5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36000" marR="36000" marT="18000" marB="18000">
                    <a:lnL w="12240">
                      <a:solidFill>
                        <a:srgbClr val="40ACCC"/>
                      </a:solidFill>
                      <a:prstDash val="solid"/>
                    </a:lnL>
                    <a:lnR w="12240">
                      <a:solidFill>
                        <a:srgbClr val="40BBCC"/>
                      </a:solidFill>
                      <a:prstDash val="solid"/>
                    </a:lnR>
                    <a:lnT w="12240">
                      <a:solidFill>
                        <a:srgbClr val="40ACCC"/>
                      </a:solidFill>
                      <a:prstDash val="solid"/>
                    </a:lnT>
                    <a:lnB w="12240">
                      <a:solidFill>
                        <a:srgbClr val="20B4CC"/>
                      </a:solidFill>
                      <a:prstDash val="solid"/>
                    </a:lnB>
                    <a:solidFill>
                      <a:srgbClr val="151515"/>
                    </a:solidFill>
                  </a:tcPr>
                </a:tc>
                <a:tc>
                  <a:txBody>
                    <a:bodyPr lIns="36000" tIns="18000" rIns="36000" bIns="180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spcBef>
                          <a:spcPts val="1800"/>
                        </a:spcBef>
                        <a:spcAft>
                          <a:spcPts val="1800"/>
                        </a:spcAft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EDEDED"/>
                          </a:solidFill>
                          <a:effectLst/>
                          <a:uFillTx/>
                          <a:latin typeface="ui-sans-serif"/>
                        </a:rPr>
                        <a:t>-27.76%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36000" marR="36000" marT="18000" marB="18000">
                    <a:lnL w="12240">
                      <a:solidFill>
                        <a:srgbClr val="40BBCC"/>
                      </a:solidFill>
                      <a:prstDash val="solid"/>
                    </a:lnL>
                    <a:lnR w="12240">
                      <a:solidFill>
                        <a:srgbClr val="E0BACC"/>
                      </a:solidFill>
                      <a:prstDash val="solid"/>
                    </a:lnR>
                    <a:lnT w="12240">
                      <a:solidFill>
                        <a:srgbClr val="40BBCC"/>
                      </a:solidFill>
                      <a:prstDash val="solid"/>
                    </a:lnT>
                    <a:lnB w="12240">
                      <a:solidFill>
                        <a:srgbClr val="C0BCCC"/>
                      </a:solidFill>
                      <a:prstDash val="solid"/>
                    </a:lnB>
                    <a:solidFill>
                      <a:srgbClr val="151515"/>
                    </a:solidFill>
                  </a:tcPr>
                </a:tc>
                <a:tc>
                  <a:txBody>
                    <a:bodyPr lIns="36000" tIns="18000" rIns="36000" bIns="180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spcBef>
                          <a:spcPts val="1800"/>
                        </a:spcBef>
                        <a:spcAft>
                          <a:spcPts val="1800"/>
                        </a:spcAft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EDEDED"/>
                          </a:solidFill>
                          <a:effectLst/>
                          <a:uFillTx/>
                          <a:latin typeface="ui-sans-serif"/>
                        </a:rPr>
                        <a:t>-NT$138,787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36000" marR="36000" marT="18000" marB="18000">
                    <a:lnL w="12240">
                      <a:solidFill>
                        <a:srgbClr val="E0BACC"/>
                      </a:solidFill>
                      <a:prstDash val="solid"/>
                    </a:lnL>
                    <a:lnR w="12240">
                      <a:solidFill>
                        <a:srgbClr val="E0B4CC"/>
                      </a:solidFill>
                      <a:prstDash val="solid"/>
                    </a:lnR>
                    <a:lnT w="12240">
                      <a:solidFill>
                        <a:srgbClr val="E0BACC"/>
                      </a:solidFill>
                      <a:prstDash val="solid"/>
                    </a:lnT>
                    <a:lnB w="12240">
                      <a:solidFill>
                        <a:srgbClr val="A0B5CC"/>
                      </a:solidFill>
                      <a:prstDash val="solid"/>
                    </a:lnB>
                    <a:solidFill>
                      <a:srgbClr val="151515"/>
                    </a:solidFill>
                  </a:tcPr>
                </a:tc>
                <a:tc>
                  <a:txBody>
                    <a:bodyPr lIns="36000" tIns="18000" rIns="36000" bIns="180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spcBef>
                          <a:spcPts val="1800"/>
                        </a:spcBef>
                        <a:spcAft>
                          <a:spcPts val="1800"/>
                        </a:spcAft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EDEDED"/>
                          </a:solidFill>
                          <a:effectLst/>
                          <a:uFillTx/>
                          <a:latin typeface="ui-sans-serif"/>
                        </a:rPr>
                        <a:t>9/9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36000" marR="36000" marT="18000" marB="18000">
                    <a:lnL w="12240">
                      <a:solidFill>
                        <a:srgbClr val="E0B4CC"/>
                      </a:solidFill>
                      <a:prstDash val="solid"/>
                    </a:lnL>
                    <a:lnR w="12240">
                      <a:solidFill>
                        <a:srgbClr val="60B9CC"/>
                      </a:solidFill>
                      <a:prstDash val="solid"/>
                    </a:lnR>
                    <a:lnT w="12240">
                      <a:solidFill>
                        <a:srgbClr val="E0B4CC"/>
                      </a:solidFill>
                      <a:prstDash val="solid"/>
                    </a:lnT>
                    <a:lnB w="12240">
                      <a:solidFill>
                        <a:srgbClr val="60B3CC"/>
                      </a:solidFill>
                      <a:prstDash val="solid"/>
                    </a:lnB>
                    <a:solidFill>
                      <a:srgbClr val="151515"/>
                    </a:solidFill>
                  </a:tcPr>
                </a:tc>
                <a:tc>
                  <a:txBody>
                    <a:bodyPr lIns="36000" tIns="18000" rIns="36000" bIns="180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spcBef>
                          <a:spcPts val="1800"/>
                        </a:spcBef>
                        <a:spcAft>
                          <a:spcPts val="1800"/>
                        </a:spcAft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EDEDED"/>
                          </a:solidFill>
                          <a:effectLst/>
                          <a:uFillTx/>
                          <a:latin typeface="ui-sans-serif"/>
                        </a:rPr>
                        <a:t>-NT$138,820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36000" marR="36000" marT="18000" marB="18000">
                    <a:lnL w="12240">
                      <a:solidFill>
                        <a:srgbClr val="60B9CC"/>
                      </a:solidFill>
                      <a:prstDash val="solid"/>
                    </a:lnL>
                    <a:lnR w="12240">
                      <a:solidFill>
                        <a:srgbClr val="60B9CC"/>
                      </a:solidFill>
                      <a:prstDash val="solid"/>
                    </a:lnR>
                    <a:lnT w="12240">
                      <a:solidFill>
                        <a:srgbClr val="60B9CC"/>
                      </a:solidFill>
                      <a:prstDash val="solid"/>
                    </a:lnT>
                    <a:lnB w="12240">
                      <a:solidFill>
                        <a:srgbClr val="A0BBCC"/>
                      </a:solidFill>
                      <a:prstDash val="solid"/>
                    </a:lnB>
                    <a:solidFill>
                      <a:srgbClr val="151515"/>
                    </a:solidFill>
                  </a:tcPr>
                </a:tc>
              </a:tr>
              <a:tr h="543960">
                <a:tc>
                  <a:txBody>
                    <a:bodyPr lIns="36000" tIns="18000" rIns="36000" bIns="180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spcBef>
                          <a:spcPts val="1800"/>
                        </a:spcBef>
                        <a:spcAft>
                          <a:spcPts val="1800"/>
                        </a:spcAft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EDEDED"/>
                          </a:solidFill>
                          <a:effectLst/>
                          <a:uFillTx/>
                          <a:latin typeface="ui-sans-serif"/>
                        </a:rPr>
                        <a:t>1.VWAP</a:t>
                      </a:r>
                      <a:r>
                        <a:rPr lang="zh-TW" sz="1200" b="0" u="none" strike="noStrike">
                          <a:solidFill>
                            <a:srgbClr val="EDEDED"/>
                          </a:solidFill>
                          <a:effectLst/>
                          <a:uFillTx/>
                          <a:latin typeface="ui-sans-serif"/>
                        </a:rPr>
                        <a:t>偏離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36000" marR="36000" marT="18000" marB="18000">
                    <a:lnL w="12240">
                      <a:solidFill>
                        <a:srgbClr val="E0B7CC"/>
                      </a:solidFill>
                      <a:prstDash val="solid"/>
                    </a:lnL>
                    <a:lnR w="12240">
                      <a:solidFill>
                        <a:srgbClr val="80B4CC"/>
                      </a:solidFill>
                      <a:prstDash val="solid"/>
                    </a:lnR>
                    <a:lnT w="12240">
                      <a:solidFill>
                        <a:srgbClr val="E0B7CC"/>
                      </a:solidFill>
                      <a:prstDash val="solid"/>
                    </a:lnT>
                    <a:lnB w="12240">
                      <a:solidFill>
                        <a:srgbClr val="80BACC"/>
                      </a:solidFill>
                      <a:prstDash val="solid"/>
                    </a:lnB>
                    <a:solidFill>
                      <a:srgbClr val="151515"/>
                    </a:solidFill>
                  </a:tcPr>
                </a:tc>
                <a:tc>
                  <a:txBody>
                    <a:bodyPr lIns="36000" tIns="18000" rIns="36000" bIns="180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spcBef>
                          <a:spcPts val="1800"/>
                        </a:spcBef>
                        <a:spcAft>
                          <a:spcPts val="1800"/>
                        </a:spcAft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EDEDED"/>
                          </a:solidFill>
                          <a:effectLst/>
                          <a:uFillTx/>
                          <a:latin typeface="ui-sans-serif"/>
                        </a:rPr>
                        <a:t>-38.36%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36000" marR="36000" marT="18000" marB="18000">
                    <a:lnL w="12240">
                      <a:solidFill>
                        <a:srgbClr val="80B4CC"/>
                      </a:solidFill>
                      <a:prstDash val="solid"/>
                    </a:lnL>
                    <a:lnR w="12240">
                      <a:solidFill>
                        <a:srgbClr val="20BDCC"/>
                      </a:solidFill>
                      <a:prstDash val="solid"/>
                    </a:lnR>
                    <a:lnT w="12240">
                      <a:solidFill>
                        <a:srgbClr val="80B4CC"/>
                      </a:solidFill>
                      <a:prstDash val="solid"/>
                    </a:lnT>
                    <a:lnB w="12240">
                      <a:solidFill>
                        <a:srgbClr val="40C1CC"/>
                      </a:solidFill>
                      <a:prstDash val="solid"/>
                    </a:lnB>
                    <a:solidFill>
                      <a:srgbClr val="151515"/>
                    </a:solidFill>
                  </a:tcPr>
                </a:tc>
                <a:tc>
                  <a:txBody>
                    <a:bodyPr lIns="36000" tIns="18000" rIns="36000" bIns="180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spcBef>
                          <a:spcPts val="1800"/>
                        </a:spcBef>
                        <a:spcAft>
                          <a:spcPts val="1800"/>
                        </a:spcAft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EDEDED"/>
                          </a:solidFill>
                          <a:effectLst/>
                          <a:uFillTx/>
                          <a:latin typeface="ui-sans-serif"/>
                        </a:rPr>
                        <a:t>-NT$191,794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36000" marR="36000" marT="18000" marB="18000">
                    <a:lnL w="12240">
                      <a:solidFill>
                        <a:srgbClr val="20BDCC"/>
                      </a:solidFill>
                      <a:prstDash val="solid"/>
                    </a:lnL>
                    <a:lnR w="12240">
                      <a:solidFill>
                        <a:srgbClr val="20B4CC"/>
                      </a:solidFill>
                      <a:prstDash val="solid"/>
                    </a:lnR>
                    <a:lnT w="12240">
                      <a:solidFill>
                        <a:srgbClr val="20BDCC"/>
                      </a:solidFill>
                      <a:prstDash val="solid"/>
                    </a:lnT>
                    <a:lnB w="12240">
                      <a:solidFill>
                        <a:srgbClr val="E0C0CC"/>
                      </a:solidFill>
                      <a:prstDash val="solid"/>
                    </a:lnB>
                    <a:solidFill>
                      <a:srgbClr val="151515"/>
                    </a:solidFill>
                  </a:tcPr>
                </a:tc>
                <a:tc>
                  <a:txBody>
                    <a:bodyPr lIns="36000" tIns="18000" rIns="36000" bIns="180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spcBef>
                          <a:spcPts val="1800"/>
                        </a:spcBef>
                        <a:spcAft>
                          <a:spcPts val="1800"/>
                        </a:spcAft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EDEDED"/>
                          </a:solidFill>
                          <a:effectLst/>
                          <a:uFillTx/>
                          <a:latin typeface="ui-sans-serif"/>
                        </a:rPr>
                        <a:t>4/4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36000" marR="36000" marT="18000" marB="18000">
                    <a:lnL w="12240">
                      <a:solidFill>
                        <a:srgbClr val="20B4CC"/>
                      </a:solidFill>
                      <a:prstDash val="solid"/>
                    </a:lnL>
                    <a:lnR w="12240">
                      <a:solidFill>
                        <a:srgbClr val="C0BCCC"/>
                      </a:solidFill>
                      <a:prstDash val="solid"/>
                    </a:lnR>
                    <a:lnT w="12240">
                      <a:solidFill>
                        <a:srgbClr val="20B4CC"/>
                      </a:solidFill>
                      <a:prstDash val="solid"/>
                    </a:lnT>
                    <a:lnB w="12240">
                      <a:solidFill>
                        <a:srgbClr val="C0CECC"/>
                      </a:solidFill>
                      <a:prstDash val="solid"/>
                    </a:lnB>
                    <a:solidFill>
                      <a:srgbClr val="151515"/>
                    </a:solidFill>
                  </a:tcPr>
                </a:tc>
                <a:tc>
                  <a:txBody>
                    <a:bodyPr lIns="36000" tIns="18000" rIns="36000" bIns="180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spcBef>
                          <a:spcPts val="1800"/>
                        </a:spcBef>
                        <a:spcAft>
                          <a:spcPts val="1800"/>
                        </a:spcAft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EDEDED"/>
                          </a:solidFill>
                          <a:effectLst/>
                          <a:uFillTx/>
                          <a:latin typeface="ui-sans-serif"/>
                        </a:rPr>
                        <a:t>-0.06%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36000" marR="36000" marT="18000" marB="18000">
                    <a:lnL w="12240">
                      <a:solidFill>
                        <a:srgbClr val="C0BCCC"/>
                      </a:solidFill>
                      <a:prstDash val="solid"/>
                    </a:lnL>
                    <a:lnR w="12240">
                      <a:solidFill>
                        <a:srgbClr val="A0B5CC"/>
                      </a:solidFill>
                      <a:prstDash val="solid"/>
                    </a:lnR>
                    <a:lnT w="12240">
                      <a:solidFill>
                        <a:srgbClr val="C0BCCC"/>
                      </a:solidFill>
                      <a:prstDash val="solid"/>
                    </a:lnT>
                    <a:lnB w="12240">
                      <a:solidFill>
                        <a:srgbClr val="80CFCC"/>
                      </a:solidFill>
                      <a:prstDash val="solid"/>
                    </a:lnB>
                    <a:solidFill>
                      <a:srgbClr val="151515"/>
                    </a:solidFill>
                  </a:tcPr>
                </a:tc>
                <a:tc>
                  <a:txBody>
                    <a:bodyPr lIns="36000" tIns="18000" rIns="36000" bIns="180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spcBef>
                          <a:spcPts val="1800"/>
                        </a:spcBef>
                        <a:spcAft>
                          <a:spcPts val="1800"/>
                        </a:spcAft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EDEDED"/>
                          </a:solidFill>
                          <a:effectLst/>
                          <a:uFillTx/>
                          <a:latin typeface="ui-sans-serif"/>
                        </a:rPr>
                        <a:t>-NT$323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36000" marR="36000" marT="18000" marB="18000">
                    <a:lnL w="12240">
                      <a:solidFill>
                        <a:srgbClr val="A0B5CC"/>
                      </a:solidFill>
                      <a:prstDash val="solid"/>
                    </a:lnL>
                    <a:lnR w="12240">
                      <a:solidFill>
                        <a:srgbClr val="60B3CC"/>
                      </a:solidFill>
                      <a:prstDash val="solid"/>
                    </a:lnR>
                    <a:lnT w="12240">
                      <a:solidFill>
                        <a:srgbClr val="A0B5CC"/>
                      </a:solidFill>
                      <a:prstDash val="solid"/>
                    </a:lnT>
                    <a:lnB w="12240">
                      <a:solidFill>
                        <a:srgbClr val="A0D3CC"/>
                      </a:solidFill>
                      <a:prstDash val="solid"/>
                    </a:lnB>
                    <a:solidFill>
                      <a:srgbClr val="151515"/>
                    </a:solidFill>
                  </a:tcPr>
                </a:tc>
                <a:tc>
                  <a:txBody>
                    <a:bodyPr lIns="36000" tIns="18000" rIns="36000" bIns="180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spcBef>
                          <a:spcPts val="1800"/>
                        </a:spcBef>
                        <a:spcAft>
                          <a:spcPts val="1800"/>
                        </a:spcAft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EDEDED"/>
                          </a:solidFill>
                          <a:effectLst/>
                          <a:uFillTx/>
                          <a:latin typeface="ui-sans-serif"/>
                        </a:rPr>
                        <a:t>2/2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36000" marR="36000" marT="18000" marB="18000">
                    <a:lnL w="12240">
                      <a:solidFill>
                        <a:srgbClr val="60B3CC"/>
                      </a:solidFill>
                      <a:prstDash val="solid"/>
                    </a:lnL>
                    <a:lnR w="12240">
                      <a:solidFill>
                        <a:srgbClr val="A0BBCC"/>
                      </a:solidFill>
                      <a:prstDash val="solid"/>
                    </a:lnR>
                    <a:lnT w="12240">
                      <a:solidFill>
                        <a:srgbClr val="60B3CC"/>
                      </a:solidFill>
                      <a:prstDash val="solid"/>
                    </a:lnT>
                    <a:lnB w="12240">
                      <a:solidFill>
                        <a:srgbClr val="40D0CC"/>
                      </a:solidFill>
                      <a:prstDash val="solid"/>
                    </a:lnB>
                    <a:solidFill>
                      <a:srgbClr val="151515"/>
                    </a:solidFill>
                  </a:tcPr>
                </a:tc>
                <a:tc>
                  <a:txBody>
                    <a:bodyPr lIns="36000" tIns="18000" rIns="36000" bIns="180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spcBef>
                          <a:spcPts val="1800"/>
                        </a:spcBef>
                        <a:spcAft>
                          <a:spcPts val="1800"/>
                        </a:spcAft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EDEDED"/>
                          </a:solidFill>
                          <a:effectLst/>
                          <a:uFillTx/>
                          <a:latin typeface="ui-sans-serif"/>
                        </a:rPr>
                        <a:t>-NT$192,116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36000" marR="36000" marT="18000" marB="18000">
                    <a:lnL w="12240">
                      <a:solidFill>
                        <a:srgbClr val="A0BBCC"/>
                      </a:solidFill>
                      <a:prstDash val="solid"/>
                    </a:lnL>
                    <a:lnR w="12240">
                      <a:solidFill>
                        <a:srgbClr val="A0BBCC"/>
                      </a:solidFill>
                      <a:prstDash val="solid"/>
                    </a:lnR>
                    <a:lnT w="12240">
                      <a:solidFill>
                        <a:srgbClr val="A0BBCC"/>
                      </a:solidFill>
                      <a:prstDash val="solid"/>
                    </a:lnT>
                    <a:lnB w="12240">
                      <a:solidFill>
                        <a:srgbClr val="C0D4CC"/>
                      </a:solidFill>
                      <a:prstDash val="solid"/>
                    </a:lnB>
                    <a:solidFill>
                      <a:srgbClr val="151515"/>
                    </a:solidFill>
                  </a:tcPr>
                </a:tc>
              </a:tr>
              <a:tr h="543960">
                <a:tc>
                  <a:txBody>
                    <a:bodyPr lIns="36000" tIns="18000" rIns="36000" bIns="180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spcBef>
                          <a:spcPts val="1800"/>
                        </a:spcBef>
                        <a:spcAft>
                          <a:spcPts val="1800"/>
                        </a:spcAft>
                        <a:tabLst>
                          <a:tab pos="0" algn="l"/>
                        </a:tabLst>
                      </a:pPr>
                      <a:r>
                        <a:rPr lang="zh-TW" sz="1200" b="0" u="none" strike="noStrike">
                          <a:solidFill>
                            <a:srgbClr val="EDEDED"/>
                          </a:solidFill>
                          <a:effectLst/>
                          <a:uFillTx/>
                          <a:latin typeface="ui-sans-serif"/>
                        </a:rPr>
                        <a:t>買進持有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36000" marR="36000" marT="18000" marB="18000">
                    <a:lnL w="12240">
                      <a:solidFill>
                        <a:srgbClr val="80BACC"/>
                      </a:solidFill>
                      <a:prstDash val="solid"/>
                    </a:lnL>
                    <a:lnR w="12240">
                      <a:solidFill>
                        <a:srgbClr val="40C1CC"/>
                      </a:solidFill>
                      <a:prstDash val="solid"/>
                    </a:lnR>
                    <a:lnT w="12240">
                      <a:solidFill>
                        <a:srgbClr val="80BACC"/>
                      </a:solidFill>
                      <a:prstDash val="solid"/>
                    </a:lnT>
                    <a:lnB w="7200">
                      <a:solidFill>
                        <a:srgbClr val="80BACC"/>
                      </a:solidFill>
                      <a:prstDash val="solid"/>
                    </a:lnB>
                    <a:solidFill>
                      <a:srgbClr val="151515"/>
                    </a:solidFill>
                  </a:tcPr>
                </a:tc>
                <a:tc>
                  <a:txBody>
                    <a:bodyPr lIns="36000" tIns="18000" rIns="36000" bIns="180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spcBef>
                          <a:spcPts val="1800"/>
                        </a:spcBef>
                        <a:spcAft>
                          <a:spcPts val="1800"/>
                        </a:spcAft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EDEDED"/>
                          </a:solidFill>
                          <a:effectLst/>
                          <a:uFillTx/>
                          <a:latin typeface="ui-sans-serif"/>
                        </a:rPr>
                        <a:t>-45.95%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36000" marR="36000" marT="18000" marB="18000">
                    <a:lnL w="12240">
                      <a:solidFill>
                        <a:srgbClr val="40C1CC"/>
                      </a:solidFill>
                      <a:prstDash val="solid"/>
                    </a:lnL>
                    <a:lnR w="12240">
                      <a:solidFill>
                        <a:srgbClr val="E0C0CC"/>
                      </a:solidFill>
                      <a:prstDash val="solid"/>
                    </a:lnR>
                    <a:lnT w="12240">
                      <a:solidFill>
                        <a:srgbClr val="40C1CC"/>
                      </a:solidFill>
                      <a:prstDash val="solid"/>
                    </a:lnT>
                    <a:lnB w="7200">
                      <a:solidFill>
                        <a:srgbClr val="40C1CC"/>
                      </a:solidFill>
                      <a:prstDash val="solid"/>
                    </a:lnB>
                    <a:solidFill>
                      <a:srgbClr val="151515"/>
                    </a:solidFill>
                  </a:tcPr>
                </a:tc>
                <a:tc>
                  <a:txBody>
                    <a:bodyPr lIns="36000" tIns="18000" rIns="36000" bIns="180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spcBef>
                          <a:spcPts val="1800"/>
                        </a:spcBef>
                        <a:spcAft>
                          <a:spcPts val="1800"/>
                        </a:spcAft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EDEDED"/>
                          </a:solidFill>
                          <a:effectLst/>
                          <a:uFillTx/>
                          <a:latin typeface="ui-sans-serif"/>
                        </a:rPr>
                        <a:t>-NT$229,761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36000" marR="36000" marT="18000" marB="18000">
                    <a:lnL w="12240">
                      <a:solidFill>
                        <a:srgbClr val="E0C0CC"/>
                      </a:solidFill>
                      <a:prstDash val="solid"/>
                    </a:lnL>
                    <a:lnR w="12240">
                      <a:solidFill>
                        <a:srgbClr val="C0CECC"/>
                      </a:solidFill>
                      <a:prstDash val="solid"/>
                    </a:lnR>
                    <a:lnT w="12240">
                      <a:solidFill>
                        <a:srgbClr val="E0C0CC"/>
                      </a:solidFill>
                      <a:prstDash val="solid"/>
                    </a:lnT>
                    <a:lnB w="7200">
                      <a:solidFill>
                        <a:srgbClr val="E0C0CC"/>
                      </a:solidFill>
                      <a:prstDash val="solid"/>
                    </a:lnB>
                    <a:solidFill>
                      <a:srgbClr val="151515"/>
                    </a:solidFill>
                  </a:tcPr>
                </a:tc>
                <a:tc>
                  <a:txBody>
                    <a:bodyPr lIns="36000" tIns="18000" rIns="36000" bIns="180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spcBef>
                          <a:spcPts val="1800"/>
                        </a:spcBef>
                        <a:spcAft>
                          <a:spcPts val="1800"/>
                        </a:spcAft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EDEDED"/>
                          </a:solidFill>
                          <a:effectLst/>
                          <a:uFillTx/>
                          <a:latin typeface="ui-sans-serif"/>
                        </a:rPr>
                        <a:t>—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36000" marR="36000" marT="18000" marB="18000">
                    <a:lnL w="12240">
                      <a:solidFill>
                        <a:srgbClr val="C0CECC"/>
                      </a:solidFill>
                      <a:prstDash val="solid"/>
                    </a:lnL>
                    <a:lnR w="12240">
                      <a:solidFill>
                        <a:srgbClr val="80CFCC"/>
                      </a:solidFill>
                      <a:prstDash val="solid"/>
                    </a:lnR>
                    <a:lnT w="12240">
                      <a:solidFill>
                        <a:srgbClr val="C0CECC"/>
                      </a:solidFill>
                      <a:prstDash val="solid"/>
                    </a:lnT>
                    <a:lnB w="7200">
                      <a:solidFill>
                        <a:srgbClr val="C0CECC"/>
                      </a:solidFill>
                      <a:prstDash val="solid"/>
                    </a:lnB>
                    <a:solidFill>
                      <a:srgbClr val="151515"/>
                    </a:solidFill>
                  </a:tcPr>
                </a:tc>
                <a:tc>
                  <a:txBody>
                    <a:bodyPr lIns="36000" tIns="18000" rIns="36000" bIns="180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spcBef>
                          <a:spcPts val="1800"/>
                        </a:spcBef>
                        <a:spcAft>
                          <a:spcPts val="1800"/>
                        </a:spcAft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EDEDED"/>
                          </a:solidFill>
                          <a:effectLst/>
                          <a:uFillTx/>
                          <a:latin typeface="ui-sans-serif"/>
                        </a:rPr>
                        <a:t>+5.30%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36000" marR="36000" marT="18000" marB="18000">
                    <a:lnL w="12240">
                      <a:solidFill>
                        <a:srgbClr val="80CFCC"/>
                      </a:solidFill>
                      <a:prstDash val="solid"/>
                    </a:lnL>
                    <a:lnR w="12240">
                      <a:solidFill>
                        <a:srgbClr val="A0D3CC"/>
                      </a:solidFill>
                      <a:prstDash val="solid"/>
                    </a:lnR>
                    <a:lnT w="12240">
                      <a:solidFill>
                        <a:srgbClr val="80CFCC"/>
                      </a:solidFill>
                      <a:prstDash val="solid"/>
                    </a:lnT>
                    <a:lnB w="7200">
                      <a:solidFill>
                        <a:srgbClr val="80CFCC"/>
                      </a:solidFill>
                      <a:prstDash val="solid"/>
                    </a:lnB>
                    <a:solidFill>
                      <a:srgbClr val="151515"/>
                    </a:solidFill>
                  </a:tcPr>
                </a:tc>
                <a:tc>
                  <a:txBody>
                    <a:bodyPr lIns="36000" tIns="18000" rIns="36000" bIns="180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spcBef>
                          <a:spcPts val="1800"/>
                        </a:spcBef>
                        <a:spcAft>
                          <a:spcPts val="1800"/>
                        </a:spcAft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EDEDED"/>
                          </a:solidFill>
                          <a:effectLst/>
                          <a:uFillTx/>
                          <a:latin typeface="ui-sans-serif"/>
                        </a:rPr>
                        <a:t>+NT$26,475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36000" marR="36000" marT="18000" marB="18000">
                    <a:lnL w="12240">
                      <a:solidFill>
                        <a:srgbClr val="A0D3CC"/>
                      </a:solidFill>
                      <a:prstDash val="solid"/>
                    </a:lnL>
                    <a:lnR w="12240">
                      <a:solidFill>
                        <a:srgbClr val="40D0CC"/>
                      </a:solidFill>
                      <a:prstDash val="solid"/>
                    </a:lnR>
                    <a:lnT w="12240">
                      <a:solidFill>
                        <a:srgbClr val="A0D3CC"/>
                      </a:solidFill>
                      <a:prstDash val="solid"/>
                    </a:lnT>
                    <a:lnB w="7200">
                      <a:solidFill>
                        <a:srgbClr val="A0D3CC"/>
                      </a:solidFill>
                      <a:prstDash val="solid"/>
                    </a:lnB>
                    <a:solidFill>
                      <a:srgbClr val="151515"/>
                    </a:solidFill>
                  </a:tcPr>
                </a:tc>
                <a:tc>
                  <a:txBody>
                    <a:bodyPr lIns="36000" tIns="18000" rIns="36000" bIns="180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spcBef>
                          <a:spcPts val="1800"/>
                        </a:spcBef>
                        <a:spcAft>
                          <a:spcPts val="1800"/>
                        </a:spcAft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EDEDED"/>
                          </a:solidFill>
                          <a:effectLst/>
                          <a:uFillTx/>
                          <a:latin typeface="ui-sans-serif"/>
                        </a:rPr>
                        <a:t>—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36000" marR="36000" marT="18000" marB="18000">
                    <a:lnL w="12240">
                      <a:solidFill>
                        <a:srgbClr val="40D0CC"/>
                      </a:solidFill>
                      <a:prstDash val="solid"/>
                    </a:lnL>
                    <a:lnR w="12240">
                      <a:solidFill>
                        <a:srgbClr val="C0D4CC"/>
                      </a:solidFill>
                      <a:prstDash val="solid"/>
                    </a:lnR>
                    <a:lnT w="12240">
                      <a:solidFill>
                        <a:srgbClr val="40D0CC"/>
                      </a:solidFill>
                      <a:prstDash val="solid"/>
                    </a:lnT>
                    <a:lnB w="7200">
                      <a:solidFill>
                        <a:srgbClr val="40D0CC"/>
                      </a:solidFill>
                      <a:prstDash val="solid"/>
                    </a:lnB>
                    <a:solidFill>
                      <a:srgbClr val="151515"/>
                    </a:solidFill>
                  </a:tcPr>
                </a:tc>
                <a:tc>
                  <a:txBody>
                    <a:bodyPr lIns="36000" tIns="18000" rIns="36000" bIns="180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spcBef>
                          <a:spcPts val="1800"/>
                        </a:spcBef>
                        <a:spcAft>
                          <a:spcPts val="1800"/>
                        </a:spcAft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EDEDED"/>
                          </a:solidFill>
                          <a:effectLst/>
                          <a:uFillTx/>
                          <a:latin typeface="ui-sans-serif"/>
                        </a:rPr>
                        <a:t>-NT$203,286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36000" marR="36000" marT="18000" marB="18000">
                    <a:lnL w="12240">
                      <a:solidFill>
                        <a:srgbClr val="C0D4CC"/>
                      </a:solidFill>
                      <a:prstDash val="solid"/>
                    </a:lnL>
                    <a:lnR w="12240">
                      <a:solidFill>
                        <a:srgbClr val="C0D4CC"/>
                      </a:solidFill>
                      <a:prstDash val="solid"/>
                    </a:lnR>
                    <a:lnT w="12240">
                      <a:solidFill>
                        <a:srgbClr val="C0D4CC"/>
                      </a:solidFill>
                      <a:prstDash val="solid"/>
                    </a:lnT>
                    <a:lnB w="7200">
                      <a:solidFill>
                        <a:srgbClr val="C0D4CC"/>
                      </a:solidFill>
                      <a:prstDash val="solid"/>
                    </a:lnB>
                    <a:solidFill>
                      <a:srgbClr val="151515"/>
                    </a:solidFill>
                  </a:tcPr>
                </a:tc>
              </a:tr>
            </a:tbl>
          </a:graphicData>
        </a:graphic>
      </p:graphicFrame>
      <p:sp>
        <p:nvSpPr>
          <p:cNvPr id="4" name="PlaceHolder 3"/>
          <p:cNvSpPr>
            <a:spLocks noGrp="1"/>
          </p:cNvSpPr>
          <p:nvPr>
            <p:ph type="sldNum" idx="4"/>
          </p:nvPr>
        </p:nvSpPr>
        <p:spPr/>
        <p:txBody>
          <a:bodyPr/>
          <a:p>
            <a:fld id="{BC2D2411-EB00-4AC6-9F8A-43E12F3AD444}" type="slidenum">
              <a:t>18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PlaceHolder 1"/>
          <p:cNvSpPr>
            <a:spLocks noGrp="1"/>
          </p:cNvSpPr>
          <p:nvPr>
            <p:ph type="title"/>
          </p:nvPr>
        </p:nvSpPr>
        <p:spPr>
          <a:xfrm>
            <a:off x="1293840" y="609480"/>
            <a:ext cx="7465320" cy="683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 fontScale="70000" lnSpcReduction="19999"/>
          </a:bodyPr>
          <a:p>
            <a:pPr indent="0" algn="l" defTabSz="914400">
              <a:lnSpc>
                <a:spcPct val="80000"/>
              </a:lnSpc>
              <a:buNone/>
              <a:tabLst>
                <a:tab pos="0" algn="l"/>
              </a:tabLst>
            </a:pP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周ＫＤ關鍵觀察</a:t>
            </a:r>
            <a:br>
              <a:rPr sz="3200"/>
            </a:b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150" name="PlaceHolder 2"/>
          <p:cNvSpPr>
            <a:spLocks noGrp="1"/>
          </p:cNvSpPr>
          <p:nvPr>
            <p:ph/>
          </p:nvPr>
        </p:nvSpPr>
        <p:spPr>
          <a:xfrm>
            <a:off x="1311120" y="1371600"/>
            <a:ext cx="9124200" cy="5179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週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KD(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預設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)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兩年合計 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-NT$117,195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，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5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個策略中排第 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3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（中段）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核心問題：訊號太少＋低檔門檻太嚴（兩年只有 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3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次買進）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2022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三筆都在下跌段：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843→670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、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717→623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、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585→660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（只有第三筆賺）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2025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零訊號：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11-28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反彈週 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K=36.3 &gt; 30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，金叉被擋掉 → 錯過 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+5.3%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門檻放寬到 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40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就買得到（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+NT$9,526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）⇒ 下一頁參數掃描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4"/>
          </p:nvPr>
        </p:nvSpPr>
        <p:spPr/>
        <p:txBody>
          <a:bodyPr/>
          <a:p>
            <a:fld id="{9753D444-7107-42DF-826E-8A3E3F76FA3B}" type="slidenum">
              <a:t>19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PlaceHolder 1"/>
          <p:cNvSpPr>
            <a:spLocks noGrp="1"/>
          </p:cNvSpPr>
          <p:nvPr>
            <p:ph type="title"/>
          </p:nvPr>
        </p:nvSpPr>
        <p:spPr>
          <a:xfrm>
            <a:off x="1293840" y="609480"/>
            <a:ext cx="10437120" cy="683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 fontScale="47500" lnSpcReduction="19999"/>
          </a:bodyPr>
          <a:p>
            <a:pPr indent="0" algn="l" defTabSz="914400">
              <a:lnSpc>
                <a:spcPct val="80000"/>
              </a:lnSpc>
              <a:buNone/>
              <a:tabLst>
                <a:tab pos="0" algn="l"/>
              </a:tabLst>
            </a:pP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策略參數掃描＝＞</a:t>
            </a:r>
            <a:br>
              <a:rPr sz="3200"/>
            </a:br>
            <a:br>
              <a:rPr sz="3200"/>
            </a:b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輸入：再用</a:t>
            </a: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2022,2025</a:t>
            </a: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聯發科來搜索最佳參數</a:t>
            </a: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,</a:t>
            </a: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用最佳參數再用</a:t>
            </a: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2022,2025</a:t>
            </a: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聯發科跟其他</a:t>
            </a: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4</a:t>
            </a: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個策略比較</a:t>
            </a: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152" name="PlaceHolder 2"/>
          <p:cNvSpPr>
            <a:spLocks noGrp="1"/>
          </p:cNvSpPr>
          <p:nvPr>
            <p:ph/>
          </p:nvPr>
        </p:nvSpPr>
        <p:spPr>
          <a:xfrm>
            <a:off x="1065240" y="3150000"/>
            <a:ext cx="10437120" cy="335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VWAP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偏離兩年 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6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次買進仍虧 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NT$192,116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；週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KD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最佳只花 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2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筆就賺 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NT$102,859——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單筆效率差很多。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5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個策略裡只有調參後的週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KD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是正報酬（突破 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-NT$46,906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、布林 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-NT$80,130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、均線交叉 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-NT$138,820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、買進持有 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-NT$203,286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）。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＝＞</a:t>
            </a:r>
            <a:r>
              <a:rPr lang="zh-TW" sz="24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結論：調參後週</a:t>
            </a:r>
            <a:r>
              <a:rPr lang="en-US" sz="24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KD </a:t>
            </a:r>
            <a:r>
              <a:rPr lang="zh-TW" sz="24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最好，但只靠 </a:t>
            </a:r>
            <a:r>
              <a:rPr lang="en-US" sz="24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2022 </a:t>
            </a:r>
            <a:r>
              <a:rPr lang="zh-TW" sz="24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兩筆交易、</a:t>
            </a:r>
            <a:r>
              <a:rPr lang="en-US" sz="24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  <a:ea typeface="Century Gothic"/>
              </a:rPr>
              <a:t>2025 </a:t>
            </a:r>
            <a:r>
              <a:rPr lang="zh-TW" sz="24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  <a:ea typeface="Century Gothic"/>
              </a:rPr>
              <a:t>空手</a:t>
            </a:r>
            <a:r>
              <a:rPr lang="zh-TW" sz="24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，樣本太小，不能當成穩定優勢！</a:t>
            </a:r>
            <a:endParaRPr lang="en-US" sz="24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4"/>
          </p:nvPr>
        </p:nvSpPr>
        <p:spPr/>
        <p:txBody>
          <a:bodyPr/>
          <a:p>
            <a:fld id="{3EB0BE36-3791-438B-B389-4476682B76BF}" type="slidenum">
              <a:t>20</a:t>
            </a:fld>
          </a:p>
        </p:txBody>
      </p:sp>
      <p:graphicFrame>
        <p:nvGraphicFramePr>
          <p:cNvPr id="153" name="Table 152"/>
          <p:cNvGraphicFramePr>
            <a:graphicFrameLocks noGrp="1"/>
          </p:cNvGraphicFramePr>
          <p:nvPr/>
        </p:nvGraphicFramePr>
        <p:xfrm>
          <a:off x="1065240" y="1900000"/>
          <a:ext cx="9900000" cy="108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0000"/>
                <a:gridCol w="1400000"/>
                <a:gridCol w="1700000"/>
                <a:gridCol w="1400000"/>
                <a:gridCol w="1700000"/>
                <a:gridCol w="1500000"/>
              </a:tblGrid>
              <a:tr h="360000">
                <a:tc>
                  <a:txBody>
                    <a:bodyPr/>
                    <a:lstStyle/>
                    <a:p>
                      <a:r>
                        <a:rPr lang="zh-TW" sz="1100" dirty="0" b="1"/>
                        <a:t>策略</a:t>
                      </a:r>
                    </a:p>
                  </a:txBody>
                  <a:tcPr marT="15000" marB="15000" marL="50000" marR="30000"/>
                </a:tc>
                <a:tc>
                  <a:txBody>
                    <a:bodyPr/>
                    <a:lstStyle/>
                    <a:p>
                      <a:r>
                        <a:rPr lang="zh-TW" sz="1100" dirty="0" b="1"/>
                        <a:t>2022 🐻</a:t>
                      </a:r>
                    </a:p>
                  </a:txBody>
                  <a:tcPr marT="15000" marB="15000" marL="50000" marR="30000"/>
                </a:tc>
                <a:tc>
                  <a:txBody>
                    <a:bodyPr/>
                    <a:lstStyle/>
                    <a:p>
                      <a:r>
                        <a:rPr lang="zh-TW" sz="1100" dirty="0" b="1"/>
                        <a:t>2022 損益</a:t>
                      </a:r>
                    </a:p>
                  </a:txBody>
                  <a:tcPr marT="15000" marB="15000" marL="50000" marR="30000"/>
                </a:tc>
                <a:tc>
                  <a:txBody>
                    <a:bodyPr/>
                    <a:lstStyle/>
                    <a:p>
                      <a:r>
                        <a:rPr lang="zh-TW" sz="1100" dirty="0" b="1"/>
                        <a:t>2025 🐂</a:t>
                      </a:r>
                    </a:p>
                  </a:txBody>
                  <a:tcPr marT="15000" marB="15000" marL="50000" marR="30000"/>
                </a:tc>
                <a:tc>
                  <a:txBody>
                    <a:bodyPr/>
                    <a:lstStyle/>
                    <a:p>
                      <a:r>
                        <a:rPr lang="zh-TW" sz="1100" dirty="0" b="1"/>
                        <a:t>2025 損益</a:t>
                      </a:r>
                    </a:p>
                  </a:txBody>
                  <a:tcPr marT="15000" marB="15000" marL="50000" marR="30000"/>
                </a:tc>
                <a:tc>
                  <a:txBody>
                    <a:bodyPr/>
                    <a:lstStyle/>
                    <a:p>
                      <a:r>
                        <a:rPr lang="zh-TW" sz="1100" dirty="0" b="1"/>
                        <a:t>合計</a:t>
                      </a:r>
                    </a:p>
                  </a:txBody>
                  <a:tcPr marT="15000" marB="15000" marL="50000" marR="30000"/>
                </a:tc>
              </a:tr>
              <a:tr h="360000">
                <a:tc>
                  <a:txBody>
                    <a:bodyPr/>
                    <a:lstStyle/>
                    <a:p>
                      <a:r>
                        <a:rPr lang="zh-TW" sz="1100" dirty="0"/>
                        <a:t>VWAP 偏離</a:t>
                      </a:r>
                    </a:p>
                  </a:txBody>
                  <a:tcPr marT="15000" marB="15000" marL="50000" marR="30000"/>
                </a:tc>
                <a:tc>
                  <a:txBody>
                    <a:bodyPr/>
                    <a:lstStyle/>
                    <a:p>
                      <a:r>
                        <a:rPr lang="zh-TW" sz="1100" dirty="0"/>
                        <a:t>-38.36%</a:t>
                      </a:r>
                    </a:p>
                  </a:txBody>
                  <a:tcPr marT="15000" marB="15000" marL="50000" marR="30000"/>
                </a:tc>
                <a:tc>
                  <a:txBody>
                    <a:bodyPr/>
                    <a:lstStyle/>
                    <a:p>
                      <a:r>
                        <a:rPr lang="zh-TW" sz="1100" dirty="0"/>
                        <a:t>-NT$191,794</a:t>
                      </a:r>
                    </a:p>
                  </a:txBody>
                  <a:tcPr marT="15000" marB="15000" marL="50000" marR="30000"/>
                </a:tc>
                <a:tc>
                  <a:txBody>
                    <a:bodyPr/>
                    <a:lstStyle/>
                    <a:p>
                      <a:r>
                        <a:rPr lang="zh-TW" sz="1100" dirty="0"/>
                        <a:t>-0.06%</a:t>
                      </a:r>
                    </a:p>
                  </a:txBody>
                  <a:tcPr marT="15000" marB="15000" marL="50000" marR="30000"/>
                </a:tc>
                <a:tc>
                  <a:txBody>
                    <a:bodyPr/>
                    <a:lstStyle/>
                    <a:p>
                      <a:r>
                        <a:rPr lang="zh-TW" sz="1100" dirty="0"/>
                        <a:t>-NT$323</a:t>
                      </a:r>
                    </a:p>
                  </a:txBody>
                  <a:tcPr marT="15000" marB="15000" marL="50000" marR="30000"/>
                </a:tc>
                <a:tc>
                  <a:txBody>
                    <a:bodyPr/>
                    <a:lstStyle/>
                    <a:p>
                      <a:r>
                        <a:rPr lang="zh-TW" sz="1100" dirty="0"/>
                        <a:t>-NT$192,116</a:t>
                      </a:r>
                    </a:p>
                  </a:txBody>
                  <a:tcPr marT="15000" marB="15000" marL="50000" marR="30000"/>
                </a:tc>
              </a:tr>
              <a:tr h="360000">
                <a:tc>
                  <a:txBody>
                    <a:bodyPr/>
                    <a:lstStyle/>
                    <a:p>
                      <a:r>
                        <a:rPr lang="zh-TW" sz="1100" dirty="0"/>
                        <a:t>週KD（最佳 15,20,2）</a:t>
                      </a:r>
                    </a:p>
                  </a:txBody>
                  <a:tcPr marT="15000" marB="15000" marL="50000" marR="30000"/>
                </a:tc>
                <a:tc>
                  <a:txBody>
                    <a:bodyPr/>
                    <a:lstStyle/>
                    <a:p>
                      <a:r>
                        <a:rPr lang="zh-TW" sz="1100" dirty="0"/>
                        <a:t>+20.57%</a:t>
                      </a:r>
                    </a:p>
                  </a:txBody>
                  <a:tcPr marT="15000" marB="15000" marL="50000" marR="30000"/>
                </a:tc>
                <a:tc>
                  <a:txBody>
                    <a:bodyPr/>
                    <a:lstStyle/>
                    <a:p>
                      <a:r>
                        <a:rPr lang="zh-TW" sz="1100" dirty="0"/>
                        <a:t>+NT$102,859</a:t>
                      </a:r>
                    </a:p>
                  </a:txBody>
                  <a:tcPr marT="15000" marB="15000" marL="50000" marR="30000"/>
                </a:tc>
                <a:tc>
                  <a:txBody>
                    <a:bodyPr/>
                    <a:lstStyle/>
                    <a:p>
                      <a:r>
                        <a:rPr lang="zh-TW" sz="1100" dirty="0"/>
                        <a:t>0.00%</a:t>
                      </a:r>
                    </a:p>
                  </a:txBody>
                  <a:tcPr marT="15000" marB="15000" marL="50000" marR="30000"/>
                </a:tc>
                <a:tc>
                  <a:txBody>
                    <a:bodyPr/>
                    <a:lstStyle/>
                    <a:p>
                      <a:r>
                        <a:rPr lang="zh-TW" sz="1100" dirty="0"/>
                        <a:t>NT$0</a:t>
                      </a:r>
                    </a:p>
                  </a:txBody>
                  <a:tcPr marT="15000" marB="15000" marL="50000" marR="30000"/>
                </a:tc>
                <a:tc>
                  <a:txBody>
                    <a:bodyPr/>
                    <a:lstStyle/>
                    <a:p>
                      <a:r>
                        <a:rPr lang="zh-TW" sz="1100" dirty="0"/>
                        <a:t>+NT$102,859 🏆</a:t>
                      </a:r>
                    </a:p>
                  </a:txBody>
                  <a:tcPr marT="15000" marB="15000" marL="50000" marR="30000"/>
                </a:tc>
              </a:tr>
            </a:tbl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Text 0"/>
          <p:cNvSpPr/>
          <p:nvPr/>
        </p:nvSpPr>
        <p:spPr>
          <a:xfrm>
            <a:off x="261720" y="579600"/>
            <a:ext cx="11286720" cy="55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107640" anchor="t">
            <a:noAutofit/>
          </a:bodyPr>
          <a:p>
            <a:pPr defTabSz="914040">
              <a:lnSpc>
                <a:spcPct val="109000"/>
              </a:lnSpc>
            </a:pPr>
            <a:r>
              <a:rPr lang="en-US" sz="2830" b="1" u="none" strike="noStrike">
                <a:solidFill>
                  <a:srgbClr val="1F2328"/>
                </a:solidFill>
                <a:effectLst/>
                <a:uFillTx/>
                <a:latin typeface="Segoe UI"/>
                <a:ea typeface="Segoe UI"/>
              </a:rPr>
              <a:t>💡</a:t>
            </a:r>
            <a:r>
              <a:rPr lang="en-US" sz="2830" b="1" u="none" strike="noStrike">
                <a:solidFill>
                  <a:srgbClr val="1F2328"/>
                </a:solidFill>
                <a:effectLst/>
                <a:uFillTx/>
                <a:latin typeface="Yu Gothic UI"/>
                <a:ea typeface="Yu Gothic UI"/>
              </a:rPr>
              <a:t> 實戰建議</a:t>
            </a:r>
            <a:endParaRPr lang="en-US" sz="28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4" name="Text 1"/>
          <p:cNvSpPr/>
          <p:nvPr/>
        </p:nvSpPr>
        <p:spPr>
          <a:xfrm>
            <a:off x="261720" y="1371600"/>
            <a:ext cx="11286720" cy="37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040">
              <a:lnSpc>
                <a:spcPct val="109000"/>
              </a:lnSpc>
            </a:pPr>
            <a:r>
              <a:rPr lang="zh-TW" sz="2390" b="1" u="none" strike="noStrike">
                <a:solidFill>
                  <a:srgbClr val="1F2328"/>
                </a:solidFill>
                <a:effectLst/>
                <a:uFillTx/>
                <a:latin typeface="Yu Gothic UI"/>
                <a:ea typeface="Yu Gothic UI"/>
              </a:rPr>
              <a:t>回測 </a:t>
            </a:r>
            <a:r>
              <a:rPr lang="en-US" sz="2390" b="1" u="none" strike="noStrike">
                <a:solidFill>
                  <a:srgbClr val="1F2328"/>
                </a:solidFill>
                <a:effectLst/>
                <a:uFillTx/>
                <a:latin typeface="Yu Gothic UI"/>
                <a:ea typeface="Yu Gothic UI"/>
              </a:rPr>
              <a:t>SOP</a:t>
            </a:r>
            <a:r>
              <a:rPr lang="zh-TW" sz="2390" b="1" u="none" strike="noStrike">
                <a:solidFill>
                  <a:srgbClr val="1F2328"/>
                </a:solidFill>
                <a:effectLst/>
                <a:uFillTx/>
                <a:latin typeface="Yu Gothic UI"/>
                <a:ea typeface="Yu Gothic UI"/>
              </a:rPr>
              <a:t>（建議流程）</a:t>
            </a:r>
            <a:endParaRPr lang="en-US" sz="239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5" name="Text 2"/>
          <p:cNvSpPr/>
          <p:nvPr/>
        </p:nvSpPr>
        <p:spPr>
          <a:xfrm>
            <a:off x="261720" y="1941480"/>
            <a:ext cx="10691640" cy="4789440"/>
          </a:xfrm>
          <a:prstGeom prst="rect">
            <a:avLst/>
          </a:prstGeom>
          <a:solidFill>
            <a:srgbClr val="F6F8F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noAutofit/>
          </a:bodyPr>
          <a:p>
            <a:pPr defTabSz="914040">
              <a:lnSpc>
                <a:spcPct val="100000"/>
              </a:lnSpc>
            </a:pPr>
            <a:r>
              <a:rPr lang="zh-TW" sz="2400" b="0" u="none" strike="noStrike">
                <a:solidFill>
                  <a:srgbClr val="1F2328"/>
                </a:solidFill>
                <a:effectLst/>
                <a:uFillTx/>
                <a:latin typeface="Consolas"/>
                <a:ea typeface="Consolas"/>
              </a:rPr>
              <a:t>第 </a:t>
            </a:r>
            <a:r>
              <a:rPr lang="en-US" sz="2400" b="0" u="none" strike="noStrike">
                <a:solidFill>
                  <a:srgbClr val="1F2328"/>
                </a:solidFill>
                <a:effectLst/>
                <a:uFillTx/>
                <a:latin typeface="Consolas"/>
                <a:ea typeface="Consolas"/>
              </a:rPr>
              <a:t>1 </a:t>
            </a:r>
            <a:r>
              <a:rPr lang="zh-TW" sz="2400" b="0" u="none" strike="noStrike">
                <a:solidFill>
                  <a:srgbClr val="1F2328"/>
                </a:solidFill>
                <a:effectLst/>
                <a:uFillTx/>
                <a:latin typeface="Consolas"/>
                <a:ea typeface="Consolas"/>
              </a:rPr>
              <a:t>步：先用</a:t>
            </a:r>
            <a:r>
              <a:rPr lang="zh-TW" sz="2400" b="0" u="none" strike="noStrike">
                <a:solidFill>
                  <a:srgbClr val="1F2328"/>
                </a:solidFill>
                <a:effectLst/>
                <a:highlight>
                  <a:srgbClr val="FFFF00"/>
                </a:highlight>
                <a:uFillTx/>
                <a:latin typeface="Consolas"/>
                <a:ea typeface="Consolas"/>
              </a:rPr>
              <a:t>預設參數</a:t>
            </a:r>
            <a:r>
              <a:rPr lang="zh-TW" sz="2400" b="0" u="none" strike="noStrike">
                <a:solidFill>
                  <a:srgbClr val="1F2328"/>
                </a:solidFill>
                <a:effectLst/>
                <a:uFillTx/>
                <a:latin typeface="Consolas"/>
                <a:ea typeface="Consolas"/>
              </a:rPr>
              <a:t>跑所有策略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040">
              <a:lnSpc>
                <a:spcPct val="100000"/>
              </a:lnSpc>
            </a:pPr>
            <a:r>
              <a:rPr lang="en-US" sz="2400" b="0" u="none" strike="noStrike">
                <a:solidFill>
                  <a:srgbClr val="1F2328"/>
                </a:solidFill>
                <a:effectLst/>
                <a:uFillTx/>
                <a:latin typeface="Consolas"/>
                <a:ea typeface="Consolas"/>
              </a:rPr>
              <a:t>  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040">
              <a:lnSpc>
                <a:spcPct val="100000"/>
              </a:lnSpc>
            </a:pPr>
            <a:r>
              <a:rPr lang="zh-TW" sz="2400" b="0" u="none" strike="noStrike">
                <a:solidFill>
                  <a:srgbClr val="1F2328"/>
                </a:solidFill>
                <a:effectLst/>
                <a:uFillTx/>
                <a:latin typeface="Consolas"/>
                <a:ea typeface="Consolas"/>
              </a:rPr>
              <a:t>第 </a:t>
            </a:r>
            <a:r>
              <a:rPr lang="en-US" sz="2400" b="0" u="none" strike="noStrike">
                <a:solidFill>
                  <a:srgbClr val="1F2328"/>
                </a:solidFill>
                <a:effectLst/>
                <a:uFillTx/>
                <a:latin typeface="Consolas"/>
                <a:ea typeface="Consolas"/>
              </a:rPr>
              <a:t>2 </a:t>
            </a:r>
            <a:r>
              <a:rPr lang="zh-TW" sz="2400" b="0" u="none" strike="noStrike">
                <a:solidFill>
                  <a:srgbClr val="1F2328"/>
                </a:solidFill>
                <a:effectLst/>
                <a:uFillTx/>
                <a:latin typeface="Consolas"/>
                <a:ea typeface="Consolas"/>
              </a:rPr>
              <a:t>步：</a:t>
            </a:r>
            <a:r>
              <a:rPr lang="zh-TW" sz="2400" b="0" u="none" strike="noStrike">
                <a:solidFill>
                  <a:srgbClr val="1F2328"/>
                </a:solidFill>
                <a:effectLst/>
                <a:highlight>
                  <a:srgbClr val="FFFF00"/>
                </a:highlight>
                <a:uFillTx/>
                <a:latin typeface="Consolas"/>
                <a:ea typeface="Consolas"/>
              </a:rPr>
              <a:t>找出表現最好的策略與標</a:t>
            </a:r>
            <a:r>
              <a:rPr lang="zh-TW" sz="2400" b="0" u="none" strike="noStrike">
                <a:solidFill>
                  <a:srgbClr val="1F2328"/>
                </a:solidFill>
                <a:effectLst/>
                <a:uFillTx/>
                <a:latin typeface="Consolas"/>
                <a:ea typeface="Consolas"/>
              </a:rPr>
              <a:t>的組合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040">
              <a:lnSpc>
                <a:spcPct val="100000"/>
              </a:lnSpc>
            </a:pP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040">
              <a:lnSpc>
                <a:spcPct val="100000"/>
              </a:lnSpc>
            </a:pPr>
            <a:r>
              <a:rPr lang="zh-TW" sz="2400" b="0" u="none" strike="noStrike">
                <a:solidFill>
                  <a:srgbClr val="1F2328"/>
                </a:solidFill>
                <a:effectLst/>
                <a:uFillTx/>
                <a:latin typeface="Consolas"/>
                <a:ea typeface="Consolas"/>
              </a:rPr>
              <a:t>第 </a:t>
            </a:r>
            <a:r>
              <a:rPr lang="en-US" sz="2400" b="0" u="none" strike="noStrike">
                <a:solidFill>
                  <a:srgbClr val="1F2328"/>
                </a:solidFill>
                <a:effectLst/>
                <a:uFillTx/>
                <a:latin typeface="Consolas"/>
                <a:ea typeface="Consolas"/>
              </a:rPr>
              <a:t>3 </a:t>
            </a:r>
            <a:r>
              <a:rPr lang="zh-TW" sz="2400" b="0" u="none" strike="noStrike">
                <a:solidFill>
                  <a:srgbClr val="1F2328"/>
                </a:solidFill>
                <a:effectLst/>
                <a:uFillTx/>
                <a:latin typeface="Consolas"/>
                <a:ea typeface="Consolas"/>
              </a:rPr>
              <a:t>步：</a:t>
            </a:r>
            <a:r>
              <a:rPr lang="zh-TW" sz="2400" b="0" u="none" strike="noStrike">
                <a:solidFill>
                  <a:srgbClr val="1F2328"/>
                </a:solidFill>
                <a:effectLst/>
                <a:highlight>
                  <a:srgbClr val="FFFF00"/>
                </a:highlight>
                <a:uFillTx/>
                <a:latin typeface="Consolas"/>
                <a:ea typeface="Consolas"/>
              </a:rPr>
              <a:t>針對該組合調整參數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040">
              <a:lnSpc>
                <a:spcPct val="100000"/>
              </a:lnSpc>
            </a:pPr>
            <a:r>
              <a:rPr lang="en-US" sz="2400" b="0" u="none" strike="noStrike">
                <a:solidFill>
                  <a:srgbClr val="1F2328"/>
                </a:solidFill>
                <a:effectLst/>
                <a:uFillTx/>
                <a:latin typeface="Consolas"/>
                <a:ea typeface="Consolas"/>
              </a:rPr>
              <a:t>  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040">
              <a:lnSpc>
                <a:spcPct val="100000"/>
              </a:lnSpc>
            </a:pPr>
            <a:r>
              <a:rPr lang="zh-TW" sz="2400" b="0" u="none" strike="noStrike">
                <a:solidFill>
                  <a:srgbClr val="1F2328"/>
                </a:solidFill>
                <a:effectLst/>
                <a:uFillTx/>
                <a:latin typeface="Consolas"/>
                <a:ea typeface="Consolas"/>
              </a:rPr>
              <a:t>第 </a:t>
            </a:r>
            <a:r>
              <a:rPr lang="en-US" sz="2400" b="0" u="none" strike="noStrike">
                <a:solidFill>
                  <a:srgbClr val="1F2328"/>
                </a:solidFill>
                <a:effectLst/>
                <a:uFillTx/>
                <a:latin typeface="Consolas"/>
                <a:ea typeface="Consolas"/>
              </a:rPr>
              <a:t>4 </a:t>
            </a:r>
            <a:r>
              <a:rPr lang="zh-TW" sz="2400" b="0" u="none" strike="noStrike">
                <a:solidFill>
                  <a:srgbClr val="1F2328"/>
                </a:solidFill>
                <a:effectLst/>
                <a:uFillTx/>
                <a:latin typeface="Consolas"/>
                <a:ea typeface="Consolas"/>
              </a:rPr>
              <a:t>步：</a:t>
            </a:r>
            <a:r>
              <a:rPr lang="zh-TW" sz="2400" b="0" u="none" strike="noStrike">
                <a:solidFill>
                  <a:srgbClr val="1F2328"/>
                </a:solidFill>
                <a:effectLst/>
                <a:highlight>
                  <a:srgbClr val="FFFF00"/>
                </a:highlight>
                <a:uFillTx/>
                <a:latin typeface="Consolas"/>
                <a:ea typeface="Consolas"/>
              </a:rPr>
              <a:t>至少跑 </a:t>
            </a:r>
            <a:r>
              <a:rPr lang="en-US" sz="2400" b="0" u="none" strike="noStrike">
                <a:solidFill>
                  <a:srgbClr val="1F2328"/>
                </a:solidFill>
                <a:effectLst/>
                <a:highlight>
                  <a:srgbClr val="FFFF00"/>
                </a:highlight>
                <a:uFillTx/>
                <a:latin typeface="Consolas"/>
                <a:ea typeface="Consolas"/>
              </a:rPr>
              <a:t>3 </a:t>
            </a:r>
            <a:r>
              <a:rPr lang="zh-TW" sz="2400" b="0" u="none" strike="noStrike">
                <a:solidFill>
                  <a:srgbClr val="1F2328"/>
                </a:solidFill>
                <a:effectLst/>
                <a:highlight>
                  <a:srgbClr val="FFFF00"/>
                </a:highlight>
                <a:uFillTx/>
                <a:latin typeface="Consolas"/>
                <a:ea typeface="Consolas"/>
              </a:rPr>
              <a:t>年以上的資料  </a:t>
            </a:r>
            <a:r>
              <a:rPr lang="zh-TW" sz="2400" b="0" u="none" strike="noStrike">
                <a:solidFill>
                  <a:srgbClr val="1F2328"/>
                </a:solidFill>
                <a:effectLst/>
                <a:uFillTx/>
                <a:latin typeface="Consolas"/>
                <a:ea typeface="Consolas"/>
              </a:rPr>
              <a:t>確保策略經歷過不同市場環境（多頭、空頭、盤整）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040">
              <a:lnSpc>
                <a:spcPct val="100000"/>
              </a:lnSpc>
            </a:pP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040">
              <a:lnSpc>
                <a:spcPct val="100000"/>
              </a:lnSpc>
            </a:pPr>
            <a:r>
              <a:rPr lang="zh-TW" sz="2400" b="0" u="none" strike="noStrike">
                <a:solidFill>
                  <a:srgbClr val="1F2328"/>
                </a:solidFill>
                <a:effectLst/>
                <a:uFillTx/>
                <a:latin typeface="Consolas"/>
                <a:ea typeface="Consolas"/>
              </a:rPr>
              <a:t>第 </a:t>
            </a:r>
            <a:r>
              <a:rPr lang="en-US" sz="2400" b="0" u="none" strike="noStrike">
                <a:solidFill>
                  <a:srgbClr val="1F2328"/>
                </a:solidFill>
                <a:effectLst/>
                <a:uFillTx/>
                <a:latin typeface="Consolas"/>
                <a:ea typeface="Consolas"/>
              </a:rPr>
              <a:t>5 </a:t>
            </a:r>
            <a:r>
              <a:rPr lang="zh-TW" sz="2400" b="0" u="none" strike="noStrike">
                <a:solidFill>
                  <a:srgbClr val="1F2328"/>
                </a:solidFill>
                <a:effectLst/>
                <a:uFillTx/>
                <a:latin typeface="Consolas"/>
                <a:ea typeface="Consolas"/>
              </a:rPr>
              <a:t>步：確認策略邏輯在</a:t>
            </a:r>
            <a:r>
              <a:rPr lang="zh-TW" sz="2400" b="0" u="none" strike="noStrike">
                <a:solidFill>
                  <a:srgbClr val="1F2328"/>
                </a:solidFill>
                <a:effectLst/>
                <a:highlight>
                  <a:srgbClr val="FFFF00"/>
                </a:highlight>
                <a:uFillTx/>
                <a:latin typeface="Consolas"/>
                <a:ea typeface="Consolas"/>
              </a:rPr>
              <a:t>實盤合理</a:t>
            </a:r>
            <a:r>
              <a:rPr lang="zh-TW" sz="2400" b="0" u="none" strike="noStrike">
                <a:solidFill>
                  <a:srgbClr val="1F2328"/>
                </a:solidFill>
                <a:effectLst/>
                <a:uFillTx/>
                <a:latin typeface="Consolas"/>
                <a:ea typeface="Consolas"/>
              </a:rPr>
              <a:t>，  檢查每個訊號觸發的日期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040">
              <a:lnSpc>
                <a:spcPct val="100000"/>
              </a:lnSpc>
            </a:pP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040">
              <a:lnSpc>
                <a:spcPct val="100000"/>
              </a:lnSpc>
            </a:pPr>
            <a:r>
              <a:rPr lang="zh-TW" sz="2400" b="0" u="none" strike="noStrike">
                <a:solidFill>
                  <a:srgbClr val="1F2328"/>
                </a:solidFill>
                <a:effectLst/>
                <a:uFillTx/>
                <a:latin typeface="Consolas"/>
                <a:ea typeface="Consolas"/>
              </a:rPr>
              <a:t>第 </a:t>
            </a:r>
            <a:r>
              <a:rPr lang="en-US" sz="2400" b="0" u="none" strike="noStrike">
                <a:solidFill>
                  <a:srgbClr val="1F2328"/>
                </a:solidFill>
                <a:effectLst/>
                <a:uFillTx/>
                <a:latin typeface="Consolas"/>
                <a:ea typeface="Consolas"/>
              </a:rPr>
              <a:t>6 </a:t>
            </a:r>
            <a:r>
              <a:rPr lang="zh-TW" sz="2400" b="0" u="none" strike="noStrike">
                <a:solidFill>
                  <a:srgbClr val="1F2328"/>
                </a:solidFill>
                <a:effectLst/>
                <a:uFillTx/>
                <a:latin typeface="Consolas"/>
                <a:ea typeface="Consolas"/>
              </a:rPr>
              <a:t>步：</a:t>
            </a:r>
            <a:r>
              <a:rPr lang="zh-TW" sz="2400" b="0" u="none" strike="noStrike">
                <a:solidFill>
                  <a:srgbClr val="1F2328"/>
                </a:solidFill>
                <a:effectLst/>
                <a:highlight>
                  <a:srgbClr val="FFFF00"/>
                </a:highlight>
                <a:uFillTx/>
                <a:latin typeface="Consolas"/>
                <a:ea typeface="Consolas"/>
              </a:rPr>
              <a:t>用模擬交易測試 </a:t>
            </a:r>
            <a:r>
              <a:rPr lang="en-US" sz="2400" b="0" u="none" strike="noStrike">
                <a:solidFill>
                  <a:srgbClr val="1F2328"/>
                </a:solidFill>
                <a:effectLst/>
                <a:highlight>
                  <a:srgbClr val="FFFF00"/>
                </a:highlight>
                <a:uFillTx/>
                <a:latin typeface="Consolas"/>
                <a:ea typeface="Consolas"/>
              </a:rPr>
              <a:t>1~2 </a:t>
            </a:r>
            <a:r>
              <a:rPr lang="zh-TW" sz="2400" b="0" u="none" strike="noStrike">
                <a:solidFill>
                  <a:srgbClr val="1F2328"/>
                </a:solidFill>
                <a:effectLst/>
                <a:highlight>
                  <a:srgbClr val="FFFF00"/>
                </a:highlight>
                <a:uFillTx/>
                <a:latin typeface="Consolas"/>
                <a:ea typeface="Consolas"/>
              </a:rPr>
              <a:t>週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040">
              <a:lnSpc>
                <a:spcPct val="100000"/>
              </a:lnSpc>
            </a:pPr>
            <a:r>
              <a:rPr lang="en-US" sz="2400" b="0" u="none" strike="noStrike">
                <a:solidFill>
                  <a:srgbClr val="1F2328"/>
                </a:solidFill>
                <a:effectLst/>
                <a:uFillTx/>
                <a:latin typeface="Consolas"/>
                <a:ea typeface="Consolas"/>
              </a:rPr>
              <a:t>  先用 </a:t>
            </a:r>
            <a:r>
              <a:rPr lang="en-US" sz="2400" b="0" u="none" strike="noStrike">
                <a:solidFill>
                  <a:srgbClr val="1F2328"/>
                </a:solidFill>
                <a:effectLst/>
                <a:uFillTx/>
                <a:latin typeface="Consolas"/>
                <a:ea typeface="Consolas"/>
              </a:rPr>
              <a:t>selfselect_trader.py</a:t>
            </a:r>
            <a:r>
              <a:rPr lang="zh-TW" sz="2400" b="0" u="none" strike="noStrike">
                <a:solidFill>
                  <a:srgbClr val="1F2328"/>
                </a:solidFill>
                <a:effectLst/>
                <a:uFillTx/>
                <a:latin typeface="Consolas"/>
                <a:ea typeface="Consolas"/>
              </a:rPr>
              <a:t>（</a:t>
            </a:r>
            <a:r>
              <a:rPr lang="en-US" sz="2400" b="0" u="none" strike="noStrike">
                <a:solidFill>
                  <a:srgbClr val="1F2328"/>
                </a:solidFill>
                <a:effectLst/>
                <a:uFillTx/>
                <a:latin typeface="Consolas"/>
                <a:ea typeface="Consolas"/>
              </a:rPr>
              <a:t>ESUN_ENVIRONMENT=simulation</a:t>
            </a:r>
            <a:r>
              <a:rPr lang="zh-TW" sz="2400" b="0" u="none" strike="noStrike">
                <a:solidFill>
                  <a:srgbClr val="1F2328"/>
                </a:solidFill>
                <a:effectLst/>
                <a:uFillTx/>
                <a:latin typeface="Consolas"/>
                <a:ea typeface="Consolas"/>
              </a:rPr>
              <a:t>）觀察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PlaceHolder 1"/>
          <p:cNvSpPr>
            <a:spLocks noGrp="1"/>
          </p:cNvSpPr>
          <p:nvPr>
            <p:ph type="title"/>
          </p:nvPr>
        </p:nvSpPr>
        <p:spPr>
          <a:xfrm>
            <a:off x="1293840" y="609480"/>
            <a:ext cx="9979920" cy="5313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 defTabSz="914400">
              <a:lnSpc>
                <a:spcPct val="80000"/>
              </a:lnSpc>
              <a:buNone/>
              <a:tabLst>
                <a:tab pos="0" algn="l"/>
              </a:tabLst>
            </a:pP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選股＝＞潛力</a:t>
            </a: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157" name="PlaceHolder 2"/>
          <p:cNvSpPr>
            <a:spLocks noGrp="1"/>
          </p:cNvSpPr>
          <p:nvPr>
            <p:ph/>
          </p:nvPr>
        </p:nvSpPr>
        <p:spPr>
          <a:xfrm>
            <a:off x="1311120" y="1295280"/>
            <a:ext cx="10267200" cy="8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🔍 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  <a:ea typeface="Century Gothic"/>
              </a:rPr>
              <a:t>find_catalyst_stocks.py 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—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翻倍潛力股掃瞄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掃了 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1079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檔，篩出 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153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檔符合條型態。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TOP 5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：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4"/>
          </p:nvPr>
        </p:nvSpPr>
        <p:spPr/>
        <p:txBody>
          <a:bodyPr/>
          <a:p>
            <a:fld id="{3A4F55DC-2EAE-4B62-86F9-8FACC342BF02}" type="slidenum">
              <a:t>22</a:t>
            </a:fld>
          </a:p>
        </p:txBody>
      </p:sp>
      <p:graphicFrame>
        <p:nvGraphicFramePr>
          <p:cNvPr id="158" name="Table 157"/>
          <p:cNvGraphicFramePr>
            <a:graphicFrameLocks noGrp="1"/>
          </p:cNvGraphicFramePr>
          <p:nvPr/>
        </p:nvGraphicFramePr>
        <p:xfrm>
          <a:off x="1311120" y="2200000"/>
          <a:ext cx="8900000" cy="198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0000"/>
                <a:gridCol w="900000"/>
                <a:gridCol w="1600000"/>
                <a:gridCol w="1200000"/>
                <a:gridCol w="1700000"/>
                <a:gridCol w="1500000"/>
                <a:gridCol w="1500000"/>
              </a:tblGrid>
              <a:tr h="330000">
                <a:tc>
                  <a:txBody>
                    <a:bodyPr/>
                    <a:lstStyle/>
                    <a:p>
                      <a:r>
                        <a:rPr lang="zh-TW" sz="1100" dirty="0" b="1"/>
                        <a:t>#</a:t>
                      </a:r>
                    </a:p>
                  </a:txBody>
                  <a:tcPr marT="15000" marB="15000" marL="50000" marR="30000"/>
                </a:tc>
                <a:tc>
                  <a:txBody>
                    <a:bodyPr/>
                    <a:lstStyle/>
                    <a:p>
                      <a:r>
                        <a:rPr lang="zh-TW" sz="1100" dirty="0" b="1"/>
                        <a:t>代號</a:t>
                      </a:r>
                    </a:p>
                  </a:txBody>
                  <a:tcPr marT="15000" marB="15000" marL="50000" marR="30000"/>
                </a:tc>
                <a:tc>
                  <a:txBody>
                    <a:bodyPr/>
                    <a:lstStyle/>
                    <a:p>
                      <a:r>
                        <a:rPr lang="zh-TW" sz="1100" dirty="0" b="1"/>
                        <a:t>名稱</a:t>
                      </a:r>
                    </a:p>
                  </a:txBody>
                  <a:tcPr marT="15000" marB="15000" marL="50000" marR="30000"/>
                </a:tc>
                <a:tc>
                  <a:txBody>
                    <a:bodyPr/>
                    <a:lstStyle/>
                    <a:p>
                      <a:r>
                        <a:rPr lang="zh-TW" sz="1100" dirty="0" b="1"/>
                        <a:t>評分</a:t>
                      </a:r>
                    </a:p>
                  </a:txBody>
                  <a:tcPr marT="15000" marB="15000" marL="50000" marR="30000"/>
                </a:tc>
                <a:tc>
                  <a:txBody>
                    <a:bodyPr/>
                    <a:lstStyle/>
                    <a:p>
                      <a:r>
                        <a:rPr lang="zh-TW" sz="1100" dirty="0" b="1"/>
                        <a:t>突破幅度</a:t>
                      </a:r>
                    </a:p>
                  </a:txBody>
                  <a:tcPr marT="15000" marB="15000" marL="50000" marR="30000"/>
                </a:tc>
                <a:tc>
                  <a:txBody>
                    <a:bodyPr/>
                    <a:lstStyle/>
                    <a:p>
                      <a:r>
                        <a:rPr lang="zh-TW" sz="1100" dirty="0" b="1"/>
                        <a:t>量能倍數</a:t>
                      </a:r>
                    </a:p>
                  </a:txBody>
                  <a:tcPr marT="15000" marB="15000" marL="50000" marR="30000"/>
                </a:tc>
                <a:tc>
                  <a:txBody>
                    <a:bodyPr/>
                    <a:lstStyle/>
                    <a:p>
                      <a:r>
                        <a:rPr lang="zh-TW" sz="1100" dirty="0" b="1"/>
                        <a:t>營收年增</a:t>
                      </a:r>
                    </a:p>
                  </a:txBody>
                  <a:tcPr marT="15000" marB="15000" marL="50000" marR="30000"/>
                </a:tc>
              </a:tr>
              <a:tr h="330000">
                <a:tc>
                  <a:txBody>
                    <a:bodyPr/>
                    <a:lstStyle/>
                    <a:p>
                      <a:r>
                        <a:rPr lang="zh-TW" sz="1100" dirty="0"/>
                        <a:t>1</a:t>
                      </a:r>
                    </a:p>
                  </a:txBody>
                  <a:tcPr marT="15000" marB="15000" marL="50000" marR="30000"/>
                </a:tc>
                <a:tc>
                  <a:txBody>
                    <a:bodyPr/>
                    <a:lstStyle/>
                    <a:p>
                      <a:r>
                        <a:rPr lang="zh-TW" sz="1100" dirty="0"/>
                        <a:t>1714</a:t>
                      </a:r>
                    </a:p>
                  </a:txBody>
                  <a:tcPr marT="15000" marB="15000" marL="50000" marR="30000"/>
                </a:tc>
                <a:tc>
                  <a:txBody>
                    <a:bodyPr/>
                    <a:lstStyle/>
                    <a:p>
                      <a:r>
                        <a:rPr lang="zh-TW" sz="1100" dirty="0"/>
                        <a:t>和桐</a:t>
                      </a:r>
                    </a:p>
                  </a:txBody>
                  <a:tcPr marT="15000" marB="15000" marL="50000" marR="30000"/>
                </a:tc>
                <a:tc>
                  <a:txBody>
                    <a:bodyPr/>
                    <a:lstStyle/>
                    <a:p>
                      <a:r>
                        <a:rPr lang="zh-TW" sz="1100" dirty="0"/>
                        <a:t>69.6</a:t>
                      </a:r>
                    </a:p>
                  </a:txBody>
                  <a:tcPr marT="15000" marB="15000" marL="50000" marR="30000"/>
                </a:tc>
                <a:tc>
                  <a:txBody>
                    <a:bodyPr/>
                    <a:lstStyle/>
                    <a:p>
                      <a:r>
                        <a:rPr lang="zh-TW" sz="1100" dirty="0"/>
                        <a:t>+90%</a:t>
                      </a:r>
                    </a:p>
                  </a:txBody>
                  <a:tcPr marT="15000" marB="15000" marL="50000" marR="30000"/>
                </a:tc>
                <a:tc>
                  <a:txBody>
                    <a:bodyPr/>
                    <a:lstStyle/>
                    <a:p>
                      <a:r>
                        <a:rPr lang="zh-TW" sz="1100" dirty="0"/>
                        <a:t>8.3x</a:t>
                      </a:r>
                    </a:p>
                  </a:txBody>
                  <a:tcPr marT="15000" marB="15000" marL="50000" marR="30000"/>
                </a:tc>
                <a:tc>
                  <a:txBody>
                    <a:bodyPr/>
                    <a:lstStyle/>
                    <a:p>
                      <a:r>
                        <a:rPr lang="zh-TW" sz="1100" dirty="0"/>
                        <a:t>+33%</a:t>
                      </a:r>
                    </a:p>
                  </a:txBody>
                  <a:tcPr marT="15000" marB="15000" marL="50000" marR="30000"/>
                </a:tc>
              </a:tr>
              <a:tr h="330000">
                <a:tc>
                  <a:txBody>
                    <a:bodyPr/>
                    <a:lstStyle/>
                    <a:p>
                      <a:r>
                        <a:rPr lang="zh-TW" sz="1100" dirty="0"/>
                        <a:t>2</a:t>
                      </a:r>
                    </a:p>
                  </a:txBody>
                  <a:tcPr marT="15000" marB="15000" marL="50000" marR="30000"/>
                </a:tc>
                <a:tc>
                  <a:txBody>
                    <a:bodyPr/>
                    <a:lstStyle/>
                    <a:p>
                      <a:r>
                        <a:rPr lang="zh-TW" sz="1100" dirty="0"/>
                        <a:t>3209</a:t>
                      </a:r>
                    </a:p>
                  </a:txBody>
                  <a:tcPr marT="15000" marB="15000" marL="50000" marR="30000"/>
                </a:tc>
                <a:tc>
                  <a:txBody>
                    <a:bodyPr/>
                    <a:lstStyle/>
                    <a:p>
                      <a:r>
                        <a:rPr lang="zh-TW" sz="1100" dirty="0"/>
                        <a:t>全科</a:t>
                      </a:r>
                    </a:p>
                  </a:txBody>
                  <a:tcPr marT="15000" marB="15000" marL="50000" marR="30000"/>
                </a:tc>
                <a:tc>
                  <a:txBody>
                    <a:bodyPr/>
                    <a:lstStyle/>
                    <a:p>
                      <a:r>
                        <a:rPr lang="zh-TW" sz="1100" dirty="0"/>
                        <a:t>67.7</a:t>
                      </a:r>
                    </a:p>
                  </a:txBody>
                  <a:tcPr marT="15000" marB="15000" marL="50000" marR="30000"/>
                </a:tc>
                <a:tc>
                  <a:txBody>
                    <a:bodyPr/>
                    <a:lstStyle/>
                    <a:p>
                      <a:r>
                        <a:rPr lang="zh-TW" sz="1100" dirty="0"/>
                        <a:t>+73%</a:t>
                      </a:r>
                    </a:p>
                  </a:txBody>
                  <a:tcPr marT="15000" marB="15000" marL="50000" marR="30000"/>
                </a:tc>
                <a:tc>
                  <a:txBody>
                    <a:bodyPr/>
                    <a:lstStyle/>
                    <a:p>
                      <a:r>
                        <a:rPr lang="zh-TW" sz="1100" dirty="0"/>
                        <a:t>5.3x</a:t>
                      </a:r>
                    </a:p>
                  </a:txBody>
                  <a:tcPr marT="15000" marB="15000" marL="50000" marR="30000"/>
                </a:tc>
                <a:tc>
                  <a:txBody>
                    <a:bodyPr/>
                    <a:lstStyle/>
                    <a:p>
                      <a:r>
                        <a:rPr lang="zh-TW" sz="1100" dirty="0"/>
                        <a:t>+19%</a:t>
                      </a:r>
                    </a:p>
                  </a:txBody>
                  <a:tcPr marT="15000" marB="15000" marL="50000" marR="30000"/>
                </a:tc>
              </a:tr>
              <a:tr h="330000">
                <a:tc>
                  <a:txBody>
                    <a:bodyPr/>
                    <a:lstStyle/>
                    <a:p>
                      <a:r>
                        <a:rPr lang="zh-TW" sz="1100" dirty="0"/>
                        <a:t>3</a:t>
                      </a:r>
                    </a:p>
                  </a:txBody>
                  <a:tcPr marT="15000" marB="15000" marL="50000" marR="30000"/>
                </a:tc>
                <a:tc>
                  <a:txBody>
                    <a:bodyPr/>
                    <a:lstStyle/>
                    <a:p>
                      <a:r>
                        <a:rPr lang="zh-TW" sz="1100" dirty="0"/>
                        <a:t>2305</a:t>
                      </a:r>
                    </a:p>
                  </a:txBody>
                  <a:tcPr marT="15000" marB="15000" marL="50000" marR="30000"/>
                </a:tc>
                <a:tc>
                  <a:txBody>
                    <a:bodyPr/>
                    <a:lstStyle/>
                    <a:p>
                      <a:r>
                        <a:rPr lang="zh-TW" sz="1100" dirty="0"/>
                        <a:t>全友</a:t>
                      </a:r>
                    </a:p>
                  </a:txBody>
                  <a:tcPr marT="15000" marB="15000" marL="50000" marR="30000"/>
                </a:tc>
                <a:tc>
                  <a:txBody>
                    <a:bodyPr/>
                    <a:lstStyle/>
                    <a:p>
                      <a:r>
                        <a:rPr lang="zh-TW" sz="1100" dirty="0"/>
                        <a:t>67.3</a:t>
                      </a:r>
                    </a:p>
                  </a:txBody>
                  <a:tcPr marT="15000" marB="15000" marL="50000" marR="30000"/>
                </a:tc>
                <a:tc>
                  <a:txBody>
                    <a:bodyPr/>
                    <a:lstStyle/>
                    <a:p>
                      <a:r>
                        <a:rPr lang="zh-TW" sz="1100" dirty="0"/>
                        <a:t>+190%</a:t>
                      </a:r>
                    </a:p>
                  </a:txBody>
                  <a:tcPr marT="15000" marB="15000" marL="50000" marR="30000"/>
                </a:tc>
                <a:tc>
                  <a:txBody>
                    <a:bodyPr/>
                    <a:lstStyle/>
                    <a:p>
                      <a:r>
                        <a:rPr lang="zh-TW" sz="1100" dirty="0"/>
                        <a:t>6.2x</a:t>
                      </a:r>
                    </a:p>
                  </a:txBody>
                  <a:tcPr marT="15000" marB="15000" marL="50000" marR="30000"/>
                </a:tc>
                <a:tc>
                  <a:txBody>
                    <a:bodyPr/>
                    <a:lstStyle/>
                    <a:p>
                      <a:r>
                        <a:rPr lang="zh-TW" sz="1100" dirty="0"/>
                        <a:t>+49%</a:t>
                      </a:r>
                    </a:p>
                  </a:txBody>
                  <a:tcPr marT="15000" marB="15000" marL="50000" marR="30000"/>
                </a:tc>
              </a:tr>
              <a:tr h="330000">
                <a:tc>
                  <a:txBody>
                    <a:bodyPr/>
                    <a:lstStyle/>
                    <a:p>
                      <a:r>
                        <a:rPr lang="zh-TW" sz="1100" dirty="0"/>
                        <a:t>4</a:t>
                      </a:r>
                    </a:p>
                  </a:txBody>
                  <a:tcPr marT="15000" marB="15000" marL="50000" marR="30000"/>
                </a:tc>
                <a:tc>
                  <a:txBody>
                    <a:bodyPr/>
                    <a:lstStyle/>
                    <a:p>
                      <a:r>
                        <a:rPr lang="zh-TW" sz="1100" dirty="0"/>
                        <a:t>2923</a:t>
                      </a:r>
                    </a:p>
                  </a:txBody>
                  <a:tcPr marT="15000" marB="15000" marL="50000" marR="30000"/>
                </a:tc>
                <a:tc>
                  <a:txBody>
                    <a:bodyPr/>
                    <a:lstStyle/>
                    <a:p>
                      <a:r>
                        <a:rPr lang="zh-TW" sz="1100" dirty="0"/>
                        <a:t>鼎固-KY</a:t>
                      </a:r>
                    </a:p>
                  </a:txBody>
                  <a:tcPr marT="15000" marB="15000" marL="50000" marR="30000"/>
                </a:tc>
                <a:tc>
                  <a:txBody>
                    <a:bodyPr/>
                    <a:lstStyle/>
                    <a:p>
                      <a:r>
                        <a:rPr lang="zh-TW" sz="1100" dirty="0"/>
                        <a:t>65.9</a:t>
                      </a:r>
                    </a:p>
                  </a:txBody>
                  <a:tcPr marT="15000" marB="15000" marL="50000" marR="30000"/>
                </a:tc>
                <a:tc>
                  <a:txBody>
                    <a:bodyPr/>
                    <a:lstStyle/>
                    <a:p>
                      <a:r>
                        <a:rPr lang="zh-TW" sz="1100" dirty="0"/>
                        <a:t>+68%</a:t>
                      </a:r>
                    </a:p>
                  </a:txBody>
                  <a:tcPr marT="15000" marB="15000" marL="50000" marR="30000"/>
                </a:tc>
                <a:tc>
                  <a:txBody>
                    <a:bodyPr/>
                    <a:lstStyle/>
                    <a:p>
                      <a:r>
                        <a:rPr lang="zh-TW" sz="1100" dirty="0"/>
                        <a:t>4.7x</a:t>
                      </a:r>
                    </a:p>
                  </a:txBody>
                  <a:tcPr marT="15000" marB="15000" marL="50000" marR="30000"/>
                </a:tc>
                <a:tc>
                  <a:txBody>
                    <a:bodyPr/>
                    <a:lstStyle/>
                    <a:p>
                      <a:r>
                        <a:rPr lang="zh-TW" sz="1100" dirty="0"/>
                        <a:t>+154%</a:t>
                      </a:r>
                    </a:p>
                  </a:txBody>
                  <a:tcPr marT="15000" marB="15000" marL="50000" marR="30000"/>
                </a:tc>
              </a:tr>
              <a:tr h="330000">
                <a:tc>
                  <a:txBody>
                    <a:bodyPr/>
                    <a:lstStyle/>
                    <a:p>
                      <a:r>
                        <a:rPr lang="zh-TW" sz="1100" dirty="0"/>
                        <a:t>5</a:t>
                      </a:r>
                    </a:p>
                  </a:txBody>
                  <a:tcPr marT="15000" marB="15000" marL="50000" marR="30000"/>
                </a:tc>
                <a:tc>
                  <a:txBody>
                    <a:bodyPr/>
                    <a:lstStyle/>
                    <a:p>
                      <a:r>
                        <a:rPr lang="zh-TW" sz="1100" dirty="0"/>
                        <a:t>6834</a:t>
                      </a:r>
                    </a:p>
                  </a:txBody>
                  <a:tcPr marT="15000" marB="15000" marL="50000" marR="30000"/>
                </a:tc>
                <a:tc>
                  <a:txBody>
                    <a:bodyPr/>
                    <a:lstStyle/>
                    <a:p>
                      <a:r>
                        <a:rPr lang="zh-TW" sz="1100" dirty="0"/>
                        <a:t>天二科技</a:t>
                      </a:r>
                    </a:p>
                  </a:txBody>
                  <a:tcPr marT="15000" marB="15000" marL="50000" marR="30000"/>
                </a:tc>
                <a:tc>
                  <a:txBody>
                    <a:bodyPr/>
                    <a:lstStyle/>
                    <a:p>
                      <a:r>
                        <a:rPr lang="zh-TW" sz="1100" dirty="0"/>
                        <a:t>64.6</a:t>
                      </a:r>
                    </a:p>
                  </a:txBody>
                  <a:tcPr marT="15000" marB="15000" marL="50000" marR="30000"/>
                </a:tc>
                <a:tc>
                  <a:txBody>
                    <a:bodyPr/>
                    <a:lstStyle/>
                    <a:p>
                      <a:r>
                        <a:rPr lang="zh-TW" sz="1100" dirty="0"/>
                        <a:t>+234%</a:t>
                      </a:r>
                    </a:p>
                  </a:txBody>
                  <a:tcPr marT="15000" marB="15000" marL="50000" marR="30000"/>
                </a:tc>
                <a:tc>
                  <a:txBody>
                    <a:bodyPr/>
                    <a:lstStyle/>
                    <a:p>
                      <a:r>
                        <a:rPr lang="zh-TW" sz="1100" dirty="0"/>
                        <a:t>8.7x</a:t>
                      </a:r>
                    </a:p>
                  </a:txBody>
                  <a:tcPr marT="15000" marB="15000" marL="50000" marR="30000"/>
                </a:tc>
                <a:tc>
                  <a:txBody>
                    <a:bodyPr/>
                    <a:lstStyle/>
                    <a:p>
                      <a:r>
                        <a:rPr lang="zh-TW" sz="1100" dirty="0"/>
                        <a:t>+20%</a:t>
                      </a:r>
                    </a:p>
                  </a:txBody>
                  <a:tcPr marT="15000" marB="15000" marL="50000" marR="30000"/>
                </a:tc>
              </a:tr>
            </a:tbl>
          </a:graphicData>
        </a:graphic>
      </p:graphicFrame>
      <p:sp>
        <p:nvSpPr>
          <p:cNvPr id="159" name="TextBox 158"/>
          <p:cNvSpPr txBox="1"/>
          <p:nvPr/>
        </p:nvSpPr>
        <p:spPr>
          <a:xfrm>
            <a:off x="1311120" y="4300000"/>
            <a:ext cx="97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⚠️ 全數為中小型股。記得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  <a:ea typeface="Century Gothic"/>
              </a:rPr>
              <a:t>先研究基本面再決定要不要加入候選池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。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PlaceHolder 1"/>
          <p:cNvSpPr>
            <a:spLocks noGrp="1"/>
          </p:cNvSpPr>
          <p:nvPr>
            <p:ph type="title"/>
          </p:nvPr>
        </p:nvSpPr>
        <p:spPr>
          <a:xfrm>
            <a:off x="1293840" y="609480"/>
            <a:ext cx="10361160" cy="607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 defTabSz="914400">
              <a:lnSpc>
                <a:spcPct val="80000"/>
              </a:lnSpc>
              <a:buNone/>
              <a:tabLst>
                <a:tab pos="0" algn="l"/>
              </a:tabLst>
            </a:pP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選股＝＞動能</a:t>
            </a: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159" name="PlaceHolder 2"/>
          <p:cNvSpPr>
            <a:spLocks noGrp="1"/>
          </p:cNvSpPr>
          <p:nvPr>
            <p:ph/>
          </p:nvPr>
        </p:nvSpPr>
        <p:spPr>
          <a:xfrm>
            <a:off x="1311120" y="1080000"/>
            <a:ext cx="9429120" cy="82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📊 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  <a:ea typeface="Century Gothic"/>
              </a:rPr>
              <a:t>stock_selector_grid.p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y —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下一季推薦持股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基於  收盤價，從 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16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檔候選池選出：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4"/>
          </p:nvPr>
        </p:nvSpPr>
        <p:spPr/>
        <p:txBody>
          <a:bodyPr/>
          <a:p>
            <a:fld id="{020014F1-B1D5-44ED-BEC8-87FC34156FBF}" type="slidenum">
              <a:t>23</a:t>
            </a:fld>
          </a:p>
        </p:txBody>
      </p:sp>
      <p:graphicFrame>
        <p:nvGraphicFramePr>
          <p:cNvPr id="160" name="Table 159"/>
          <p:cNvGraphicFramePr>
            <a:graphicFrameLocks noGrp="1"/>
          </p:cNvGraphicFramePr>
          <p:nvPr/>
        </p:nvGraphicFramePr>
        <p:xfrm>
          <a:off x="1311120" y="2000000"/>
          <a:ext cx="8300000" cy="17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00000"/>
                <a:gridCol w="1100000"/>
                <a:gridCol w="1500000"/>
                <a:gridCol w="1400000"/>
                <a:gridCol w="1500000"/>
                <a:gridCol w="1900000"/>
              </a:tblGrid>
              <a:tr h="340000">
                <a:tc>
                  <a:txBody>
                    <a:bodyPr/>
                    <a:lstStyle/>
                    <a:p>
                      <a:r>
                        <a:rPr lang="zh-TW" sz="1100" dirty="0" b="1"/>
                        <a:t>代號</a:t>
                      </a:r>
                    </a:p>
                  </a:txBody>
                  <a:tcPr marT="15000" marB="15000" marL="50000" marR="30000"/>
                </a:tc>
                <a:tc>
                  <a:txBody>
                    <a:bodyPr/>
                    <a:lstStyle/>
                    <a:p>
                      <a:r>
                        <a:rPr lang="zh-TW" sz="1100" dirty="0" b="1"/>
                        <a:t>名稱</a:t>
                      </a:r>
                    </a:p>
                  </a:txBody>
                  <a:tcPr marT="15000" marB="15000" marL="50000" marR="30000"/>
                </a:tc>
                <a:tc>
                  <a:txBody>
                    <a:bodyPr/>
                    <a:lstStyle/>
                    <a:p>
                      <a:r>
                        <a:rPr lang="zh-TW" sz="1100" dirty="0" b="1"/>
                        <a:t>策略</a:t>
                      </a:r>
                    </a:p>
                  </a:txBody>
                  <a:tcPr marT="15000" marB="15000" marL="50000" marR="30000"/>
                </a:tc>
                <a:tc>
                  <a:txBody>
                    <a:bodyPr/>
                    <a:lstStyle/>
                    <a:p>
                      <a:r>
                        <a:rPr lang="zh-TW" sz="1100" dirty="0" b="1"/>
                        <a:t>股價</a:t>
                      </a:r>
                    </a:p>
                  </a:txBody>
                  <a:tcPr marT="15000" marB="15000" marL="50000" marR="30000"/>
                </a:tc>
                <a:tc>
                  <a:txBody>
                    <a:bodyPr/>
                    <a:lstStyle/>
                    <a:p>
                      <a:r>
                        <a:rPr lang="zh-TW" sz="1100" dirty="0" b="1"/>
                        <a:t>近季動能</a:t>
                      </a:r>
                    </a:p>
                  </a:txBody>
                  <a:tcPr marT="15000" marB="15000" marL="50000" marR="30000"/>
                </a:tc>
                <a:tc>
                  <a:txBody>
                    <a:bodyPr/>
                    <a:lstStyle/>
                    <a:p>
                      <a:r>
                        <a:rPr lang="zh-TW" sz="1100" dirty="0" b="1"/>
                        <a:t>建議</a:t>
                      </a:r>
                    </a:p>
                  </a:txBody>
                  <a:tcPr marT="15000" marB="15000" marL="50000" marR="30000"/>
                </a:tc>
              </a:tr>
              <a:tr h="340000">
                <a:tc>
                  <a:txBody>
                    <a:bodyPr/>
                    <a:lstStyle/>
                    <a:p>
                      <a:r>
                        <a:rPr lang="zh-TW" sz="1100" dirty="0"/>
                        <a:t>6xx6</a:t>
                      </a:r>
                    </a:p>
                  </a:txBody>
                  <a:tcPr marT="15000" marB="15000" marL="50000" marR="30000"/>
                </a:tc>
                <a:tc>
                  <a:txBody>
                    <a:bodyPr/>
                    <a:lstStyle/>
                    <a:p>
                      <a:r>
                        <a:rPr lang="zh-TW" sz="1100" dirty="0"/>
                        <a:t>xxx</a:t>
                      </a:r>
                    </a:p>
                  </a:txBody>
                  <a:tcPr marT="15000" marB="15000" marL="50000" marR="30000"/>
                </a:tc>
                <a:tc>
                  <a:txBody>
                    <a:bodyPr/>
                    <a:lstStyle/>
                    <a:p>
                      <a:r>
                        <a:rPr lang="zh-TW" sz="1100" dirty="0"/>
                        <a:t>ma_cross</a:t>
                      </a:r>
                    </a:p>
                  </a:txBody>
                  <a:tcPr marT="15000" marB="15000" marL="50000" marR="30000"/>
                </a:tc>
                <a:tc>
                  <a:txBody>
                    <a:bodyPr/>
                    <a:lstStyle/>
                    <a:p>
                      <a:r>
                        <a:rPr lang="zh-TW" sz="1100" dirty="0"/>
                        <a:t>NT$1,195</a:t>
                      </a:r>
                    </a:p>
                  </a:txBody>
                  <a:tcPr marT="15000" marB="15000" marL="50000" marR="30000"/>
                </a:tc>
                <a:tc>
                  <a:txBody>
                    <a:bodyPr/>
                    <a:lstStyle/>
                    <a:p>
                      <a:r>
                        <a:rPr lang="zh-TW" sz="1100" dirty="0"/>
                        <a:t>+31.4%</a:t>
                      </a:r>
                    </a:p>
                  </a:txBody>
                  <a:tcPr marT="15000" marB="15000" marL="50000" marR="30000"/>
                </a:tc>
                <a:tc>
                  <a:txBody>
                    <a:bodyPr/>
                    <a:lstStyle/>
                    <a:p>
                      <a:r>
                        <a:rPr lang="zh-TW" sz="1100" dirty="0"/>
                        <a:t>🥇 強勢首選</a:t>
                      </a:r>
                    </a:p>
                  </a:txBody>
                  <a:tcPr marT="15000" marB="15000" marL="50000" marR="30000"/>
                </a:tc>
              </a:tr>
              <a:tr h="340000">
                <a:tc>
                  <a:txBody>
                    <a:bodyPr/>
                    <a:lstStyle/>
                    <a:p>
                      <a:r>
                        <a:rPr lang="zh-TW" sz="1100" dirty="0"/>
                        <a:t>2xx6</a:t>
                      </a:r>
                    </a:p>
                  </a:txBody>
                  <a:tcPr marT="15000" marB="15000" marL="50000" marR="30000"/>
                </a:tc>
                <a:tc>
                  <a:txBody>
                    <a:bodyPr/>
                    <a:lstStyle/>
                    <a:p>
                      <a:r>
                        <a:rPr lang="zh-TW" sz="1100" dirty="0"/>
                        <a:t>xxx</a:t>
                      </a:r>
                    </a:p>
                  </a:txBody>
                  <a:tcPr marT="15000" marB="15000" marL="50000" marR="30000"/>
                </a:tc>
                <a:tc>
                  <a:txBody>
                    <a:bodyPr/>
                    <a:lstStyle/>
                    <a:p>
                      <a:r>
                        <a:rPr lang="zh-TW" sz="1100" dirty="0"/>
                        <a:t>ma_cross</a:t>
                      </a:r>
                    </a:p>
                  </a:txBody>
                  <a:tcPr marT="15000" marB="15000" marL="50000" marR="30000"/>
                </a:tc>
                <a:tc>
                  <a:txBody>
                    <a:bodyPr/>
                    <a:lstStyle/>
                    <a:p>
                      <a:r>
                        <a:rPr lang="zh-TW" sz="1100" dirty="0"/>
                        <a:t>NT$48</a:t>
                      </a:r>
                    </a:p>
                  </a:txBody>
                  <a:tcPr marT="15000" marB="15000" marL="50000" marR="30000"/>
                </a:tc>
                <a:tc>
                  <a:txBody>
                    <a:bodyPr/>
                    <a:lstStyle/>
                    <a:p>
                      <a:r>
                        <a:rPr lang="zh-TW" sz="1100" dirty="0"/>
                        <a:t>+5.5%</a:t>
                      </a:r>
                    </a:p>
                  </a:txBody>
                  <a:tcPr marT="15000" marB="15000" marL="50000" marR="30000"/>
                </a:tc>
                <a:tc>
                  <a:txBody>
                    <a:bodyPr/>
                    <a:lstStyle/>
                    <a:p>
                      <a:r>
                        <a:rPr lang="zh-TW" sz="1100" dirty="0"/>
                        <a:t>🥈 防禦</a:t>
                      </a:r>
                    </a:p>
                  </a:txBody>
                  <a:tcPr marT="15000" marB="15000" marL="50000" marR="30000"/>
                </a:tc>
              </a:tr>
              <a:tr h="340000">
                <a:tc>
                  <a:txBody>
                    <a:bodyPr/>
                    <a:lstStyle/>
                    <a:p>
                      <a:r>
                        <a:rPr lang="zh-TW" sz="1100" dirty="0"/>
                        <a:t>2xx1</a:t>
                      </a:r>
                    </a:p>
                  </a:txBody>
                  <a:tcPr marT="15000" marB="15000" marL="50000" marR="30000"/>
                </a:tc>
                <a:tc>
                  <a:txBody>
                    <a:bodyPr/>
                    <a:lstStyle/>
                    <a:p>
                      <a:r>
                        <a:rPr lang="zh-TW" sz="1100" dirty="0"/>
                        <a:t>xxx</a:t>
                      </a:r>
                    </a:p>
                  </a:txBody>
                  <a:tcPr marT="15000" marB="15000" marL="50000" marR="30000"/>
                </a:tc>
                <a:tc>
                  <a:txBody>
                    <a:bodyPr/>
                    <a:lstStyle/>
                    <a:p>
                      <a:r>
                        <a:rPr lang="zh-TW" sz="1100" dirty="0"/>
                        <a:t>vwap</a:t>
                      </a:r>
                    </a:p>
                  </a:txBody>
                  <a:tcPr marT="15000" marB="15000" marL="50000" marR="30000"/>
                </a:tc>
                <a:tc>
                  <a:txBody>
                    <a:bodyPr/>
                    <a:lstStyle/>
                    <a:p>
                      <a:r>
                        <a:rPr lang="zh-TW" sz="1100" dirty="0"/>
                        <a:t>NT$124</a:t>
                      </a:r>
                    </a:p>
                  </a:txBody>
                  <a:tcPr marT="15000" marB="15000" marL="50000" marR="30000"/>
                </a:tc>
                <a:tc>
                  <a:txBody>
                    <a:bodyPr/>
                    <a:lstStyle/>
                    <a:p>
                      <a:r>
                        <a:rPr lang="zh-TW" sz="1100" dirty="0"/>
                        <a:t>-5.0%</a:t>
                      </a:r>
                    </a:p>
                  </a:txBody>
                  <a:tcPr marT="15000" marB="15000" marL="50000" marR="30000"/>
                </a:tc>
                <a:tc>
                  <a:txBody>
                    <a:bodyPr/>
                    <a:lstStyle/>
                    <a:p>
                      <a:r>
                        <a:rPr lang="zh-TW" sz="1100" dirty="0"/>
                        <a:t>逆勢觀察</a:t>
                      </a:r>
                    </a:p>
                  </a:txBody>
                  <a:tcPr marT="15000" marB="15000" marL="50000" marR="30000"/>
                </a:tc>
              </a:tr>
              <a:tr h="340000">
                <a:tc>
                  <a:txBody>
                    <a:bodyPr/>
                    <a:lstStyle/>
                    <a:p>
                      <a:r>
                        <a:rPr lang="zh-TW" sz="1100" dirty="0"/>
                        <a:t>2xx8</a:t>
                      </a:r>
                    </a:p>
                  </a:txBody>
                  <a:tcPr marT="15000" marB="15000" marL="50000" marR="30000"/>
                </a:tc>
                <a:tc>
                  <a:txBody>
                    <a:bodyPr/>
                    <a:lstStyle/>
                    <a:p>
                      <a:r>
                        <a:rPr lang="zh-TW" sz="1100" dirty="0"/>
                        <a:t>xxx</a:t>
                      </a:r>
                    </a:p>
                  </a:txBody>
                  <a:tcPr marT="15000" marB="15000" marL="50000" marR="30000"/>
                </a:tc>
                <a:tc>
                  <a:txBody>
                    <a:bodyPr/>
                    <a:lstStyle/>
                    <a:p>
                      <a:r>
                        <a:rPr lang="zh-TW" sz="1100" dirty="0"/>
                        <a:t>ma_cross</a:t>
                      </a:r>
                    </a:p>
                  </a:txBody>
                  <a:tcPr marT="15000" marB="15000" marL="50000" marR="30000"/>
                </a:tc>
                <a:tc>
                  <a:txBody>
                    <a:bodyPr/>
                    <a:lstStyle/>
                    <a:p>
                      <a:r>
                        <a:rPr lang="zh-TW" sz="1100" dirty="0"/>
                        <a:t>NT$396</a:t>
                      </a:r>
                    </a:p>
                  </a:txBody>
                  <a:tcPr marT="15000" marB="15000" marL="50000" marR="30000"/>
                </a:tc>
                <a:tc>
                  <a:txBody>
                    <a:bodyPr/>
                    <a:lstStyle/>
                    <a:p>
                      <a:r>
                        <a:rPr lang="zh-TW" sz="1100" dirty="0"/>
                        <a:t>-9.2%</a:t>
                      </a:r>
                    </a:p>
                  </a:txBody>
                  <a:tcPr marT="15000" marB="15000" marL="50000" marR="30000"/>
                </a:tc>
                <a:tc>
                  <a:txBody>
                    <a:bodyPr/>
                    <a:lstStyle/>
                    <a:p>
                      <a:r>
                        <a:rPr lang="zh-TW" sz="1100" dirty="0"/>
                        <a:t>週期底部？</a:t>
                      </a:r>
                    </a:p>
                  </a:txBody>
                  <a:tcPr marT="15000" marB="15000" marL="50000" marR="30000"/>
                </a:tc>
              </a:tr>
            </a:tbl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PlaceHolder 1"/>
          <p:cNvSpPr>
            <a:spLocks noGrp="1"/>
          </p:cNvSpPr>
          <p:nvPr>
            <p:ph type="title"/>
          </p:nvPr>
        </p:nvSpPr>
        <p:spPr>
          <a:xfrm>
            <a:off x="1293840" y="609480"/>
            <a:ext cx="10361160" cy="607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 defTabSz="914400">
              <a:lnSpc>
                <a:spcPct val="80000"/>
              </a:lnSpc>
              <a:buNone/>
              <a:tabLst>
                <a:tab pos="0" algn="l"/>
              </a:tabLst>
            </a:pP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定期選股＝＞很重要</a:t>
            </a: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pic>
        <p:nvPicPr>
          <p:cNvPr id="161" name="內容版面配置區 5"/>
          <p:cNvPicPr/>
          <p:nvPr/>
        </p:nvPicPr>
        <p:blipFill>
          <a:blip r:embed="rId1"/>
          <a:stretch/>
        </p:blipFill>
        <p:spPr>
          <a:xfrm>
            <a:off x="1979640" y="1447920"/>
            <a:ext cx="7961760" cy="29034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62" name="文字方塊 7"/>
          <p:cNvSpPr/>
          <p:nvPr/>
        </p:nvSpPr>
        <p:spPr>
          <a:xfrm>
            <a:off x="1293840" y="4763880"/>
            <a:ext cx="9599040" cy="1013400"/>
          </a:xfrm>
          <a:prstGeom prst="rect">
            <a:avLst/>
          </a:prstGeom>
          <a:noFill/>
          <a:ln w="0">
            <a:solidFill>
              <a:srgbClr val="ACCBF9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Mona Sans VF"/>
              </a:rPr>
              <a:t>🎯 </a:t>
            </a:r>
            <a:r>
              <a:rPr lang="zh-TW" sz="2000" b="1" u="none" strike="noStrike">
                <a:solidFill>
                  <a:schemeClr val="dk1"/>
                </a:solidFill>
                <a:effectLst/>
                <a:uFillTx/>
                <a:latin typeface="Mona Sans VF"/>
              </a:rPr>
              <a:t>結論</a:t>
            </a:r>
            <a:r>
              <a:rPr lang="zh-TW" sz="2000" b="0" u="none" strike="noStrike">
                <a:solidFill>
                  <a:schemeClr val="dk1"/>
                </a:solidFill>
                <a:effectLst/>
                <a:uFillTx/>
                <a:latin typeface="Mona Sans VF"/>
              </a:rPr>
              <a:t>：定期檢討的頻率遠比檢討方式重要。無論是人工逐年還是機械式每季，</a:t>
            </a:r>
            <a:r>
              <a:rPr lang="zh-TW" sz="2000" b="1" u="none" strike="noStrike">
                <a:solidFill>
                  <a:schemeClr val="dk1"/>
                </a:solidFill>
                <a:effectLst/>
                <a:uFillTx/>
                <a:latin typeface="Mona Sans VF"/>
              </a:rPr>
              <a:t>只要有紀律地定期檢討</a:t>
            </a:r>
            <a:r>
              <a:rPr lang="zh-TW" sz="2000" b="0" u="none" strike="noStrike">
                <a:solidFill>
                  <a:schemeClr val="dk1"/>
                </a:solidFill>
                <a:effectLst/>
                <a:uFillTx/>
                <a:latin typeface="Mona Sans VF"/>
              </a:rPr>
              <a:t>，都能大幅優於買入持有。</a:t>
            </a: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Mona Sans VF"/>
              </a:rPr>
              <a:t>2022 </a:t>
            </a:r>
            <a:r>
              <a:rPr lang="zh-TW" sz="2000" b="0" u="none" strike="noStrike">
                <a:solidFill>
                  <a:schemeClr val="dk1"/>
                </a:solidFill>
                <a:effectLst/>
                <a:uFillTx/>
                <a:latin typeface="Mona Sans VF"/>
              </a:rPr>
              <a:t>熊市中，每季換股更是顯著降低了虧損。詳細工具使用方式見</a:t>
            </a:r>
            <a:r>
              <a:rPr lang="zh-TW" sz="2000" b="0" u="sng" strike="noStrike">
                <a:solidFill>
                  <a:schemeClr val="dk1"/>
                </a:solidFill>
                <a:effectLst/>
                <a:uFillTx/>
                <a:latin typeface="Mona Sans VF"/>
                <a:hlinkClick r:id="rId2"/>
              </a:rPr>
              <a:t>使用手冊 — 選股工具工作流程</a:t>
            </a:r>
            <a:r>
              <a:rPr lang="zh-TW" sz="2000" b="0" u="none" strike="noStrike">
                <a:solidFill>
                  <a:schemeClr val="dk1"/>
                </a:solidFill>
                <a:effectLst/>
                <a:uFillTx/>
                <a:latin typeface="Mona Sans VF"/>
              </a:rPr>
              <a:t>。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ldNum" idx="4"/>
          </p:nvPr>
        </p:nvSpPr>
        <p:spPr/>
        <p:txBody>
          <a:bodyPr/>
          <a:p>
            <a:fld id="{404694E8-686B-46E9-A615-FC05ED3DB002}" type="slidenum">
              <a:t>24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PlaceHolder 1"/>
          <p:cNvSpPr>
            <a:spLocks noGrp="1"/>
          </p:cNvSpPr>
          <p:nvPr>
            <p:ph type="title"/>
          </p:nvPr>
        </p:nvSpPr>
        <p:spPr>
          <a:xfrm>
            <a:off x="1270080" y="183600"/>
            <a:ext cx="10589760" cy="652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p>
            <a:pPr indent="0" algn="l" defTabSz="914400">
              <a:lnSpc>
                <a:spcPct val="80000"/>
              </a:lnSpc>
              <a:buNone/>
              <a:tabLst>
                <a:tab pos="0" algn="l"/>
              </a:tabLst>
            </a:pP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回測的最大目標</a:t>
            </a: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164" name="Text 1"/>
          <p:cNvSpPr/>
          <p:nvPr/>
        </p:nvSpPr>
        <p:spPr>
          <a:xfrm>
            <a:off x="814320" y="2523960"/>
            <a:ext cx="10627920" cy="180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6120" tIns="0" rIns="27612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170" b="0" u="none" strike="noStrike">
                <a:solidFill>
                  <a:srgbClr val="59636E"/>
                </a:solidFill>
                <a:effectLst/>
                <a:uFillTx/>
                <a:latin typeface="Segoe UI"/>
                <a:ea typeface="Segoe UI"/>
              </a:rPr>
              <a:t>📌 </a:t>
            </a:r>
            <a:r>
              <a:rPr lang="zh-TW" sz="2170" b="1" u="none" strike="noStrike">
                <a:solidFill>
                  <a:srgbClr val="59636E"/>
                </a:solidFill>
                <a:effectLst/>
                <a:uFillTx/>
                <a:latin typeface="Yu Gothic UI"/>
                <a:ea typeface="Yu Gothic UI"/>
              </a:rPr>
              <a:t>請記住：</a:t>
            </a:r>
            <a:r>
              <a:rPr lang="zh-TW" sz="2170" b="1" u="none" strike="noStrike">
                <a:solidFill>
                  <a:srgbClr val="59636E"/>
                </a:solidFill>
                <a:effectLst/>
                <a:highlight>
                  <a:srgbClr val="FFFF00"/>
                </a:highlight>
                <a:uFillTx/>
                <a:latin typeface="Yu Gothic UI"/>
                <a:ea typeface="Yu Gothic UI"/>
              </a:rPr>
              <a:t>回測的目的是「排除壞策略」，而不是「找出完美策略」</a:t>
            </a:r>
            <a:r>
              <a:rPr lang="zh-TW" sz="2170" b="1" u="none" strike="noStrike">
                <a:solidFill>
                  <a:srgbClr val="59636E"/>
                </a:solidFill>
                <a:effectLst/>
                <a:uFillTx/>
                <a:latin typeface="Yu Gothic UI"/>
                <a:ea typeface="Yu Gothic UI"/>
              </a:rPr>
              <a:t>。</a:t>
            </a:r>
            <a:endParaRPr lang="en-US" sz="2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zh-TW" sz="2170" b="0" u="none" strike="noStrike">
                <a:solidFill>
                  <a:srgbClr val="59636E"/>
                </a:solidFill>
                <a:effectLst/>
                <a:uFillTx/>
                <a:latin typeface="Yu Gothic UI"/>
                <a:ea typeface="Yu Gothic UI"/>
              </a:rPr>
              <a:t>一個在各種市場環境下都能穩定小賺的策略，遠比一個在大牛市暴賺但在崩盤時慘賠的策略更有價值。</a:t>
            </a:r>
            <a:endParaRPr lang="en-US" sz="2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zh-TW" sz="2170" b="1" u="none" strike="noStrike">
                <a:solidFill>
                  <a:srgbClr val="59636E"/>
                </a:solidFill>
                <a:effectLst/>
                <a:uFillTx/>
                <a:latin typeface="Yu Gothic UI"/>
                <a:ea typeface="Yu Gothic UI"/>
              </a:rPr>
              <a:t>先用回測驗證，再用小額資金實盤測試，最後才放大資金。</a:t>
            </a:r>
            <a:r>
              <a:rPr lang="en-US" sz="2170" b="0" u="none" strike="noStrike">
                <a:solidFill>
                  <a:srgbClr val="59636E"/>
                </a:solidFill>
                <a:effectLst/>
                <a:uFillTx/>
                <a:latin typeface="Segoe UI"/>
                <a:ea typeface="Segoe UI"/>
              </a:rPr>
              <a:t> 🛡</a:t>
            </a:r>
            <a:endParaRPr lang="en-US" sz="2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ldNum" idx="4"/>
          </p:nvPr>
        </p:nvSpPr>
        <p:spPr/>
        <p:txBody>
          <a:bodyPr/>
          <a:p>
            <a:fld id="{361FEB5B-A244-424B-9EE6-589A91248C75}" type="slidenum">
              <a:t>25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PlaceHolder 1"/>
          <p:cNvSpPr>
            <a:spLocks noGrp="1"/>
          </p:cNvSpPr>
          <p:nvPr>
            <p:ph type="title"/>
          </p:nvPr>
        </p:nvSpPr>
        <p:spPr>
          <a:xfrm>
            <a:off x="531720" y="495360"/>
            <a:ext cx="4886640" cy="5865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p>
            <a:pPr indent="0" algn="r" defTabSz="914400">
              <a:lnSpc>
                <a:spcPct val="110000"/>
              </a:lnSpc>
              <a:buNone/>
              <a:tabLst>
                <a:tab pos="0" algn="l"/>
              </a:tabLst>
            </a:pPr>
            <a:r>
              <a:rPr lang="zh-TW" sz="2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試著於第五個策略（週</a:t>
            </a:r>
            <a:r>
              <a:rPr lang="en-US" sz="2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KD</a:t>
            </a:r>
            <a:r>
              <a:rPr lang="zh-TW" sz="2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）的位置加一個你自己的策略（盡量不要動</a:t>
            </a:r>
            <a:r>
              <a:rPr lang="en-US" sz="2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selfselect_trader.py</a:t>
            </a:r>
            <a:r>
              <a:rPr lang="zh-TW" sz="2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主程式）</a:t>
            </a:r>
            <a:br>
              <a:rPr sz="2800"/>
            </a:br>
            <a:r>
              <a:rPr lang="en-US" sz="4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Thank you</a:t>
            </a:r>
            <a:r>
              <a:rPr lang="zh-TW" sz="4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！</a:t>
            </a:r>
            <a:endParaRPr lang="en-US" sz="48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166" name="PlaceHolder 2"/>
          <p:cNvSpPr>
            <a:spLocks noGrp="1"/>
          </p:cNvSpPr>
          <p:nvPr>
            <p:ph/>
          </p:nvPr>
        </p:nvSpPr>
        <p:spPr>
          <a:xfrm>
            <a:off x="6768360" y="2247840"/>
            <a:ext cx="4441320" cy="2398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en-US" sz="2000" b="0" u="none" spc="31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frank@dinchen.com.tw</a:t>
            </a:r>
            <a:endParaRPr lang="en-US" sz="2000" b="0" u="none" spc="31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endParaRPr lang="en-US" sz="2000" b="0" u="none" spc="31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Custom">
  <a:themeElements>
    <a:clrScheme name="Custom 174">
      <a:dk1>
        <a:srgbClr val="000000"/>
      </a:dk1>
      <a:lt1>
        <a:srgbClr val="FFFFFF"/>
      </a:lt1>
      <a:dk2>
        <a:srgbClr val="242852"/>
      </a:dk2>
      <a:lt2>
        <a:srgbClr val="ACCBF9"/>
      </a:lt2>
      <a:accent1>
        <a:srgbClr val="4A66AC"/>
      </a:accent1>
      <a:accent2>
        <a:srgbClr val="629DD1"/>
      </a:accent2>
      <a:accent3>
        <a:srgbClr val="297FD5"/>
      </a:accent3>
      <a:accent4>
        <a:srgbClr val="7F8FA9"/>
      </a:accent4>
      <a:accent5>
        <a:srgbClr val="5AA2AE"/>
      </a:accent5>
      <a:accent6>
        <a:srgbClr val="E1EAED"/>
      </a:accent6>
      <a:hlink>
        <a:srgbClr val="9454C3"/>
      </a:hlink>
      <a:folHlink>
        <a:srgbClr val="3EBBF0"/>
      </a:folHlink>
    </a:clrScheme>
    <a:fontScheme name="Custom 30">
      <a:majorFont>
        <a:latin typeface="Century Gothic" pitchFamily="0" charset="1"/>
        <a:ea typeface=""/>
        <a:cs typeface=""/>
      </a:majorFont>
      <a:minorFont>
        <a:latin typeface="Century Gothic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15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Metadata/LabelInfo.xml><?xml version="1.0" encoding="utf-8"?>
<clbl:labelList xmlns:clbl="http://schemas.microsoft.com/office/2020/mipLabelMetadata"/>
</file>

<file path=docProps/app.xml><?xml version="1.0" encoding="utf-8"?>
<Properties xmlns="http://schemas.openxmlformats.org/officeDocument/2006/extended-properties" xmlns:vt="http://schemas.openxmlformats.org/officeDocument/2006/docPropsVTypes">
  <Template>{01E1B3A5-1AE4-4177-BC3F-C596D532C00B}TFf1460845-8e07-4b92-9183-e15be13008a218dbe6a5_win32-cc1095971745</Template>
  <TotalTime>1487</TotalTime>
  <Application>LibreOffice/26.2.6.3$Windows_X86_64 LibreOffice_project/8221e31b3ac356a1623c672912a3d2b492f7e3d1</Application>
  <AppVersion>15.0000</AppVersion>
  <Words>3122</Words>
  <Paragraphs>314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2026-07-14T08:04:07Z</dcterms:created>
  <dc:creator>宜軒 謝</dc:creator>
  <dc:description/>
  <dc:language>zh-TW</dc:language>
  <cp:lastModifiedBy/>
  <dcterms:modified xsi:type="dcterms:W3CDTF">2026-10-28T07:07:51Z</dcterms:modified>
  <cp:revision>13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pplications">
    <vt:lpwstr/>
  </property>
  <property fmtid="{D5CDD505-2E9C-101B-9397-08002B2CF9AE}" pid="3" name="CampaignTags">
    <vt:lpwstr/>
  </property>
  <property fmtid="{D5CDD505-2E9C-101B-9397-08002B2CF9AE}" pid="4" name="CategoryTags">
    <vt:lpwstr/>
  </property>
  <property fmtid="{D5CDD505-2E9C-101B-9397-08002B2CF9AE}" pid="5" name="ContentTypeId">
    <vt:lpwstr>0x01010079F111ED35F8CC479449609E8A0923A6</vt:lpwstr>
  </property>
  <property fmtid="{D5CDD505-2E9C-101B-9397-08002B2CF9AE}" pid="6" name="FeatureTags">
    <vt:lpwstr/>
  </property>
  <property fmtid="{D5CDD505-2E9C-101B-9397-08002B2CF9AE}" pid="7" name="HiddenCategoryTags">
    <vt:lpwstr/>
  </property>
  <property fmtid="{D5CDD505-2E9C-101B-9397-08002B2CF9AE}" pid="8" name="InternalTags">
    <vt:lpwstr/>
  </property>
  <property fmtid="{D5CDD505-2E9C-101B-9397-08002B2CF9AE}" pid="9" name="LocalizationTags">
    <vt:lpwstr/>
  </property>
  <property fmtid="{D5CDD505-2E9C-101B-9397-08002B2CF9AE}" pid="10" name="MediaServiceImageTags">
    <vt:lpwstr/>
  </property>
  <property fmtid="{D5CDD505-2E9C-101B-9397-08002B2CF9AE}" pid="11" name="Notes">
    <vt:i4>3</vt:i4>
  </property>
  <property fmtid="{D5CDD505-2E9C-101B-9397-08002B2CF9AE}" pid="12" name="Order">
    <vt:r8>74069400</vt:r8>
  </property>
  <property fmtid="{D5CDD505-2E9C-101B-9397-08002B2CF9AE}" pid="13" name="PresentationFormat">
    <vt:lpwstr>自訂</vt:lpwstr>
  </property>
  <property fmtid="{D5CDD505-2E9C-101B-9397-08002B2CF9AE}" pid="14" name="ScenarioTags">
    <vt:lpwstr/>
  </property>
  <property fmtid="{D5CDD505-2E9C-101B-9397-08002B2CF9AE}" pid="15" name="Slides">
    <vt:i4>26</vt:i4>
  </property>
</Properties>
</file>