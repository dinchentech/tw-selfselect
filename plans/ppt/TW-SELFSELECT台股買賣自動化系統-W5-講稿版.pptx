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</p:sldMasterIdLst>
  <p:notesMasterIdLst>
    <p:notesMasterId r:id="rId2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C628140-DF03-4D6A-8589-895BF7FDFDD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歡迎回來，這是第五堂課。</a:t>
            </a:r>
          </a:p>
          <a:p>
            <a:r>
              <a:t>前四週，我們認識了系統、學會了用 Opencode、也把五大策略的原理搞懂了。這一週是動手週——我們要實際把策略拿去「回測」，用歷史數據驗證策略到底會不會賺錢。</a:t>
            </a:r>
          </a:p>
          <a:p>
            <a:r>
              <a:t>---</a:t>
            </a:r>
          </a:p>
          <a:p/>
          <a:p>
            <a:r>
              <a:t>【講師提示】預告這週會有很多實際執行回測的示範，跟著做就對了。</a:t>
            </a:r>
          </a:p>
        </p:txBody>
      </p:sp>
      <p:sp>
        <p:nvSpPr>
          <p:cNvPr id="16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F73D64-CC1B-4B0D-9A89-0FC6FF3641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280" cy="342828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建議時間：2 分鐘</a:t>
            </a:r>
          </a:p>
          <a:p/>
          <a:p>
            <a:r>
              <a:t>先建立基本概念：什麼是回測？</a:t>
            </a:r>
          </a:p>
          <a:p>
            <a:r>
              <a:t>回測，又稱回溯，是量化交易的核心步驟。概念非常簡單：用過去的歷史數據，去驗證你的交易策略——如果在那個當下執行，到底會不會賺錢。</a:t>
            </a:r>
          </a:p>
          <a:p>
            <a:r>
              <a:t>舉例來說：如果你發明了一套號稱能穩定獲利的策略，你不能直接拿真錢去市場測試。你應該先讓程式讀取過去三年的台積電每日股價，模擬過去的每一天策略是否會觸發買賣訊號，最後統計這段期間的總報酬、勝率等績效指標。</a:t>
            </a:r>
          </a:p>
          <a:p>
            <a:r>
              <a:t>回測的核心價值有四點：驗證策略有效性——投入真錢之前先檢驗；參數最佳化——調整參數找出歷史表現最好的組合；了解策略特性——知道它在震盪盤、大牛市、崩盤各表現如何；建立交易信心——經過足夠驗證，實盤才不會因為短線虧損而恐慌。</a:t>
            </a:r>
          </a:p>
          <a:p>
            <a:r>
              <a:t>---</a:t>
            </a:r>
          </a:p>
          <a:p/>
          <a:p>
            <a:r>
              <a:t>【講師提示】強調「用歷史數據驗證」是量化交易跟憑感覺下單的根本差別。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9C44BC78-816A-4324-A2B9-A9ADB3874653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2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建議時間：2 分鐘</a:t>
            </a:r>
          </a:p>
          <a:p/>
          <a:p>
            <a:r>
              <a:t>把這週的經驗整理成回測的標準流程。</a:t>
            </a:r>
          </a:p>
          <a:p>
            <a:r>
              <a:t>第一步，先用預設參數跑所有策略；第二步，找出表現最好的策略與標的組合；第三步，針對該組合調整參數；第四步，至少跑三年以上的資料，確保策略經歷過多頭、空頭、盤整不同環境；第五步，確認策略邏輯在實盤合理——檢查每個訊號觸發的日期；第六步，用模擬交易測試一到兩週——用 live_trader_finmind.py 的模擬模式觀察。</a:t>
            </a:r>
          </a:p>
          <a:p>
            <a:r>
              <a:t>這個 SOP 就是日後你驗證任何新策略的標準動作。</a:t>
            </a:r>
          </a:p>
          <a:p>
            <a:r>
              <a:t>---</a:t>
            </a:r>
          </a:p>
          <a:p/>
          <a:p>
            <a:r>
              <a:t>【講師提示】這頁是「帶得走的方法論」，請學員拍照。強調第六步「模擬交易」是上實盤前的最後防線。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328D6CB-1137-47B0-9CA8-670D0F339C37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21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系統提供了五種回測模式，我們一個一個看。</a:t>
            </a:r>
          </a:p>
          <a:p>
            <a:r>
              <a:t>模式一，backtest.py，用 Yahoo Finance 的免費歷史股價做批次回測。這是主要回溯工具。</a:t>
            </a:r>
          </a:p>
          <a:p>
            <a:r>
              <a:t>特性：資料源是 Yahoo Finance，不需要 API Key 完全免費；自動掃描設定檔中定義的所有標的，目前有八檔，包含台積電、聯發科、鴻海、富邦金、0050、0056、00632R 等等；單一策略執行，一次跑完全部標的；自動匯出 CSV 績效報表；支援命令列參數，可以選策略、設開始日期。</a:t>
            </a:r>
          </a:p>
          <a:p>
            <a:r>
              <a:t>限制：不支援複委託手續費與證交稅計算。適用場景：快速驗證單一策略在整個觀察清單上的表現。</a:t>
            </a:r>
          </a:p>
          <a:p>
            <a:r>
              <a:t>---</a:t>
            </a:r>
          </a:p>
          <a:p/>
          <a:p>
            <a:r>
              <a:t>【講師提示】模式一是最常用的，講解時可以現場示範跑一次。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模式二，backtest_finmind.py，FinMind 多策略比較。</a:t>
            </a:r>
          </a:p>
          <a:p>
            <a:r>
              <a:t>資料源是 FinMind 台灣在地資料庫，需要免費註冊取得 API Token。特色是：四種策略同時跑在同一支股票上，方便橫向比較；支援手續費設定，買進千分之一點四二五、賣出含證交稅千分之四點四二五；回傳完整績效數據，包括最終權益、交易次數、勝率、平均報酬。</a:t>
            </a:r>
          </a:p>
          <a:p>
            <a:r>
              <a:t>適用場景：針對單一標的，比較四種策略哪個歷史表現最好。</a:t>
            </a:r>
          </a:p>
          <a:p>
            <a:r>
              <a:t>---</a:t>
            </a:r>
          </a:p>
          <a:p/>
          <a:p>
            <a:r>
              <a:t>【講師提示】強調模式二和模式一的差別——「一個策略跑多標的 vs 多策略跑一個標的」。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模式三，backtest_esun.py，用玉山 E.Sun SDK 回測。</a:t>
            </a:r>
          </a:p>
          <a:p>
            <a:r>
              <a:t>資料源是玉山證券提供的 MarketData API，需要先完成 SDK 安裝。支援指定單一標的、指定策略，包括 VWAP、均線交叉、布林通道、突破四種；使用 config.simulation.ini.example 的 API 設定；支援函式版策略。</a:t>
            </a:r>
          </a:p>
          <a:p>
            <a:r>
              <a:t>限制：限單一標的，非批次執行。適用場景：使用券商的真實歷史行情驗證策略，避免 Yahoo Finance 或 FinMind 的資料偏差。</a:t>
            </a:r>
          </a:p>
          <a:p>
            <a:r>
              <a:t>---</a:t>
            </a:r>
          </a:p>
          <a:p/>
          <a:p>
            <a:r>
              <a:t>【講師提示】模式三是「資料最準」的選項，但一次只能跑一支。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模式四，simulate_portfolio.py，投資組合模擬。</a:t>
            </a:r>
          </a:p>
          <a:p>
            <a:r>
              <a:t>它把回測結果延伸為完整的投資組合模擬，支援兩種資金模型：DCA 每月定額——每月投入固定金額，依權重分配至各策略，適合每個月兩萬的小資定期定額；另一種是一筆資金，Lump Sum——初始資金一次到位，獲利可再投入，適合五十萬一筆資金的配置。輸出會自動產生 Markdown 回溯報告，包含各標的明細、總績效、策略比較表。</a:t>
            </a:r>
          </a:p>
          <a:p>
            <a:r>
              <a:t>---</a:t>
            </a:r>
          </a:p>
          <a:p/>
          <a:p>
            <a:r>
              <a:t>【講師提示】模式選擇口訣是重點，讓學員拍照或抄下。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以模式一為例，看回測內部怎麼跑的。</a:t>
            </a:r>
          </a:p>
          <a:p>
            <a:r>
              <a:t>步驟一，讀取策略與參數——從命令列或環境變數取得策略名稱，預設是 VWAP；再從映射表取得對應的策略函式與參數。步驟二，初始化策略引擎——引擎本身很輕量，主要負責轉發呼叫。步驟三，對每個標的依序執行——遍歷全部八檔，根據股票代號決定 Yahoo Finance 後綴，下載歷史股價，資料為空就跳過。</a:t>
            </a:r>
          </a:p>
          <a:p>
            <a:r>
              <a:t>步驟四，執行策略——策略函式在資料表新增訊號欄位：一代表買進、負一代表賣出、零代表無動作。步驟五，計算績效——根據訊號欄位計算每筆交易的報酬，回傳交易次數、勝率、總報酬。步驟六，匯出結果——寫入 CSV，檔名包含策略名稱與時間戳。</a:t>
            </a:r>
          </a:p>
          <a:p>
            <a:r>
              <a:t>---</a:t>
            </a:r>
          </a:p>
          <a:p/>
          <a:p>
            <a:r>
              <a:t>【講師提示】流程圖頁，按步驟講，重點在「訊號欄位」的概念——策略的輸出就是買賣訊號。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來看一個實際例子。</a:t>
            </a:r>
          </a:p>
          <a:p>
            <a:r>
              <a:t>我問 Opencode：「給我台積電今年一到六月，用策略一到四回測單筆投資五十萬的結果。」</a:t>
            </a:r>
          </a:p>
          <a:p>
            <a:r>
              <a:t>看結果表：VWAP 偏離，半年合計加五點七趴，最好；均線交叉，負一點七九趴；布林通道，加一點一四趴，而且很多月份沒有交易；突破交易，負四點二五趴，最差。</a:t>
            </a:r>
          </a:p>
          <a:p>
            <a:r>
              <a:t>注意看「零筆」的月份——策略沒有觸發訊號就不交易，這很正常。半年數據只是範例，別急著下結論，下一頁我們看更完整的年度比較。</a:t>
            </a:r>
          </a:p>
          <a:p>
            <a:r>
              <a:t>---</a:t>
            </a:r>
          </a:p>
          <a:p/>
          <a:p>
            <a:r>
              <a:t>【講師提示】指著表格講，強調「零筆=沒訊號不動作」的概念。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這頁是解釋「雙巴」的走勢圖。</a:t>
            </a:r>
          </a:p>
          <a:p>
            <a:r>
              <a:t>大家看這張圖——這是盤整行情中，均線交叉策略的典型悲劇：快線與慢線頻繁交叉，圖中可以清楚看到連續三次雙巴。每一次黃金交叉買進，價格就回頭下跌，停損賣出；然後又出現死亡交叉訊號，再一次進出，又虧一次——來回被市場巴了三次。</a:t>
            </a:r>
          </a:p>
          <a:p>
            <a:r>
              <a:t>這就是為什麼「盤整盤死抱均線交叉＝送錢」——下一頁我們會講怎麼避免。</a:t>
            </a:r>
          </a:p>
          <a:p>
            <a:r>
              <a:t>---</a:t>
            </a:r>
          </a:p>
          <a:p/>
          <a:p>
            <a:r>
              <a:t>【講師提示】指著圖中三次交叉的位置逐一講解「買進→下跌→停損」的循環，讓學員直觀感受雙巴。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先認識兩種容易「雙巴」的盤勢。</a:t>
            </a:r>
          </a:p>
          <a:p>
            <a:r>
              <a:t>盤整盤跟震盪盤的差別：波動幅度——盤整盤小、窄幅，震盪盤大、寬幅；波動速度——盤整慢、震盪快。價格行為上，盤整盤像睡著，在一個小區間內慢慢磨；震盪盤像打架，急拉急跌來回甩。</a:t>
            </a:r>
          </a:p>
          <a:p>
            <a:r>
              <a:t>以台積電為例：盤整盤是股價在九百五十到一千之間磨一個月；震盪盤是三天內九百五漲到一千零五十、跌到九百二、再漲到一千零二十這樣甩。</a:t>
            </a:r>
          </a:p>
          <a:p>
            <a:r>
              <a:t>對策略的影響：盤整盤雙巴但虧不多，每次輸一點；震盪盤雙巴且虧很大，每次輸一大段。對交易者來說，震盪盤比盤整盤更致命——同樣被雙巴，震盪盤每巴一次傷口大得多。</a:t>
            </a:r>
          </a:p>
          <a:p>
            <a:r>
              <a:t>---</a:t>
            </a:r>
          </a:p>
          <a:p/>
          <a:p>
            <a:r>
              <a:t>【講師提示】用「睡著 vs 打架」的比喻幫助記憶，這是理解雙巴的關鍵頁。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怎麼避免雙巴？先看不要做什麼。</a:t>
            </a:r>
          </a:p>
          <a:p>
            <a:r>
              <a:t>不要做的：在盤整盤中死抱均線交叉策略，不加入任何過濾條件——上圖已經證明，在沒有趨勢的行情中，單純的均線交叉就是送錢。</a:t>
            </a:r>
          </a:p>
          <a:p>
            <a:r>
              <a:t>可以做的有四件事：第一，加大盤趨勢過濾——當大盤加權指數在兩百日線之上才做多，之下就空手。系統中的 MARKET_TREND_FILTER 就是做這件事。第二，加 ATR 波動度過濾——ATR 太低代表市場正在盤整，不進場，系統的 atr_threshold 參數就是為了避開這種環境。</a:t>
            </a:r>
          </a:p>
          <a:p>
            <a:r>
              <a:t>第三，改用逆勢策略——布林通道、VWAP 偏離，盤整盤中逆勢策略反而表現較好，在區間下緣買、上緣賣。第四，認清市場狀態，空手也是一種操作——盤整盤最好的策略就是 Keep Wait，不做單就不會被雙巴，等趨勢明確再進場。</a:t>
            </a:r>
          </a:p>
          <a:p>
            <a:r>
              <a:t>---</a:t>
            </a:r>
          </a:p>
          <a:p/>
          <a:p>
            <a:r>
              <a:t>【講師提示】四個解法對應四個系統功能（趨勢過濾/ATR/逆勢策略/Keep Wait），是本週實戰重點。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接下來這個比較很有價值：同是台積電，空頭年 2022 和多頭年 2025，四個策略表現如何？</a:t>
            </a:r>
          </a:p>
          <a:p>
            <a:r>
              <a:t>先看背景：2022 年台積電從五百八十二跌到四百二十二，買進持有負二十七趴，是 Fed 升息的空頭年；2025 年從一千零四十二漲到一千五百四十一，買進持有正四十八趴，是 AI 需求爆發的多頭年。</a:t>
            </a:r>
          </a:p>
          <a:p>
            <a:r>
              <a:t>策略表現：VWAP 偏離，2022 加三點六四趴、2025 加三十二點二九趴——兩年都正報酬，適應性最好；均線交叉，2022 加十點一六趴、2025 加十四點二九趴——是唯一買進持有虧錢年份也能賺的策略；布林通道，2022 負十點九五趴、2025 加十一點九一趴；突破交易，2022 負五點二三趴、2025 負九點九四趴——連兩年虧損，四策略中最差。</a:t>
            </a:r>
          </a:p>
          <a:p>
            <a:r>
              <a:t>結論：突破交易只適合噴發期，不適合長期整年適用。但也要小心事後諸葛亮——2022 用均線交叉、2025 用 VWAP，這是回測完才知道的，實戰不能這樣選。</a:t>
            </a:r>
          </a:p>
          <a:p>
            <a:r>
              <a:t>---</a:t>
            </a:r>
          </a:p>
          <a:p/>
          <a:p>
            <a:r>
              <a:t>【講師提示】這頁是「策略適應性」的核心證據，放慢講。強調「事後諸葛亮」陷阱。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再問 Opencode：聯發科 2024 到 2025，四策略表現如何？哪幾個區段適合用唐奇安通道？</a:t>
            </a:r>
          </a:p>
          <a:p>
            <a:r>
              <a:t>看結果：突破交易，2024 加三十二點九三趴、2025 負七點三二趴——2024 大賺、2025 小虧，驗證了「突破只適用噴發期」；均線交叉兩年都正；布林通道 2024 小虧 2025 小賺；VWAP 兩年都虧。</a:t>
            </a:r>
          </a:p>
          <a:p>
            <a:r>
              <a:t>結論很清楚：突發策略只適用噴發期——2024 聯發科有明顯的噴發段，突破交易吃到肉；2025 沒有噴發，就虧損。這呼應了上一頁的結論：突破交易是「時機型」策略，不是「全年型」策略。</a:t>
            </a:r>
          </a:p>
          <a:p>
            <a:r>
              <a:t>---</a:t>
            </a:r>
          </a:p>
          <a:p/>
          <a:p>
            <a:r>
              <a:t>【講師提示】指著表格與走勢圖講，強調「策略要配合盤勢/個股階段使用」。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AI 標出適合唐奇安區段的聯發科走勢圖。</a:t>
            </a:r>
          </a:p>
          <a:p>
            <a:r>
              <a:t>畫面上是聯發科 2024 到 2025 的走勢圖，圖中標示的區段，就是突破策略適用、股價明顯噴發的時期。大家可以對照著看——突破策略賺的就是這些「火箭發射」的段。</a:t>
            </a:r>
          </a:p>
          <a:p>
            <a:r>
              <a:t>---</a:t>
            </a:r>
          </a:p>
          <a:p/>
          <a:p>
            <a:r>
              <a:t>【講師提示】指著圖中噴發段講解，讓學員視覺化理解「噴發期」。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接下來進入今天的重頭戲：自己加一個策略。</a:t>
            </a:r>
          </a:p>
          <a:p>
            <a:r>
              <a:t>先切到 Plan Builder 模式，然後輸入需求：「用備用二來完成週 KD 策略」。這個策略來自 Google AI 推薦的穩健 KD 策略：放棄震盪劇烈的日線，改用週 K 線——以週為單位計算。週 KD 的轉折代表的是中長期趨勢改變，涵蓋數個月到半年以上。</a:t>
            </a:r>
          </a:p>
          <a:p>
            <a:r>
              <a:t>買進點：當週 KD 在低檔，小於三十或二十，發生黃金交叉時進場——代表股價經歷大波段修正後，中長期底部成形。持有期：只要週 KD 維持向上或高檔鈍化，就一路抱牢。好處：一年中一檔股票可能只出現一到兩次訊號，交易次數少、手續費低，而且能抓到大波段。</a:t>
            </a:r>
          </a:p>
          <a:p>
            <a:r>
              <a:t>---</a:t>
            </a:r>
          </a:p>
          <a:p/>
          <a:p>
            <a:r>
              <a:t>【講師提示】示範「用 Plan Builder 規劃新策略」的完整流程，強調 AI 會自動產生計畫。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 Plan Builder 的計畫完成畫面。</a:t>
            </a:r>
          </a:p>
          <a:p>
            <a:r>
              <a:t>大家看畫面——Plan Builder 已經把「週 KD 策略」拆解成完整的工作計畫，放在 .omo/plans 底下的 Markdown 檔。計畫裡包含要做什麼、改哪些檔案、怎麼驗證。這就是「先規劃再執行」的標準流程。</a:t>
            </a:r>
          </a:p>
          <a:p>
            <a:r>
              <a:t>---</a:t>
            </a:r>
          </a:p>
          <a:p/>
          <a:p>
            <a:r>
              <a:t>【講師提示】指著計畫結構講解，讓學員看到 AI 規劃的專業度。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計畫好了，切回 UltraWorker 執行。</a:t>
            </a:r>
          </a:p>
          <a:p>
            <a:r>
              <a:t>輸入「執行 weekly-kd-strategy」就會開始動工。提醒一點：如果執行太久，可以用 ESC 中斷，切到 Deepseek Pro 讓它跑得更快——複雜任務換更強模型是合理的。</a:t>
            </a:r>
          </a:p>
          <a:p>
            <a:r>
              <a:t>---</a:t>
            </a:r>
          </a:p>
          <a:p/>
          <a:p>
            <a:r>
              <a:t>【講師提示】強調「規劃用 Plan Builder、執行用 UltraWorker、複雜任務可升級 Pro」的分工。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策略寫好了，立刻驗證：用聯發科 2022、2025 兩年，跟其他四策略比較。</a:t>
            </a:r>
          </a:p>
          <a:p>
            <a:r>
              <a:t>看結果：VWAP 偏離合計加十萬五、表現最好；突破交易加三萬八；布林通道小虧；週 KD 預設參數，兩年合計虧三千七百一十八，排第五；均線交叉虧四萬五；買進持有虧十六萬。</a:t>
            </a:r>
          </a:p>
          <a:p>
            <a:r>
              <a:t>注意買進持有是負十六萬——因為 2022 聯發科跌很慘。而週 KD 預設參數只有四次買進，雖然虧但虧很少。預設表現不理想，下一頁看為什麼。</a:t>
            </a:r>
          </a:p>
          <a:p>
            <a:r>
              <a:t>---</a:t>
            </a:r>
          </a:p>
          <a:p/>
          <a:p>
            <a:r>
              <a:t>【講師提示】強調「買進持有在空頭年很慘」，回測的價值就是避開這種情況。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為什麼週 KD 預設表現不好？</a:t>
            </a:r>
          </a:p>
          <a:p>
            <a:r>
              <a:t>核心問題：訊號太少——兩年才四次買進。2022 年三次買進都在空頭年，小虧正常；2025 年只有一次買進，加零點七五趴，錯過大部分反彈。</a:t>
            </a:r>
          </a:p>
          <a:p>
            <a:r>
              <a:t>原因：預設的 K 值九，對聯發科而言不夠敏感，KD 值鈍化，導致買點錯過。解決方向：調整參數——這就是下一頁的參數掃描。</a:t>
            </a:r>
          </a:p>
          <a:p>
            <a:r>
              <a:t>---</a:t>
            </a:r>
          </a:p>
          <a:p/>
          <a:p>
            <a:r>
              <a:t>【講師提示】引導學員思考「訊號太少是參數問題，不是策略方向問題」。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用 AI 做參數掃描：搜尋聯發科 2022、2025 的最佳參數，再跟其他策略比較。</a:t>
            </a:r>
          </a:p>
          <a:p>
            <a:r>
              <a:t>結果：VWAP 偏離合計加十一萬三；新的週 KD 最佳參數十二、二十五、五，兩年都正報酬，合計加四萬兩千七，比預設好太多了。</a:t>
            </a:r>
          </a:p>
          <a:p>
            <a:r>
              <a:t>重點對比：VWAP 靠七十六次頻繁交易累積報酬；週 KD 最佳參數只花四筆就賺了四萬兩千七——效率是 VWAP 的七倍以上，而且兩年都是正報酬，防守力相當。</a:t>
            </a:r>
          </a:p>
          <a:p>
            <a:r>
              <a:t>不過結論要誠實：週 KD 策略整體還是沒有 VWAP 好。這就是回測的價值——用數據說話，而不是感覺。</a:t>
            </a:r>
          </a:p>
          <a:p>
            <a:r>
              <a:t>---</a:t>
            </a:r>
          </a:p>
          <a:p/>
          <a:p>
            <a:r>
              <a:t>【講師提示】強調「效率 vs 總報酬」的對比，以及「回測結果要誠實接受」。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回測之外，系統還有選股工具。第一個：翻倍潛力股掃描。</a:t>
            </a:r>
          </a:p>
          <a:p>
            <a:r>
              <a:t>find_catalyst_stocks.py 掃了全市場一千零七十九檔，篩出一百五十三檔符合型態的，取前五名：和桐、全科、全友、鼎固-KY、天二科技——評分從六十九到六十四，突破幅度從加九十趴到兩百三十四趴，量能倍數四點七到八點七倍。</a:t>
            </a:r>
          </a:p>
          <a:p>
            <a:r>
              <a:t>注意警告：全數為中小型股。記得先研究基本面，再決定要不要加入候選池——型態好不代表公司好。</a:t>
            </a:r>
          </a:p>
          <a:p>
            <a:r>
              <a:t>---</a:t>
            </a:r>
          </a:p>
          <a:p/>
          <a:p>
            <a:r>
              <a:t>【講師提示】強調「型態選股要搭配基本面研究」的風險意識。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第二個選股工具：下一季推薦持股。</a:t>
            </a:r>
          </a:p>
          <a:p>
            <a:r>
              <a:t>stock_selector_grid.py 基於收盤價，從十六檔候選池選出下季推薦：強勢首選是某檔近季動能加三十一趴的權值股，建議用均線交叉；再來是防禦型、逆勢觀察、還有週期底部的標的——每檔都標註建議策略與動能數據。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這頁給出一個重要結論。</a:t>
            </a:r>
          </a:p>
          <a:p>
            <a:r>
              <a:t>定期檢討的頻率，遠比檢討方式重要。無論是人工逐年還是機械式每季，只要有紀律地定期檢討，都能大幅優於買入持有。特別是在 2022 熊市中，每季換股更是顯著降低了虧損。</a:t>
            </a:r>
          </a:p>
          <a:p>
            <a:r>
              <a:t>記住：紀律是散戶唯一的護城河。</a:t>
            </a:r>
          </a:p>
          <a:p>
            <a:r>
              <a:t>---</a:t>
            </a:r>
          </a:p>
          <a:p/>
          <a:p>
            <a:r>
              <a:t>【講師提示】一句話總結頁，講慢一點，讓結論有分量。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最後，回測的最大目標是什麼？</a:t>
            </a:r>
          </a:p>
          <a:p>
            <a:r>
              <a:t>請記住：**回測的目的是「排除壞策略」，而不是「找出完美策略」**。一個在各種市場環境下都能穩定小賺的策略，遠比一個在大牛市暴賺、但在崩盤時慘賠的策略更有價值。先用回測驗證，再用小額資金實盤測試，最後才放大資金。</a:t>
            </a:r>
          </a:p>
          <a:p>
            <a:r>
              <a:t>「排除壞策略」這五個字，就是這週的答案。</a:t>
            </a:r>
          </a:p>
          <a:p>
            <a:r>
              <a:t>---</a:t>
            </a:r>
          </a:p>
          <a:p/>
          <a:p>
            <a:r>
              <a:t>【講師提示】全週核心金句，放慢、加重語氣講。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好，這堂課到這裡。</a:t>
            </a:r>
          </a:p>
          <a:p>
            <a:r>
              <a:t>今天的功課：試著在備用二的位置，加一個你自己的策略——盡量不要動 selfselect_trader.py 主程式，只改設定與策略檔。我是 frank，信箱 frank@dinchen.com.tw，有問題歡迎寫信。下週我們進入實盤執行。下次見！</a:t>
            </a:r>
          </a:p>
          <a:p>
            <a:r>
              <a:t>---</a:t>
            </a:r>
          </a:p>
          <a:p/>
          <a:p>
            <a:r>
              <a:t>【講師提示】功課清楚交代，預告下週主題。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240" cy="686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4"/>
          <p:cNvSpPr/>
          <p:nvPr/>
        </p:nvSpPr>
        <p:spPr>
          <a:xfrm>
            <a:off x="6703920" y="83808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9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360" cy="380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E2E6528-03F5-4C2E-BD0E-7CEDFC8B757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4"/>
          <p:cNvSpPr>
            <a:spLocks noGrp="1"/>
          </p:cNvSpPr>
          <p:nvPr>
            <p:ph type="dt" idx="3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680" cy="2687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560" cy="528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2"/>
          <p:cNvSpPr/>
          <p:nvPr/>
        </p:nvSpPr>
        <p:spPr>
          <a:xfrm>
            <a:off x="7130160" y="396936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8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320" cy="55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Cross 5"/>
          <p:cNvSpPr/>
          <p:nvPr/>
        </p:nvSpPr>
        <p:spPr>
          <a:xfrm>
            <a:off x="6368040" y="2407320"/>
            <a:ext cx="640080" cy="640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360" cy="438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val 4"/>
          <p:cNvSpPr/>
          <p:nvPr/>
        </p:nvSpPr>
        <p:spPr>
          <a:xfrm>
            <a:off x="6361200" y="1317240"/>
            <a:ext cx="5028480" cy="5028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7A501CAE-72CE-4D23-89B3-2EEA0DC1AD1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dt" idx="6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00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7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09D5067-50A7-4582-8B70-93C23956575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dt" idx="9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396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040" cy="396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Freeform: Shape 9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771AE1B-8566-4B54-B7A3-3274BA0B6078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000" cy="3504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: Shape 16"/>
          <p:cNvSpPr/>
          <p:nvPr/>
        </p:nvSpPr>
        <p:spPr>
          <a:xfrm>
            <a:off x="7026120" y="0"/>
            <a:ext cx="4460760" cy="1980360"/>
          </a:xfrm>
          <a:custGeom>
            <a:avLst/>
            <a:gdLst>
              <a:gd name="textAreaLeft" fmla="*/ 0 w 4460760"/>
              <a:gd name="textAreaRight" fmla="*/ 4461480 w 4460760"/>
              <a:gd name="textAreaTop" fmla="*/ 0 h 1980360"/>
              <a:gd name="textAreaBottom" fmla="*/ 1981080 h 198036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5" name="Cross 5"/>
          <p:cNvSpPr/>
          <p:nvPr/>
        </p:nvSpPr>
        <p:spPr>
          <a:xfrm>
            <a:off x="6683040" y="139716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Cross 6"/>
          <p:cNvSpPr/>
          <p:nvPr/>
        </p:nvSpPr>
        <p:spPr>
          <a:xfrm>
            <a:off x="11085480" y="5638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E25F2F1D-FACF-4C4D-B729-03F5DEF3D4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12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14"/>
          <p:cNvSpPr/>
          <p:nvPr/>
        </p:nvSpPr>
        <p:spPr>
          <a:xfrm>
            <a:off x="9958320" y="0"/>
            <a:ext cx="2229840" cy="1980360"/>
          </a:xfrm>
          <a:custGeom>
            <a:avLst/>
            <a:gdLst>
              <a:gd name="textAreaLeft" fmla="*/ 0 w 2229840"/>
              <a:gd name="textAreaRight" fmla="*/ 2230560 w 2229840"/>
              <a:gd name="textAreaTop" fmla="*/ 0 h 1980360"/>
              <a:gd name="textAreaBottom" fmla="*/ 1981080 h 198036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Rectangle 1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Cross 2"/>
          <p:cNvSpPr/>
          <p:nvPr/>
        </p:nvSpPr>
        <p:spPr>
          <a:xfrm>
            <a:off x="7846920" y="3808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Cross 4"/>
          <p:cNvSpPr/>
          <p:nvPr/>
        </p:nvSpPr>
        <p:spPr>
          <a:xfrm>
            <a:off x="8559720" y="1066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791B5DE-9878-4024-83C5-1A7131CBA14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12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Freeform: Shape 8"/>
          <p:cNvSpPr/>
          <p:nvPr/>
        </p:nvSpPr>
        <p:spPr>
          <a:xfrm>
            <a:off x="2131920" y="0"/>
            <a:ext cx="7923960" cy="6857280"/>
          </a:xfrm>
          <a:custGeom>
            <a:avLst/>
            <a:gdLst>
              <a:gd name="textAreaLeft" fmla="*/ 0 w 7923960"/>
              <a:gd name="textAreaRight" fmla="*/ 7924680 w 7923960"/>
              <a:gd name="textAreaTop" fmla="*/ 0 h 6857280"/>
              <a:gd name="textAreaBottom" fmla="*/ 6858000 h 685728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7"/>
          <p:cNvSpPr/>
          <p:nvPr/>
        </p:nvSpPr>
        <p:spPr>
          <a:xfrm>
            <a:off x="0" y="0"/>
            <a:ext cx="12188160" cy="685728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8" name="Freeform: Shape 12"/>
          <p:cNvSpPr/>
          <p:nvPr/>
        </p:nvSpPr>
        <p:spPr>
          <a:xfrm>
            <a:off x="0" y="1440"/>
            <a:ext cx="3427560" cy="6855840"/>
          </a:xfrm>
          <a:custGeom>
            <a:avLst/>
            <a:gdLst>
              <a:gd name="textAreaLeft" fmla="*/ 0 w 3427560"/>
              <a:gd name="textAreaRight" fmla="*/ 3428280 w 3427560"/>
              <a:gd name="textAreaTop" fmla="*/ 0 h 6855840"/>
              <a:gd name="textAreaBottom" fmla="*/ 6856560 h 685584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080" cy="5295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080" cy="285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Cross 13"/>
          <p:cNvSpPr/>
          <p:nvPr/>
        </p:nvSpPr>
        <p:spPr>
          <a:xfrm>
            <a:off x="4837680" y="9144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2" name="Cross 14"/>
          <p:cNvSpPr/>
          <p:nvPr/>
        </p:nvSpPr>
        <p:spPr>
          <a:xfrm>
            <a:off x="3085200" y="56959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Left Brace 1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val 6"/>
          <p:cNvSpPr/>
          <p:nvPr/>
        </p:nvSpPr>
        <p:spPr>
          <a:xfrm>
            <a:off x="6703920" y="1148400"/>
            <a:ext cx="4560480" cy="456048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5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5640" cy="566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ross 8"/>
          <p:cNvSpPr/>
          <p:nvPr/>
        </p:nvSpPr>
        <p:spPr>
          <a:xfrm>
            <a:off x="10818720" y="535320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7" name="Cross 10"/>
          <p:cNvSpPr/>
          <p:nvPr/>
        </p:nvSpPr>
        <p:spPr>
          <a:xfrm>
            <a:off x="6336000" y="80568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000" cy="403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000" cy="110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280" cy="509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 4"/>
          <p:cNvSpPr/>
          <p:nvPr/>
        </p:nvSpPr>
        <p:spPr>
          <a:xfrm>
            <a:off x="3274920" y="609480"/>
            <a:ext cx="5637960" cy="563796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Left Brace 7"/>
          <p:cNvSpPr/>
          <p:nvPr/>
        </p:nvSpPr>
        <p:spPr>
          <a:xfrm>
            <a:off x="5560920" y="2022120"/>
            <a:ext cx="837360" cy="281340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2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760" cy="281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3"/>
          <p:cNvSpPr/>
          <p:nvPr/>
        </p:nvSpPr>
        <p:spPr>
          <a:xfrm>
            <a:off x="0" y="0"/>
            <a:ext cx="759600" cy="685728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8"/>
          <p:cNvSpPr/>
          <p:nvPr/>
        </p:nvSpPr>
        <p:spPr>
          <a:xfrm>
            <a:off x="8151840" y="5670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4D0023D-D0FF-4C37-B65E-4F9781F9ECA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160" y="2592000"/>
            <a:ext cx="44190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0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960" y="5259240"/>
            <a:ext cx="1218600" cy="759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2" name="Cross 14"/>
          <p:cNvSpPr/>
          <p:nvPr/>
        </p:nvSpPr>
        <p:spPr>
          <a:xfrm>
            <a:off x="7351560" y="4419720"/>
            <a:ext cx="685080" cy="68508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Freeform: Shape 4"/>
          <p:cNvSpPr/>
          <p:nvPr/>
        </p:nvSpPr>
        <p:spPr>
          <a:xfrm>
            <a:off x="8609040" y="-21960"/>
            <a:ext cx="3579120" cy="6901200"/>
          </a:xfrm>
          <a:custGeom>
            <a:avLst/>
            <a:gdLst>
              <a:gd name="textAreaLeft" fmla="*/ 0 w 3579120"/>
              <a:gd name="textAreaRight" fmla="*/ 3579840 w 3579120"/>
              <a:gd name="textAreaTop" fmla="*/ 0 h 6901200"/>
              <a:gd name="textAreaBottom" fmla="*/ 6901920 h 690120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inchentech/tw-autotrader/blob/main/&#20351;&#29992;&#25163;&#20874;.md#&#36984;&#32929;&#24037;&#20855;&#24037;&#20316;&#27969;&#31243;" TargetMode="Externa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280" cy="3885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TW-SELFSELECT-W5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2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Opencode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747360" y="427680"/>
            <a:ext cx="11288160" cy="55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10764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🤔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什麼是回溯？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777600" y="892080"/>
            <a:ext cx="11227680" cy="4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回溯（</a:t>
            </a:r>
            <a:r>
              <a:rPr lang="en-US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Backtest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又稱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，是量化交易的核心步驟。它的概念非常簡單：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747360" y="2023560"/>
            <a:ext cx="65880" cy="41364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3120" tIns="45000" rIns="3312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780840" y="1281600"/>
            <a:ext cx="10626480" cy="41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76120" tIns="0" rIns="276120" bIns="0" anchor="t">
            <a:noAutofit/>
          </a:bodyPr>
          <a:lstStyle/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用過去的歷史數據，去驗證你的交易策略如果在那個當下執行，到底會不會賺錢。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747360" y="1734120"/>
            <a:ext cx="10693080" cy="165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舉例來說：如果你發明了一套號稱能穩定獲利的策略，你不能直接拿真錢去市場上測試。你應該先讓程式讀取過去三年（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2023~2026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年）台積電（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2330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）的每日股價資料，然後模擬在過去的每一天，策略是否會觸發買進或賣出訊號，最後統計這段期間的總報酬、勝率等績效指標。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763920" y="3647160"/>
            <a:ext cx="11288160" cy="3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回溯的核心價值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Table 0"/>
          <p:cNvGraphicFramePr/>
          <p:nvPr/>
        </p:nvGraphicFramePr>
        <p:xfrm>
          <a:off x="651600" y="4159440"/>
          <a:ext cx="11217600" cy="2246400"/>
        </p:xfrm>
        <a:graphic>
          <a:graphicData uri="http://schemas.openxmlformats.org/drawingml/2006/table">
            <a:tbl>
              <a:tblPr/>
              <a:tblGrid>
                <a:gridCol w="226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8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5320">
                <a:tc>
                  <a:txBody>
                    <a:bodyPr/>
                    <a:lstStyle/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目的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驗證策略有效性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在投入真實資金之前，先用歷史數據檢驗策略是否真的能賺錢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參數最佳化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調整策略參數（如均線週期、標準差倍數），找出歷史表現最好的組合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了解策略特性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了解策略在什麼市場環境（震盪盤、大牛市、崩盤）表現好或差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320"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建立交易信心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經過足夠的回溯驗證後，在實盤執行時才不會因為短線虧損而恐慌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70AA22-458A-4885-8201-9ABC4952351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模式一：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backtest.py — Yahoo Finance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批次回溯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主要回溯工具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Yahoo Finance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的免費歷史股價資料。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資料源：Yahoo Finance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（無需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Key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，完全免費）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自動掃描 config/symbols.py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中定義的所有標的（目前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2330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2317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2881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0056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00632R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00646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單一策略執行，一次跑完全部標的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自動匯出 CSV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績效報表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支援命令列參數：--strategy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選擇策略、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--start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設定開始日期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不支援複委託手續費與證交稅計算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快速驗證單一策略在整個觀察清單上的表現。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01DD0820-28F5-41AA-A2A7-1970C492B0F5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模式二：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backtest_finmind.py — FinMind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多策略比較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進階回溯工具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台灣股市資料庫。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資料源：FinMind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（台灣在地資料庫，需免費註冊取得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Token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四種策略同時跑在同一支股票上，方便橫向比較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支援手續費設定：買進 0.1425%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、賣出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0.4425%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（含證交稅）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回傳完整績效數據：最終權益、交易次數、勝率、平均報酬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針對單一標的，比較四種策略哪個歷史表現最好。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DBAD274-4A81-42BC-9B61-98B74A3D49B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8211240" cy="540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模式三：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backtest_esun.py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E.Sun SDK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使用玉山證券提供的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擷取歷史行情資料進行回測。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特性：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資料源：玉山 E.Sun MarketData 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（需先完成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安裝）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 --symbol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指定單一標的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 --strategy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指定策略（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/ ma_cross / bollinger / breakout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使用 config.simulation.ini.example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支援函式版策略（strategies/vwap_deviation.py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等）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🚫 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限單一標的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，非批次執行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適用場景：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使用券商的真實歷史行情資料驗證策略，避免 Yahoo Finance / FinMind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的資料偏差。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90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策略的回測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5510E90B-17EB-4577-AD42-943D7CBF8D92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文字方塊 8"/>
          <p:cNvSpPr/>
          <p:nvPr/>
        </p:nvSpPr>
        <p:spPr>
          <a:xfrm>
            <a:off x="1293840" y="1324080"/>
            <a:ext cx="9371880" cy="515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457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模式四：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simulate_portfolio.py —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投資組合模擬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將回測結果延伸為完整投資組合模擬，支援兩種資金模型：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輸出： 自動產生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Markdown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回溯報告（含各標的明細、總績效、策略比較表）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2920" defTabSz="914400">
              <a:lnSpc>
                <a:spcPts val="1500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（註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模式一～三僅支持策略１～４）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TWSE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公開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（免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Key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、免註冊）取得三大法人買賣資料，搭配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FinMind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  <a:ea typeface="Century Gothic"/>
              </a:rPr>
              <a:t>價格資料進行回測。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簡單選擇：　（不確定就直接讓ＡＩ執行）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單一策略多目標＝＞模式一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單一目標多策略＝＞模式二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玉山資料／單一目標／單一策略＝＞模式三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實盤設定多目標多策略回測＝＞模式四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ts val="1559"/>
              </a:lnSpc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110000"/>
              </a:lnSpc>
              <a:spcBef>
                <a:spcPts val="1800"/>
              </a:spcBef>
              <a:spcAft>
                <a:spcPts val="11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908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回測的執行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600" cy="38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9CC51A4B-0BA3-4DB9-B02F-35A1F9340B95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文字方塊 8"/>
          <p:cNvSpPr/>
          <p:nvPr/>
        </p:nvSpPr>
        <p:spPr>
          <a:xfrm>
            <a:off x="1293840" y="1324080"/>
            <a:ext cx="9371880" cy="515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：讀取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從命令列或環境變數取得策略名稱（預設 vwap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從 STRATEGY_CONFIG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映射表取得對應的策略函式與參數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：初始化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策略引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StrategyEngine(strategy_func, **params)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引擎本身非常輕量，主要負責轉發呼叫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：對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每個標的依序執行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遍歷 ALL_SYMBOLS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（目前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檔）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根據股票代號決定 Yahoo Finance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後綴（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.TW / .TWO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呼叫 load_historical_data()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下載歷史股價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若資料為空則跳過該標的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執行策略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engine.run(df) →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呼叫策略函式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策略函式在 DataFrame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中新增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signal = 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（買進）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-1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（賣出）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, 0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（無動作）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5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計算績效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calculate_performance(df)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根據 signal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欄位計算每筆交易的報酬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回傳交易次數、勝率、總報酬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步驟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6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：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匯出結果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將所有非空的結果寫入 CSV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  └─ 檔案命名包含策略名稱與時間戳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311120" y="338400"/>
            <a:ext cx="10421280" cy="65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問：給我台積電今年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1~6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月用策略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回測單筆投資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萬的結果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27" name="內容版面配置區 4"/>
          <p:cNvGraphicFramePr/>
          <p:nvPr/>
        </p:nvGraphicFramePr>
        <p:xfrm>
          <a:off x="1311120" y="1066680"/>
          <a:ext cx="9598680" cy="3017160"/>
        </p:xfrm>
        <a:graphic>
          <a:graphicData uri="http://schemas.openxmlformats.org/drawingml/2006/table">
            <a:tbl>
              <a:tblPr/>
              <a:tblGrid>
                <a:gridCol w="1199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9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C4BD"/>
                      </a:solidFill>
                      <a:prstDash val="solid"/>
                    </a:lnL>
                    <a:lnR w="12240">
                      <a:solidFill>
                        <a:srgbClr val="60C4BD"/>
                      </a:solidFill>
                      <a:prstDash val="solid"/>
                    </a:lnR>
                    <a:lnT w="12240">
                      <a:solidFill>
                        <a:srgbClr val="C0C4BD"/>
                      </a:solidFill>
                      <a:prstDash val="solid"/>
                    </a:lnT>
                    <a:lnB w="12240">
                      <a:solidFill>
                        <a:srgbClr val="E0C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Jan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C4BD"/>
                      </a:solidFill>
                      <a:prstDash val="solid"/>
                    </a:lnL>
                    <a:lnR w="12240">
                      <a:solidFill>
                        <a:srgbClr val="C0BEBD"/>
                      </a:solidFill>
                      <a:prstDash val="solid"/>
                    </a:lnR>
                    <a:lnT w="12240">
                      <a:solidFill>
                        <a:srgbClr val="60C4BD"/>
                      </a:solidFill>
                      <a:prstDash val="solid"/>
                    </a:lnT>
                    <a:lnB w="12240">
                      <a:solidFill>
                        <a:srgbClr val="4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Feb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BEBD"/>
                      </a:solidFill>
                      <a:prstDash val="solid"/>
                    </a:lnL>
                    <a:lnR w="12240">
                      <a:solidFill>
                        <a:srgbClr val="40BDBD"/>
                      </a:solidFill>
                      <a:prstDash val="solid"/>
                    </a:lnR>
                    <a:lnT w="12240">
                      <a:solidFill>
                        <a:srgbClr val="C0BEBD"/>
                      </a:solidFill>
                      <a:prstDash val="solid"/>
                    </a:lnT>
                    <a:lnB w="12240">
                      <a:solidFill>
                        <a:srgbClr val="A0C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BDBD"/>
                      </a:solidFill>
                      <a:prstDash val="solid"/>
                    </a:lnL>
                    <a:lnR w="12240">
                      <a:solidFill>
                        <a:srgbClr val="80C5BD"/>
                      </a:solidFill>
                      <a:prstDash val="solid"/>
                    </a:lnR>
                    <a:lnT w="12240">
                      <a:solidFill>
                        <a:srgbClr val="40BDBD"/>
                      </a:solidFill>
                      <a:prstDash val="solid"/>
                    </a:lnT>
                    <a:lnB w="12240">
                      <a:solidFill>
                        <a:srgbClr val="60C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Apr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C5BD"/>
                      </a:solidFill>
                      <a:prstDash val="solid"/>
                    </a:lnL>
                    <a:lnR w="12240">
                      <a:solidFill>
                        <a:srgbClr val="00C4BD"/>
                      </a:solidFill>
                      <a:prstDash val="solid"/>
                    </a:lnR>
                    <a:lnT w="12240">
                      <a:solidFill>
                        <a:srgbClr val="80C5BD"/>
                      </a:solidFill>
                      <a:prstDash val="solid"/>
                    </a:lnT>
                    <a:lnB w="12240">
                      <a:solidFill>
                        <a:srgbClr val="20CB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May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C4BD"/>
                      </a:solidFill>
                      <a:prstDash val="solid"/>
                    </a:lnL>
                    <a:lnR w="12240">
                      <a:solidFill>
                        <a:srgbClr val="40C0BD"/>
                      </a:solidFill>
                      <a:prstDash val="solid"/>
                    </a:lnR>
                    <a:lnT w="12240">
                      <a:solidFill>
                        <a:srgbClr val="00C4BD"/>
                      </a:solidFill>
                      <a:prstDash val="solid"/>
                    </a:lnT>
                    <a:lnB w="12240">
                      <a:solidFill>
                        <a:srgbClr val="40C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Jun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40C0BD"/>
                      </a:solidFill>
                      <a:prstDash val="solid"/>
                    </a:lnT>
                    <a:lnB w="12240">
                      <a:solidFill>
                        <a:srgbClr val="E0D1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2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半年合計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0BD"/>
                      </a:solidFill>
                      <a:prstDash val="solid"/>
                    </a:lnL>
                    <a:lnR w="12240">
                      <a:solidFill>
                        <a:srgbClr val="00D0BD"/>
                      </a:solidFill>
                      <a:prstDash val="solid"/>
                    </a:lnR>
                    <a:lnT w="12240">
                      <a:solidFill>
                        <a:srgbClr val="00D0BD"/>
                      </a:solidFill>
                      <a:prstDash val="solid"/>
                    </a:lnT>
                    <a:lnB w="12240">
                      <a:solidFill>
                        <a:srgbClr val="60D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 VWAP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C5BD"/>
                      </a:solidFill>
                      <a:prstDash val="solid"/>
                    </a:lnL>
                    <a:lnR w="12240">
                      <a:solidFill>
                        <a:srgbClr val="40C6BD"/>
                      </a:solidFill>
                      <a:prstDash val="solid"/>
                    </a:lnR>
                    <a:lnT w="12240">
                      <a:solidFill>
                        <a:srgbClr val="E0C5BD"/>
                      </a:solidFill>
                      <a:prstDash val="solid"/>
                    </a:lnT>
                    <a:lnB w="12240">
                      <a:solidFill>
                        <a:srgbClr val="0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+3.06%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6BD"/>
                      </a:solidFill>
                      <a:prstDash val="solid"/>
                    </a:lnL>
                    <a:lnR w="12240">
                      <a:solidFill>
                        <a:srgbClr val="A0C6BD"/>
                      </a:solidFill>
                      <a:prstDash val="solid"/>
                    </a:lnR>
                    <a:lnT w="12240">
                      <a:solidFill>
                        <a:srgbClr val="40C6BD"/>
                      </a:solidFill>
                      <a:prstDash val="solid"/>
                    </a:lnT>
                    <a:lnB w="12240">
                      <a:solidFill>
                        <a:srgbClr val="C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-9.63%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C6BD"/>
                      </a:solidFill>
                      <a:prstDash val="solid"/>
                    </a:lnL>
                    <a:lnR w="12240">
                      <a:solidFill>
                        <a:srgbClr val="60C7BD"/>
                      </a:solidFill>
                      <a:prstDash val="solid"/>
                    </a:lnR>
                    <a:lnT w="12240">
                      <a:solidFill>
                        <a:srgbClr val="A0C6BD"/>
                      </a:solidFill>
                      <a:prstDash val="solid"/>
                    </a:lnT>
                    <a:lnB w="12240">
                      <a:solidFill>
                        <a:srgbClr val="A0D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+4.14%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C7BD"/>
                      </a:solidFill>
                      <a:prstDash val="solid"/>
                    </a:lnL>
                    <a:lnR w="12240">
                      <a:solidFill>
                        <a:srgbClr val="20CBBD"/>
                      </a:solidFill>
                      <a:prstDash val="solid"/>
                    </a:lnR>
                    <a:lnT w="12240">
                      <a:solidFill>
                        <a:srgbClr val="60C7BD"/>
                      </a:solidFill>
                      <a:prstDash val="solid"/>
                    </a:lnT>
                    <a:lnB w="12240">
                      <a:solidFill>
                        <a:srgbClr val="20DA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+0.61%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CBBD"/>
                      </a:solidFill>
                      <a:prstDash val="solid"/>
                    </a:lnL>
                    <a:lnR w="12240">
                      <a:solidFill>
                        <a:srgbClr val="40CFBD"/>
                      </a:solidFill>
                      <a:prstDash val="solid"/>
                    </a:lnR>
                    <a:lnT w="12240">
                      <a:solidFill>
                        <a:srgbClr val="20CBBD"/>
                      </a:solidFill>
                      <a:prstDash val="solid"/>
                    </a:lnT>
                    <a:lnB w="12240">
                      <a:solidFill>
                        <a:srgbClr val="00D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CFBD"/>
                      </a:solidFill>
                      <a:prstDash val="solid"/>
                    </a:lnL>
                    <a:lnR w="12240">
                      <a:solidFill>
                        <a:srgbClr val="E0D1BD"/>
                      </a:solidFill>
                      <a:prstDash val="solid"/>
                    </a:lnR>
                    <a:lnT w="12240">
                      <a:solidFill>
                        <a:srgbClr val="40CFBD"/>
                      </a:solidFill>
                      <a:prstDash val="solid"/>
                    </a:lnT>
                    <a:lnB w="12240">
                      <a:solidFill>
                        <a:srgbClr val="00D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+7.52%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D1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E0D1BD"/>
                      </a:solidFill>
                      <a:prstDash val="solid"/>
                    </a:lnT>
                    <a:lnB w="12240">
                      <a:solidFill>
                        <a:srgbClr val="C0DC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+5.70%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D9BD"/>
                      </a:solidFill>
                      <a:prstDash val="solid"/>
                    </a:lnL>
                    <a:lnR w="12240">
                      <a:solidFill>
                        <a:srgbClr val="60D9BD"/>
                      </a:solidFill>
                      <a:prstDash val="solid"/>
                    </a:lnR>
                    <a:lnT w="12240">
                      <a:solidFill>
                        <a:srgbClr val="60D9BD"/>
                      </a:solidFill>
                      <a:prstDash val="solid"/>
                    </a:lnT>
                    <a:lnB w="12240">
                      <a:solidFill>
                        <a:srgbClr val="80D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CBD"/>
                      </a:solidFill>
                      <a:prstDash val="solid"/>
                    </a:lnL>
                    <a:lnR w="12240">
                      <a:solidFill>
                        <a:srgbClr val="C0D3BD"/>
                      </a:solidFill>
                      <a:prstDash val="solid"/>
                    </a:lnR>
                    <a:lnT w="12240">
                      <a:solidFill>
                        <a:srgbClr val="00DCBD"/>
                      </a:solidFill>
                      <a:prstDash val="solid"/>
                    </a:lnT>
                    <a:lnB w="12240">
                      <a:solidFill>
                        <a:srgbClr val="A0D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+2.96%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D3BD"/>
                      </a:solidFill>
                      <a:prstDash val="solid"/>
                    </a:lnL>
                    <a:lnR w="12240">
                      <a:solidFill>
                        <a:srgbClr val="A0D2BD"/>
                      </a:solidFill>
                      <a:prstDash val="solid"/>
                    </a:lnR>
                    <a:lnT w="12240">
                      <a:solidFill>
                        <a:srgbClr val="C0D3BD"/>
                      </a:solidFill>
                      <a:prstDash val="solid"/>
                    </a:lnT>
                    <a:lnB w="12240">
                      <a:solidFill>
                        <a:srgbClr val="00E2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+2.54%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D2BD"/>
                      </a:solidFill>
                      <a:prstDash val="solid"/>
                    </a:lnL>
                    <a:lnR w="12240">
                      <a:solidFill>
                        <a:srgbClr val="20DABD"/>
                      </a:solidFill>
                      <a:prstDash val="solid"/>
                    </a:lnR>
                    <a:lnT w="12240">
                      <a:solidFill>
                        <a:srgbClr val="A0D2BD"/>
                      </a:solidFill>
                      <a:prstDash val="solid"/>
                    </a:lnT>
                    <a:lnB w="12240">
                      <a:solidFill>
                        <a:srgbClr val="8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+1.07%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DABD"/>
                      </a:solidFill>
                      <a:prstDash val="solid"/>
                    </a:lnL>
                    <a:lnR w="12240">
                      <a:solidFill>
                        <a:srgbClr val="00D6BD"/>
                      </a:solidFill>
                      <a:prstDash val="solid"/>
                    </a:lnR>
                    <a:lnT w="12240">
                      <a:solidFill>
                        <a:srgbClr val="20DABD"/>
                      </a:solidFill>
                      <a:prstDash val="solid"/>
                    </a:lnT>
                    <a:lnB w="12240">
                      <a:solidFill>
                        <a:srgbClr val="E0E0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-2.64%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6BD"/>
                      </a:solidFill>
                      <a:prstDash val="solid"/>
                    </a:lnL>
                    <a:lnR w="12240">
                      <a:solidFill>
                        <a:srgbClr val="00D3BD"/>
                      </a:solidFill>
                      <a:prstDash val="solid"/>
                    </a:lnR>
                    <a:lnT w="12240">
                      <a:solidFill>
                        <a:srgbClr val="00D6BD"/>
                      </a:solidFill>
                      <a:prstDash val="solid"/>
                    </a:lnT>
                    <a:lnB w="12240">
                      <a:solidFill>
                        <a:srgbClr val="20E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+1.10%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3BD"/>
                      </a:solidFill>
                      <a:prstDash val="solid"/>
                    </a:lnL>
                    <a:lnR w="12240">
                      <a:solidFill>
                        <a:srgbClr val="C0DCBD"/>
                      </a:solidFill>
                      <a:prstDash val="solid"/>
                    </a:lnR>
                    <a:lnT w="12240">
                      <a:solidFill>
                        <a:srgbClr val="00D3BD"/>
                      </a:solidFill>
                      <a:prstDash val="solid"/>
                    </a:lnT>
                    <a:lnB w="12240">
                      <a:solidFill>
                        <a:srgbClr val="A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-6.83%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C0DC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C0DCBD"/>
                      </a:solidFill>
                      <a:prstDash val="solid"/>
                    </a:lnT>
                    <a:lnB w="12240">
                      <a:solidFill>
                        <a:srgbClr val="4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-1.79%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D4BD"/>
                      </a:solidFill>
                      <a:prstDash val="solid"/>
                    </a:lnL>
                    <a:lnR w="12240">
                      <a:solidFill>
                        <a:srgbClr val="80D4BD"/>
                      </a:solidFill>
                      <a:prstDash val="solid"/>
                    </a:lnR>
                    <a:lnT w="12240">
                      <a:solidFill>
                        <a:srgbClr val="80D4BD"/>
                      </a:solidFill>
                      <a:prstDash val="solid"/>
                    </a:lnT>
                    <a:lnB w="12240">
                      <a:solidFill>
                        <a:srgbClr val="A0E4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29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DEBD"/>
                      </a:solidFill>
                      <a:prstDash val="solid"/>
                    </a:lnL>
                    <a:lnR w="12240">
                      <a:solidFill>
                        <a:srgbClr val="00E2BD"/>
                      </a:solidFill>
                      <a:prstDash val="solid"/>
                    </a:lnR>
                    <a:lnT w="12240">
                      <a:solidFill>
                        <a:srgbClr val="A0DEBD"/>
                      </a:solidFill>
                      <a:prstDash val="solid"/>
                    </a:lnT>
                    <a:lnB w="1224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E2BD"/>
                      </a:solidFill>
                      <a:prstDash val="solid"/>
                    </a:lnL>
                    <a:lnR w="12240">
                      <a:solidFill>
                        <a:srgbClr val="80E0BD"/>
                      </a:solidFill>
                      <a:prstDash val="solid"/>
                    </a:lnR>
                    <a:lnT w="12240">
                      <a:solidFill>
                        <a:srgbClr val="00E2BD"/>
                      </a:solidFill>
                      <a:prstDash val="solid"/>
                    </a:lnT>
                    <a:lnB w="1224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-1.86%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E0BD"/>
                      </a:solidFill>
                      <a:prstDash val="solid"/>
                    </a:lnL>
                    <a:lnR w="12240">
                      <a:solidFill>
                        <a:srgbClr val="E0E0BD"/>
                      </a:solidFill>
                      <a:prstDash val="solid"/>
                    </a:lnR>
                    <a:lnT w="12240">
                      <a:solidFill>
                        <a:srgbClr val="80E0BD"/>
                      </a:solidFill>
                      <a:prstDash val="solid"/>
                    </a:lnT>
                    <a:lnB w="1224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E0BD"/>
                      </a:solidFill>
                      <a:prstDash val="solid"/>
                    </a:lnL>
                    <a:lnR w="12240">
                      <a:solidFill>
                        <a:srgbClr val="20E3BD"/>
                      </a:solidFill>
                      <a:prstDash val="solid"/>
                    </a:lnR>
                    <a:lnT w="12240">
                      <a:solidFill>
                        <a:srgbClr val="E0E0BD"/>
                      </a:solidFill>
                      <a:prstDash val="solid"/>
                    </a:lnT>
                    <a:lnB w="1224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+2.21%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3BD"/>
                      </a:solidFill>
                      <a:prstDash val="solid"/>
                    </a:lnL>
                    <a:lnR w="12240">
                      <a:solidFill>
                        <a:srgbClr val="A0E7BD"/>
                      </a:solidFill>
                      <a:prstDash val="solid"/>
                    </a:lnR>
                    <a:lnT w="12240">
                      <a:solidFill>
                        <a:srgbClr val="20E3BD"/>
                      </a:solidFill>
                      <a:prstDash val="solid"/>
                    </a:lnT>
                    <a:lnB w="1224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E7BD"/>
                      </a:solidFill>
                      <a:prstDash val="solid"/>
                    </a:lnL>
                    <a:lnR w="12240">
                      <a:solidFill>
                        <a:srgbClr val="40E4BD"/>
                      </a:solidFill>
                      <a:prstDash val="solid"/>
                    </a:lnR>
                    <a:lnT w="12240">
                      <a:solidFill>
                        <a:srgbClr val="A0E7BD"/>
                      </a:solidFill>
                      <a:prstDash val="solid"/>
                    </a:lnT>
                    <a:lnB w="1224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+0.80%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40E4BD"/>
                      </a:solidFill>
                      <a:prstDash val="solid"/>
                    </a:lnT>
                    <a:lnB w="1224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+1.14%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E4BD"/>
                      </a:solidFill>
                      <a:prstDash val="solid"/>
                    </a:lnL>
                    <a:lnR w="12240">
                      <a:solidFill>
                        <a:srgbClr val="A0E4BD"/>
                      </a:solidFill>
                      <a:prstDash val="solid"/>
                    </a:lnR>
                    <a:lnT w="12240">
                      <a:solidFill>
                        <a:srgbClr val="A0E4BD"/>
                      </a:solidFill>
                      <a:prstDash val="solid"/>
                    </a:lnT>
                    <a:lnB w="1224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5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 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6BD"/>
                      </a:solidFill>
                      <a:prstDash val="solid"/>
                    </a:lnL>
                    <a:lnR w="12240">
                      <a:solidFill>
                        <a:srgbClr val="00DFBD"/>
                      </a:solidFill>
                      <a:prstDash val="solid"/>
                    </a:lnR>
                    <a:lnT w="12240">
                      <a:solidFill>
                        <a:srgbClr val="20E6BD"/>
                      </a:solidFill>
                      <a:prstDash val="solid"/>
                    </a:lnT>
                    <a:lnB w="7200">
                      <a:solidFill>
                        <a:srgbClr val="20E6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+2.34%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00DFBD"/>
                      </a:solidFill>
                      <a:prstDash val="solid"/>
                    </a:lnL>
                    <a:lnR w="12240">
                      <a:solidFill>
                        <a:srgbClr val="40E7BD"/>
                      </a:solidFill>
                      <a:prstDash val="solid"/>
                    </a:lnR>
                    <a:lnT w="12240">
                      <a:solidFill>
                        <a:srgbClr val="00DFBD"/>
                      </a:solidFill>
                      <a:prstDash val="solid"/>
                    </a:lnT>
                    <a:lnB w="7200">
                      <a:solidFill>
                        <a:srgbClr val="00D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0</a:t>
                      </a:r>
                      <a:r>
                        <a:rPr lang="zh-TW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40E7BD"/>
                      </a:solidFill>
                      <a:prstDash val="solid"/>
                    </a:lnL>
                    <a:lnR w="12240">
                      <a:solidFill>
                        <a:srgbClr val="20E9BD"/>
                      </a:solidFill>
                      <a:prstDash val="solid"/>
                    </a:lnR>
                    <a:lnT w="12240">
                      <a:solidFill>
                        <a:srgbClr val="40E7BD"/>
                      </a:solidFill>
                      <a:prstDash val="solid"/>
                    </a:lnT>
                    <a:lnB w="7200">
                      <a:solidFill>
                        <a:srgbClr val="40E7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-0.47%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20E9BD"/>
                      </a:solidFill>
                      <a:prstDash val="solid"/>
                    </a:lnL>
                    <a:lnR w="12240">
                      <a:solidFill>
                        <a:srgbClr val="E0EFBD"/>
                      </a:solidFill>
                      <a:prstDash val="solid"/>
                    </a:lnR>
                    <a:lnT w="12240">
                      <a:solidFill>
                        <a:srgbClr val="20E9BD"/>
                      </a:solidFill>
                      <a:prstDash val="solid"/>
                    </a:lnT>
                    <a:lnB w="7200">
                      <a:solidFill>
                        <a:srgbClr val="20E9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-2.76%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E0EFBD"/>
                      </a:solidFill>
                      <a:prstDash val="solid"/>
                    </a:lnL>
                    <a:lnR w="12240">
                      <a:solidFill>
                        <a:srgbClr val="60EEBD"/>
                      </a:solidFill>
                      <a:prstDash val="solid"/>
                    </a:lnR>
                    <a:lnT w="12240">
                      <a:solidFill>
                        <a:srgbClr val="E0EFBD"/>
                      </a:solidFill>
                      <a:prstDash val="solid"/>
                    </a:lnT>
                    <a:lnB w="7200">
                      <a:solidFill>
                        <a:srgbClr val="E0EF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-2.93%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60EEBD"/>
                      </a:solidFill>
                      <a:prstDash val="solid"/>
                    </a:lnL>
                    <a:lnR w="12240">
                      <a:solidFill>
                        <a:srgbClr val="A0F3BD"/>
                      </a:solidFill>
                      <a:prstDash val="solid"/>
                    </a:lnR>
                    <a:lnT w="12240">
                      <a:solidFill>
                        <a:srgbClr val="60EEBD"/>
                      </a:solidFill>
                      <a:prstDash val="solid"/>
                    </a:lnT>
                    <a:lnB w="7200">
                      <a:solidFill>
                        <a:srgbClr val="60EE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-0.44%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A0F3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A0F3BD"/>
                      </a:solidFill>
                      <a:prstDash val="solid"/>
                    </a:lnT>
                    <a:lnB w="7200">
                      <a:solidFill>
                        <a:srgbClr val="A0F3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6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-4.25%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56880" marR="56880" marT="56880" marB="56880">
                    <a:lnL w="12240">
                      <a:solidFill>
                        <a:srgbClr val="80F5BD"/>
                      </a:solidFill>
                      <a:prstDash val="solid"/>
                    </a:lnL>
                    <a:lnR w="12240">
                      <a:solidFill>
                        <a:srgbClr val="80F5BD"/>
                      </a:solidFill>
                      <a:prstDash val="solid"/>
                    </a:lnR>
                    <a:lnT w="12240">
                      <a:solidFill>
                        <a:srgbClr val="80F5BD"/>
                      </a:solidFill>
                      <a:prstDash val="solid"/>
                    </a:lnT>
                    <a:lnB w="7200">
                      <a:solidFill>
                        <a:srgbClr val="80F5BD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8" name="文字方塊 7"/>
          <p:cNvSpPr/>
          <p:nvPr/>
        </p:nvSpPr>
        <p:spPr>
          <a:xfrm>
            <a:off x="1065240" y="4343400"/>
            <a:ext cx="9506880" cy="175356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Century Gothic"/>
              </a:rPr>
              <a:t> 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B1C91093-9112-4C6D-A392-C3273F5714BA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0" name="內容版面配置區 5"/>
          <p:cNvPicPr/>
          <p:nvPr/>
        </p:nvPicPr>
        <p:blipFill>
          <a:blip r:embed="rId2"/>
          <a:stretch/>
        </p:blipFill>
        <p:spPr>
          <a:xfrm>
            <a:off x="1217520" y="230040"/>
            <a:ext cx="9448200" cy="639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DD782ADF-4230-4D2A-82AB-555A50B0CE1F}" type="slidenum"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65523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盤整盤與震盪盤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1313640" y="1295280"/>
            <a:ext cx="97354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震盪盤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波動幅度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小（窄幅）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大（寬幅）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波動速度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價格行為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像睡著，在一個小區間內慢慢磨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像打架，急拉急跌來回甩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對策略的影響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雙巴但虧不多（每次輸一點）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雙巴且虧很大（每次輸一大段）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以台積電為例：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盤整盤：股價在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950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之間磨一個月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震盪盤：股價三天內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950↗1050↘920↗1020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這樣甩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對交易者來說，震盪盤比盤整盤更致命 — 同是被雙巴，震盪盤每巴一次傷口大得多。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9EBA075B-3C74-4FEC-9353-46404240AE8D}" type="slidenum"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88383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🛡️如何避免雙巴？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1270800" y="1295280"/>
            <a:ext cx="101566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❌ 不要做的：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 在盤整盤中死抱均線交叉策略，不加入任何過濾條件。上圖已經證明了——在沒有趨勢的行情中，單純的均線交叉就是送錢。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✅ 可以做的：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加入大盤趨勢過濾（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Market Filter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當大盤（如加權指數）在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MA200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之上才做多，之下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空手。 系統中的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 MARKET_TREND_FILTER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就是做這件事。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加入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波動度過濾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ATR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太低代表市場正在盤整，不進場。系統中的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atr_threshold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參數就是為了避開這種環境。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改用逆勢策略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（布林通道、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盤整盤中逆勢策略反而表現較好——在區間下緣買、上緣賣。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認清市場狀態，空手也是一種操作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盤整盤最好的策略就是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不做單就不會被雙巴。等趨勢明確再進場。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129AC91D-7684-4C2D-9DDA-0D5A5A131286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17520" y="152280"/>
            <a:ext cx="10591200" cy="99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問：我們分別看看同樣是台積電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,2022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（空）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（多）這兩年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988920" y="1066680"/>
            <a:ext cx="10743480" cy="49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年度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台積電價格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買進持有報酬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	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市場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2022	NT582→NT582→NT422          -27.35% (-NT$136,764)		🐻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空頭年（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Fed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升息循環）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1559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2025	NT1,042→NT1,042→NT1,541	+47.92% (+NT$239,587)		🐂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多頭年（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AI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需求爆發）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策略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2022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2022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損益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	2025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報酬</a:t>
            </a:r>
            <a:r>
              <a:rPr lang="en-US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2025 </a:t>
            </a:r>
            <a:r>
              <a:rPr lang="zh-TW" sz="10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損益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1. VWAP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偏離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+3.64%		+NT$18,220	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+32.29%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+NT$161,456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2.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均線交叉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+10.16%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+NT$50,821			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+14.29%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+NT$71,466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3.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布林通道反轉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-10.95%		-NT$54,738			+11.91%		+NT$59,556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4.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突破交易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		-5.23%		-NT$26,149			-9.94%		-NT$49,682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45720" indent="0" algn="l" defTabSz="914400">
              <a:lnSpc>
                <a:spcPts val="216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VWAP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 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偏離兩年都正報酬，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適應性最好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均線交叉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兩年都正報酬，是唯一買進持有和虧錢年份都能賺的策略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突破交易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(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唐安奇）連兩年虧損，是四策略中表現最差的＝</a:t>
            </a:r>
            <a:r>
              <a:rPr lang="en-US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&gt;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Sarasa Mono TC"/>
                <a:ea typeface="Sarasa Mono TC"/>
              </a:rPr>
              <a:t>突破交易只適合噴發期</a:t>
            </a: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，不適合長期整年適用！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  <a:p>
            <a:pPr marL="331560" indent="-285840" algn="l" defTabSz="914400">
              <a:lnSpc>
                <a:spcPts val="216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Sarasa Mono TC"/>
                <a:ea typeface="Sarasa Mono TC"/>
              </a:rPr>
              <a:t>事後諸葛亮＝＞２０２２用均線交叉．２０２５用ＶＷＡＰ</a:t>
            </a:r>
            <a:endParaRPr lang="en-US" sz="1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Sarasa Mono T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0E0C8634-008C-4E42-9E95-44C558A8C450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311120" y="76320"/>
            <a:ext cx="10514880" cy="144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問：聯發科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2024~2025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這兩個年度四個策略的表現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一樣單筆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50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萬本金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有哪幾區段是適合用唐安奇通道的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?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把那時期的走勢圖放到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img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8114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聯發科（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2454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2024 vs 2025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四策略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NT$500,000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報酬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報酬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突破交易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+32.93%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NT$164,657	-7.32%		-NT$36,603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均線交叉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+8.10%		+NT$40,519	+5.74%		+NT$28,720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布林通道反轉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-2.57%		-NT$12,846	+0.80%		+NT$3,995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-7.50%		-NT$37,513	-1.95%		-NT$9,743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買進持有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+51.34%		+NT$256,688	+8.01%		+NT$40,055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突發策略＝＞只適用噴發期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6B299AE3-9250-42F3-8EAA-FB8643C0D7CB}" type="slidenum"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/>
          </p:nvPr>
        </p:nvSpPr>
        <p:spPr>
          <a:xfrm>
            <a:off x="1311120" y="2286000"/>
            <a:ext cx="4571280" cy="4266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0" name="圖片 5"/>
          <p:cNvPicPr/>
          <p:nvPr/>
        </p:nvPicPr>
        <p:blipFill>
          <a:blip r:embed="rId2"/>
          <a:stretch/>
        </p:blipFill>
        <p:spPr>
          <a:xfrm>
            <a:off x="502560" y="675720"/>
            <a:ext cx="11183040" cy="550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A3B5F829-EE15-4E20-8763-7BB3C64A1F2B}" type="slidenum"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766160" cy="587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增加策略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＝＞（先切到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Builder)</a:t>
            </a:r>
            <a:br>
              <a:rPr sz="2800"/>
            </a:br>
            <a:br>
              <a:rPr sz="2800"/>
            </a:b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問：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g1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備用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來完成以下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黃金交叉策略（最推薦來自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Google AI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推薦穩健的ＫＤ策略）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 </a:t>
            </a:r>
            <a:br>
              <a:rPr sz="2800"/>
            </a:b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放棄震盪劇烈的日線，改用 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線（以週為單位計算）。</a:t>
            </a:r>
            <a:br>
              <a:rPr sz="2800"/>
            </a:b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週 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的轉折代表的是中長期（數個月到半年以上）的趨勢改變。 </a:t>
            </a: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買進點：當週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 低檔（小於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30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或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）發生黃金交叉 時進場。這通常代表股價經歷大波段修正後，中長期底部成形。</a:t>
            </a: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持有期：只要週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維持向上，或是維持在高檔鈍化，就一路抱牢。</a:t>
            </a:r>
            <a:br>
              <a:rPr sz="2800"/>
            </a:b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好處：一年中一檔股票可能只會出現 </a:t>
            </a:r>
            <a:r>
              <a:rPr lang="en-US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1~2 </a:t>
            </a:r>
            <a:r>
              <a:rPr lang="zh-TW" sz="2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次訊號，交易次數少，手續費低，且能抓到大波段波幅。</a:t>
            </a:r>
            <a:endParaRPr lang="en-US" sz="2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760203C4-234E-4D47-8859-84B0CC718948}" type="slidenum"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36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Plan Builder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計畫完成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293840" y="1523880"/>
            <a:ext cx="8821080" cy="4476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A9BAD232-3DC4-40EF-8E47-F8D70EDE95AD}" type="slidenum"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294560" y="195120"/>
            <a:ext cx="9905400" cy="88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計畫好了，切回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UltraWorker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執行＝＞</a:t>
            </a:r>
            <a:br>
              <a:rPr sz="2400"/>
            </a:b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輸入：執行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weekly-kd-strategy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（執行太久，可以ＥＳＣ中斷切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Deepseek Pro)</a:t>
            </a:r>
          </a:p>
        </p:txBody>
      </p:sp>
      <p:pic>
        <p:nvPicPr>
          <p:cNvPr id="145" name="內容版面配置區 7"/>
          <p:cNvPicPr/>
          <p:nvPr/>
        </p:nvPicPr>
        <p:blipFill>
          <a:blip r:embed="rId2"/>
          <a:stretch/>
        </p:blipFill>
        <p:spPr>
          <a:xfrm>
            <a:off x="1411560" y="1371600"/>
            <a:ext cx="9458640" cy="518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416E7A77-26FC-436E-9EE1-F5647BEC07D7}" type="slidenum"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4880" cy="76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年 聯發科用這個周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KD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策略試試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跟剛才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個策略比較一下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56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48" name="表格 6"/>
          <p:cNvGraphicFramePr/>
          <p:nvPr/>
        </p:nvGraphicFramePr>
        <p:xfrm>
          <a:off x="1311120" y="1828800"/>
          <a:ext cx="9276120" cy="4308120"/>
        </p:xfrm>
        <a:graphic>
          <a:graphicData uri="http://schemas.openxmlformats.org/drawingml/2006/table">
            <a:tbl>
              <a:tblPr/>
              <a:tblGrid>
                <a:gridCol w="1159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59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策略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1CC"/>
                      </a:solidFill>
                      <a:prstDash val="solid"/>
                    </a:lnL>
                    <a:lnR w="12240">
                      <a:solidFill>
                        <a:srgbClr val="607ACC"/>
                      </a:solidFill>
                      <a:prstDash val="solid"/>
                    </a:lnR>
                    <a:lnT w="12240">
                      <a:solidFill>
                        <a:srgbClr val="2081CC"/>
                      </a:solidFill>
                      <a:prstDash val="solid"/>
                    </a:lnT>
                    <a:lnB w="12240">
                      <a:solidFill>
                        <a:srgbClr val="6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7ACC"/>
                      </a:solidFill>
                      <a:prstDash val="solid"/>
                    </a:lnL>
                    <a:lnR w="12240">
                      <a:solidFill>
                        <a:srgbClr val="E07ECC"/>
                      </a:solidFill>
                      <a:prstDash val="solid"/>
                    </a:lnR>
                    <a:lnT w="12240">
                      <a:solidFill>
                        <a:srgbClr val="607ACC"/>
                      </a:solidFill>
                      <a:prstDash val="solid"/>
                    </a:lnT>
                    <a:lnB w="12240">
                      <a:solidFill>
                        <a:srgbClr val="8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7ECC"/>
                      </a:solidFill>
                      <a:prstDash val="solid"/>
                    </a:lnL>
                    <a:lnR w="12240">
                      <a:solidFill>
                        <a:srgbClr val="008CCC"/>
                      </a:solidFill>
                      <a:prstDash val="solid"/>
                    </a:lnR>
                    <a:lnT w="12240">
                      <a:solidFill>
                        <a:srgbClr val="E07ECC"/>
                      </a:solidFill>
                      <a:prstDash val="solid"/>
                    </a:lnT>
                    <a:lnB w="12240">
                      <a:solidFill>
                        <a:srgbClr val="A09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2022BUY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8CCC"/>
                      </a:solidFill>
                      <a:prstDash val="solid"/>
                    </a:lnL>
                    <a:lnR w="12240">
                      <a:solidFill>
                        <a:srgbClr val="4082CC"/>
                      </a:solidFill>
                      <a:prstDash val="solid"/>
                    </a:lnR>
                    <a:lnT w="12240">
                      <a:solidFill>
                        <a:srgbClr val="008CCC"/>
                      </a:solidFill>
                      <a:prstDash val="solid"/>
                    </a:lnT>
                    <a:lnB w="12240">
                      <a:solidFill>
                        <a:srgbClr val="8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報酬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82CC"/>
                      </a:solidFill>
                      <a:prstDash val="solid"/>
                    </a:lnL>
                    <a:lnR w="12240">
                      <a:solidFill>
                        <a:srgbClr val="2084CC"/>
                      </a:solidFill>
                      <a:prstDash val="solid"/>
                    </a:lnR>
                    <a:lnT w="12240">
                      <a:solidFill>
                        <a:srgbClr val="4082CC"/>
                      </a:solidFill>
                      <a:prstDash val="solid"/>
                    </a:lnT>
                    <a:lnB w="12240">
                      <a:solidFill>
                        <a:srgbClr val="209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4CC"/>
                      </a:solidFill>
                      <a:prstDash val="solid"/>
                    </a:lnL>
                    <a:lnR w="12240">
                      <a:solidFill>
                        <a:srgbClr val="2087CC"/>
                      </a:solidFill>
                      <a:prstDash val="solid"/>
                    </a:lnR>
                    <a:lnT w="12240">
                      <a:solidFill>
                        <a:srgbClr val="2084CC"/>
                      </a:solidFill>
                      <a:prstDash val="solid"/>
                    </a:lnT>
                    <a:lnB w="12240">
                      <a:solidFill>
                        <a:srgbClr val="E09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2025BUY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87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2087CC"/>
                      </a:solidFill>
                      <a:prstDash val="solid"/>
                    </a:lnT>
                    <a:lnB w="12240">
                      <a:solidFill>
                        <a:srgbClr val="0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合計損益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83CC"/>
                      </a:solidFill>
                      <a:prstDash val="solid"/>
                    </a:lnL>
                    <a:lnR w="12240">
                      <a:solidFill>
                        <a:srgbClr val="6083CC"/>
                      </a:solidFill>
                      <a:prstDash val="solid"/>
                    </a:lnR>
                    <a:lnT w="12240">
                      <a:solidFill>
                        <a:srgbClr val="6083CC"/>
                      </a:solidFill>
                      <a:prstDash val="solid"/>
                    </a:lnT>
                    <a:lnB w="12240">
                      <a:solidFill>
                        <a:srgbClr val="E09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1.VWAP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偏離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98CC"/>
                      </a:solidFill>
                      <a:prstDash val="solid"/>
                    </a:lnL>
                    <a:lnR w="12240">
                      <a:solidFill>
                        <a:srgbClr val="8090CC"/>
                      </a:solidFill>
                      <a:prstDash val="solid"/>
                    </a:lnR>
                    <a:lnT w="12240">
                      <a:solidFill>
                        <a:srgbClr val="6098CC"/>
                      </a:solidFill>
                      <a:prstDash val="solid"/>
                    </a:lnT>
                    <a:lnB w="12240">
                      <a:solidFill>
                        <a:srgbClr val="409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+15.83%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0CC"/>
                      </a:solidFill>
                      <a:prstDash val="solid"/>
                    </a:lnL>
                    <a:lnR w="12240">
                      <a:solidFill>
                        <a:srgbClr val="A091CC"/>
                      </a:solidFill>
                      <a:prstDash val="solid"/>
                    </a:lnR>
                    <a:lnT w="12240">
                      <a:solidFill>
                        <a:srgbClr val="8090CC"/>
                      </a:solidFill>
                      <a:prstDash val="solid"/>
                    </a:lnT>
                    <a:lnB w="12240">
                      <a:solidFill>
                        <a:srgbClr val="409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+NT$79,142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91CC"/>
                      </a:solidFill>
                      <a:prstDash val="solid"/>
                    </a:lnL>
                    <a:lnR w="12240">
                      <a:solidFill>
                        <a:srgbClr val="8093CC"/>
                      </a:solidFill>
                      <a:prstDash val="solid"/>
                    </a:lnR>
                    <a:lnT w="12240">
                      <a:solidFill>
                        <a:srgbClr val="A091CC"/>
                      </a:solidFill>
                      <a:prstDash val="solid"/>
                    </a:lnT>
                    <a:lnB w="12240">
                      <a:solidFill>
                        <a:srgbClr val="A08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51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3CC"/>
                      </a:solidFill>
                      <a:prstDash val="solid"/>
                    </a:lnL>
                    <a:lnR w="12240">
                      <a:solidFill>
                        <a:srgbClr val="2099CC"/>
                      </a:solidFill>
                      <a:prstDash val="solid"/>
                    </a:lnR>
                    <a:lnT w="12240">
                      <a:solidFill>
                        <a:srgbClr val="8093CC"/>
                      </a:solidFill>
                      <a:prstDash val="solid"/>
                    </a:lnT>
                    <a:lnB w="12240">
                      <a:solidFill>
                        <a:srgbClr val="609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+5.34%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99CC"/>
                      </a:solidFill>
                      <a:prstDash val="solid"/>
                    </a:lnL>
                    <a:lnR w="12240">
                      <a:solidFill>
                        <a:srgbClr val="E093CC"/>
                      </a:solidFill>
                      <a:prstDash val="solid"/>
                    </a:lnR>
                    <a:lnT w="12240">
                      <a:solidFill>
                        <a:srgbClr val="2099CC"/>
                      </a:solidFill>
                      <a:prstDash val="solid"/>
                    </a:lnT>
                    <a:lnB w="12240">
                      <a:solidFill>
                        <a:srgbClr val="C09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+NT$26,702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3CC"/>
                      </a:solidFill>
                      <a:prstDash val="solid"/>
                    </a:lnL>
                    <a:lnR w="12240">
                      <a:solidFill>
                        <a:srgbClr val="0098CC"/>
                      </a:solidFill>
                      <a:prstDash val="solid"/>
                    </a:lnR>
                    <a:lnT w="12240">
                      <a:solidFill>
                        <a:srgbClr val="E093CC"/>
                      </a:solidFill>
                      <a:prstDash val="solid"/>
                    </a:lnT>
                    <a:lnB w="12240">
                      <a:solidFill>
                        <a:srgbClr val="C098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98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0098CC"/>
                      </a:solidFill>
                      <a:prstDash val="solid"/>
                    </a:lnT>
                    <a:lnB w="12240">
                      <a:solidFill>
                        <a:srgbClr val="6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+NT$105,844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0CC"/>
                      </a:solidFill>
                      <a:prstDash val="solid"/>
                    </a:lnL>
                    <a:lnR w="12240">
                      <a:solidFill>
                        <a:srgbClr val="E090CC"/>
                      </a:solidFill>
                      <a:prstDash val="solid"/>
                    </a:lnR>
                    <a:lnT w="12240">
                      <a:solidFill>
                        <a:srgbClr val="E090CC"/>
                      </a:solidFill>
                      <a:prstDash val="solid"/>
                    </a:lnT>
                    <a:lnB w="12240">
                      <a:solidFill>
                        <a:srgbClr val="20A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突破交易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97CC"/>
                      </a:solidFill>
                      <a:prstDash val="solid"/>
                    </a:lnL>
                    <a:lnR w="12240">
                      <a:solidFill>
                        <a:srgbClr val="4094CC"/>
                      </a:solidFill>
                      <a:prstDash val="solid"/>
                    </a:lnR>
                    <a:lnT w="12240">
                      <a:solidFill>
                        <a:srgbClr val="4097CC"/>
                      </a:solidFill>
                      <a:prstDash val="solid"/>
                    </a:lnT>
                    <a:lnB w="12240">
                      <a:solidFill>
                        <a:srgbClr val="C0A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+8.14%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94CC"/>
                      </a:solidFill>
                      <a:prstDash val="solid"/>
                    </a:lnL>
                    <a:lnR w="12240">
                      <a:solidFill>
                        <a:srgbClr val="A08ECC"/>
                      </a:solidFill>
                      <a:prstDash val="solid"/>
                    </a:lnR>
                    <a:lnT w="12240">
                      <a:solidFill>
                        <a:srgbClr val="4094CC"/>
                      </a:solidFill>
                      <a:prstDash val="solid"/>
                    </a:lnT>
                    <a:lnB w="12240">
                      <a:solidFill>
                        <a:srgbClr val="40A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+NT$40,700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8ECC"/>
                      </a:solidFill>
                      <a:prstDash val="solid"/>
                    </a:lnL>
                    <a:lnR w="12240">
                      <a:solidFill>
                        <a:srgbClr val="6095CC"/>
                      </a:solidFill>
                      <a:prstDash val="solid"/>
                    </a:lnR>
                    <a:lnT w="12240">
                      <a:solidFill>
                        <a:srgbClr val="A08ECC"/>
                      </a:solidFill>
                      <a:prstDash val="solid"/>
                    </a:lnT>
                    <a:lnB w="12240">
                      <a:solidFill>
                        <a:srgbClr val="E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95CC"/>
                      </a:solidFill>
                      <a:prstDash val="solid"/>
                    </a:lnL>
                    <a:lnR w="12240">
                      <a:solidFill>
                        <a:srgbClr val="C092CC"/>
                      </a:solidFill>
                      <a:prstDash val="solid"/>
                    </a:lnR>
                    <a:lnT w="12240">
                      <a:solidFill>
                        <a:srgbClr val="6095CC"/>
                      </a:solidFill>
                      <a:prstDash val="solid"/>
                    </a:lnT>
                    <a:lnB w="12240">
                      <a:solidFill>
                        <a:srgbClr val="60A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-0.39%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92CC"/>
                      </a:solidFill>
                      <a:prstDash val="solid"/>
                    </a:lnL>
                    <a:lnR w="12240">
                      <a:solidFill>
                        <a:srgbClr val="C098CC"/>
                      </a:solidFill>
                      <a:prstDash val="solid"/>
                    </a:lnR>
                    <a:lnT w="12240">
                      <a:solidFill>
                        <a:srgbClr val="C092CC"/>
                      </a:solidFill>
                      <a:prstDash val="solid"/>
                    </a:lnT>
                    <a:lnB w="12240">
                      <a:solidFill>
                        <a:srgbClr val="80A2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-NT$1,954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98CC"/>
                      </a:solidFill>
                      <a:prstDash val="solid"/>
                    </a:lnL>
                    <a:lnR w="12240">
                      <a:solidFill>
                        <a:srgbClr val="60A4CC"/>
                      </a:solidFill>
                      <a:prstDash val="solid"/>
                    </a:lnR>
                    <a:lnT w="12240">
                      <a:solidFill>
                        <a:srgbClr val="C098CC"/>
                      </a:solidFill>
                      <a:prstDash val="solid"/>
                    </a:lnT>
                    <a:lnB w="12240">
                      <a:solidFill>
                        <a:srgbClr val="A0A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12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A4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60A4CC"/>
                      </a:solidFill>
                      <a:prstDash val="solid"/>
                    </a:lnT>
                    <a:lnB w="12240">
                      <a:solidFill>
                        <a:srgbClr val="209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+NT$38,746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A5CC"/>
                      </a:solidFill>
                      <a:prstDash val="solid"/>
                    </a:lnL>
                    <a:lnR w="12240">
                      <a:solidFill>
                        <a:srgbClr val="20A5CC"/>
                      </a:solidFill>
                      <a:prstDash val="solid"/>
                    </a:lnR>
                    <a:lnT w="12240">
                      <a:solidFill>
                        <a:srgbClr val="20A5CC"/>
                      </a:solidFill>
                      <a:prstDash val="solid"/>
                    </a:lnT>
                    <a:lnB w="12240">
                      <a:solidFill>
                        <a:srgbClr val="809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布林通道反轉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A4CC"/>
                      </a:solidFill>
                      <a:prstDash val="solid"/>
                    </a:lnL>
                    <a:lnR w="12240">
                      <a:solidFill>
                        <a:srgbClr val="40A0CC"/>
                      </a:solidFill>
                      <a:prstDash val="solid"/>
                    </a:lnR>
                    <a:lnT w="12240">
                      <a:solidFill>
                        <a:srgbClr val="C0A4CC"/>
                      </a:solidFill>
                      <a:prstDash val="solid"/>
                    </a:lnT>
                    <a:lnB w="12240">
                      <a:solidFill>
                        <a:srgbClr val="20A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-3.61%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A0CC"/>
                      </a:solidFill>
                      <a:prstDash val="solid"/>
                    </a:lnL>
                    <a:lnR w="12240">
                      <a:solidFill>
                        <a:srgbClr val="E09FCC"/>
                      </a:solidFill>
                      <a:prstDash val="solid"/>
                    </a:lnR>
                    <a:lnT w="12240">
                      <a:solidFill>
                        <a:srgbClr val="40A0CC"/>
                      </a:solidFill>
                      <a:prstDash val="solid"/>
                    </a:lnT>
                    <a:lnB w="12240">
                      <a:solidFill>
                        <a:srgbClr val="00A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-NT$18,052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9FCC"/>
                      </a:solidFill>
                      <a:prstDash val="solid"/>
                    </a:lnL>
                    <a:lnR w="12240">
                      <a:solidFill>
                        <a:srgbClr val="60A1CC"/>
                      </a:solidFill>
                      <a:prstDash val="solid"/>
                    </a:lnR>
                    <a:lnT w="12240">
                      <a:solidFill>
                        <a:srgbClr val="E09FCC"/>
                      </a:solidFill>
                      <a:prstDash val="solid"/>
                    </a:lnT>
                    <a:lnB w="12240">
                      <a:solidFill>
                        <a:srgbClr val="C0A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16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A1CC"/>
                      </a:solidFill>
                      <a:prstDash val="solid"/>
                    </a:lnL>
                    <a:lnR w="12240">
                      <a:solidFill>
                        <a:srgbClr val="80A2CC"/>
                      </a:solidFill>
                      <a:prstDash val="solid"/>
                    </a:lnR>
                    <a:lnT w="12240">
                      <a:solidFill>
                        <a:srgbClr val="60A1CC"/>
                      </a:solidFill>
                      <a:prstDash val="solid"/>
                    </a:lnT>
                    <a:lnB w="12240">
                      <a:solidFill>
                        <a:srgbClr val="40A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+2.25%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A2CC"/>
                      </a:solidFill>
                      <a:prstDash val="solid"/>
                    </a:lnL>
                    <a:lnR w="12240">
                      <a:solidFill>
                        <a:srgbClr val="A0A3CC"/>
                      </a:solidFill>
                      <a:prstDash val="solid"/>
                    </a:lnR>
                    <a:lnT w="12240">
                      <a:solidFill>
                        <a:srgbClr val="80A2CC"/>
                      </a:solidFill>
                      <a:prstDash val="solid"/>
                    </a:lnT>
                    <a:lnB w="12240">
                      <a:solidFill>
                        <a:srgbClr val="4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+NT$11,239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A3CC"/>
                      </a:solidFill>
                      <a:prstDash val="solid"/>
                    </a:lnL>
                    <a:lnR w="12240">
                      <a:solidFill>
                        <a:srgbClr val="209CCC"/>
                      </a:solidFill>
                      <a:prstDash val="solid"/>
                    </a:lnR>
                    <a:lnT w="12240">
                      <a:solidFill>
                        <a:srgbClr val="A0A3CC"/>
                      </a:solidFill>
                      <a:prstDash val="solid"/>
                    </a:lnT>
                    <a:lnB w="12240">
                      <a:solidFill>
                        <a:srgbClr val="E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10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9C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209CCC"/>
                      </a:solidFill>
                      <a:prstDash val="solid"/>
                    </a:lnT>
                    <a:lnB w="12240">
                      <a:solidFill>
                        <a:srgbClr val="E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-NT$6,813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9FCC"/>
                      </a:solidFill>
                      <a:prstDash val="solid"/>
                    </a:lnL>
                    <a:lnR w="12240">
                      <a:solidFill>
                        <a:srgbClr val="809FCC"/>
                      </a:solidFill>
                      <a:prstDash val="solid"/>
                    </a:lnR>
                    <a:lnT w="12240">
                      <a:solidFill>
                        <a:srgbClr val="809FCC"/>
                      </a:solidFill>
                      <a:prstDash val="solid"/>
                    </a:lnT>
                    <a:lnB w="12240">
                      <a:solidFill>
                        <a:srgbClr val="60B9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5.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週</a:t>
                      </a: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KD(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ABCC"/>
                      </a:solidFill>
                      <a:prstDash val="solid"/>
                    </a:lnL>
                    <a:lnR w="12240">
                      <a:solidFill>
                        <a:srgbClr val="00A7CC"/>
                      </a:solidFill>
                      <a:prstDash val="solid"/>
                    </a:lnR>
                    <a:lnT w="12240">
                      <a:solidFill>
                        <a:srgbClr val="20ABCC"/>
                      </a:solidFill>
                      <a:prstDash val="solid"/>
                    </a:lnT>
                    <a:lnB w="12240">
                      <a:solidFill>
                        <a:srgbClr val="E0B7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-1.50%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00A7CC"/>
                      </a:solidFill>
                      <a:prstDash val="solid"/>
                    </a:lnL>
                    <a:lnR w="12240">
                      <a:solidFill>
                        <a:srgbClr val="C0ADCC"/>
                      </a:solidFill>
                      <a:prstDash val="solid"/>
                    </a:lnR>
                    <a:lnT w="12240">
                      <a:solidFill>
                        <a:srgbClr val="00A7CC"/>
                      </a:solidFill>
                      <a:prstDash val="solid"/>
                    </a:lnT>
                    <a:lnB w="12240">
                      <a:solidFill>
                        <a:srgbClr val="8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-NT$7,477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ADCC"/>
                      </a:solidFill>
                      <a:prstDash val="solid"/>
                    </a:lnL>
                    <a:lnR w="12240">
                      <a:solidFill>
                        <a:srgbClr val="40ACCC"/>
                      </a:solidFill>
                      <a:prstDash val="solid"/>
                    </a:lnR>
                    <a:lnT w="12240">
                      <a:solidFill>
                        <a:srgbClr val="C0ADCC"/>
                      </a:solidFill>
                      <a:prstDash val="solid"/>
                    </a:lnT>
                    <a:lnB w="12240">
                      <a:solidFill>
                        <a:srgbClr val="20BD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ACCC"/>
                      </a:solidFill>
                      <a:prstDash val="solid"/>
                    </a:lnL>
                    <a:lnR w="12240">
                      <a:solidFill>
                        <a:srgbClr val="40BBCC"/>
                      </a:solidFill>
                      <a:prstDash val="solid"/>
                    </a:lnR>
                    <a:lnT w="12240">
                      <a:solidFill>
                        <a:srgbClr val="40ACCC"/>
                      </a:solidFill>
                      <a:prstDash val="solid"/>
                    </a:lnT>
                    <a:lnB w="12240">
                      <a:solidFill>
                        <a:srgbClr val="20B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+0.75%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BBCC"/>
                      </a:solidFill>
                      <a:prstDash val="solid"/>
                    </a:lnL>
                    <a:lnR w="12240">
                      <a:solidFill>
                        <a:srgbClr val="E0BACC"/>
                      </a:solidFill>
                      <a:prstDash val="solid"/>
                    </a:lnR>
                    <a:lnT w="12240">
                      <a:solidFill>
                        <a:srgbClr val="40BBCC"/>
                      </a:solidFill>
                      <a:prstDash val="solid"/>
                    </a:lnT>
                    <a:lnB w="12240">
                      <a:solidFill>
                        <a:srgbClr val="C0BC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+NT$3,759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ACC"/>
                      </a:solidFill>
                      <a:prstDash val="solid"/>
                    </a:lnL>
                    <a:lnR w="12240">
                      <a:solidFill>
                        <a:srgbClr val="E0B4CC"/>
                      </a:solidFill>
                      <a:prstDash val="solid"/>
                    </a:lnR>
                    <a:lnT w="12240">
                      <a:solidFill>
                        <a:srgbClr val="E0BACC"/>
                      </a:solidFill>
                      <a:prstDash val="solid"/>
                    </a:lnT>
                    <a:lnB w="12240">
                      <a:solidFill>
                        <a:srgbClr val="A0B5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4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E0B4CC"/>
                      </a:solidFill>
                      <a:prstDash val="solid"/>
                    </a:lnT>
                    <a:lnB w="12240">
                      <a:solidFill>
                        <a:srgbClr val="60B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-NT$3,718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B9CC"/>
                      </a:solidFill>
                      <a:prstDash val="solid"/>
                    </a:lnL>
                    <a:lnR w="12240">
                      <a:solidFill>
                        <a:srgbClr val="60B9CC"/>
                      </a:solidFill>
                      <a:prstDash val="solid"/>
                    </a:lnR>
                    <a:lnT w="12240">
                      <a:solidFill>
                        <a:srgbClr val="60B9CC"/>
                      </a:solidFill>
                      <a:prstDash val="solid"/>
                    </a:lnT>
                    <a:lnB w="12240">
                      <a:solidFill>
                        <a:srgbClr val="A0BB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2.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均線交叉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B7CC"/>
                      </a:solidFill>
                      <a:prstDash val="solid"/>
                    </a:lnL>
                    <a:lnR w="12240">
                      <a:solidFill>
                        <a:srgbClr val="80B4CC"/>
                      </a:solidFill>
                      <a:prstDash val="solid"/>
                    </a:lnR>
                    <a:lnT w="12240">
                      <a:solidFill>
                        <a:srgbClr val="E0B7CC"/>
                      </a:solidFill>
                      <a:prstDash val="solid"/>
                    </a:lnT>
                    <a:lnB w="1224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-10.06%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B4CC"/>
                      </a:solidFill>
                      <a:prstDash val="solid"/>
                    </a:lnL>
                    <a:lnR w="12240">
                      <a:solidFill>
                        <a:srgbClr val="20BDCC"/>
                      </a:solidFill>
                      <a:prstDash val="solid"/>
                    </a:lnR>
                    <a:lnT w="12240">
                      <a:solidFill>
                        <a:srgbClr val="80B4CC"/>
                      </a:solidFill>
                      <a:prstDash val="solid"/>
                    </a:lnT>
                    <a:lnB w="1224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-NT$50,278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BDCC"/>
                      </a:solidFill>
                      <a:prstDash val="solid"/>
                    </a:lnL>
                    <a:lnR w="12240">
                      <a:solidFill>
                        <a:srgbClr val="20B4CC"/>
                      </a:solidFill>
                      <a:prstDash val="solid"/>
                    </a:lnR>
                    <a:lnT w="12240">
                      <a:solidFill>
                        <a:srgbClr val="20BDCC"/>
                      </a:solidFill>
                      <a:prstDash val="solid"/>
                    </a:lnT>
                    <a:lnB w="1224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4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20B4CC"/>
                      </a:solidFill>
                      <a:prstDash val="solid"/>
                    </a:lnL>
                    <a:lnR w="12240">
                      <a:solidFill>
                        <a:srgbClr val="C0BCCC"/>
                      </a:solidFill>
                      <a:prstDash val="solid"/>
                    </a:lnR>
                    <a:lnT w="12240">
                      <a:solidFill>
                        <a:srgbClr val="20B4CC"/>
                      </a:solidFill>
                      <a:prstDash val="solid"/>
                    </a:lnT>
                    <a:lnB w="1224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+0.96%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BCCC"/>
                      </a:solidFill>
                      <a:prstDash val="solid"/>
                    </a:lnL>
                    <a:lnR w="12240">
                      <a:solidFill>
                        <a:srgbClr val="A0B5CC"/>
                      </a:solidFill>
                      <a:prstDash val="solid"/>
                    </a:lnR>
                    <a:lnT w="12240">
                      <a:solidFill>
                        <a:srgbClr val="C0BCCC"/>
                      </a:solidFill>
                      <a:prstDash val="solid"/>
                    </a:lnT>
                    <a:lnB w="1224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+NT$4,784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B5CC"/>
                      </a:solidFill>
                      <a:prstDash val="solid"/>
                    </a:lnL>
                    <a:lnR w="12240">
                      <a:solidFill>
                        <a:srgbClr val="60B3CC"/>
                      </a:solidFill>
                      <a:prstDash val="solid"/>
                    </a:lnR>
                    <a:lnT w="12240">
                      <a:solidFill>
                        <a:srgbClr val="A0B5CC"/>
                      </a:solidFill>
                      <a:prstDash val="solid"/>
                    </a:lnT>
                    <a:lnB w="1224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9</a:t>
                      </a: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筆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60B3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60B3CC"/>
                      </a:solidFill>
                      <a:prstDash val="solid"/>
                    </a:lnT>
                    <a:lnB w="1224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-NT$45,494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BBCC"/>
                      </a:solidFill>
                      <a:prstDash val="solid"/>
                    </a:lnL>
                    <a:lnR w="12240">
                      <a:solidFill>
                        <a:srgbClr val="A0BBCC"/>
                      </a:solidFill>
                      <a:prstDash val="solid"/>
                    </a:lnR>
                    <a:lnT w="12240">
                      <a:solidFill>
                        <a:srgbClr val="A0BBCC"/>
                      </a:solidFill>
                      <a:prstDash val="solid"/>
                    </a:lnT>
                    <a:lnB w="1224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3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買進持有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BACC"/>
                      </a:solidFill>
                      <a:prstDash val="solid"/>
                    </a:lnL>
                    <a:lnR w="12240">
                      <a:solidFill>
                        <a:srgbClr val="40C1CC"/>
                      </a:solidFill>
                      <a:prstDash val="solid"/>
                    </a:lnR>
                    <a:lnT w="12240">
                      <a:solidFill>
                        <a:srgbClr val="80BACC"/>
                      </a:solidFill>
                      <a:prstDash val="solid"/>
                    </a:lnT>
                    <a:lnB w="7200">
                      <a:solidFill>
                        <a:srgbClr val="80BA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-40.25%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C1CC"/>
                      </a:solidFill>
                      <a:prstDash val="solid"/>
                    </a:lnL>
                    <a:lnR w="12240">
                      <a:solidFill>
                        <a:srgbClr val="E0C0CC"/>
                      </a:solidFill>
                      <a:prstDash val="solid"/>
                    </a:lnR>
                    <a:lnT w="12240">
                      <a:solidFill>
                        <a:srgbClr val="40C1CC"/>
                      </a:solidFill>
                      <a:prstDash val="solid"/>
                    </a:lnT>
                    <a:lnB w="7200">
                      <a:solidFill>
                        <a:srgbClr val="40C1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-NT$201,235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E0C0CC"/>
                      </a:solidFill>
                      <a:prstDash val="solid"/>
                    </a:lnL>
                    <a:lnR w="12240">
                      <a:solidFill>
                        <a:srgbClr val="C0CECC"/>
                      </a:solidFill>
                      <a:prstDash val="solid"/>
                    </a:lnR>
                    <a:lnT w="12240">
                      <a:solidFill>
                        <a:srgbClr val="E0C0CC"/>
                      </a:solidFill>
                      <a:prstDash val="solid"/>
                    </a:lnT>
                    <a:lnB w="7200">
                      <a:solidFill>
                        <a:srgbClr val="E0C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CECC"/>
                      </a:solidFill>
                      <a:prstDash val="solid"/>
                    </a:lnL>
                    <a:lnR w="12240">
                      <a:solidFill>
                        <a:srgbClr val="80CFCC"/>
                      </a:solidFill>
                      <a:prstDash val="solid"/>
                    </a:lnR>
                    <a:lnT w="12240">
                      <a:solidFill>
                        <a:srgbClr val="C0CECC"/>
                      </a:solidFill>
                      <a:prstDash val="solid"/>
                    </a:lnT>
                    <a:lnB w="7200">
                      <a:solidFill>
                        <a:srgbClr val="C0CE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+8.01%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80CFCC"/>
                      </a:solidFill>
                      <a:prstDash val="solid"/>
                    </a:lnL>
                    <a:lnR w="12240">
                      <a:solidFill>
                        <a:srgbClr val="A0D3CC"/>
                      </a:solidFill>
                      <a:prstDash val="solid"/>
                    </a:lnR>
                    <a:lnT w="12240">
                      <a:solidFill>
                        <a:srgbClr val="80CFCC"/>
                      </a:solidFill>
                      <a:prstDash val="solid"/>
                    </a:lnT>
                    <a:lnB w="7200">
                      <a:solidFill>
                        <a:srgbClr val="80CF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+NT$40,055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A0D3CC"/>
                      </a:solidFill>
                      <a:prstDash val="solid"/>
                    </a:lnL>
                    <a:lnR w="12240">
                      <a:solidFill>
                        <a:srgbClr val="40D0CC"/>
                      </a:solidFill>
                      <a:prstDash val="solid"/>
                    </a:lnR>
                    <a:lnT w="12240">
                      <a:solidFill>
                        <a:srgbClr val="A0D3CC"/>
                      </a:solidFill>
                      <a:prstDash val="solid"/>
                    </a:lnT>
                    <a:lnB w="7200">
                      <a:solidFill>
                        <a:srgbClr val="A0D3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—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40D0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40D0CC"/>
                      </a:solidFill>
                      <a:prstDash val="solid"/>
                    </a:lnT>
                    <a:lnB w="7200">
                      <a:solidFill>
                        <a:srgbClr val="40D0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-NT$161,179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8360" marR="108360" marT="108360" marB="108360">
                    <a:lnL w="12240">
                      <a:solidFill>
                        <a:srgbClr val="C0D4CC"/>
                      </a:solidFill>
                      <a:prstDash val="solid"/>
                    </a:lnL>
                    <a:lnR w="12240">
                      <a:solidFill>
                        <a:srgbClr val="C0D4CC"/>
                      </a:solidFill>
                      <a:prstDash val="solid"/>
                    </a:lnR>
                    <a:lnT w="12240">
                      <a:solidFill>
                        <a:srgbClr val="C0D4CC"/>
                      </a:solidFill>
                      <a:prstDash val="solid"/>
                    </a:lnT>
                    <a:lnB w="7200">
                      <a:solidFill>
                        <a:srgbClr val="C0D4C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3EAFEA75-0D39-4966-98F9-0C0F2FA9CEB0}" type="slidenum"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4667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周ＫＤ關鍵觀察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9125640" cy="518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目前排第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名，兩年合計小虧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-NT$3,718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核心問題：訊號太少（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BUY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2022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次買進都在空頭年，小虧正常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2025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年只有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次買進（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+0.75%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），錯過大部分反彈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預設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k=9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對聯發科而言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值不夠敏感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，導致買點錯過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6C958F5B-D1D8-4ACC-BBC7-C227215533D3}" type="slidenum"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560" cy="68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7500" lnSpcReduction="19999"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策略參數掃描＝＞</a:t>
            </a:r>
            <a:br>
              <a:rPr sz="3200"/>
            </a:br>
            <a:br>
              <a:rPr sz="3200"/>
            </a:b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輸入：再用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聯發科來搜索最佳參數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用最佳參數再用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2022,2025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聯發科跟其他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4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個策略比較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065240" y="1828800"/>
            <a:ext cx="10438560" cy="4723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2022 🐻	2022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2025 🐂	2025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損益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合計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+17.42%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+NT$87,092	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+5.34%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+NT$26,702	+NT$113,794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週KD(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最佳 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12,25,5)	+4.96%	+NT$24,798	+3.58%	+NT$17,921	+NT$42,719 🏆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偏離靠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次頻繁交易累積報酬，而 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最佳只花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筆就賺了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NT$+42,719——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效率是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7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倍以上。而且兩年都是正報酬（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兩年也都是正），防守力相當。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＝＞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結論周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KD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策略沒有</a:t>
            </a:r>
            <a:r>
              <a:rPr lang="en-US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VWAP</a:t>
            </a:r>
            <a:r>
              <a:rPr lang="zh-TW" sz="2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好！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F5F546E0-4EAF-4E7D-A5C8-CEA39C35E7C2}" type="slidenum"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261585" y="579615"/>
            <a:ext cx="11288160" cy="55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10764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💡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實戰建議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261585" y="1371615"/>
            <a:ext cx="11288160" cy="37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回測 </a:t>
            </a:r>
            <a:r>
              <a:rPr lang="en-US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SOP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（建議流程）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261585" y="1941495"/>
            <a:ext cx="10693080" cy="4790880"/>
          </a:xfrm>
          <a:prstGeom prst="rect">
            <a:avLst/>
          </a:prstGeom>
          <a:solidFill>
            <a:srgbClr val="F6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1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步：先用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預設參數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跑所有策略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2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找出表現最好的策略與標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的組合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針對該組合調整參數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4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至少跑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3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年以上的資料 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確保策略經歷過不同市場環境（多頭、空頭、盤整）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5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步：確認策略邏輯在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實盤合理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，  檢查每個訊號觸發的日期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第 </a:t>
            </a: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6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步：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用模擬交易測試 </a:t>
            </a:r>
            <a:r>
              <a:rPr lang="en-US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1~2 </a:t>
            </a:r>
            <a:r>
              <a:rPr lang="zh-TW" sz="240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  先用 live_trader_finmind.py </a:t>
            </a:r>
            <a:r>
              <a:rPr lang="zh-TW" sz="2400" b="0" u="none" strike="noStrike">
                <a:solidFill>
                  <a:srgbClr val="1F2328"/>
                </a:solidFill>
                <a:effectLst/>
                <a:uFillTx/>
                <a:latin typeface="Consolas"/>
                <a:ea typeface="Consolas"/>
              </a:rPr>
              <a:t>的模擬模式觀察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81360" cy="53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選股＝＞潛力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8640" cy="525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🔍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find_catalyst_stocks.py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翻倍潛力股掃瞄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掃了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1079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檔，篩出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153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檔符合條型態。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TOP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評分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突破幅度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量能倍數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營收年增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	1714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和桐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69.6	+90%		8.3x	+33%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	3209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全科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67.7	+73%		5.3x	+19%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	2305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全友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67.3	+190%		6.2x	+49%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	2923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鼎固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-KY	65.9	+68%		4.7x	+154%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88800" indent="-34308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AutoNum type="arabicPlain" startAt="5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　　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6834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天二科技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64.6	+234%		8.7x	+20%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⚠️ 全數為中小型股。記得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先研究基本面再決定要不要加入候選池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EE88749A-F7CB-4D69-9D9D-A38A1DBB827F}" type="slidenum"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60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選股＝＞動能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1311120" y="1066680"/>
            <a:ext cx="9430560" cy="548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📊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stock_selector_grid.p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 —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下一季推薦持股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基於  收盤價，從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16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檔候選池選出：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代號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近季動能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建議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6xx6	xxx	ma_cross	NT$1,195	+31.4%	🥇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強勢首選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2xx6	xxx	ma_cross	NT$48		+5.5%	🥈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防禦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2xx1      xxx	vwap		NT$124		-5.0%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逆勢觀察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2xx8	xxx	ma_cross	NT$396		-9.2%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週期底部？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CC4FAC05-74BB-4F16-A45B-D5892E7828B9}" type="slidenum"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6260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定期選股＝＞很重要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61" name="內容版面配置區 5"/>
          <p:cNvPicPr/>
          <p:nvPr/>
        </p:nvPicPr>
        <p:blipFill>
          <a:blip r:embed="rId2"/>
          <a:stretch/>
        </p:blipFill>
        <p:spPr>
          <a:xfrm>
            <a:off x="1979640" y="1447920"/>
            <a:ext cx="7963200" cy="290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文字方塊 7"/>
          <p:cNvSpPr/>
          <p:nvPr/>
        </p:nvSpPr>
        <p:spPr>
          <a:xfrm>
            <a:off x="1293840" y="4763880"/>
            <a:ext cx="9600480" cy="101484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🎯 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結論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：定期檢討的頻率遠比檢討方式重要。無論是人工逐年還是機械式每季，</a:t>
            </a:r>
            <a:r>
              <a:rPr lang="zh-TW" sz="2000" b="1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只要有紀律地定期檢討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，都能大幅優於買入持有。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2022 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熊市中，每季換股更是顯著降低了虧損。詳細工具使用方式見</a:t>
            </a:r>
            <a:r>
              <a:rPr lang="zh-TW" sz="2000" b="0" u="sng" strike="noStrike">
                <a:solidFill>
                  <a:schemeClr val="dk1"/>
                </a:solidFill>
                <a:effectLst/>
                <a:uFillTx/>
                <a:latin typeface="Mona Sans VF"/>
                <a:hlinkClick r:id="rId3"/>
              </a:rPr>
              <a:t>使用手冊 — 選股工具工作流程</a:t>
            </a: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Mona Sans VF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3D30F74A-9217-44F1-A067-7630A00D8CEF}" type="slidenum"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270080" y="183600"/>
            <a:ext cx="10591200" cy="65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回測的最大目標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814320" y="2523960"/>
            <a:ext cx="10629360" cy="180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76120" tIns="0" rIns="276120" bIns="0" anchor="t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📌 </a:t>
            </a: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請記住：回測的目的是「排除壞策略」，而不是「找出完美策略」。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一個在各種市場環境下都能穩定小賺的策略，遠比一個在大牛市暴賺但在崩盤時慘賠的策略更有價值。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zh-TW" sz="2170" b="1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先用回測驗證，再用小額資金實盤測試，最後才放大資金。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Segoe UI"/>
                <a:ea typeface="Segoe UI"/>
              </a:rPr>
              <a:t> 🛡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409C209B-841D-4DF5-BE57-8FB3BA345EC0}" type="slidenum"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888080" cy="5866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試著於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Group 1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備用２的策略加一個你自己的策略（盡量不要動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主程式）</a:t>
            </a:r>
            <a:br>
              <a:rPr sz="2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！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760" cy="23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1470</TotalTime>
  <Words>3122</Words>
  <Application>Microsoft Office PowerPoint</Application>
  <PresentationFormat>自訂</PresentationFormat>
  <Paragraphs>314</Paragraphs>
  <Slides>26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13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26</vt:i4>
      </vt:variant>
    </vt:vector>
  </HeadingPairs>
  <TitlesOfParts>
    <vt:vector size="41" baseType="lpstr">
      <vt:lpstr>Mona Sans VF</vt:lpstr>
      <vt:lpstr>ui-sans-serif</vt:lpstr>
      <vt:lpstr>Yu Gothic UI</vt:lpstr>
      <vt:lpstr>Aptos</vt:lpstr>
      <vt:lpstr>Arial</vt:lpstr>
      <vt:lpstr>Calibri</vt:lpstr>
      <vt:lpstr>Century Gothic</vt:lpstr>
      <vt:lpstr>Consolas</vt:lpstr>
      <vt:lpstr>Sarasa Mono TC</vt:lpstr>
      <vt:lpstr>Segoe UI</vt:lpstr>
      <vt:lpstr>Symbol</vt:lpstr>
      <vt:lpstr>Times New Roman</vt:lpstr>
      <vt:lpstr>Wingdings</vt:lpstr>
      <vt:lpstr>Custom</vt:lpstr>
      <vt:lpstr>Office Theme</vt:lpstr>
      <vt:lpstr>TW-AUTOTRADER-W5   台股買賣自動化系統</vt:lpstr>
      <vt:lpstr>PowerPoint 簡報</vt:lpstr>
      <vt:lpstr>策略的回測</vt:lpstr>
      <vt:lpstr>策略的回測</vt:lpstr>
      <vt:lpstr>策略的回測</vt:lpstr>
      <vt:lpstr>策略的回測</vt:lpstr>
      <vt:lpstr>回測的執行</vt:lpstr>
      <vt:lpstr>問：給我台積電今年1~6月用策略1~4回測單筆投資50萬的結果</vt:lpstr>
      <vt:lpstr>PowerPoint 簡報</vt:lpstr>
      <vt:lpstr>盤整盤與震盪盤 </vt:lpstr>
      <vt:lpstr>🛡️如何避免雙巴？ </vt:lpstr>
      <vt:lpstr>問：我們分別看看同樣是台積電,2022（空）,2025（多）這兩年,這兩個年度四個策略的表現(一樣單筆50萬本金)</vt:lpstr>
      <vt:lpstr>問：聯發科2024~2025這兩個年度四個策略的表現(一樣單筆50萬本金), 有哪幾區段是適合用唐安奇通道的?把那時期的走勢圖放到img下</vt:lpstr>
      <vt:lpstr>PowerPoint 簡報</vt:lpstr>
      <vt:lpstr>增加策略＝＞（先切到Plan Builder)  問：用g1備用2來完成以下KD策略: 週 KD 黃金交叉策略（最推薦來自Google AI推薦穩健的ＫＤ策略）:   放棄震盪劇烈的日線，改用 週 K 線（以週為單位計算）。  週 KD 的轉折代表的是中長期（數個月到半年以上）的趨勢改變。  買進點：當週 KD 在 低檔（小於 30 或 20）發生黃金交叉 時進場。這通常代表股價經歷大波段修正後，中長期底部成形。 持有期：只要週 KD 維持向上，或是維持在高檔鈍化，就一路抱牢。 好處：一年中一檔股票可能只會出現 1~2 次訊號，交易次數少，手續費低，且能抓到大波段波幅。</vt:lpstr>
      <vt:lpstr>Plan Builder計畫完成</vt:lpstr>
      <vt:lpstr>計畫好了，切回UltraWorker執行＝＞ 輸入：執行weekly-kd-strategy（執行太久，可以ＥＳＣ中斷切Deepseek Pro)</vt:lpstr>
      <vt:lpstr>輸入：2022,2025年 聯發科用這個周KD策略試試,跟剛才4個策略比較一下</vt:lpstr>
      <vt:lpstr>周ＫＤ關鍵觀察 </vt:lpstr>
      <vt:lpstr>策略參數掃描＝＞  輸入：再用2022,2025聯發科來搜索最佳參數,用最佳參數再用2022,2025聯發科跟其他4個策略比較</vt:lpstr>
      <vt:lpstr>PowerPoint 簡報</vt:lpstr>
      <vt:lpstr>選股＝＞潛力</vt:lpstr>
      <vt:lpstr>選股＝＞動能</vt:lpstr>
      <vt:lpstr>定期選股＝＞很重要</vt:lpstr>
      <vt:lpstr>回測的最大目標</vt:lpstr>
      <vt:lpstr>試著於Group 1備用２的策略加一個你自己的策略（盡量不要動live_trader_multi.py主程式） Thank you！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2026-08-20T15:27:33Z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26</vt:i4>
  </property>
</Properties>
</file>