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ngesInfos/changesInfo1.xml" ContentType="application/vnd.ms-powerpoint.changesinfo+xml"/>
  <Override PartName="/ppt/diagrams/colors1.xml" ContentType="application/vnd.openxmlformats-officedocument.drawingml.diagramColors+xml"/>
  <Override PartName="/ppt/diagrams/data1.xml" ContentType="application/vnd.openxmlformats-officedocument.drawingml.diagramData+xml"/>
  <Override PartName="/ppt/diagrams/drawing1.xml" ContentType="application/vnd.ms-office.drawingml.diagramDrawing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handoutMasters/handoutMaster1.xml" ContentType="application/vnd.openxmlformats-officedocument.presentationml.handoutMaster+xml"/>
  <Override PartName="/ppt/media/image2.svg" ContentType="image/svg+xml"/>
  <Override PartName="/ppt/media/image3.svg" ContentType="image/svg+xml"/>
  <Override PartName="/ppt/media/image4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Relationship Id="rId5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4"/>
  </p:sldMasterIdLst>
  <p:notesMasterIdLst>
    <p:notesMasterId r:id="rId22"/>
  </p:notesMasterIdLst>
  <p:handoutMasterIdLst>
    <p:handoutMasterId r:id="rId23"/>
  </p:handoutMasterIdLst>
  <p:sldIdLst>
    <p:sldId id="257" r:id="rId5"/>
    <p:sldId id="264" r:id="rId6"/>
    <p:sldId id="282" r:id="rId7"/>
    <p:sldId id="297" r:id="rId8"/>
    <p:sldId id="296" r:id="rId9"/>
    <p:sldId id="258" r:id="rId10"/>
    <p:sldId id="287" r:id="rId11"/>
    <p:sldId id="288" r:id="rId12"/>
    <p:sldId id="289" r:id="rId13"/>
    <p:sldId id="290" r:id="rId14"/>
    <p:sldId id="291" r:id="rId15"/>
    <p:sldId id="292" r:id="rId16"/>
    <p:sldId id="298" r:id="rId17"/>
    <p:sldId id="293" r:id="rId18"/>
    <p:sldId id="294" r:id="rId19"/>
    <p:sldId id="295" r:id="rId20"/>
    <p:sldId id="277" r:id="rId21"/>
  </p:sldIdLst>
  <p:sldSz cx="12188825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orient="horz" pos="1008">
          <p15:clr>
            <a:srgbClr val="A4A3A4"/>
          </p15:clr>
        </p15:guide>
        <p15:guide id="3" orient="horz" pos="3792">
          <p15:clr>
            <a:srgbClr val="A4A3A4"/>
          </p15:clr>
        </p15:guide>
        <p15:guide id="4" orient="horz" pos="336">
          <p15:clr>
            <a:srgbClr val="A4A3A4"/>
          </p15:clr>
        </p15:guide>
        <p15:guide id="5" orient="horz" pos="1920">
          <p15:clr>
            <a:srgbClr val="A4A3A4"/>
          </p15:clr>
        </p15:guide>
        <p15:guide id="6" orient="horz" pos="3984">
          <p15:clr>
            <a:srgbClr val="A4A3A4"/>
          </p15:clr>
        </p15:guide>
        <p15:guide id="7" orient="horz" pos="1152">
          <p15:clr>
            <a:srgbClr val="A4A3A4"/>
          </p15:clr>
        </p15:guide>
        <p15:guide id="8" pos="3839">
          <p15:clr>
            <a:srgbClr val="A4A3A4"/>
          </p15:clr>
        </p15:guide>
        <p15:guide id="9" pos="671">
          <p15:clr>
            <a:srgbClr val="A4A3A4"/>
          </p15:clr>
        </p15:guide>
        <p15:guide id="10" pos="7007">
          <p15:clr>
            <a:srgbClr val="A4A3A4"/>
          </p15:clr>
        </p15:guide>
        <p15:guide id="11" pos="6143">
          <p15:clr>
            <a:srgbClr val="A4A3A4"/>
          </p15:clr>
        </p15:guide>
        <p15:guide id="12" pos="3263">
          <p15:clr>
            <a:srgbClr val="A4A3A4"/>
          </p15:clr>
        </p15:guide>
        <p15:guide id="13" pos="7391">
          <p15:clr>
            <a:srgbClr val="A4A3A4"/>
          </p15:clr>
        </p15:guide>
        <p15:guide id="14" pos="3695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DD14F4E1-2B30-4D5F-8195-12B2D8A8E359}" v="113" dt="2026-07-21T16:23:55.571"/>
  </p1510:revLst>
</p1510:revInfo>
</file>

<file path=ppt/tableStyles.xml><?xml version="1.0" encoding="utf-8"?>
<a:tblStyleLst xmlns:a="http://schemas.openxmlformats.org/drawingml/2006/main" def="{BC89EF96-8CEA-46FF-86C4-4CE0E7609802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08FB837D-C827-4EFA-A057-4D05807E0F7C}" styleName="Themed Style 1 - Accent 6">
    <a:tblBg>
      <a:fillRef idx="2">
        <a:schemeClr val="accent6"/>
      </a:fillRef>
      <a:effectRef idx="1">
        <a:schemeClr val="accent6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Ref idx="1">
              <a:schemeClr val="accent6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  <a:fill>
          <a:solidFill>
            <a:schemeClr val="accent6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6"/>
            </a:lnRef>
          </a:left>
          <a:right>
            <a:lnRef idx="2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2">
              <a:schemeClr val="accent6"/>
            </a:lnRef>
          </a:top>
          <a:bottom>
            <a:lnRef idx="2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6"/>
          </a:solidFill>
        </a:fill>
      </a:tcStyle>
    </a:firstRow>
  </a:tblStyle>
  <a:tblStyle styleId="{BC89EF96-8CEA-46FF-86C4-4CE0E7609802}" styleName="Light Style 3 - Accent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879" autoAdjust="0"/>
  </p:normalViewPr>
  <p:slideViewPr>
    <p:cSldViewPr showGuides="1">
      <p:cViewPr varScale="1">
        <p:scale>
          <a:sx n="105" d="100"/>
          <a:sy n="105" d="100"/>
        </p:scale>
        <p:origin x="834" y="42"/>
      </p:cViewPr>
      <p:guideLst>
        <p:guide orient="horz" pos="2160"/>
        <p:guide orient="horz" pos="1008"/>
        <p:guide orient="horz" pos="3792"/>
        <p:guide orient="horz" pos="336"/>
        <p:guide orient="horz" pos="1920"/>
        <p:guide orient="horz" pos="3984"/>
        <p:guide orient="horz" pos="1152"/>
        <p:guide pos="3839"/>
        <p:guide pos="671"/>
        <p:guide pos="7007"/>
        <p:guide pos="6143"/>
        <p:guide pos="3263"/>
        <p:guide pos="7391"/>
        <p:guide pos="3695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 varScale="1">
      <p:scale>
        <a:sx n="1" d="1"/>
        <a:sy n="1" d="1"/>
      </p:scale>
      <p:origin x="0" y="0"/>
    </p:cViewPr>
  </p:sorterViewPr>
  <p:notesViewPr>
    <p:cSldViewPr showGuides="1">
      <p:cViewPr varScale="1">
        <p:scale>
          <a:sx n="73" d="100"/>
          <a:sy n="73" d="100"/>
        </p:scale>
        <p:origin x="2126" y="29"/>
      </p:cViewPr>
      <p:guideLst/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4" Type="http://schemas.openxmlformats.org/officeDocument/2006/relationships/slide" Target="slides/slide10.xml"/><Relationship Id="rId15" Type="http://schemas.openxmlformats.org/officeDocument/2006/relationships/slide" Target="slides/slide11.xml"/><Relationship Id="rId16" Type="http://schemas.openxmlformats.org/officeDocument/2006/relationships/slide" Target="slides/slide12.xml"/><Relationship Id="rId17" Type="http://schemas.openxmlformats.org/officeDocument/2006/relationships/slide" Target="slides/slide13.xml"/><Relationship Id="rId18" Type="http://schemas.openxmlformats.org/officeDocument/2006/relationships/slide" Target="slides/slide14.xml"/><Relationship Id="rId19" Type="http://schemas.openxmlformats.org/officeDocument/2006/relationships/slide" Target="slides/slide15.xml"/><Relationship Id="rId20" Type="http://schemas.openxmlformats.org/officeDocument/2006/relationships/slide" Target="slides/slide16.xml"/><Relationship Id="rId21" Type="http://schemas.openxmlformats.org/officeDocument/2006/relationships/slide" Target="slides/slide17.xml"/><Relationship Id="rId22" Type="http://schemas.openxmlformats.org/officeDocument/2006/relationships/notesMaster" Target="notesMasters/notesMaster1.xml"/><Relationship Id="rId23" Type="http://schemas.openxmlformats.org/officeDocument/2006/relationships/handoutMaster" Target="handoutMasters/handoutMaster1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Relationship Id="rId28" Type="http://schemas.microsoft.com/office/2016/11/relationships/changesInfo" Target="changesInfos/changesInfo1.xml"/><Relationship Id="rId29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宜軒 謝" userId="2eb2341147ac0da6" providerId="LiveId" clId="{3C637DDA-15F1-4277-AED3-B98324C04A77}"/>
    <pc:docChg chg="undo custSel addSld delSld modSld">
      <pc:chgData name="宜軒 謝" userId="2eb2341147ac0da6" providerId="LiveId" clId="{3C637DDA-15F1-4277-AED3-B98324C04A77}" dt="2026-07-21T16:24:12.680" v="886" actId="403"/>
      <pc:docMkLst>
        <pc:docMk/>
      </pc:docMkLst>
      <pc:sldChg chg="modSp mod">
        <pc:chgData name="宜軒 謝" userId="2eb2341147ac0da6" providerId="LiveId" clId="{3C637DDA-15F1-4277-AED3-B98324C04A77}" dt="2026-07-18T13:31:30.714" v="728" actId="6549"/>
        <pc:sldMkLst>
          <pc:docMk/>
          <pc:sldMk cId="1325608595" sldId="264"/>
        </pc:sldMkLst>
        <pc:spChg chg="mod">
          <ac:chgData name="宜軒 謝" userId="2eb2341147ac0da6" providerId="LiveId" clId="{3C637DDA-15F1-4277-AED3-B98324C04A77}" dt="2026-07-18T13:31:30.714" v="728" actId="6549"/>
          <ac:spMkLst>
            <pc:docMk/>
            <pc:sldMk cId="1325608595" sldId="264"/>
            <ac:spMk id="3" creationId="{22788C46-D0BC-4307-AE55-7601A139E7CB}"/>
          </ac:spMkLst>
        </pc:spChg>
      </pc:sldChg>
      <pc:sldChg chg="modSp mod">
        <pc:chgData name="宜軒 謝" userId="2eb2341147ac0da6" providerId="LiveId" clId="{3C637DDA-15F1-4277-AED3-B98324C04A77}" dt="2026-07-15T11:17:37.278" v="119" actId="20577"/>
        <pc:sldMkLst>
          <pc:docMk/>
          <pc:sldMk cId="3103683689" sldId="277"/>
        </pc:sldMkLst>
        <pc:spChg chg="mod">
          <ac:chgData name="宜軒 謝" userId="2eb2341147ac0da6" providerId="LiveId" clId="{3C637DDA-15F1-4277-AED3-B98324C04A77}" dt="2026-07-15T11:17:37.278" v="119" actId="20577"/>
          <ac:spMkLst>
            <pc:docMk/>
            <pc:sldMk cId="3103683689" sldId="277"/>
            <ac:spMk id="3" creationId="{BABC2CE0-8806-4B2A-A10A-32984D317434}"/>
          </ac:spMkLst>
        </pc:spChg>
      </pc:sldChg>
      <pc:sldChg chg="modSp mod">
        <pc:chgData name="宜軒 謝" userId="2eb2341147ac0da6" providerId="LiveId" clId="{3C637DDA-15F1-4277-AED3-B98324C04A77}" dt="2026-07-15T13:19:30.685" v="161"/>
        <pc:sldMkLst>
          <pc:docMk/>
          <pc:sldMk cId="3809058685" sldId="292"/>
        </pc:sldMkLst>
        <pc:graphicFrameChg chg="mod modGraphic">
          <ac:chgData name="宜軒 謝" userId="2eb2341147ac0da6" providerId="LiveId" clId="{3C637DDA-15F1-4277-AED3-B98324C04A77}" dt="2026-07-15T13:19:30.685" v="161"/>
          <ac:graphicFrameMkLst>
            <pc:docMk/>
            <pc:sldMk cId="3809058685" sldId="292"/>
            <ac:graphicFrameMk id="7" creationId="{160DD418-8697-0184-7A17-329D20E7E568}"/>
          </ac:graphicFrameMkLst>
        </pc:graphicFrameChg>
      </pc:sldChg>
      <pc:sldChg chg="add setBg">
        <pc:chgData name="宜軒 謝" userId="2eb2341147ac0da6" providerId="LiveId" clId="{3C637DDA-15F1-4277-AED3-B98324C04A77}" dt="2026-07-17T07:10:56.621" v="163"/>
        <pc:sldMkLst>
          <pc:docMk/>
          <pc:sldMk cId="675360620" sldId="296"/>
        </pc:sldMkLst>
      </pc:sldChg>
      <pc:sldChg chg="addSp delSp modSp new mod setBg modClrScheme chgLayout">
        <pc:chgData name="宜軒 謝" userId="2eb2341147ac0da6" providerId="LiveId" clId="{3C637DDA-15F1-4277-AED3-B98324C04A77}" dt="2026-07-17T07:32:11.470" v="716" actId="113"/>
        <pc:sldMkLst>
          <pc:docMk/>
          <pc:sldMk cId="1158761888" sldId="297"/>
        </pc:sldMkLst>
        <pc:spChg chg="add mod">
          <ac:chgData name="宜軒 謝" userId="2eb2341147ac0da6" providerId="LiveId" clId="{3C637DDA-15F1-4277-AED3-B98324C04A77}" dt="2026-07-17T07:32:11.470" v="716" actId="113"/>
          <ac:spMkLst>
            <pc:docMk/>
            <pc:sldMk cId="1158761888" sldId="297"/>
            <ac:spMk id="12" creationId="{B7CE2223-955B-67A0-AB78-7EA4B0E35C23}"/>
          </ac:spMkLst>
        </pc:spChg>
        <pc:spChg chg="add">
          <ac:chgData name="宜軒 謝" userId="2eb2341147ac0da6" providerId="LiveId" clId="{3C637DDA-15F1-4277-AED3-B98324C04A77}" dt="2026-07-17T07:13:39.691" v="178" actId="26606"/>
          <ac:spMkLst>
            <pc:docMk/>
            <pc:sldMk cId="1158761888" sldId="297"/>
            <ac:spMk id="25" creationId="{F5FE211A-0ABC-9C19-2AF8-30635484BDC7}"/>
          </ac:spMkLst>
        </pc:spChg>
      </pc:sldChg>
      <pc:sldChg chg="addSp delSp modSp new mod modClrScheme chgLayout">
        <pc:chgData name="宜軒 謝" userId="2eb2341147ac0da6" providerId="LiveId" clId="{3C637DDA-15F1-4277-AED3-B98324C04A77}" dt="2026-07-21T16:24:12.680" v="886" actId="403"/>
        <pc:sldMkLst>
          <pc:docMk/>
          <pc:sldMk cId="289394202" sldId="298"/>
        </pc:sldMkLst>
        <pc:spChg chg="mod">
          <ac:chgData name="宜軒 謝" userId="2eb2341147ac0da6" providerId="LiveId" clId="{3C637DDA-15F1-4277-AED3-B98324C04A77}" dt="2026-07-21T16:24:12.680" v="886" actId="403"/>
          <ac:spMkLst>
            <pc:docMk/>
            <pc:sldMk cId="289394202" sldId="298"/>
            <ac:spMk id="2" creationId="{FB24F3B5-0207-9973-6118-60A7FDD69F80}"/>
          </ac:spMkLst>
        </pc:spChg>
        <pc:spChg chg="mod">
          <ac:chgData name="宜軒 謝" userId="2eb2341147ac0da6" providerId="LiveId" clId="{3C637DDA-15F1-4277-AED3-B98324C04A77}" dt="2026-07-21T16:23:19.841" v="878" actId="26606"/>
          <ac:spMkLst>
            <pc:docMk/>
            <pc:sldMk cId="289394202" sldId="298"/>
            <ac:spMk id="3" creationId="{131FC2F7-4A65-612A-6B7C-760602BA9655}"/>
          </ac:spMkLst>
        </pc:spChg>
        <pc:spChg chg="del mod">
          <ac:chgData name="宜軒 謝" userId="2eb2341147ac0da6" providerId="LiveId" clId="{3C637DDA-15F1-4277-AED3-B98324C04A77}" dt="2026-07-21T16:23:19.841" v="878" actId="26606"/>
          <ac:spMkLst>
            <pc:docMk/>
            <pc:sldMk cId="289394202" sldId="298"/>
            <ac:spMk id="4" creationId="{AEBF45E6-9D57-E2E4-FB1E-9237C016DDE2}"/>
          </ac:spMkLst>
        </pc:spChg>
        <pc:graphicFrameChg chg="add mod">
          <ac:chgData name="宜軒 謝" userId="2eb2341147ac0da6" providerId="LiveId" clId="{3C637DDA-15F1-4277-AED3-B98324C04A77}" dt="2026-07-21T16:23:55.571" v="879" actId="13926"/>
          <ac:graphicFrameMkLst>
            <pc:docMk/>
            <pc:sldMk cId="289394202" sldId="298"/>
            <ac:graphicFrameMk id="6" creationId="{A39688D0-C00F-30C3-272F-EBF00BE1EA33}"/>
          </ac:graphicFrameMkLst>
        </pc:graphicFrameChg>
      </pc:sldChg>
    </pc:docChg>
  </pc:docChgLst>
</pc:chgInfo>
</file>

<file path=ppt/diagrams/_rels/data1.xml.rels><?xml version='1.0' encoding='UTF-8' standalone='yes'?>
<Relationships xmlns="http://schemas.openxmlformats.org/package/2006/relationships"><Relationship Id="rId1" Type="http://schemas.openxmlformats.org/officeDocument/2006/relationships/hyperlink" Target="https://youtu.be/atqcAb7MFAM?si=uHh_ad2PKQeRTSso" TargetMode="External"/></Relationships>
</file>

<file path=ppt/diagrams/_rels/drawing1.xml.rels><?xml version='1.0' encoding='UTF-8' standalone='yes'?>
<Relationships xmlns="http://schemas.openxmlformats.org/package/2006/relationships"><Relationship Id="rId1" Type="http://schemas.openxmlformats.org/officeDocument/2006/relationships/hyperlink" Target="https://youtu.be/atqcAb7MFAM?si=uHh_ad2PKQeRTSso" TargetMode="Externa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3_2">
  <dgm:title val=""/>
  <dgm:desc val=""/>
  <dgm:catLst>
    <dgm:cat type="accent3" pri="11200"/>
  </dgm:catLst>
  <dgm:styleLbl name="node0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3"/>
    </dgm:fillClrLst>
    <dgm:linClrLst meth="repeat">
      <a:schemeClr val="accent3"/>
    </dgm:linClrLst>
    <dgm:effectClrLst/>
    <dgm:txLinClrLst/>
    <dgm:txFillClrLst/>
    <dgm:txEffectClrLst/>
  </dgm:styleLbl>
  <dgm:styleLbl name="lnNode1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3">
        <a:tint val="60000"/>
      </a:schemeClr>
    </dgm:fillClrLst>
    <dgm:linClrLst meth="repeat">
      <a:schemeClr val="accent3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3">
        <a:tint val="60000"/>
      </a:schemeClr>
    </dgm:fillClrLst>
    <dgm:linClrLst meth="repeat">
      <a:schemeClr val="accent3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3">
        <a:tint val="60000"/>
      </a:schemeClr>
    </dgm:fillClrLst>
    <dgm:linClrLst meth="repeat">
      <a:schemeClr val="accent3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3"/>
    </dgm:fillClrLst>
    <dgm:linClrLst meth="repeat">
      <a:schemeClr val="accent3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3">
        <a:tint val="60000"/>
      </a:schemeClr>
    </dgm:fillClrLst>
    <dgm:linClrLst meth="repeat">
      <a:schemeClr val="accent3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3"/>
    </dgm:fillClrLst>
    <dgm:linClrLst meth="repeat">
      <a:schemeClr val="accent3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/>
    </dgm:fillClrLst>
    <dgm:linClrLst meth="repeat">
      <a:schemeClr val="accent3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3"/>
    </dgm:fillClrLst>
    <dgm:linClrLst meth="repeat">
      <a:schemeClr val="accent3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3"/>
    </dgm:fillClrLst>
    <dgm:linClrLst meth="repeat">
      <a:schemeClr val="accent3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3">
        <a:alpha val="90000"/>
        <a:tint val="40000"/>
      </a:schemeClr>
    </dgm:fillClrLst>
    <dgm:linClrLst meth="repeat">
      <a:schemeClr val="accent3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3">
        <a:alpha val="90000"/>
        <a:tint val="40000"/>
      </a:schemeClr>
    </dgm:fillClrLst>
    <dgm:linClrLst meth="repeat">
      <a:schemeClr val="accent3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3">
        <a:alpha val="90000"/>
        <a:tint val="40000"/>
      </a:schemeClr>
    </dgm:fillClrLst>
    <dgm:linClrLst meth="repeat">
      <a:schemeClr val="accent3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3">
        <a:tint val="4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3">
        <a:shade val="80000"/>
      </a:schemeClr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3">
        <a:tint val="50000"/>
        <a:alpha val="40000"/>
      </a:schemeClr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3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8891EB54-36F7-4FA0-B5BB-F2152ED8FC40}" type="doc">
      <dgm:prSet loTypeId="urn:microsoft.com/office/officeart/2005/8/layout/process1" loCatId="process" qsTypeId="urn:microsoft.com/office/officeart/2005/8/quickstyle/simple2" qsCatId="simple" csTypeId="urn:microsoft.com/office/officeart/2005/8/colors/accent3_2" csCatId="accent3"/>
      <dgm:spPr/>
      <dgm:t>
        <a:bodyPr/>
        <a:lstStyle/>
        <a:p>
          <a:endParaRPr lang="en-US"/>
        </a:p>
      </dgm:t>
    </dgm:pt>
    <dgm:pt modelId="{8E3638B4-411F-45DE-BCC0-FB714BEA7962}">
      <dgm:prSet/>
      <dgm:spPr/>
      <dgm:t>
        <a:bodyPr/>
        <a:lstStyle/>
        <a:p>
          <a:r>
            <a:rPr lang="zh-TW" dirty="0">
              <a:highlight>
                <a:srgbClr val="00FF00"/>
              </a:highlight>
              <a:hlinkClick xmlns:r="http://schemas.openxmlformats.org/officeDocument/2006/relationships" r:id="rId1"/>
            </a:rPr>
            <a:t>說明視頻</a:t>
          </a:r>
          <a:endParaRPr lang="en-US" dirty="0">
            <a:highlight>
              <a:srgbClr val="00FF00"/>
            </a:highlight>
          </a:endParaRPr>
        </a:p>
      </dgm:t>
    </dgm:pt>
    <dgm:pt modelId="{4EF02013-264D-45E9-89CB-DF4E19BF6AAE}" type="parTrans" cxnId="{53C4E1C1-CEA0-411A-BCC7-627F602A56AD}">
      <dgm:prSet/>
      <dgm:spPr/>
      <dgm:t>
        <a:bodyPr/>
        <a:lstStyle/>
        <a:p>
          <a:endParaRPr lang="en-US"/>
        </a:p>
      </dgm:t>
    </dgm:pt>
    <dgm:pt modelId="{D86C78AC-76FD-4E4D-AEFD-BA29982DDBBA}" type="sibTrans" cxnId="{53C4E1C1-CEA0-411A-BCC7-627F602A56AD}">
      <dgm:prSet/>
      <dgm:spPr/>
      <dgm:t>
        <a:bodyPr/>
        <a:lstStyle/>
        <a:p>
          <a:endParaRPr lang="en-US"/>
        </a:p>
      </dgm:t>
    </dgm:pt>
    <dgm:pt modelId="{A54CF058-1976-4B5F-AAC3-86E6F8E26CB5}">
      <dgm:prSet/>
      <dgm:spPr/>
      <dgm:t>
        <a:bodyPr/>
        <a:lstStyle/>
        <a:p>
          <a:r>
            <a:rPr lang="zh-TW"/>
            <a:t>雲端擺程式的地方</a:t>
          </a:r>
          <a:endParaRPr lang="en-US"/>
        </a:p>
      </dgm:t>
    </dgm:pt>
    <dgm:pt modelId="{1287F98C-9009-4249-AEAB-E65E1CF25452}" type="parTrans" cxnId="{B4C49A2F-03AF-4D4D-9944-D08F656202EA}">
      <dgm:prSet/>
      <dgm:spPr/>
      <dgm:t>
        <a:bodyPr/>
        <a:lstStyle/>
        <a:p>
          <a:endParaRPr lang="en-US"/>
        </a:p>
      </dgm:t>
    </dgm:pt>
    <dgm:pt modelId="{C81DBF78-D989-42E9-B8AF-AD4E824B6257}" type="sibTrans" cxnId="{B4C49A2F-03AF-4D4D-9944-D08F656202EA}">
      <dgm:prSet/>
      <dgm:spPr/>
      <dgm:t>
        <a:bodyPr/>
        <a:lstStyle/>
        <a:p>
          <a:endParaRPr lang="en-US"/>
        </a:p>
      </dgm:t>
    </dgm:pt>
    <dgm:pt modelId="{8AF7FAA8-9C44-446B-B0AB-F7E13DC58B98}">
      <dgm:prSet/>
      <dgm:spPr/>
      <dgm:t>
        <a:bodyPr/>
        <a:lstStyle/>
        <a:p>
          <a:r>
            <a:rPr lang="zh-TW"/>
            <a:t>紀錄改版的過程</a:t>
          </a:r>
          <a:endParaRPr lang="en-US"/>
        </a:p>
      </dgm:t>
    </dgm:pt>
    <dgm:pt modelId="{54DC7AF1-2CA9-4C81-AEF5-85DEC84E8E0A}" type="parTrans" cxnId="{88B90034-6258-4AA4-A7B2-BB76B43CD4C1}">
      <dgm:prSet/>
      <dgm:spPr/>
      <dgm:t>
        <a:bodyPr/>
        <a:lstStyle/>
        <a:p>
          <a:endParaRPr lang="en-US"/>
        </a:p>
      </dgm:t>
    </dgm:pt>
    <dgm:pt modelId="{0A523E67-CBCA-46C0-9EBE-6487CB841A78}" type="sibTrans" cxnId="{88B90034-6258-4AA4-A7B2-BB76B43CD4C1}">
      <dgm:prSet/>
      <dgm:spPr/>
      <dgm:t>
        <a:bodyPr/>
        <a:lstStyle/>
        <a:p>
          <a:endParaRPr lang="en-US"/>
        </a:p>
      </dgm:t>
    </dgm:pt>
    <dgm:pt modelId="{D3574923-EB64-4EBD-B8D8-75B306B91A4C}">
      <dgm:prSet/>
      <dgm:spPr/>
      <dgm:t>
        <a:bodyPr/>
        <a:lstStyle/>
        <a:p>
          <a:r>
            <a:rPr lang="zh-TW"/>
            <a:t>可以多人協作</a:t>
          </a:r>
          <a:endParaRPr lang="en-US"/>
        </a:p>
      </dgm:t>
    </dgm:pt>
    <dgm:pt modelId="{3C7DA012-32A7-4D24-A648-ABE8A4138975}" type="parTrans" cxnId="{19CEF65C-016A-4CC8-9111-E0EF80AC11D1}">
      <dgm:prSet/>
      <dgm:spPr/>
      <dgm:t>
        <a:bodyPr/>
        <a:lstStyle/>
        <a:p>
          <a:endParaRPr lang="en-US"/>
        </a:p>
      </dgm:t>
    </dgm:pt>
    <dgm:pt modelId="{58607DAF-29AE-4B7D-9E88-C426903325FB}" type="sibTrans" cxnId="{19CEF65C-016A-4CC8-9111-E0EF80AC11D1}">
      <dgm:prSet/>
      <dgm:spPr/>
      <dgm:t>
        <a:bodyPr/>
        <a:lstStyle/>
        <a:p>
          <a:endParaRPr lang="en-US"/>
        </a:p>
      </dgm:t>
    </dgm:pt>
    <dgm:pt modelId="{06E11198-6884-4612-A3EC-2977FF4280A4}" type="pres">
      <dgm:prSet presAssocID="{8891EB54-36F7-4FA0-B5BB-F2152ED8FC40}" presName="Name0" presStyleCnt="0">
        <dgm:presLayoutVars>
          <dgm:dir/>
          <dgm:resizeHandles val="exact"/>
        </dgm:presLayoutVars>
      </dgm:prSet>
      <dgm:spPr/>
    </dgm:pt>
    <dgm:pt modelId="{4D759FBE-DF56-48EE-AADE-38DB07F39F74}" type="pres">
      <dgm:prSet presAssocID="{8E3638B4-411F-45DE-BCC0-FB714BEA7962}" presName="node" presStyleLbl="node1" presStyleIdx="0" presStyleCnt="1">
        <dgm:presLayoutVars>
          <dgm:bulletEnabled val="1"/>
        </dgm:presLayoutVars>
      </dgm:prSet>
      <dgm:spPr/>
    </dgm:pt>
  </dgm:ptLst>
  <dgm:cxnLst>
    <dgm:cxn modelId="{9B79B412-EF19-4362-8EC8-B9E3F1BB30F5}" type="presOf" srcId="{8891EB54-36F7-4FA0-B5BB-F2152ED8FC40}" destId="{06E11198-6884-4612-A3EC-2977FF4280A4}" srcOrd="0" destOrd="0" presId="urn:microsoft.com/office/officeart/2005/8/layout/process1"/>
    <dgm:cxn modelId="{55D70F21-C0EA-4B07-9677-7D7A2936F02C}" type="presOf" srcId="{A54CF058-1976-4B5F-AAC3-86E6F8E26CB5}" destId="{4D759FBE-DF56-48EE-AADE-38DB07F39F74}" srcOrd="0" destOrd="1" presId="urn:microsoft.com/office/officeart/2005/8/layout/process1"/>
    <dgm:cxn modelId="{B4C49A2F-03AF-4D4D-9944-D08F656202EA}" srcId="{8E3638B4-411F-45DE-BCC0-FB714BEA7962}" destId="{A54CF058-1976-4B5F-AAC3-86E6F8E26CB5}" srcOrd="0" destOrd="0" parTransId="{1287F98C-9009-4249-AEAB-E65E1CF25452}" sibTransId="{C81DBF78-D989-42E9-B8AF-AD4E824B6257}"/>
    <dgm:cxn modelId="{88B90034-6258-4AA4-A7B2-BB76B43CD4C1}" srcId="{8E3638B4-411F-45DE-BCC0-FB714BEA7962}" destId="{8AF7FAA8-9C44-446B-B0AB-F7E13DC58B98}" srcOrd="1" destOrd="0" parTransId="{54DC7AF1-2CA9-4C81-AEF5-85DEC84E8E0A}" sibTransId="{0A523E67-CBCA-46C0-9EBE-6487CB841A78}"/>
    <dgm:cxn modelId="{19CEF65C-016A-4CC8-9111-E0EF80AC11D1}" srcId="{8E3638B4-411F-45DE-BCC0-FB714BEA7962}" destId="{D3574923-EB64-4EBD-B8D8-75B306B91A4C}" srcOrd="2" destOrd="0" parTransId="{3C7DA012-32A7-4D24-A648-ABE8A4138975}" sibTransId="{58607DAF-29AE-4B7D-9E88-C426903325FB}"/>
    <dgm:cxn modelId="{D0E5FA9E-0B7F-447C-ADDD-4F06B81D8E23}" type="presOf" srcId="{D3574923-EB64-4EBD-B8D8-75B306B91A4C}" destId="{4D759FBE-DF56-48EE-AADE-38DB07F39F74}" srcOrd="0" destOrd="3" presId="urn:microsoft.com/office/officeart/2005/8/layout/process1"/>
    <dgm:cxn modelId="{1FF7C6B6-FEF1-4D3F-ACC8-A0080319D0AE}" type="presOf" srcId="{8E3638B4-411F-45DE-BCC0-FB714BEA7962}" destId="{4D759FBE-DF56-48EE-AADE-38DB07F39F74}" srcOrd="0" destOrd="0" presId="urn:microsoft.com/office/officeart/2005/8/layout/process1"/>
    <dgm:cxn modelId="{53C4E1C1-CEA0-411A-BCC7-627F602A56AD}" srcId="{8891EB54-36F7-4FA0-B5BB-F2152ED8FC40}" destId="{8E3638B4-411F-45DE-BCC0-FB714BEA7962}" srcOrd="0" destOrd="0" parTransId="{4EF02013-264D-45E9-89CB-DF4E19BF6AAE}" sibTransId="{D86C78AC-76FD-4E4D-AEFD-BA29982DDBBA}"/>
    <dgm:cxn modelId="{DC1522E1-2564-4D8F-9B26-1988672B277A}" type="presOf" srcId="{8AF7FAA8-9C44-446B-B0AB-F7E13DC58B98}" destId="{4D759FBE-DF56-48EE-AADE-38DB07F39F74}" srcOrd="0" destOrd="2" presId="urn:microsoft.com/office/officeart/2005/8/layout/process1"/>
    <dgm:cxn modelId="{B3C7C52D-1358-4002-B709-7780DC04BFD4}" type="presParOf" srcId="{06E11198-6884-4612-A3EC-2977FF4280A4}" destId="{4D759FBE-DF56-48EE-AADE-38DB07F39F74}" srcOrd="0" destOrd="0" presId="urn:microsoft.com/office/officeart/2005/8/layout/process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4D759FBE-DF56-48EE-AADE-38DB07F39F74}">
      <dsp:nvSpPr>
        <dsp:cNvPr id="0" name=""/>
        <dsp:cNvSpPr/>
      </dsp:nvSpPr>
      <dsp:spPr>
        <a:xfrm>
          <a:off x="4948" y="0"/>
          <a:ext cx="10124703" cy="3505200"/>
        </a:xfrm>
        <a:prstGeom prst="roundRect">
          <a:avLst>
            <a:gd name="adj" fmla="val 10000"/>
          </a:avLst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140970" tIns="140970" rIns="140970" bIns="140970" numCol="1" spcCol="1270" anchor="t" anchorCtr="0">
          <a:noAutofit/>
        </a:bodyPr>
        <a:lstStyle/>
        <a:p>
          <a:pPr marL="0" lvl="0" indent="0" algn="l" defTabSz="1644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zh-TW" sz="3700" kern="1200" dirty="0">
              <a:highlight>
                <a:srgbClr val="00FF00"/>
              </a:highlight>
              <a:hlinkClick xmlns:r="http://schemas.openxmlformats.org/officeDocument/2006/relationships" r:id="rId1"/>
            </a:rPr>
            <a:t>說明視頻</a:t>
          </a:r>
          <a:endParaRPr lang="en-US" sz="3700" kern="1200" dirty="0">
            <a:highlight>
              <a:srgbClr val="00FF00"/>
            </a:highlight>
          </a:endParaRPr>
        </a:p>
        <a:p>
          <a:pPr marL="285750" lvl="1" indent="-285750" algn="l" defTabSz="12890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zh-TW" sz="2900" kern="1200"/>
            <a:t>雲端擺程式的地方</a:t>
          </a:r>
          <a:endParaRPr lang="en-US" sz="2900" kern="1200"/>
        </a:p>
        <a:p>
          <a:pPr marL="285750" lvl="1" indent="-285750" algn="l" defTabSz="12890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zh-TW" sz="2900" kern="1200"/>
            <a:t>紀錄改版的過程</a:t>
          </a:r>
          <a:endParaRPr lang="en-US" sz="2900" kern="1200"/>
        </a:p>
        <a:p>
          <a:pPr marL="285750" lvl="1" indent="-285750" algn="l" defTabSz="12890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zh-TW" sz="2900" kern="1200"/>
            <a:t>可以多人協作</a:t>
          </a:r>
          <a:endParaRPr lang="en-US" sz="2900" kern="1200"/>
        </a:p>
      </dsp:txBody>
      <dsp:txXfrm>
        <a:off x="107612" y="102664"/>
        <a:ext cx="9919375" cy="3299872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process1">
  <dgm:title val=""/>
  <dgm:desc val=""/>
  <dgm:catLst>
    <dgm:cat type="process" pri="1000"/>
    <dgm:cat type="convert" pri="15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w" for="ch" ptType="node" refType="w"/>
      <dgm:constr type="h" for="ch" ptType="node" op="equ"/>
      <dgm:constr type="primFontSz" for="ch" ptType="node" op="equ" val="65"/>
      <dgm:constr type="w" for="ch" ptType="sibTrans" refType="w" refFor="ch" refPtType="node" op="equ" fact="0.4"/>
      <dgm:constr type="h" for="ch" ptType="sibTrans" op="equ"/>
      <dgm:constr type="primFontSz" for="des" forName="connectorText" op="equ" val="55"/>
      <dgm:constr type="primFontSz" for="des" forName="connectorText" refType="primFontSz" refFor="ch" refPtType="node" op="lte" fact="0.8"/>
    </dgm:constrLst>
    <dgm:ruleLst/>
    <dgm:forEach name="nodesForEach" axis="ch" ptType="node">
      <dgm:layoutNode name="node">
        <dgm:varLst>
          <dgm:bulletEnabled val="1"/>
        </dgm:varLst>
        <dgm:alg type="tx"/>
        <dgm:shape xmlns:r="http://schemas.openxmlformats.org/officeDocument/2006/relationships" type="roundRect" r:blip="">
          <dgm:adjLst>
            <dgm:adj idx="1" val="0.1"/>
          </dgm:adjLst>
        </dgm:shape>
        <dgm:presOf axis="desOrSelf" ptType="node"/>
        <dgm:constrLst>
          <dgm:constr type="h" refType="w" fact="0.6"/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primFontSz" val="18" fact="NaN" max="NaN"/>
          <dgm:rule type="h" val="NaN" fact="1.5" max="NaN"/>
          <dgm:rule type="primFontSz" val="5" fact="NaN" max="NaN"/>
          <dgm:rule type="h" val="INF" fact="NaN" max="NaN"/>
        </dgm:ruleLst>
      </dgm:layoutNode>
      <dgm:forEach name="sibTransForEach" axis="followSib" ptType="sibTrans" cnt="1">
        <dgm:layoutNode name="sibTrans">
          <dgm:alg type="conn">
            <dgm:param type="begPts" val="auto"/>
            <dgm:param type="endPts" val="auto"/>
          </dgm:alg>
          <dgm:shape xmlns:r="http://schemas.openxmlformats.org/officeDocument/2006/relationships" type="conn" r:blip="">
            <dgm:adjLst/>
          </dgm:shape>
          <dgm:presOf axis="self"/>
          <dgm:constrLst>
            <dgm:constr type="h" refType="w" fact="0.62"/>
            <dgm:constr type="connDist"/>
            <dgm:constr type="begPad" refType="connDist" fact="0.25"/>
            <dgm:constr type="endPad" refType="connDist" fact="0.22"/>
          </dgm:constrLst>
          <dgm:ruleLst/>
          <dgm:layoutNode name="connectorText">
            <dgm:alg type="tx">
              <dgm:param type="autoTxRot" val="grav"/>
            </dgm:alg>
            <dgm:shape xmlns:r="http://schemas.openxmlformats.org/officeDocument/2006/relationships" type="conn" r:blip="" hideGeom="1">
              <dgm:adjLst/>
            </dgm:shape>
            <dgm:presOf axis="self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5" fact="NaN" max="NaN"/>
            </dgm:ruleLst>
          </dgm:layoutNode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2">
  <dgm:title val=""/>
  <dgm:desc val=""/>
  <dgm:catLst>
    <dgm:cat type="simple" pri="102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4CE221E-83ED-4F6C-BA5F-3F9E6FDB6953}" type="datetimeFigureOut">
              <a:rPr lang="en-US"/>
              <a:t>7/22/2026</a:t>
            </a:fld>
            <a:endParaRPr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A4CBEF8-5CDE-472B-839B-B8BB0C881006}" type="slidenum">
              <a:rPr/>
              <a:t>‹#›</a:t>
            </a:fld>
            <a:endParaRPr dirty="0"/>
          </a:p>
        </p:txBody>
      </p:sp>
    </p:spTree>
    <p:extLst>
      <p:ext uri="{BB962C8B-B14F-4D97-AF65-F5344CB8AC3E}">
        <p14:creationId xmlns:p14="http://schemas.microsoft.com/office/powerpoint/2010/main" val="4263289295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7853E5F-CE67-483C-A264-F17AC70E9CA2}" type="datetimeFigureOut">
              <a:rPr lang="en-US"/>
              <a:t>7/22/2026</a:t>
            </a:fld>
            <a:endParaRPr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2588" y="685800"/>
            <a:ext cx="6092825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t>Click to edit Master text styles</a:t>
            </a:r>
          </a:p>
          <a:p>
            <a:pPr lvl="1"/>
            <a:r>
              <a:t>Second level</a:t>
            </a:r>
          </a:p>
          <a:p>
            <a:pPr lvl="2"/>
            <a:r>
              <a:t>Third level</a:t>
            </a:r>
          </a:p>
          <a:p>
            <a:pPr lvl="3"/>
            <a:r>
              <a:t>Fourth level</a:t>
            </a:r>
          </a:p>
          <a:p>
            <a:pPr lvl="4"/>
            <a:r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BB98AFB-CB0D-4DFE-87B9-B4B0D0DE73CD}" type="slidenum">
              <a:rPr/>
              <a:t>‹#›</a:t>
            </a:fld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51280581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⏱ 建議時間：30 秒</a:t>
            </a:r>
          </a:p>
          <a:p/>
          <a:p>
            <a:r>
              <a:t>大家好，歡迎來到 TW-SELFSELECT 台股買賣自動化系統的第一堂課。</a:t>
            </a:r>
          </a:p>
          <a:p>
            <a:r>
              <a:t>這套系統，是用 Python 搭配 DSH AI 打造的——簡單說，就是讓電腦幫你看盤、幫你下單、用 Telegram 通知你買賣。</a:t>
            </a:r>
          </a:p>
          <a:p>
            <a:r>
              <a:t>不管你有沒有程式基礎，這一整個系列課程結束之後，你都能把自己的投資策略，變成一台 24 小時自動運作的機器。</a:t>
            </a:r>
          </a:p>
          <a:p/>
          <a:p>
            <a:r>
              <a:t>【講師提示】可以先問台下「有人寫過程式嗎？」建立互動，帶出「不用懂程式也能用」的安心感。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BB98AFB-CB0D-4DFE-87B9-B4B0D0DE73CD}" type="slidenum">
              <a:rPr lang="en-US" smtClean="0"/>
              <a:t>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6401476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建議時間：45 秒</a:t>
            </a:r>
          </a:p>
          <a:p/>
          <a:p>
            <a:r>
              <a:t>先讓大家知道今天我們要聊什麼。</a:t>
            </a:r>
          </a:p>
          <a:p>
            <a:r>
              <a:t>今天的內容包括：簡單認識我、系統簡介、什麼是 Python、什麼是 DSH，接著會介紹系統內建的五大策略、怎麼回測、最後是實盤執行。</a:t>
            </a:r>
          </a:p>
          <a:p>
            <a:r>
              <a:t>如果你對哪一段特別有興趣，也可以隨時舉手打斷我。</a:t>
            </a:r>
          </a:p>
          <a:p/>
          <a:p>
            <a:r>
              <a:t>【講師提示】照著唸即可，這是課程地圖，節奏可以稍微快一點。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建議時間：45 秒</a:t>
            </a:r>
          </a:p>
          <a:p/>
          <a:p>
            <a:r>
              <a:t>先自我介紹一下。</a:t>
            </a:r>
          </a:p>
          <a:p>
            <a:r>
              <a:t>我是謝宜軒，交通大學資訊工程碩士，有三十年資訊軟硬體設計的經歷。</a:t>
            </a:r>
          </a:p>
          <a:p>
            <a:r>
              <a:t>這套 tw-selfselect 台股買賣自動化系統，是我公開放在 GitHub 上的專案——原始碼都看得到、可以學、可以改；授權為個人學習／研究使用，商業使用須經書面授權（詳見 LICENSE）。</a:t>
            </a:r>
          </a:p>
          <a:p/>
          <a:p>
            <a:r>
              <a:t>【講師提示】可以順手把 GitHub 網址投到畫面上，或請學員記下來。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建議時間：1 分鐘</a:t>
            </a:r>
          </a:p>
          <a:p/>
          <a:p>
            <a:r>
              <a:t>這套系統是為誰設計的？如果你符合以下任何一種情況，那你就是我們的目標客群：</a:t>
            </a:r>
          </a:p>
          <a:p>
            <a:r>
              <a:t>第一，你已經有投資策略，但不知道怎麼把它變成量化的程式；</a:t>
            </a:r>
          </a:p>
          <a:p>
            <a:r>
              <a:t>第二，你想投資台股，但沒時間盯盤；</a:t>
            </a:r>
          </a:p>
          <a:p>
            <a:r>
              <a:t>第三，你覺得買 ETF、像是 0050 那樣的收入，還不夠過癮。</a:t>
            </a:r>
          </a:p>
          <a:p>
            <a:r>
              <a:t>關鍵字就是三個：AI、策略量化、買賣自動化。</a:t>
            </a:r>
          </a:p>
          <a:p>
            <a:r>
              <a:t>前提是：你懂電腦操作就好，不用懂寫程式。</a:t>
            </a:r>
          </a:p>
          <a:p>
            <a:r>
              <a:t>不過我要先聲明一件事——我們教的是「策略量化」和「自動化」，不是股票投資建議。這一點很重要，請大家記住。</a:t>
            </a:r>
          </a:p>
          <a:p/>
          <a:p>
            <a:r>
              <a:t>【講師提示】這是合規重點，語氣要認真、明確，可以停頓一下再繼續。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建議時間：2 分鐘</a:t>
            </a:r>
          </a:p>
          <a:p/>
          <a:p>
            <a:r>
              <a:t>接下來介紹系統本身。這套系統最大的設計理念，就是「為非資訊背景的人設計」。</a:t>
            </a:r>
          </a:p>
          <a:p>
            <a:r>
              <a:t>首先，每個雲端主機一個月的費用不到一百塊台幣；每個主機可以控制十五檔以內的個股。程式會自動開關機，省電也省錢。</a:t>
            </a:r>
          </a:p>
          <a:p>
            <a:r>
              <a:t>買賣的時候，系統會用 Telegram 手機簡訊通知你——你不用一直盯著螢幕。</a:t>
            </a:r>
          </a:p>
          <a:p>
            <a:r>
              <a:t>你可以自行設定要買賣的個股、策略和資金。不用寫程式，但我建議你至少看得懂 Python，這樣以後要調整參數會比較方便。</a:t>
            </a:r>
          </a:p>
          <a:p>
            <a:r>
              <a:t>系統內建六組策略，另外預留四組讓你自己定義。回測資料方面，可以調用 Finmind 和 TWSE 的歷史股市資料——這些都是免費的。</a:t>
            </a:r>
          </a:p>
          <a:p>
            <a:r>
              <a:t>下單的部分，目前使用玉山證券的 API，之後你也可以自行換成其他券商的 API。</a:t>
            </a:r>
          </a:p>
          <a:p>
            <a:r>
              <a:t>最後，我們會給你一份完整的 WSL 壓縮檔，所有 Python、DSH 等工具都已經安裝好了，打開就能用。</a:t>
            </a:r>
          </a:p>
          <a:p/>
          <a:p>
            <a:r>
              <a:t>【講師提示】這頁資訊量大，可以搭配畫面逐條指著講；提到 00632R 時可略作說明它是反向 ETF 範例。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建議時間：1 分 30 秒</a:t>
            </a:r>
          </a:p>
          <a:p/>
          <a:p>
            <a:r>
              <a:t>為什麼要用這套系統？我列幾個優點給大家聽。</a:t>
            </a:r>
          </a:p>
          <a:p>
            <a:r>
              <a:t>第一，原始碼**全部公開**在 GitHub（授權見 LICENSE：個人學習／研究使用，商業使用須經書面授權）——沒有加密檔，所有程式都看得到、也改得動；WSL 壓縮檔只是幫你省安裝時間而已。</a:t>
            </a:r>
          </a:p>
          <a:p>
            <a:r>
              <a:t>第二，設定好策略之後，系統自動買賣，你不用整天盯盤。</a:t>
            </a:r>
          </a:p>
          <a:p>
            <a:r>
              <a:t>第三，用免費的 TWSE 和 Finmind 額度就可以回測，不用再花錢買資料庫。</a:t>
            </a:r>
          </a:p>
          <a:p>
            <a:r>
              <a:t>第四，五大策略——布林通道、MA Cross、VWAP 反轉、唐奇安通道、低接高賣——已經涵蓋大部分盤勢，另外還預留四個預備策略。</a:t>
            </a:r>
          </a:p>
          <a:p>
            <a:r>
              <a:t>最後提醒：建議大家直接使用 repo 上長期測試過的版本，你要做的就是修改內建策略參數，或是加上你自己的策略。</a:t>
            </a:r>
          </a:p>
          <a:p/>
          <a:p>
            <a:r>
              <a:t>【講師提示】強調「公開源碼 + 建議用測試過的版本」兩件事不衝突：看得懂、改得動，但不必自己重造輪子。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建議時間：1 分 30 秒</a:t>
            </a:r>
          </a:p>
          <a:p/>
          <a:p>
            <a:r>
              <a:t>左邊是 VM 的**實機**儀表板截圖（2026-10-26 收盤後產生），右邊連結 https://dinchentech.github.io/tw-selfselect/ 是 Pages 上的**示範頁**、資料是範例。</a:t>
            </a:r>
          </a:p>
          <a:p>
            <a:r>
              <a:t>看圖時帶學員注意三點：① KPI 卡片（已實現／未實現損益、報酬率）；② 持倉一覽多一欄「策略」——1301 顯示 auto→bollinger 表示是系統當月選股買的，keep_wait 的部位會直接標 keep_wait，沒有 PC_ 條目的就顯示「-」；③ 下面是資金曲線（Chart.js）。</a:t>
            </a:r>
          </a:p>
          <a:p/>
          <a:p>
            <a:r>
              <a:t>【講師提示】實機每天 13:45 產生 logs/dashboard.html（只留 VM、不進版控）；示範頁只是給學員「看長什麼樣子」，別把示範頁數字當績效。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建議時間：2 分鐘</a:t>
            </a:r>
          </a:p>
          <a:p/>
          <a:p>
            <a:r>
              <a:t>在進入正題之前，我先給大家看兩個例子，讓你們感受一下「DSH 加上 Finmind」到底能做到什麼程度。</a:t>
            </a:r>
          </a:p>
          <a:p>
            <a:r>
              <a:t>我請 DSH 幫我做一個「台灣 2026 年前十大 EPS 公司走勢」的 HTML 網頁。</a:t>
            </a:r>
          </a:p>
          <a:p>
            <a:r>
              <a:t>為什麼用 HTML？因為 HTML 能動態顯示——你可以勾選、取消勾選個股，畫面就會即時增減；滑鼠移到某個時間點，還會顯示那時候的資訊。</a:t>
            </a:r>
          </a:p>
          <a:p>
            <a:r>
              <a:t>這不是靜態圖片，而是一個可以互動的分析工具。</a:t>
            </a:r>
          </a:p>
          <a:p/>
          <a:p>
            <a:r>
              <a:t>【講師提示】可以現場示範勾選個股與滑鼠 hover，這是「看得見的震撼」，比講十句話有用。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建議時間：1 分鐘</a:t>
            </a:r>
          </a:p>
          <a:p/>
          <a:p>
            <a:r>
              <a:t>第二個例子。</a:t>
            </a:r>
          </a:p>
          <a:p>
            <a:r>
              <a:t>這次我請它做「台灣前十大、EPS 大於 30、而且便宜的公司」走勢 HTML。</a:t>
            </a:r>
          </a:p>
          <a:p>
            <a:r>
              <a:t>注意，這個條件是複合的——EPS 要高、股價要相對便宜。這種「用一句話描述篩選條件、AI 直接幫你做出可互動網頁」的能力，就是這門課你們會反覆用到的工作方式。</a:t>
            </a:r>
          </a:p>
          <a:p/>
          <a:p>
            <a:r>
              <a:t>【講師提示】強調「複合條件一句話完成」，這是 DSH 工作流的精髓預告。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建議時間：2 分鐘</a:t>
            </a:r>
          </a:p>
          <a:p/>
          <a:p>
            <a:r>
              <a:t>接下來這個例子很重要，讓大家看看怎麼「跟 AI 討論策略」。</a:t>
            </a:r>
          </a:p>
          <a:p>
            <a:r>
              <a:t>我問 DSH：我預期某檔股票——我們姑且叫它 XX——股價還會上升，該用什麼策略？</a:t>
            </a:r>
          </a:p>
          <a:p>
            <a:r>
              <a:t>AI 分析後指出：XX 是「結構性利多」加上「循環股標籤」的混合體。結構性利多讓它有向上空間，循環股標籤讓它波動極大。所以策略要同時兼顧這兩者。</a:t>
            </a:r>
          </a:p>
          <a:p>
            <a:r>
              <a:t>它給了我四個方向：第一，核心部位加移動停利——大部分持倉抱緊吃主升段，但跌破季線或月線就減碼；第二，盯著毛利率和庫存轉折——Q1 毛利率 38%，是記憶體模組廠的史詩級數字，要小心的是毛利率連續兩季下滑、DRAM 合約價漲幅收斂、存貨週轉天數攀升這些訊號；第三，分批出場——循環股的鐵律是不要妄想賣在最高點，300、400、500 每過一個關卡出二到三成；第四，想清楚不利情境——漲多修正、市場重新定性，這些風險要先有心理準備。</a:t>
            </a:r>
          </a:p>
          <a:p/>
          <a:p>
            <a:r>
              <a:t>【講師提示】這頁是「AI 能當策略軍師」的示範，講解時可以放慢，讓學員消化 AI 的推理邏輯。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建議時間：2 分鐘</a:t>
            </a:r>
          </a:p>
          <a:p/>
          <a:p>
            <a:r>
              <a:t>我接著問 AI：那「250 以下買、280 以上賣」可以嗎？</a:t>
            </a:r>
          </a:p>
          <a:p>
            <a:r>
              <a:t>AI 先幫我檢查數字——它說目前股價 233，本來就已經在 250 以下，所以現在就是買點。</a:t>
            </a:r>
          </a:p>
          <a:p>
            <a:r>
              <a:t>問題在 280 就賣：XX 光是 Q1 EPS 就 27 元，就算後面三季保守估 30 元，全年 EPS 也有大約 57 元。280 賣掉，本益比不到五倍。如果這波真的是結構性超級景氣，市場重新評價到八到十倍本益比，股價可以到 450 到 570 元——現在 280 就賣，等於賣在剛起漲的位置。</a:t>
            </a:r>
          </a:p>
          <a:p>
            <a:r>
              <a:t>所以 AI 建議：買的條件沒問題，但賣的條件要更動態——第一目標 300 出三分之一、第二目標 400 再出三分之一，留一部分看景氣能走到哪裡。</a:t>
            </a:r>
          </a:p>
          <a:p>
            <a:r>
              <a:t>最後我要強調兩件事：第一，這是在 DSH 中的 AI 問答，不是一般對話型 AI——DSH 會先掃描專案內所有檔案，才能針對這個專案回答；第二，AI 說的不全對，但是很有參考價值。這是我們面對 AI 建議該有的心態。</a:t>
            </a:r>
          </a:p>
          <a:p/>
          <a:p>
            <a:r>
              <a:t>【講師提示】這頁是全場重點，可以放慢到 2.5 分鐘。最後那句「AI 說的不全對，但很有參考價值」是這堂課的態度宣示，務必講清楚。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建議時間：1 分 30 秒</a:t>
            </a:r>
          </a:p>
          <a:p/>
          <a:p>
            <a:r>
              <a:t>好，接下來我們進入實作前的準備工作。總共有五件事要辦：</a:t>
            </a:r>
          </a:p>
          <a:p>
            <a:r>
              <a:t>第一，申請 Google 帳號，並綁上 Google Pay，用來申請雲端主機；</a:t>
            </a:r>
          </a:p>
          <a:p>
            <a:r>
              <a:t>第二，AI 服務：本課程使用 DSH（DeepSeek Harness）＋deepseek-flash，金鑰事先設好，不需要另外申請；</a:t>
            </a:r>
          </a:p>
          <a:p>
            <a:r>
              <a:t>第三，申請 Finmind 的帳號和 API Key，這是回測資料來源，免費，但有一小時六百次的限制；</a:t>
            </a:r>
          </a:p>
          <a:p>
            <a:r>
              <a:t>第四，申請玉山證券 API——這個需要先開證券戶，會拿到 ini 範例檔和 p12 檔；</a:t>
            </a:r>
          </a:p>
          <a:p>
            <a:r>
              <a:t>第五，在你的電腦上安裝 VSCode，記得裝 WSL 和 Markdown All in One 插件，然後在 CMD 底下執行 wsl --install 安裝 WSL。手機上要裝 Telegram，並申請 Bot Token。</a:t>
            </a:r>
          </a:p>
          <a:p/>
          <a:p>
            <a:r>
              <a:t>【講師提示】這頁是功課清單，PPT 檔裡有連結，提醒學員回家照著做。可以逐一編號講，節奏明快。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建議時間：30 秒</a:t>
            </a:r>
          </a:p>
          <a:p/>
          <a:p>
            <a:r>
              <a:t>所有教學資源、WSL 恢復檔的說明，都放在 GitHub 上。</a:t>
            </a:r>
          </a:p>
          <a:p>
            <a:r>
              <a:t>請大家到我們的 GitHub 專案頁面，找到 WSL 恢復的說明文件，先把環境準備好。下一頁開始，我們會實際走一遍雲端主機的申請流程。</a:t>
            </a:r>
          </a:p>
          <a:p/>
          <a:p>
            <a:r>
              <a:t>【講師提示】過場頁，快速帶過即可。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建議時間：3 分鐘</a:t>
            </a:r>
          </a:p>
          <a:p/>
          <a:p>
            <a:r>
              <a:t>接下來是今天的重頭戲：怎麼申請一台 Google Cloud 雲端主機。我會照著畫面一步一步帶大家做。</a:t>
            </a:r>
          </a:p>
          <a:p>
            <a:r>
              <a:t>這台機器我們取名為 tw-selfselect（名稱可自取；本機 .env 的 SYNC_VM_NAME 要填同名），規格是：位置在 asia-east1-b，也就是台灣彰濱工業區的機房，對台灣使用者來說連線速度最快；機型是 e2-micro，一核心 vCPU、1GB 記憶體；作業系統用 ubuntu-2204-jammy。</a:t>
            </a:r>
          </a:p>
          <a:p>
            <a:r>
              <a:t>第一步，註冊 Google Cloud 帳戶並開通免費試用：用你的 Google 帳戶登入官網，點「免費開始使用」，填基本資料、綁定一張信用卡或金融卡。</a:t>
            </a:r>
          </a:p>
          <a:p>
            <a:r>
              <a:t>不用擔心，Google 綁定信用卡主要是驗證真人身份，在你手動升級為付費帳戶之前不會自動扣款。註冊成功通常會拿到 300 美元的免費試用額度，限期 90 天。</a:t>
            </a:r>
          </a:p>
          <a:p>
            <a:r>
              <a:t>第二步，建立新專案：進到控制台，點「新建專案」，取個名字，比如 my-trader-project。</a:t>
            </a:r>
          </a:p>
          <a:p/>
          <a:p>
            <a:r>
              <a:t>【講師提示】操作型頁面，建議邊講邊示範，或請學員跟著操作；學員卡關就停下來等。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建議時間：3 分鐘</a:t>
            </a:r>
          </a:p>
          <a:p/>
          <a:p>
            <a:r>
              <a:t>第三步，建立跟圖片一模一樣的 VM 虛擬機器。</a:t>
            </a:r>
          </a:p>
          <a:p>
            <a:r>
              <a:t>點左上角導覽選單，找到 Compute Engine，選「VM 執行個體」。第一次使用會提示啟用 Compute Engine API，點啟用，等幾分鐘。</a:t>
            </a:r>
          </a:p>
          <a:p>
            <a:r>
              <a:t>接著點「建立執行個體」，照著規格設定：名稱輸入 tw-selfselect（可自取，需與 .env 的 SYNC_VM_NAME 一致）；區域選 asia-east1，可用區選 asia-east1-b；機器組態選 E2 系列、e2-micro 類型；開機磁碟點「變更」，作業系統選 Ubuntu、版本選 22.04 LTS。</a:t>
            </a:r>
          </a:p>
          <a:p>
            <a:r>
              <a:t>防火牆的部分：如果這台機器未來要架網站或對外連線，就勾選「允許 HTTP 流量」和「允許 HTTPS 流量」。</a:t>
            </a:r>
          </a:p>
          <a:p>
            <a:r>
              <a:t>確認右側預估費用後，點「建立」。建立完成後，你就能在列表看到這台機器在運行，透過「SSH」按鈕就能連進去操作。</a:t>
            </a:r>
          </a:p>
          <a:p/>
          <a:p>
            <a:r>
              <a:t>【講師提示】建議提醒學員：規格必須跟圖片一致，不要自己升級，省錢是這堂課的重點。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建議時間：2 分鐘</a:t>
            </a:r>
          </a:p>
          <a:p/>
          <a:p>
            <a:r>
              <a:t>機器建好之後，還有一個關鍵動作：把 IP 轉成靜態。</a:t>
            </a:r>
          </a:p>
          <a:p>
            <a:r>
              <a:t>為什麼要這樣做？因為預設的 IP 是暫時的——機器重啟或關機後就可能變動。但玉山證券 API 需要設定白名單，IP 一變就麻煩了。</a:t>
            </a:r>
          </a:p>
          <a:p>
            <a:r>
              <a:t>步驟如下：進到 GCP 控制台，點導覽選單，找到「VPC 網路」裡的「IP 位址」。你會看到一筆分配給 tw-selfselect 的 IP，類型顯示「外網／暫時」。點右側的三個點，選「保留靜態外部 IP 位址」，取個名字，比如 tw-selfselect-static-ip，然後點「保留」。</a:t>
            </a:r>
          </a:p>
          <a:p>
            <a:r>
              <a:t>請把這個 IP 記錄下來——等一下申請玉山 API 的時候，要拿它去設白名單。設定完成後，類型會變成「靜態」，以後不管機器怎麼重啟關機，IP 都不會變了。</a:t>
            </a:r>
          </a:p>
          <a:p/>
          <a:p>
            <a:r>
              <a:t>【講師提示】強調「記錄 IP」這個動作，學員最常在這裡漏掉。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建議時間：30 秒</a:t>
            </a:r>
          </a:p>
          <a:p/>
          <a:p>
            <a:r>
              <a:t>好，今天的課程到這裡。</a:t>
            </a:r>
          </a:p>
          <a:p>
            <a:r>
              <a:t>我是 frank，信箱是 frank@dinchen.com.tw，有任何問題歡迎寫信給我。</a:t>
            </a:r>
          </a:p>
          <a:p>
            <a:r>
              <a:t>今天的功課：把 slide-12 的五個帳號申請好、Gcloud 機器建起來、靜態 IP 設好。下週我們會開始裝系統、跑回測。我們下次見！</a:t>
            </a:r>
          </a:p>
          <a:p/>
          <a:p>
            <a:r>
              <a:t>【講師提示】收尾節奏明快，把功課清單再唸一次，加強記憶。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sv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sv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sv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 ">
    <p:bg>
      <p:bgPr>
        <a:gradFill>
          <a:gsLst>
            <a:gs pos="0">
              <a:schemeClr val="accent2">
                <a:lumMod val="110000"/>
                <a:satMod val="105000"/>
                <a:tint val="67000"/>
                <a:alpha val="0"/>
              </a:schemeClr>
            </a:gs>
            <a:gs pos="100000">
              <a:schemeClr val="bg2"/>
            </a:gs>
          </a:gsLst>
          <a:lin ang="54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A white circles on a black background&#10;&#10;Description automatically generated">
            <a:extLst>
              <a:ext uri="{FF2B5EF4-FFF2-40B4-BE49-F238E27FC236}">
                <a16:creationId xmlns:a16="http://schemas.microsoft.com/office/drawing/2014/main" id="{05185B01-840C-72E0-FF30-8EE18CFC550E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1504" r="4105" b="14441"/>
          <a:stretch/>
        </p:blipFill>
        <p:spPr>
          <a:xfrm>
            <a:off x="3275012" y="0"/>
            <a:ext cx="8913812" cy="6867457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4212" y="1295400"/>
            <a:ext cx="10287000" cy="3886200"/>
          </a:xfrm>
        </p:spPr>
        <p:txBody>
          <a:bodyPr anchor="b">
            <a:normAutofit/>
          </a:bodyPr>
          <a:lstStyle>
            <a:lvl1pPr marL="0" indent="0" algn="l">
              <a:lnSpc>
                <a:spcPct val="100000"/>
              </a:lnSpc>
              <a:defRPr sz="6600"/>
            </a:lvl1pPr>
          </a:lstStyle>
          <a:p>
            <a:r>
              <a:rPr lang="zh-TW" altLang="en-US"/>
              <a:t>按一下以編輯母片標題樣式</a:t>
            </a:r>
            <a:endParaRPr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695FDDB8-B25B-0452-0EE6-99D1F02803F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84212" y="5600700"/>
            <a:ext cx="10287000" cy="533400"/>
          </a:xfrm>
        </p:spPr>
        <p:txBody>
          <a:bodyPr anchor="t">
            <a:normAutofit/>
          </a:bodyPr>
          <a:lstStyle>
            <a:lvl1pPr marL="45720" indent="0" algn="l">
              <a:buNone/>
              <a:defRPr sz="2400"/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3" name="Cross 2">
            <a:extLst>
              <a:ext uri="{FF2B5EF4-FFF2-40B4-BE49-F238E27FC236}">
                <a16:creationId xmlns:a16="http://schemas.microsoft.com/office/drawing/2014/main" id="{29F0C076-A364-A8D3-F322-AC2A18341617}"/>
              </a:ext>
            </a:extLst>
          </p:cNvPr>
          <p:cNvSpPr/>
          <p:nvPr userDrawn="1"/>
        </p:nvSpPr>
        <p:spPr>
          <a:xfrm>
            <a:off x="10975566" y="4987103"/>
            <a:ext cx="685800" cy="685800"/>
          </a:xfrm>
          <a:prstGeom prst="plus">
            <a:avLst>
              <a:gd name="adj" fmla="val 39796"/>
            </a:avLst>
          </a:prstGeom>
          <a:gradFill>
            <a:gsLst>
              <a:gs pos="0">
                <a:schemeClr val="bg1">
                  <a:alpha val="0"/>
                </a:schemeClr>
              </a:gs>
              <a:gs pos="100000">
                <a:schemeClr val="bg1"/>
              </a:gs>
            </a:gsLst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" name="Cross 3">
            <a:extLst>
              <a:ext uri="{FF2B5EF4-FFF2-40B4-BE49-F238E27FC236}">
                <a16:creationId xmlns:a16="http://schemas.microsoft.com/office/drawing/2014/main" id="{921F5FF9-DFA3-CF00-B31A-21C261392B15}"/>
              </a:ext>
            </a:extLst>
          </p:cNvPr>
          <p:cNvSpPr/>
          <p:nvPr userDrawn="1"/>
        </p:nvSpPr>
        <p:spPr>
          <a:xfrm>
            <a:off x="10118724" y="3581400"/>
            <a:ext cx="685800" cy="685800"/>
          </a:xfrm>
          <a:prstGeom prst="plus">
            <a:avLst>
              <a:gd name="adj" fmla="val 39796"/>
            </a:avLst>
          </a:prstGeom>
          <a:gradFill>
            <a:gsLst>
              <a:gs pos="0">
                <a:schemeClr val="bg1">
                  <a:alpha val="0"/>
                </a:schemeClr>
              </a:gs>
              <a:gs pos="100000">
                <a:schemeClr val="bg1"/>
              </a:gs>
            </a:gsLst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3024123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067777CD-9A1F-DEEA-2595-9E892C952556}"/>
              </a:ext>
            </a:extLst>
          </p:cNvPr>
          <p:cNvSpPr/>
          <p:nvPr userDrawn="1"/>
        </p:nvSpPr>
        <p:spPr>
          <a:xfrm>
            <a:off x="-1" y="0"/>
            <a:ext cx="12188825" cy="6858000"/>
          </a:xfrm>
          <a:prstGeom prst="rect">
            <a:avLst/>
          </a:prstGeom>
          <a:gradFill>
            <a:gsLst>
              <a:gs pos="0">
                <a:schemeClr val="accent2">
                  <a:lumMod val="110000"/>
                  <a:satMod val="105000"/>
                  <a:tint val="67000"/>
                  <a:alpha val="0"/>
                </a:schemeClr>
              </a:gs>
              <a:gs pos="100000">
                <a:schemeClr val="bg2"/>
              </a:gs>
            </a:gsLst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DF4D3028-A414-148B-F10C-466ED585BCD9}"/>
              </a:ext>
            </a:extLst>
          </p:cNvPr>
          <p:cNvSpPr/>
          <p:nvPr userDrawn="1"/>
        </p:nvSpPr>
        <p:spPr>
          <a:xfrm>
            <a:off x="-1" y="1586"/>
            <a:ext cx="3428208" cy="6856414"/>
          </a:xfrm>
          <a:custGeom>
            <a:avLst/>
            <a:gdLst>
              <a:gd name="connsiteX0" fmla="*/ 1 w 3428208"/>
              <a:gd name="connsiteY0" fmla="*/ 0 h 6856414"/>
              <a:gd name="connsiteX1" fmla="*/ 3428208 w 3428208"/>
              <a:gd name="connsiteY1" fmla="*/ 3428207 h 6856414"/>
              <a:gd name="connsiteX2" fmla="*/ 1 w 3428208"/>
              <a:gd name="connsiteY2" fmla="*/ 6856414 h 6856414"/>
              <a:gd name="connsiteX3" fmla="*/ 0 w 3428208"/>
              <a:gd name="connsiteY3" fmla="*/ 6856414 h 6856414"/>
              <a:gd name="connsiteX4" fmla="*/ 0 w 3428208"/>
              <a:gd name="connsiteY4" fmla="*/ 0 h 68564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428208" h="6856414">
                <a:moveTo>
                  <a:pt x="1" y="0"/>
                </a:moveTo>
                <a:cubicBezTo>
                  <a:pt x="1893347" y="0"/>
                  <a:pt x="3428208" y="1534861"/>
                  <a:pt x="3428208" y="3428207"/>
                </a:cubicBezTo>
                <a:cubicBezTo>
                  <a:pt x="3428208" y="5321553"/>
                  <a:pt x="1893347" y="6856414"/>
                  <a:pt x="1" y="6856414"/>
                </a:cubicBezTo>
                <a:lnTo>
                  <a:pt x="0" y="6856414"/>
                </a:lnTo>
                <a:lnTo>
                  <a:pt x="0" y="0"/>
                </a:lnTo>
                <a:close/>
              </a:path>
            </a:pathLst>
          </a:custGeom>
          <a:gradFill>
            <a:gsLst>
              <a:gs pos="0">
                <a:schemeClr val="bg1"/>
              </a:gs>
              <a:gs pos="100000">
                <a:schemeClr val="bg1">
                  <a:alpha val="0"/>
                </a:schemeClr>
              </a:gs>
            </a:gsLst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0EB111F7-2027-1E41-1C02-BA5AA37EA2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89012" y="723900"/>
            <a:ext cx="4114800" cy="5295900"/>
          </a:xfrm>
        </p:spPr>
        <p:txBody>
          <a:bodyPr anchor="ctr">
            <a:normAutofit/>
          </a:bodyPr>
          <a:lstStyle>
            <a:lvl1pPr algn="r">
              <a:lnSpc>
                <a:spcPct val="100000"/>
              </a:lnSpc>
              <a:defRPr sz="4800" b="1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zh-TW" altLang="en-US"/>
              <a:t>按一下以編輯母片標題樣式</a:t>
            </a: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932612" y="1981200"/>
            <a:ext cx="4114800" cy="2854781"/>
          </a:xfrm>
        </p:spPr>
        <p:txBody>
          <a:bodyPr anchor="ctr"/>
          <a:lstStyle>
            <a:lvl1pPr marL="45720" indent="0">
              <a:buNone/>
              <a:defRPr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  <a:lvl2pPr marL="365760" indent="0">
              <a:buNone/>
              <a:defRPr>
                <a:solidFill>
                  <a:schemeClr val="tx1">
                    <a:lumMod val="85000"/>
                    <a:lumOff val="15000"/>
                  </a:schemeClr>
                </a:solidFill>
              </a:defRPr>
            </a:lvl2pPr>
            <a:lvl3pPr marL="594360" indent="0">
              <a:buNone/>
              <a:defRPr>
                <a:solidFill>
                  <a:schemeClr val="tx1">
                    <a:lumMod val="85000"/>
                    <a:lumOff val="15000"/>
                  </a:schemeClr>
                </a:solidFill>
              </a:defRPr>
            </a:lvl3pPr>
            <a:lvl4pPr marL="777240" indent="0">
              <a:buNone/>
              <a:defRPr>
                <a:solidFill>
                  <a:schemeClr val="tx1">
                    <a:lumMod val="85000"/>
                    <a:lumOff val="15000"/>
                  </a:schemeClr>
                </a:solidFill>
              </a:defRPr>
            </a:lvl4pPr>
            <a:lvl5pPr marL="960120" indent="0">
              <a:buNone/>
              <a:defRPr>
                <a:solidFill>
                  <a:schemeClr val="tx1">
                    <a:lumMod val="85000"/>
                    <a:lumOff val="15000"/>
                  </a:schemeClr>
                </a:solidFill>
              </a:defRPr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dirty="0"/>
          </a:p>
        </p:txBody>
      </p:sp>
      <p:sp>
        <p:nvSpPr>
          <p:cNvPr id="14" name="Cross 13">
            <a:extLst>
              <a:ext uri="{FF2B5EF4-FFF2-40B4-BE49-F238E27FC236}">
                <a16:creationId xmlns:a16="http://schemas.microsoft.com/office/drawing/2014/main" id="{02A1E7CF-4DB4-D31C-D6AA-D368DA17CD5F}"/>
              </a:ext>
            </a:extLst>
          </p:cNvPr>
          <p:cNvSpPr/>
          <p:nvPr userDrawn="1"/>
        </p:nvSpPr>
        <p:spPr>
          <a:xfrm>
            <a:off x="4837509" y="914400"/>
            <a:ext cx="685800" cy="685800"/>
          </a:xfrm>
          <a:prstGeom prst="plus">
            <a:avLst>
              <a:gd name="adj" fmla="val 39796"/>
            </a:avLst>
          </a:prstGeom>
          <a:gradFill>
            <a:gsLst>
              <a:gs pos="0">
                <a:schemeClr val="bg1">
                  <a:alpha val="0"/>
                </a:schemeClr>
              </a:gs>
              <a:gs pos="100000">
                <a:schemeClr val="bg1"/>
              </a:gs>
            </a:gsLst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5" name="Cross 14">
            <a:extLst>
              <a:ext uri="{FF2B5EF4-FFF2-40B4-BE49-F238E27FC236}">
                <a16:creationId xmlns:a16="http://schemas.microsoft.com/office/drawing/2014/main" id="{E47E8503-C2AB-07F1-FD1F-A529E414E168}"/>
              </a:ext>
            </a:extLst>
          </p:cNvPr>
          <p:cNvSpPr/>
          <p:nvPr userDrawn="1"/>
        </p:nvSpPr>
        <p:spPr>
          <a:xfrm>
            <a:off x="3085307" y="5695950"/>
            <a:ext cx="685800" cy="685800"/>
          </a:xfrm>
          <a:prstGeom prst="plus">
            <a:avLst>
              <a:gd name="adj" fmla="val 39796"/>
            </a:avLst>
          </a:prstGeom>
          <a:gradFill>
            <a:gsLst>
              <a:gs pos="0">
                <a:schemeClr val="bg1">
                  <a:alpha val="0"/>
                </a:schemeClr>
              </a:gs>
              <a:gs pos="100000">
                <a:schemeClr val="bg1"/>
              </a:gs>
            </a:gsLst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Left Brace 1">
            <a:extLst>
              <a:ext uri="{FF2B5EF4-FFF2-40B4-BE49-F238E27FC236}">
                <a16:creationId xmlns:a16="http://schemas.microsoft.com/office/drawing/2014/main" id="{8020F553-E264-0059-F1EB-47039048DC67}"/>
              </a:ext>
            </a:extLst>
          </p:cNvPr>
          <p:cNvSpPr/>
          <p:nvPr userDrawn="1"/>
        </p:nvSpPr>
        <p:spPr>
          <a:xfrm>
            <a:off x="5561012" y="2022021"/>
            <a:ext cx="838200" cy="2813960"/>
          </a:xfrm>
          <a:prstGeom prst="leftBrace">
            <a:avLst>
              <a:gd name="adj1" fmla="val 34932"/>
              <a:gd name="adj2" fmla="val 50000"/>
            </a:avLst>
          </a:prstGeom>
          <a:ln w="28575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88984350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ing with Phone image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Oval 6">
            <a:extLst>
              <a:ext uri="{FF2B5EF4-FFF2-40B4-BE49-F238E27FC236}">
                <a16:creationId xmlns:a16="http://schemas.microsoft.com/office/drawing/2014/main" id="{45C0889D-74A2-974C-BB02-FA1F7BE369E2}"/>
              </a:ext>
            </a:extLst>
          </p:cNvPr>
          <p:cNvSpPr/>
          <p:nvPr userDrawn="1"/>
        </p:nvSpPr>
        <p:spPr>
          <a:xfrm>
            <a:off x="6704012" y="1148418"/>
            <a:ext cx="4561165" cy="4561165"/>
          </a:xfrm>
          <a:prstGeom prst="ellipse">
            <a:avLst/>
          </a:prstGeom>
          <a:gradFill>
            <a:gsLst>
              <a:gs pos="0">
                <a:schemeClr val="accent2">
                  <a:lumMod val="110000"/>
                  <a:satMod val="105000"/>
                  <a:tint val="67000"/>
                  <a:alpha val="0"/>
                </a:schemeClr>
              </a:gs>
              <a:gs pos="100000">
                <a:schemeClr val="bg2"/>
              </a:gs>
            </a:gsLst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2DAE856D-3749-4D3B-9F33-A46528589FE5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432079" y="598170"/>
            <a:ext cx="3096221" cy="5661660"/>
          </a:xfrm>
          <a:prstGeom prst="rect">
            <a:avLst/>
          </a:prstGeom>
        </p:spPr>
      </p:pic>
      <p:sp>
        <p:nvSpPr>
          <p:cNvPr id="9" name="Cross 8">
            <a:extLst>
              <a:ext uri="{FF2B5EF4-FFF2-40B4-BE49-F238E27FC236}">
                <a16:creationId xmlns:a16="http://schemas.microsoft.com/office/drawing/2014/main" id="{7A96460A-640C-6025-AAB5-344AB2A405D1}"/>
              </a:ext>
            </a:extLst>
          </p:cNvPr>
          <p:cNvSpPr/>
          <p:nvPr userDrawn="1"/>
        </p:nvSpPr>
        <p:spPr>
          <a:xfrm>
            <a:off x="10818812" y="5353077"/>
            <a:ext cx="685800" cy="685800"/>
          </a:xfrm>
          <a:prstGeom prst="plus">
            <a:avLst>
              <a:gd name="adj" fmla="val 39796"/>
            </a:avLst>
          </a:prstGeom>
          <a:gradFill>
            <a:gsLst>
              <a:gs pos="0">
                <a:schemeClr val="accent2">
                  <a:lumMod val="110000"/>
                  <a:satMod val="105000"/>
                  <a:tint val="67000"/>
                  <a:alpha val="0"/>
                </a:schemeClr>
              </a:gs>
              <a:gs pos="100000">
                <a:schemeClr val="bg2"/>
              </a:gs>
            </a:gsLst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lvl="0" algn="ctr"/>
            <a:endParaRPr lang="en-US" dirty="0"/>
          </a:p>
        </p:txBody>
      </p:sp>
      <p:sp>
        <p:nvSpPr>
          <p:cNvPr id="11" name="Cross 10">
            <a:extLst>
              <a:ext uri="{FF2B5EF4-FFF2-40B4-BE49-F238E27FC236}">
                <a16:creationId xmlns:a16="http://schemas.microsoft.com/office/drawing/2014/main" id="{471314FF-EA0B-8DDE-B558-885A876FB0D5}"/>
              </a:ext>
            </a:extLst>
          </p:cNvPr>
          <p:cNvSpPr/>
          <p:nvPr userDrawn="1"/>
        </p:nvSpPr>
        <p:spPr>
          <a:xfrm>
            <a:off x="6335910" y="805517"/>
            <a:ext cx="685800" cy="685800"/>
          </a:xfrm>
          <a:prstGeom prst="plus">
            <a:avLst>
              <a:gd name="adj" fmla="val 39796"/>
            </a:avLst>
          </a:prstGeom>
          <a:gradFill>
            <a:gsLst>
              <a:gs pos="0">
                <a:schemeClr val="accent2">
                  <a:lumMod val="110000"/>
                  <a:satMod val="105000"/>
                  <a:tint val="67000"/>
                  <a:alpha val="0"/>
                </a:schemeClr>
              </a:gs>
              <a:gs pos="100000">
                <a:schemeClr val="bg2"/>
              </a:gs>
            </a:gsLst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lvl="0"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894761B-B29B-1C47-FAE9-6E0FA1543E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8012" y="685800"/>
            <a:ext cx="6372818" cy="4038600"/>
          </a:xfrm>
        </p:spPr>
        <p:txBody>
          <a:bodyPr anchor="b">
            <a:normAutofit/>
          </a:bodyPr>
          <a:lstStyle>
            <a:lvl1pPr marL="0" indent="0" algn="l">
              <a:lnSpc>
                <a:spcPct val="100000"/>
              </a:lnSpc>
              <a:defRPr sz="4800"/>
            </a:lvl1pPr>
          </a:lstStyle>
          <a:p>
            <a:r>
              <a:rPr lang="zh-TW" altLang="en-US"/>
              <a:t>按一下以編輯母片標題樣式</a:t>
            </a:r>
            <a:endParaRPr dirty="0"/>
          </a:p>
        </p:txBody>
      </p:sp>
      <p:sp>
        <p:nvSpPr>
          <p:cNvPr id="5" name="Text Placeholder 9">
            <a:extLst>
              <a:ext uri="{FF2B5EF4-FFF2-40B4-BE49-F238E27FC236}">
                <a16:creationId xmlns:a16="http://schemas.microsoft.com/office/drawing/2014/main" id="{EEFF6782-6ABD-DEB0-6FD1-1263A5469A2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08012" y="4876800"/>
            <a:ext cx="6372817" cy="1104898"/>
          </a:xfrm>
        </p:spPr>
        <p:txBody>
          <a:bodyPr anchor="t">
            <a:normAutofit/>
          </a:bodyPr>
          <a:lstStyle>
            <a:lvl1pPr marL="45720" indent="0" algn="l">
              <a:buNone/>
              <a:defRPr sz="2000"/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16" name="Picture Placeholder 15">
            <a:extLst>
              <a:ext uri="{FF2B5EF4-FFF2-40B4-BE49-F238E27FC236}">
                <a16:creationId xmlns:a16="http://schemas.microsoft.com/office/drawing/2014/main" id="{5BA3F629-2405-DC90-C212-6F3D52B95D9B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7765046" y="883471"/>
            <a:ext cx="2439096" cy="5091059"/>
          </a:xfrm>
          <a:custGeom>
            <a:avLst/>
            <a:gdLst>
              <a:gd name="connsiteX0" fmla="*/ 340815 w 2439096"/>
              <a:gd name="connsiteY0" fmla="*/ 0 h 5091059"/>
              <a:gd name="connsiteX1" fmla="*/ 2098281 w 2439096"/>
              <a:gd name="connsiteY1" fmla="*/ 0 h 5091059"/>
              <a:gd name="connsiteX2" fmla="*/ 2439096 w 2439096"/>
              <a:gd name="connsiteY2" fmla="*/ 340815 h 5091059"/>
              <a:gd name="connsiteX3" fmla="*/ 2439096 w 2439096"/>
              <a:gd name="connsiteY3" fmla="*/ 495300 h 5091059"/>
              <a:gd name="connsiteX4" fmla="*/ 2439096 w 2439096"/>
              <a:gd name="connsiteY4" fmla="*/ 4750244 h 5091059"/>
              <a:gd name="connsiteX5" fmla="*/ 2098281 w 2439096"/>
              <a:gd name="connsiteY5" fmla="*/ 5091059 h 5091059"/>
              <a:gd name="connsiteX6" fmla="*/ 340815 w 2439096"/>
              <a:gd name="connsiteY6" fmla="*/ 5091059 h 5091059"/>
              <a:gd name="connsiteX7" fmla="*/ 0 w 2439096"/>
              <a:gd name="connsiteY7" fmla="*/ 4750244 h 5091059"/>
              <a:gd name="connsiteX8" fmla="*/ 0 w 2439096"/>
              <a:gd name="connsiteY8" fmla="*/ 495300 h 5091059"/>
              <a:gd name="connsiteX9" fmla="*/ 0 w 2439096"/>
              <a:gd name="connsiteY9" fmla="*/ 340815 h 5091059"/>
              <a:gd name="connsiteX10" fmla="*/ 340815 w 2439096"/>
              <a:gd name="connsiteY10" fmla="*/ 0 h 509105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2439096" h="5091059">
                <a:moveTo>
                  <a:pt x="340815" y="0"/>
                </a:moveTo>
                <a:lnTo>
                  <a:pt x="2098281" y="0"/>
                </a:lnTo>
                <a:cubicBezTo>
                  <a:pt x="2286508" y="0"/>
                  <a:pt x="2439096" y="152588"/>
                  <a:pt x="2439096" y="340815"/>
                </a:cubicBezTo>
                <a:lnTo>
                  <a:pt x="2439096" y="495300"/>
                </a:lnTo>
                <a:lnTo>
                  <a:pt x="2439096" y="4750244"/>
                </a:lnTo>
                <a:cubicBezTo>
                  <a:pt x="2439096" y="4938471"/>
                  <a:pt x="2286508" y="5091059"/>
                  <a:pt x="2098281" y="5091059"/>
                </a:cubicBezTo>
                <a:lnTo>
                  <a:pt x="340815" y="5091059"/>
                </a:lnTo>
                <a:cubicBezTo>
                  <a:pt x="152588" y="5091059"/>
                  <a:pt x="0" y="4938471"/>
                  <a:pt x="0" y="4750244"/>
                </a:cubicBezTo>
                <a:lnTo>
                  <a:pt x="0" y="495300"/>
                </a:lnTo>
                <a:lnTo>
                  <a:pt x="0" y="340815"/>
                </a:lnTo>
                <a:cubicBezTo>
                  <a:pt x="0" y="152588"/>
                  <a:pt x="152588" y="0"/>
                  <a:pt x="340815" y="0"/>
                </a:cubicBezTo>
                <a:close/>
              </a:path>
            </a:pathLst>
          </a:custGeom>
        </p:spPr>
        <p:txBody>
          <a:bodyPr wrap="square">
            <a:noAutofit/>
          </a:bodyPr>
          <a:lstStyle>
            <a:lvl1pPr marL="45720" indent="0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zh-TW" altLang="en-US"/>
              <a:t>按一下圖示以新增圖片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5047373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+ Subtitle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Oval 4">
            <a:extLst>
              <a:ext uri="{FF2B5EF4-FFF2-40B4-BE49-F238E27FC236}">
                <a16:creationId xmlns:a16="http://schemas.microsoft.com/office/drawing/2014/main" id="{1C3968AF-EB74-3889-A3BA-E759CFD47B12}"/>
              </a:ext>
            </a:extLst>
          </p:cNvPr>
          <p:cNvSpPr/>
          <p:nvPr userDrawn="1"/>
        </p:nvSpPr>
        <p:spPr>
          <a:xfrm>
            <a:off x="3275012" y="609600"/>
            <a:ext cx="5638800" cy="5638800"/>
          </a:xfrm>
          <a:prstGeom prst="ellipse">
            <a:avLst/>
          </a:prstGeom>
          <a:gradFill>
            <a:gsLst>
              <a:gs pos="0">
                <a:schemeClr val="accent2">
                  <a:lumMod val="110000"/>
                  <a:satMod val="105000"/>
                  <a:tint val="67000"/>
                  <a:alpha val="0"/>
                </a:schemeClr>
              </a:gs>
              <a:gs pos="100000">
                <a:schemeClr val="bg2"/>
              </a:gs>
            </a:gsLst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8" name="Left Brace 7">
            <a:extLst>
              <a:ext uri="{FF2B5EF4-FFF2-40B4-BE49-F238E27FC236}">
                <a16:creationId xmlns:a16="http://schemas.microsoft.com/office/drawing/2014/main" id="{6A409372-199C-2F3B-65CD-ADC2E45B43B7}"/>
              </a:ext>
            </a:extLst>
          </p:cNvPr>
          <p:cNvSpPr/>
          <p:nvPr userDrawn="1"/>
        </p:nvSpPr>
        <p:spPr>
          <a:xfrm>
            <a:off x="5561012" y="2022021"/>
            <a:ext cx="838200" cy="2813960"/>
          </a:xfrm>
          <a:prstGeom prst="leftBrace">
            <a:avLst>
              <a:gd name="adj1" fmla="val 34932"/>
              <a:gd name="adj2" fmla="val 50000"/>
            </a:avLst>
          </a:prstGeom>
          <a:ln w="28575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2" name="Title 1">
            <a:extLst>
              <a:ext uri="{FF2B5EF4-FFF2-40B4-BE49-F238E27FC236}">
                <a16:creationId xmlns:a16="http://schemas.microsoft.com/office/drawing/2014/main" id="{266838CB-A9BC-715A-18FE-06CCE4A9CA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1812" y="495300"/>
            <a:ext cx="4572000" cy="5867400"/>
          </a:xfrm>
        </p:spPr>
        <p:txBody>
          <a:bodyPr anchor="ctr">
            <a:normAutofit/>
          </a:bodyPr>
          <a:lstStyle>
            <a:lvl1pPr marL="0" indent="0" algn="r">
              <a:lnSpc>
                <a:spcPct val="110000"/>
              </a:lnSpc>
              <a:defRPr sz="4800"/>
            </a:lvl1pPr>
          </a:lstStyle>
          <a:p>
            <a:r>
              <a:rPr lang="zh-TW" altLang="en-US"/>
              <a:t>按一下以編輯母片標題樣式</a:t>
            </a:r>
            <a:endParaRPr dirty="0"/>
          </a:p>
        </p:txBody>
      </p:sp>
      <p:sp>
        <p:nvSpPr>
          <p:cNvPr id="3" name="Text Placeholder 10">
            <a:extLst>
              <a:ext uri="{FF2B5EF4-FFF2-40B4-BE49-F238E27FC236}">
                <a16:creationId xmlns:a16="http://schemas.microsoft.com/office/drawing/2014/main" id="{454B8043-D1DD-E2EA-772B-D8D38CD37D14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768305" y="2022021"/>
            <a:ext cx="4443413" cy="2813960"/>
          </a:xfrm>
        </p:spPr>
        <p:txBody>
          <a:bodyPr anchor="ctr">
            <a:normAutofit/>
          </a:bodyPr>
          <a:lstStyle>
            <a:lvl1pPr marL="45720" indent="0" algn="l" defTabSz="914400" rtl="0" eaLnBrk="1" latinLnBrk="0" hangingPunct="1">
              <a:lnSpc>
                <a:spcPct val="110000"/>
              </a:lnSpc>
              <a:spcBef>
                <a:spcPts val="1800"/>
              </a:spcBef>
              <a:buClr>
                <a:schemeClr val="tx1">
                  <a:lumMod val="65000"/>
                  <a:lumOff val="35000"/>
                </a:schemeClr>
              </a:buClr>
              <a:buSzPct val="80000"/>
              <a:buFont typeface="Arial" pitchFamily="34" charset="0"/>
              <a:buNone/>
              <a:defRPr lang="en-US" sz="2000" kern="1200" spc="30" dirty="0" smtClean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274320" indent="-228600" algn="l" defTabSz="914400" rtl="0" eaLnBrk="1" latinLnBrk="0" hangingPunct="1">
              <a:lnSpc>
                <a:spcPct val="110000"/>
              </a:lnSpc>
              <a:spcBef>
                <a:spcPts val="1800"/>
              </a:spcBef>
              <a:buClr>
                <a:schemeClr val="tx1">
                  <a:lumMod val="65000"/>
                  <a:lumOff val="35000"/>
                </a:schemeClr>
              </a:buClr>
              <a:buSzPct val="80000"/>
              <a:buFont typeface="Arial" panose="020B0604020202020204" pitchFamily="34" charset="0"/>
              <a:buChar char="•"/>
              <a:defRPr lang="en-US" sz="2000" kern="1200" spc="30" dirty="0" smtClean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594360" indent="-228600" algn="l" defTabSz="914400" rtl="0" eaLnBrk="1" latinLnBrk="0" hangingPunct="1">
              <a:lnSpc>
                <a:spcPct val="110000"/>
              </a:lnSpc>
              <a:spcBef>
                <a:spcPts val="1800"/>
              </a:spcBef>
              <a:buClr>
                <a:schemeClr val="tx1">
                  <a:lumMod val="65000"/>
                  <a:lumOff val="35000"/>
                </a:schemeClr>
              </a:buClr>
              <a:buSzPct val="80000"/>
              <a:buFont typeface="Arial" panose="020B0604020202020204" pitchFamily="34" charset="0"/>
              <a:buChar char="•"/>
              <a:defRPr lang="en-US" sz="2000" kern="1200" spc="30" dirty="0" smtClean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77240" indent="-228600" algn="l" defTabSz="914400" rtl="0" eaLnBrk="1" latinLnBrk="0" hangingPunct="1">
              <a:lnSpc>
                <a:spcPct val="110000"/>
              </a:lnSpc>
              <a:spcBef>
                <a:spcPts val="1800"/>
              </a:spcBef>
              <a:buClr>
                <a:schemeClr val="tx1">
                  <a:lumMod val="65000"/>
                  <a:lumOff val="35000"/>
                </a:schemeClr>
              </a:buClr>
              <a:buSzPct val="80000"/>
              <a:buFont typeface="Arial" panose="020B0604020202020204" pitchFamily="34" charset="0"/>
              <a:buChar char="•"/>
              <a:defRPr lang="en-US" sz="2000" kern="1200" spc="30" dirty="0" smtClean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960120" indent="-228600" algn="l" defTabSz="914400" rtl="0" eaLnBrk="1" latinLnBrk="0" hangingPunct="1">
              <a:lnSpc>
                <a:spcPct val="110000"/>
              </a:lnSpc>
              <a:spcBef>
                <a:spcPts val="1800"/>
              </a:spcBef>
              <a:buClr>
                <a:schemeClr val="tx1">
                  <a:lumMod val="65000"/>
                  <a:lumOff val="35000"/>
                </a:schemeClr>
              </a:buClr>
              <a:buSzPct val="80000"/>
              <a:buFont typeface="Arial" panose="020B0604020202020204" pitchFamily="34" charset="0"/>
              <a:buChar char="•"/>
              <a:defRPr lang="en-US" sz="2000" kern="1200" spc="3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3242247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標題及內容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0F4264E2-719A-1CB0-CD0C-B90AD51C2384}"/>
              </a:ext>
            </a:extLst>
          </p:cNvPr>
          <p:cNvSpPr/>
          <p:nvPr userDrawn="1"/>
        </p:nvSpPr>
        <p:spPr>
          <a:xfrm>
            <a:off x="0" y="0"/>
            <a:ext cx="760412" cy="685800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27000" sx="102000" sy="102000" algn="ctr" rotWithShape="0">
              <a:prstClr val="black">
                <a:alpha val="1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9" name="Cross 8">
            <a:extLst>
              <a:ext uri="{FF2B5EF4-FFF2-40B4-BE49-F238E27FC236}">
                <a16:creationId xmlns:a16="http://schemas.microsoft.com/office/drawing/2014/main" id="{7A96460A-640C-6025-AAB5-344AB2A405D1}"/>
              </a:ext>
            </a:extLst>
          </p:cNvPr>
          <p:cNvSpPr/>
          <p:nvPr userDrawn="1"/>
        </p:nvSpPr>
        <p:spPr>
          <a:xfrm>
            <a:off x="8151812" y="5670550"/>
            <a:ext cx="685800" cy="685800"/>
          </a:xfrm>
          <a:prstGeom prst="plus">
            <a:avLst>
              <a:gd name="adj" fmla="val 39796"/>
            </a:avLst>
          </a:prstGeom>
          <a:gradFill>
            <a:gsLst>
              <a:gs pos="0">
                <a:schemeClr val="accent2">
                  <a:lumMod val="110000"/>
                  <a:satMod val="105000"/>
                  <a:tint val="67000"/>
                  <a:alpha val="0"/>
                </a:schemeClr>
              </a:gs>
              <a:gs pos="100000">
                <a:schemeClr val="bg2"/>
              </a:gs>
            </a:gsLst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lvl="0" algn="ctr"/>
            <a:endParaRPr lang="en-US" dirty="0"/>
          </a:p>
        </p:txBody>
      </p:sp>
      <p:sp>
        <p:nvSpPr>
          <p:cNvPr id="13" name="Title 1">
            <a:extLst>
              <a:ext uri="{FF2B5EF4-FFF2-40B4-BE49-F238E27FC236}">
                <a16:creationId xmlns:a16="http://schemas.microsoft.com/office/drawing/2014/main" id="{FC60D2C4-E19C-088F-24AA-92F4628799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93812" y="609600"/>
            <a:ext cx="4914900" cy="1447800"/>
          </a:xfrm>
        </p:spPr>
        <p:txBody>
          <a:bodyPr anchor="t">
            <a:normAutofit/>
          </a:bodyPr>
          <a:lstStyle>
            <a:lvl1pPr>
              <a:defRPr sz="3200" b="1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zh-TW" altLang="en-US"/>
              <a:t>按一下以編輯母片標題樣式</a:t>
            </a:r>
            <a:endParaRPr dirty="0"/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908F9375-0CED-7A7E-FAD2-5469CE00A6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" y="609600"/>
            <a:ext cx="760412" cy="381000"/>
          </a:xfrm>
        </p:spPr>
        <p:txBody>
          <a:bodyPr/>
          <a:lstStyle>
            <a:lvl1pPr algn="ctr">
              <a:defRPr sz="2400" b="1"/>
            </a:lvl1pPr>
          </a:lstStyle>
          <a:p>
            <a:fld id="{AAEAE4A8-A6E5-453E-B946-FB774B73F48C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43" name="Footer Placeholder 4">
            <a:extLst>
              <a:ext uri="{FF2B5EF4-FFF2-40B4-BE49-F238E27FC236}">
                <a16:creationId xmlns:a16="http://schemas.microsoft.com/office/drawing/2014/main" id="{C1791A8D-D5A1-DB56-D6C5-A82DB0F2673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 rot="16200000">
            <a:off x="-1829595" y="2591593"/>
            <a:ext cx="4419600" cy="7604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lang="en-US" sz="1400" b="0" kern="1200" spc="100" baseline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endParaRPr lang="en-US" dirty="0"/>
          </a:p>
        </p:txBody>
      </p:sp>
      <p:sp>
        <p:nvSpPr>
          <p:cNvPr id="14" name="Date Placeholder 3">
            <a:extLst>
              <a:ext uri="{FF2B5EF4-FFF2-40B4-BE49-F238E27FC236}">
                <a16:creationId xmlns:a16="http://schemas.microsoft.com/office/drawing/2014/main" id="{BE9D901E-58D4-3C47-262B-EA276B7F1D6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 rot="16200000">
            <a:off x="-229393" y="5258593"/>
            <a:ext cx="1219200" cy="7604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spc="100" baseline="0"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11274" y="2286000"/>
            <a:ext cx="4572000" cy="4267200"/>
          </a:xfrm>
        </p:spPr>
        <p:txBody>
          <a:bodyPr>
            <a:normAutofit/>
          </a:bodyPr>
          <a:lstStyle>
            <a:lvl1pPr marL="45720" indent="0">
              <a:lnSpc>
                <a:spcPct val="110000"/>
              </a:lnSpc>
              <a:buNone/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1pPr>
            <a:lvl2pPr marL="365760" indent="0">
              <a:lnSpc>
                <a:spcPct val="110000"/>
              </a:lnSpc>
              <a:buFont typeface="Arial" panose="020B0604020202020204" pitchFamily="34" charset="0"/>
              <a:buNone/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2pPr>
            <a:lvl3pPr marL="594360" indent="0">
              <a:lnSpc>
                <a:spcPct val="110000"/>
              </a:lnSpc>
              <a:buNone/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777240" indent="0">
              <a:lnSpc>
                <a:spcPct val="110000"/>
              </a:lnSpc>
              <a:buNone/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4pPr>
            <a:lvl5pPr marL="960120" indent="0">
              <a:lnSpc>
                <a:spcPct val="110000"/>
              </a:lnSpc>
              <a:buNone/>
              <a:defRPr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dirty="0"/>
          </a:p>
        </p:txBody>
      </p:sp>
      <p:sp>
        <p:nvSpPr>
          <p:cNvPr id="15" name="Cross 14">
            <a:extLst>
              <a:ext uri="{FF2B5EF4-FFF2-40B4-BE49-F238E27FC236}">
                <a16:creationId xmlns:a16="http://schemas.microsoft.com/office/drawing/2014/main" id="{86C1A7B9-E319-130B-0CC8-DCB01B51A087}"/>
              </a:ext>
            </a:extLst>
          </p:cNvPr>
          <p:cNvSpPr/>
          <p:nvPr userDrawn="1"/>
        </p:nvSpPr>
        <p:spPr>
          <a:xfrm>
            <a:off x="7351712" y="4419600"/>
            <a:ext cx="685800" cy="685800"/>
          </a:xfrm>
          <a:prstGeom prst="plus">
            <a:avLst>
              <a:gd name="adj" fmla="val 39796"/>
            </a:avLst>
          </a:prstGeom>
          <a:gradFill>
            <a:gsLst>
              <a:gs pos="0">
                <a:schemeClr val="accent2">
                  <a:lumMod val="110000"/>
                  <a:satMod val="105000"/>
                  <a:tint val="67000"/>
                  <a:alpha val="0"/>
                </a:schemeClr>
              </a:gs>
              <a:gs pos="100000">
                <a:schemeClr val="bg2"/>
              </a:gs>
            </a:gsLst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lvl="0" algn="ctr"/>
            <a:endParaRPr lang="en-US" dirty="0"/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20652475-9C37-D778-F6B2-DE9F50F8571A}"/>
              </a:ext>
            </a:extLst>
          </p:cNvPr>
          <p:cNvSpPr/>
          <p:nvPr userDrawn="1"/>
        </p:nvSpPr>
        <p:spPr>
          <a:xfrm>
            <a:off x="8609012" y="-21999"/>
            <a:ext cx="3579812" cy="6901998"/>
          </a:xfrm>
          <a:custGeom>
            <a:avLst/>
            <a:gdLst>
              <a:gd name="connsiteX0" fmla="*/ 3450999 w 3579812"/>
              <a:gd name="connsiteY0" fmla="*/ 0 h 6901998"/>
              <a:gd name="connsiteX1" fmla="*/ 3579812 w 3579812"/>
              <a:gd name="connsiteY1" fmla="*/ 3257 h 6901998"/>
              <a:gd name="connsiteX2" fmla="*/ 3579812 w 3579812"/>
              <a:gd name="connsiteY2" fmla="*/ 6898741 h 6901998"/>
              <a:gd name="connsiteX3" fmla="*/ 3450999 w 3579812"/>
              <a:gd name="connsiteY3" fmla="*/ 6901998 h 6901998"/>
              <a:gd name="connsiteX4" fmla="*/ 0 w 3579812"/>
              <a:gd name="connsiteY4" fmla="*/ 3450999 h 6901998"/>
              <a:gd name="connsiteX5" fmla="*/ 3450999 w 3579812"/>
              <a:gd name="connsiteY5" fmla="*/ 0 h 690199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579812" h="6901998">
                <a:moveTo>
                  <a:pt x="3450999" y="0"/>
                </a:moveTo>
                <a:lnTo>
                  <a:pt x="3579812" y="3257"/>
                </a:lnTo>
                <a:lnTo>
                  <a:pt x="3579812" y="6898741"/>
                </a:lnTo>
                <a:lnTo>
                  <a:pt x="3450999" y="6901998"/>
                </a:lnTo>
                <a:cubicBezTo>
                  <a:pt x="1545065" y="6901998"/>
                  <a:pt x="0" y="5356933"/>
                  <a:pt x="0" y="3450999"/>
                </a:cubicBezTo>
                <a:cubicBezTo>
                  <a:pt x="0" y="1545065"/>
                  <a:pt x="1545065" y="0"/>
                  <a:pt x="3450999" y="0"/>
                </a:cubicBezTo>
                <a:close/>
              </a:path>
            </a:pathLst>
          </a:custGeom>
          <a:gradFill>
            <a:gsLst>
              <a:gs pos="0">
                <a:schemeClr val="accent2">
                  <a:lumMod val="110000"/>
                  <a:satMod val="105000"/>
                  <a:tint val="67000"/>
                  <a:alpha val="0"/>
                </a:schemeClr>
              </a:gs>
              <a:gs pos="100000">
                <a:schemeClr val="bg2"/>
              </a:gs>
            </a:gsLst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067410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with Computer Monito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Oval 4">
            <a:extLst>
              <a:ext uri="{FF2B5EF4-FFF2-40B4-BE49-F238E27FC236}">
                <a16:creationId xmlns:a16="http://schemas.microsoft.com/office/drawing/2014/main" id="{7D5A8CDC-7BE6-361B-2965-88F977B1F050}"/>
              </a:ext>
            </a:extLst>
          </p:cNvPr>
          <p:cNvSpPr/>
          <p:nvPr userDrawn="1"/>
        </p:nvSpPr>
        <p:spPr>
          <a:xfrm>
            <a:off x="6704012" y="838202"/>
            <a:ext cx="5029198" cy="5029198"/>
          </a:xfrm>
          <a:prstGeom prst="ellipse">
            <a:avLst/>
          </a:prstGeom>
          <a:gradFill>
            <a:gsLst>
              <a:gs pos="0">
                <a:schemeClr val="accent2">
                  <a:lumMod val="110000"/>
                  <a:satMod val="105000"/>
                  <a:tint val="67000"/>
                  <a:alpha val="0"/>
                </a:schemeClr>
              </a:gs>
              <a:gs pos="100000">
                <a:schemeClr val="bg2"/>
              </a:gs>
            </a:gsLst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6C13E5D-0B96-580C-032F-0323F5B935D3}"/>
              </a:ext>
            </a:extLst>
          </p:cNvPr>
          <p:cNvSpPr/>
          <p:nvPr userDrawn="1"/>
        </p:nvSpPr>
        <p:spPr>
          <a:xfrm>
            <a:off x="0" y="0"/>
            <a:ext cx="760412" cy="685800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27000" sx="102000" sy="102000" algn="ctr" rotWithShape="0">
              <a:prstClr val="black">
                <a:alpha val="1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5" name="Graphic 14">
            <a:extLst>
              <a:ext uri="{FF2B5EF4-FFF2-40B4-BE49-F238E27FC236}">
                <a16:creationId xmlns:a16="http://schemas.microsoft.com/office/drawing/2014/main" id="{97F2A9A7-1093-A563-8A0E-4C8DB0E669AE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742112" y="1752600"/>
            <a:ext cx="4951066" cy="3810000"/>
          </a:xfrm>
          <a:prstGeom prst="rect">
            <a:avLst/>
          </a:prstGeom>
        </p:spPr>
      </p:pic>
      <p:sp>
        <p:nvSpPr>
          <p:cNvPr id="4" name="Title 1">
            <a:extLst>
              <a:ext uri="{FF2B5EF4-FFF2-40B4-BE49-F238E27FC236}">
                <a16:creationId xmlns:a16="http://schemas.microsoft.com/office/drawing/2014/main" id="{E33374C0-ECC0-0DB1-D167-0EF643B5A1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93812" y="609600"/>
            <a:ext cx="4914900" cy="1447800"/>
          </a:xfrm>
        </p:spPr>
        <p:txBody>
          <a:bodyPr anchor="t">
            <a:normAutofit/>
          </a:bodyPr>
          <a:lstStyle>
            <a:lvl1pPr>
              <a:defRPr sz="3200" b="1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zh-TW" altLang="en-US"/>
              <a:t>按一下以編輯母片標題樣式</a:t>
            </a:r>
            <a:endParaRPr dirty="0"/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FC465CD4-231A-6C85-3D9B-E21738DB54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" y="609600"/>
            <a:ext cx="760412" cy="381000"/>
          </a:xfrm>
        </p:spPr>
        <p:txBody>
          <a:bodyPr/>
          <a:lstStyle>
            <a:lvl1pPr algn="ctr">
              <a:defRPr sz="2400" b="1"/>
            </a:lvl1pPr>
          </a:lstStyle>
          <a:p>
            <a:fld id="{AAEAE4A8-A6E5-453E-B946-FB774B73F48C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7" name="Footer Placeholder 4">
            <a:extLst>
              <a:ext uri="{FF2B5EF4-FFF2-40B4-BE49-F238E27FC236}">
                <a16:creationId xmlns:a16="http://schemas.microsoft.com/office/drawing/2014/main" id="{A583352B-64D3-C6FC-B554-91866CBEBCC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 rot="16200000">
            <a:off x="-1829595" y="2591593"/>
            <a:ext cx="4419600" cy="7604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lang="en-US" sz="1400" b="0" kern="1200" spc="100" baseline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endParaRPr lang="en-US" dirty="0"/>
          </a:p>
        </p:txBody>
      </p:sp>
      <p:sp>
        <p:nvSpPr>
          <p:cNvPr id="6" name="Date Placeholder 3">
            <a:extLst>
              <a:ext uri="{FF2B5EF4-FFF2-40B4-BE49-F238E27FC236}">
                <a16:creationId xmlns:a16="http://schemas.microsoft.com/office/drawing/2014/main" id="{647C9D80-85BC-5E0B-E24A-6217CFE72A9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 rot="16200000">
            <a:off x="-229393" y="5258593"/>
            <a:ext cx="1219200" cy="7604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spc="100" baseline="0"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20038AE2-F2EF-FEA5-D6B4-5C539A25221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11274" y="2286000"/>
            <a:ext cx="4572000" cy="3962400"/>
          </a:xfrm>
        </p:spPr>
        <p:txBody>
          <a:bodyPr>
            <a:normAutofit/>
          </a:bodyPr>
          <a:lstStyle>
            <a:lvl1pPr marL="45720" indent="0">
              <a:lnSpc>
                <a:spcPct val="110000"/>
              </a:lnSpc>
              <a:buNone/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1pPr>
            <a:lvl2pPr marL="365760" indent="0">
              <a:lnSpc>
                <a:spcPct val="110000"/>
              </a:lnSpc>
              <a:buNone/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2pPr>
            <a:lvl3pPr marL="594360" indent="0">
              <a:lnSpc>
                <a:spcPct val="110000"/>
              </a:lnSpc>
              <a:buNone/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777240" indent="0">
              <a:lnSpc>
                <a:spcPct val="110000"/>
              </a:lnSpc>
              <a:buNone/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4pPr>
            <a:lvl5pPr marL="960120" indent="0">
              <a:lnSpc>
                <a:spcPct val="110000"/>
              </a:lnSpc>
              <a:buNone/>
              <a:defRPr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dirty="0"/>
          </a:p>
        </p:txBody>
      </p:sp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51F5E297-E771-7AE4-7311-0874043A4B38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7045945" y="2057400"/>
            <a:ext cx="4343400" cy="2688336"/>
          </a:xfrm>
          <a:custGeom>
            <a:avLst/>
            <a:gdLst>
              <a:gd name="connsiteX0" fmla="*/ 25620 w 4343400"/>
              <a:gd name="connsiteY0" fmla="*/ 0 h 2688336"/>
              <a:gd name="connsiteX1" fmla="*/ 4317780 w 4343400"/>
              <a:gd name="connsiteY1" fmla="*/ 0 h 2688336"/>
              <a:gd name="connsiteX2" fmla="*/ 4343400 w 4343400"/>
              <a:gd name="connsiteY2" fmla="*/ 25620 h 2688336"/>
              <a:gd name="connsiteX3" fmla="*/ 4343400 w 4343400"/>
              <a:gd name="connsiteY3" fmla="*/ 2662716 h 2688336"/>
              <a:gd name="connsiteX4" fmla="*/ 4317780 w 4343400"/>
              <a:gd name="connsiteY4" fmla="*/ 2688336 h 2688336"/>
              <a:gd name="connsiteX5" fmla="*/ 25620 w 4343400"/>
              <a:gd name="connsiteY5" fmla="*/ 2688336 h 2688336"/>
              <a:gd name="connsiteX6" fmla="*/ 0 w 4343400"/>
              <a:gd name="connsiteY6" fmla="*/ 2662716 h 2688336"/>
              <a:gd name="connsiteX7" fmla="*/ 0 w 4343400"/>
              <a:gd name="connsiteY7" fmla="*/ 25620 h 2688336"/>
              <a:gd name="connsiteX8" fmla="*/ 25620 w 4343400"/>
              <a:gd name="connsiteY8" fmla="*/ 0 h 268833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4343400" h="2688336">
                <a:moveTo>
                  <a:pt x="25620" y="0"/>
                </a:moveTo>
                <a:lnTo>
                  <a:pt x="4317780" y="0"/>
                </a:lnTo>
                <a:cubicBezTo>
                  <a:pt x="4331930" y="0"/>
                  <a:pt x="4343400" y="11470"/>
                  <a:pt x="4343400" y="25620"/>
                </a:cubicBezTo>
                <a:lnTo>
                  <a:pt x="4343400" y="2662716"/>
                </a:lnTo>
                <a:cubicBezTo>
                  <a:pt x="4343400" y="2676866"/>
                  <a:pt x="4331930" y="2688336"/>
                  <a:pt x="4317780" y="2688336"/>
                </a:cubicBezTo>
                <a:lnTo>
                  <a:pt x="25620" y="2688336"/>
                </a:lnTo>
                <a:cubicBezTo>
                  <a:pt x="11470" y="2688336"/>
                  <a:pt x="0" y="2676866"/>
                  <a:pt x="0" y="2662716"/>
                </a:cubicBezTo>
                <a:lnTo>
                  <a:pt x="0" y="25620"/>
                </a:lnTo>
                <a:cubicBezTo>
                  <a:pt x="0" y="11470"/>
                  <a:pt x="11470" y="0"/>
                  <a:pt x="25620" y="0"/>
                </a:cubicBezTo>
                <a:close/>
              </a:path>
            </a:pathLst>
          </a:custGeom>
        </p:spPr>
        <p:txBody>
          <a:bodyPr wrap="square">
            <a:noAutofit/>
          </a:bodyPr>
          <a:lstStyle>
            <a:lvl1pPr marL="45720" indent="0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zh-TW" altLang="en-US"/>
              <a:t>按一下圖示以新增圖片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4972884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break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94761B-B29B-1C47-FAE9-6E0FA1543E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8012" y="685800"/>
            <a:ext cx="5687336" cy="5288730"/>
          </a:xfrm>
        </p:spPr>
        <p:txBody>
          <a:bodyPr anchor="b">
            <a:normAutofit/>
          </a:bodyPr>
          <a:lstStyle>
            <a:lvl1pPr marL="0" indent="0" algn="l">
              <a:lnSpc>
                <a:spcPct val="100000"/>
              </a:lnSpc>
              <a:defRPr sz="4800"/>
            </a:lvl1pPr>
          </a:lstStyle>
          <a:p>
            <a:r>
              <a:rPr lang="zh-TW" altLang="en-US"/>
              <a:t>按一下以編輯母片標題樣式</a:t>
            </a:r>
            <a:endParaRPr dirty="0"/>
          </a:p>
        </p:txBody>
      </p:sp>
      <p:sp>
        <p:nvSpPr>
          <p:cNvPr id="3" name="Cross 2">
            <a:extLst>
              <a:ext uri="{FF2B5EF4-FFF2-40B4-BE49-F238E27FC236}">
                <a16:creationId xmlns:a16="http://schemas.microsoft.com/office/drawing/2014/main" id="{9D098DB9-0987-4850-3A4E-90EECD01BFED}"/>
              </a:ext>
            </a:extLst>
          </p:cNvPr>
          <p:cNvSpPr/>
          <p:nvPr userDrawn="1"/>
        </p:nvSpPr>
        <p:spPr>
          <a:xfrm>
            <a:off x="7130149" y="3969437"/>
            <a:ext cx="640662" cy="640662"/>
          </a:xfrm>
          <a:prstGeom prst="plus">
            <a:avLst>
              <a:gd name="adj" fmla="val 39796"/>
            </a:avLst>
          </a:prstGeom>
          <a:gradFill>
            <a:gsLst>
              <a:gs pos="0">
                <a:schemeClr val="accent2">
                  <a:lumMod val="110000"/>
                  <a:satMod val="105000"/>
                  <a:tint val="67000"/>
                  <a:alpha val="0"/>
                </a:schemeClr>
              </a:gs>
              <a:gs pos="100000">
                <a:schemeClr val="bg2"/>
              </a:gs>
            </a:gsLst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lvl="0" algn="ctr"/>
            <a:endParaRPr lang="en-US" dirty="0"/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0320F41B-7946-84A8-649E-B8D2394410B0}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rcRect l="2" r="42412"/>
          <a:stretch/>
        </p:blipFill>
        <p:spPr>
          <a:xfrm>
            <a:off x="7134779" y="533400"/>
            <a:ext cx="5054045" cy="5588000"/>
          </a:xfrm>
          <a:prstGeom prst="rect">
            <a:avLst/>
          </a:prstGeom>
        </p:spPr>
      </p:pic>
      <p:sp>
        <p:nvSpPr>
          <p:cNvPr id="6" name="Cross 5">
            <a:extLst>
              <a:ext uri="{FF2B5EF4-FFF2-40B4-BE49-F238E27FC236}">
                <a16:creationId xmlns:a16="http://schemas.microsoft.com/office/drawing/2014/main" id="{D3F324A7-F228-C486-182B-84D6C27A93B8}"/>
              </a:ext>
            </a:extLst>
          </p:cNvPr>
          <p:cNvSpPr/>
          <p:nvPr userDrawn="1"/>
        </p:nvSpPr>
        <p:spPr>
          <a:xfrm>
            <a:off x="6368151" y="2407337"/>
            <a:ext cx="640662" cy="640662"/>
          </a:xfrm>
          <a:prstGeom prst="plus">
            <a:avLst>
              <a:gd name="adj" fmla="val 39796"/>
            </a:avLst>
          </a:prstGeom>
          <a:gradFill>
            <a:gsLst>
              <a:gs pos="0">
                <a:schemeClr val="accent2">
                  <a:lumMod val="110000"/>
                  <a:satMod val="105000"/>
                  <a:tint val="67000"/>
                  <a:alpha val="0"/>
                </a:schemeClr>
              </a:gs>
              <a:gs pos="100000">
                <a:schemeClr val="bg2"/>
              </a:gs>
            </a:gsLst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lvl="0" algn="ctr"/>
            <a:endParaRPr lang="en-US" dirty="0"/>
          </a:p>
        </p:txBody>
      </p:sp>
      <p:sp>
        <p:nvSpPr>
          <p:cNvPr id="10" name="Picture Placeholder 20">
            <a:extLst>
              <a:ext uri="{FF2B5EF4-FFF2-40B4-BE49-F238E27FC236}">
                <a16:creationId xmlns:a16="http://schemas.microsoft.com/office/drawing/2014/main" id="{0EE33DD4-E993-7039-2B48-6FAFAE32A9FE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8119745" y="990600"/>
            <a:ext cx="4069080" cy="4384979"/>
          </a:xfrm>
          <a:custGeom>
            <a:avLst/>
            <a:gdLst>
              <a:gd name="connsiteX0" fmla="*/ 3553733 w 4390346"/>
              <a:gd name="connsiteY0" fmla="*/ 0 h 4693920"/>
              <a:gd name="connsiteX1" fmla="*/ 4390346 w 4390346"/>
              <a:gd name="connsiteY1" fmla="*/ 0 h 4693920"/>
              <a:gd name="connsiteX2" fmla="*/ 4390346 w 4390346"/>
              <a:gd name="connsiteY2" fmla="*/ 4690872 h 4693920"/>
              <a:gd name="connsiteX3" fmla="*/ 3721482 w 4390346"/>
              <a:gd name="connsiteY3" fmla="*/ 4690872 h 4693920"/>
              <a:gd name="connsiteX4" fmla="*/ 3721482 w 4390346"/>
              <a:gd name="connsiteY4" fmla="*/ 4693920 h 4693920"/>
              <a:gd name="connsiteX5" fmla="*/ 197252 w 4390346"/>
              <a:gd name="connsiteY5" fmla="*/ 4693920 h 4693920"/>
              <a:gd name="connsiteX6" fmla="*/ 167017 w 4390346"/>
              <a:gd name="connsiteY6" fmla="*/ 4690872 h 4693920"/>
              <a:gd name="connsiteX7" fmla="*/ 0 w 4390346"/>
              <a:gd name="connsiteY7" fmla="*/ 4690872 h 4693920"/>
              <a:gd name="connsiteX8" fmla="*/ 0 w 4390346"/>
              <a:gd name="connsiteY8" fmla="*/ 4232970 h 4693920"/>
              <a:gd name="connsiteX9" fmla="*/ 1 w 4390346"/>
              <a:gd name="connsiteY9" fmla="*/ 4232970 h 4693920"/>
              <a:gd name="connsiteX10" fmla="*/ 1 w 4390346"/>
              <a:gd name="connsiteY10" fmla="*/ 200299 h 4693920"/>
              <a:gd name="connsiteX11" fmla="*/ 197252 w 4390346"/>
              <a:gd name="connsiteY11" fmla="*/ 3048 h 4693920"/>
              <a:gd name="connsiteX12" fmla="*/ 3553733 w 4390346"/>
              <a:gd name="connsiteY12" fmla="*/ 3048 h 46939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4390346" h="4693920">
                <a:moveTo>
                  <a:pt x="3553733" y="0"/>
                </a:moveTo>
                <a:lnTo>
                  <a:pt x="4390346" y="0"/>
                </a:lnTo>
                <a:lnTo>
                  <a:pt x="4390346" y="4690872"/>
                </a:lnTo>
                <a:lnTo>
                  <a:pt x="3721482" y="4690872"/>
                </a:lnTo>
                <a:lnTo>
                  <a:pt x="3721482" y="4693920"/>
                </a:lnTo>
                <a:lnTo>
                  <a:pt x="197252" y="4693920"/>
                </a:lnTo>
                <a:lnTo>
                  <a:pt x="167017" y="4690872"/>
                </a:lnTo>
                <a:lnTo>
                  <a:pt x="0" y="4690872"/>
                </a:lnTo>
                <a:lnTo>
                  <a:pt x="0" y="4232970"/>
                </a:lnTo>
                <a:lnTo>
                  <a:pt x="1" y="4232970"/>
                </a:lnTo>
                <a:lnTo>
                  <a:pt x="1" y="200299"/>
                </a:lnTo>
                <a:cubicBezTo>
                  <a:pt x="1" y="91360"/>
                  <a:pt x="88313" y="3048"/>
                  <a:pt x="197252" y="3048"/>
                </a:cubicBezTo>
                <a:lnTo>
                  <a:pt x="3553733" y="3048"/>
                </a:lnTo>
                <a:close/>
              </a:path>
            </a:pathLst>
          </a:custGeom>
        </p:spPr>
        <p:txBody>
          <a:bodyPr wrap="square">
            <a:noAutofit/>
          </a:bodyPr>
          <a:lstStyle>
            <a:lvl1pPr marL="45720" indent="0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zh-TW" altLang="en-US"/>
              <a:t>按一下圖示以新增圖片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77647051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 with Accen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Oval 4">
            <a:extLst>
              <a:ext uri="{FF2B5EF4-FFF2-40B4-BE49-F238E27FC236}">
                <a16:creationId xmlns:a16="http://schemas.microsoft.com/office/drawing/2014/main" id="{7D5A8CDC-7BE6-361B-2965-88F977B1F050}"/>
              </a:ext>
            </a:extLst>
          </p:cNvPr>
          <p:cNvSpPr/>
          <p:nvPr userDrawn="1"/>
        </p:nvSpPr>
        <p:spPr>
          <a:xfrm>
            <a:off x="6361114" y="1317171"/>
            <a:ext cx="5029198" cy="5029198"/>
          </a:xfrm>
          <a:prstGeom prst="ellipse">
            <a:avLst/>
          </a:prstGeom>
          <a:gradFill>
            <a:gsLst>
              <a:gs pos="0">
                <a:schemeClr val="accent2">
                  <a:lumMod val="110000"/>
                  <a:satMod val="105000"/>
                  <a:tint val="67000"/>
                  <a:alpha val="0"/>
                </a:schemeClr>
              </a:gs>
              <a:gs pos="100000">
                <a:schemeClr val="bg2"/>
              </a:gs>
            </a:gsLst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6C13E5D-0B96-580C-032F-0323F5B935D3}"/>
              </a:ext>
            </a:extLst>
          </p:cNvPr>
          <p:cNvSpPr/>
          <p:nvPr userDrawn="1"/>
        </p:nvSpPr>
        <p:spPr>
          <a:xfrm>
            <a:off x="0" y="0"/>
            <a:ext cx="760412" cy="685800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27000" sx="102000" sy="102000" algn="ctr" rotWithShape="0">
              <a:prstClr val="black">
                <a:alpha val="1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E33374C0-ECC0-0DB1-D167-0EF643B5A1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93812" y="609600"/>
            <a:ext cx="4914900" cy="1447800"/>
          </a:xfrm>
        </p:spPr>
        <p:txBody>
          <a:bodyPr anchor="t">
            <a:normAutofit/>
          </a:bodyPr>
          <a:lstStyle>
            <a:lvl1pPr>
              <a:defRPr sz="3200" b="1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zh-TW" altLang="en-US"/>
              <a:t>按一下以編輯母片標題樣式</a:t>
            </a:r>
            <a:endParaRPr dirty="0"/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FC465CD4-231A-6C85-3D9B-E21738DB54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" y="609600"/>
            <a:ext cx="760412" cy="381000"/>
          </a:xfrm>
        </p:spPr>
        <p:txBody>
          <a:bodyPr/>
          <a:lstStyle>
            <a:lvl1pPr algn="ctr">
              <a:defRPr sz="2400" b="1"/>
            </a:lvl1pPr>
          </a:lstStyle>
          <a:p>
            <a:fld id="{AAEAE4A8-A6E5-453E-B946-FB774B73F48C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7" name="Footer Placeholder 4">
            <a:extLst>
              <a:ext uri="{FF2B5EF4-FFF2-40B4-BE49-F238E27FC236}">
                <a16:creationId xmlns:a16="http://schemas.microsoft.com/office/drawing/2014/main" id="{A583352B-64D3-C6FC-B554-91866CBEBCC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 rot="16200000">
            <a:off x="-1829595" y="2591593"/>
            <a:ext cx="4419600" cy="7604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lang="en-US" sz="1400" b="0" kern="1200" spc="100" baseline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endParaRPr lang="en-US" dirty="0"/>
          </a:p>
        </p:txBody>
      </p:sp>
      <p:sp>
        <p:nvSpPr>
          <p:cNvPr id="6" name="Date Placeholder 3">
            <a:extLst>
              <a:ext uri="{FF2B5EF4-FFF2-40B4-BE49-F238E27FC236}">
                <a16:creationId xmlns:a16="http://schemas.microsoft.com/office/drawing/2014/main" id="{647C9D80-85BC-5E0B-E24A-6217CFE72A9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 rot="16200000">
            <a:off x="-229393" y="5258593"/>
            <a:ext cx="1219200" cy="7604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spc="100" baseline="0"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20038AE2-F2EF-FEA5-D6B4-5C539A25221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11274" y="2286000"/>
            <a:ext cx="4572000" cy="3962400"/>
          </a:xfrm>
        </p:spPr>
        <p:txBody>
          <a:bodyPr>
            <a:normAutofit/>
          </a:bodyPr>
          <a:lstStyle>
            <a:lvl1pPr marL="331470" indent="-285750">
              <a:lnSpc>
                <a:spcPct val="110000"/>
              </a:lnSpc>
              <a:buFont typeface="Arial" panose="020B0604020202020204" pitchFamily="34" charset="0"/>
              <a:buChar char="•"/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1pPr>
            <a:lvl2pPr marL="651510" indent="-285750">
              <a:lnSpc>
                <a:spcPct val="110000"/>
              </a:lnSpc>
              <a:buFont typeface="Arial" panose="020B0604020202020204" pitchFamily="34" charset="0"/>
              <a:buChar char="•"/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2pPr>
            <a:lvl3pPr marL="880110" indent="-285750">
              <a:lnSpc>
                <a:spcPct val="110000"/>
              </a:lnSpc>
              <a:buFont typeface="Arial" panose="020B0604020202020204" pitchFamily="34" charset="0"/>
              <a:buChar char="•"/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1062990" indent="-285750">
              <a:lnSpc>
                <a:spcPct val="110000"/>
              </a:lnSpc>
              <a:buFont typeface="Arial" panose="020B0604020202020204" pitchFamily="34" charset="0"/>
              <a:buChar char="•"/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4pPr>
            <a:lvl5pPr marL="1245870" indent="-285750">
              <a:lnSpc>
                <a:spcPct val="110000"/>
              </a:lnSpc>
              <a:buFont typeface="Arial" panose="020B0604020202020204" pitchFamily="34" charset="0"/>
              <a:buChar char="•"/>
              <a:defRPr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dirty="0"/>
          </a:p>
        </p:txBody>
      </p:sp>
      <p:sp>
        <p:nvSpPr>
          <p:cNvPr id="13" name="Content Placeholder 12">
            <a:extLst>
              <a:ext uri="{FF2B5EF4-FFF2-40B4-BE49-F238E27FC236}">
                <a16:creationId xmlns:a16="http://schemas.microsoft.com/office/drawing/2014/main" id="{120B2A3A-FF4C-298C-0165-DB61E8935F68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6094413" y="2286000"/>
            <a:ext cx="5562600" cy="3962400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932887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and Table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F6C13E5D-0B96-580C-032F-0323F5B935D3}"/>
              </a:ext>
            </a:extLst>
          </p:cNvPr>
          <p:cNvSpPr/>
          <p:nvPr userDrawn="1"/>
        </p:nvSpPr>
        <p:spPr>
          <a:xfrm>
            <a:off x="0" y="0"/>
            <a:ext cx="760412" cy="685800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27000" sx="102000" sy="102000" algn="ctr" rotWithShape="0">
              <a:prstClr val="black">
                <a:alpha val="1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E33374C0-ECC0-0DB1-D167-0EF643B5A1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93812" y="609600"/>
            <a:ext cx="4914900" cy="1447800"/>
          </a:xfrm>
        </p:spPr>
        <p:txBody>
          <a:bodyPr anchor="t">
            <a:normAutofit/>
          </a:bodyPr>
          <a:lstStyle>
            <a:lvl1pPr>
              <a:defRPr sz="3200" b="1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zh-TW" altLang="en-US"/>
              <a:t>按一下以編輯母片標題樣式</a:t>
            </a:r>
            <a:endParaRPr dirty="0"/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FC465CD4-231A-6C85-3D9B-E21738DB54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" y="609600"/>
            <a:ext cx="760412" cy="381000"/>
          </a:xfrm>
        </p:spPr>
        <p:txBody>
          <a:bodyPr/>
          <a:lstStyle>
            <a:lvl1pPr algn="ctr">
              <a:defRPr sz="2400" b="1"/>
            </a:lvl1pPr>
          </a:lstStyle>
          <a:p>
            <a:fld id="{AAEAE4A8-A6E5-453E-B946-FB774B73F48C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7" name="Footer Placeholder 4">
            <a:extLst>
              <a:ext uri="{FF2B5EF4-FFF2-40B4-BE49-F238E27FC236}">
                <a16:creationId xmlns:a16="http://schemas.microsoft.com/office/drawing/2014/main" id="{A583352B-64D3-C6FC-B554-91866CBEBCC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 rot="16200000">
            <a:off x="-1829595" y="2591593"/>
            <a:ext cx="4419600" cy="7604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lang="en-US" sz="1400" b="0" kern="1200" spc="100" baseline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endParaRPr lang="en-US" dirty="0"/>
          </a:p>
        </p:txBody>
      </p:sp>
      <p:sp>
        <p:nvSpPr>
          <p:cNvPr id="6" name="Date Placeholder 3">
            <a:extLst>
              <a:ext uri="{FF2B5EF4-FFF2-40B4-BE49-F238E27FC236}">
                <a16:creationId xmlns:a16="http://schemas.microsoft.com/office/drawing/2014/main" id="{647C9D80-85BC-5E0B-E24A-6217CFE72A9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 rot="16200000">
            <a:off x="-229393" y="5258593"/>
            <a:ext cx="1219200" cy="7604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spc="100" baseline="0"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20038AE2-F2EF-FEA5-D6B4-5C539A25221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11274" y="2286000"/>
            <a:ext cx="4572000" cy="3962400"/>
          </a:xfrm>
        </p:spPr>
        <p:txBody>
          <a:bodyPr>
            <a:normAutofit/>
          </a:bodyPr>
          <a:lstStyle>
            <a:lvl1pPr marL="45720" indent="0">
              <a:lnSpc>
                <a:spcPct val="110000"/>
              </a:lnSpc>
              <a:buNone/>
              <a:defRPr lang="en-US" sz="1800" b="1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1pPr>
            <a:lvl2pPr marL="331470" indent="-285750">
              <a:lnSpc>
                <a:spcPct val="110000"/>
              </a:lnSpc>
              <a:spcBef>
                <a:spcPts val="1800"/>
              </a:spcBef>
              <a:buFont typeface="Arial" panose="020B0604020202020204" pitchFamily="34" charset="0"/>
              <a:buChar char="•"/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2pPr>
            <a:lvl3pPr marL="594360" indent="-228600">
              <a:lnSpc>
                <a:spcPct val="110000"/>
              </a:lnSpc>
              <a:buFont typeface="Arial" panose="020B0604020202020204" pitchFamily="34" charset="0"/>
              <a:buChar char="•"/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777240" indent="-228600">
              <a:lnSpc>
                <a:spcPct val="110000"/>
              </a:lnSpc>
              <a:buFont typeface="Arial" panose="020B0604020202020204" pitchFamily="34" charset="0"/>
              <a:buChar char="•"/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4pPr>
            <a:lvl5pPr marL="960120" indent="-228600">
              <a:lnSpc>
                <a:spcPct val="110000"/>
              </a:lnSpc>
              <a:buFont typeface="Arial" panose="020B0604020202020204" pitchFamily="34" charset="0"/>
              <a:buChar char="•"/>
              <a:defRPr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dirty="0"/>
          </a:p>
        </p:txBody>
      </p:sp>
      <p:sp>
        <p:nvSpPr>
          <p:cNvPr id="9" name="Table Placeholder 8">
            <a:extLst>
              <a:ext uri="{FF2B5EF4-FFF2-40B4-BE49-F238E27FC236}">
                <a16:creationId xmlns:a16="http://schemas.microsoft.com/office/drawing/2014/main" id="{6EA47FDD-142D-1BE6-8057-A6CC1A71222C}"/>
              </a:ext>
            </a:extLst>
          </p:cNvPr>
          <p:cNvSpPr>
            <a:spLocks noGrp="1"/>
          </p:cNvSpPr>
          <p:nvPr>
            <p:ph type="tbl" sz="quarter" idx="13"/>
          </p:nvPr>
        </p:nvSpPr>
        <p:spPr>
          <a:xfrm>
            <a:off x="6094413" y="2286000"/>
            <a:ext cx="5558794" cy="3962400"/>
          </a:xfrm>
        </p:spPr>
        <p:txBody>
          <a:bodyPr/>
          <a:lstStyle>
            <a:lvl1pPr marL="45720" indent="0">
              <a:buNone/>
              <a:defRPr/>
            </a:lvl1pPr>
          </a:lstStyle>
          <a:p>
            <a:r>
              <a:rPr lang="zh-TW" altLang="en-US"/>
              <a:t>按一下圖示以新增表格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5039468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le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BE2E1990-ECE7-FA08-4966-BE3109399672}"/>
              </a:ext>
            </a:extLst>
          </p:cNvPr>
          <p:cNvSpPr/>
          <p:nvPr userDrawn="1"/>
        </p:nvSpPr>
        <p:spPr>
          <a:xfrm>
            <a:off x="7026044" y="0"/>
            <a:ext cx="4461334" cy="1981200"/>
          </a:xfrm>
          <a:custGeom>
            <a:avLst/>
            <a:gdLst>
              <a:gd name="connsiteX0" fmla="*/ 0 w 4461334"/>
              <a:gd name="connsiteY0" fmla="*/ 0 h 1981200"/>
              <a:gd name="connsiteX1" fmla="*/ 4461334 w 4461334"/>
              <a:gd name="connsiteY1" fmla="*/ 0 h 1981200"/>
              <a:gd name="connsiteX2" fmla="*/ 4432897 w 4461334"/>
              <a:gd name="connsiteY2" fmla="*/ 186331 h 1981200"/>
              <a:gd name="connsiteX3" fmla="*/ 2230667 w 4461334"/>
              <a:gd name="connsiteY3" fmla="*/ 1981200 h 1981200"/>
              <a:gd name="connsiteX4" fmla="*/ 28437 w 4461334"/>
              <a:gd name="connsiteY4" fmla="*/ 186331 h 1981200"/>
              <a:gd name="connsiteX5" fmla="*/ 0 w 4461334"/>
              <a:gd name="connsiteY5" fmla="*/ 0 h 1981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461334" h="1981200">
                <a:moveTo>
                  <a:pt x="0" y="0"/>
                </a:moveTo>
                <a:lnTo>
                  <a:pt x="4461334" y="0"/>
                </a:lnTo>
                <a:lnTo>
                  <a:pt x="4432897" y="186331"/>
                </a:lnTo>
                <a:cubicBezTo>
                  <a:pt x="4223288" y="1210661"/>
                  <a:pt x="3316962" y="1981200"/>
                  <a:pt x="2230667" y="1981200"/>
                </a:cubicBezTo>
                <a:cubicBezTo>
                  <a:pt x="1144372" y="1981200"/>
                  <a:pt x="238046" y="1210661"/>
                  <a:pt x="28437" y="186331"/>
                </a:cubicBezTo>
                <a:lnTo>
                  <a:pt x="0" y="0"/>
                </a:lnTo>
                <a:close/>
              </a:path>
            </a:pathLst>
          </a:custGeom>
          <a:gradFill>
            <a:gsLst>
              <a:gs pos="0">
                <a:schemeClr val="accent2">
                  <a:lumMod val="110000"/>
                  <a:satMod val="105000"/>
                  <a:tint val="67000"/>
                  <a:alpha val="0"/>
                </a:schemeClr>
              </a:gs>
              <a:gs pos="100000">
                <a:schemeClr val="bg2"/>
              </a:gs>
            </a:gsLst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lvl="0" algn="ctr"/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BE1D9EB0-EE8E-A9E8-9583-2D924EFA65AF}"/>
              </a:ext>
            </a:extLst>
          </p:cNvPr>
          <p:cNvSpPr/>
          <p:nvPr userDrawn="1"/>
        </p:nvSpPr>
        <p:spPr>
          <a:xfrm>
            <a:off x="0" y="0"/>
            <a:ext cx="760412" cy="685800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27000" sx="102000" sy="102000" algn="ctr" rotWithShape="0">
              <a:prstClr val="black">
                <a:alpha val="1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FAC00260-F255-D312-3E7C-329EECDFDE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93812" y="609600"/>
            <a:ext cx="4914900" cy="1447800"/>
          </a:xfrm>
        </p:spPr>
        <p:txBody>
          <a:bodyPr anchor="t">
            <a:normAutofit/>
          </a:bodyPr>
          <a:lstStyle>
            <a:lvl1pPr>
              <a:defRPr sz="3200" b="1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zh-TW" altLang="en-US"/>
              <a:t>按一下以編輯母片標題樣式</a:t>
            </a:r>
            <a:endParaRPr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C9C7904-6373-06D6-713A-79D78DD615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" y="609600"/>
            <a:ext cx="760412" cy="381000"/>
          </a:xfrm>
        </p:spPr>
        <p:txBody>
          <a:bodyPr/>
          <a:lstStyle>
            <a:lvl1pPr algn="ctr">
              <a:defRPr sz="2400" b="1"/>
            </a:lvl1pPr>
          </a:lstStyle>
          <a:p>
            <a:fld id="{AAEAE4A8-A6E5-453E-B946-FB774B73F48C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6" name="Footer Placeholder 4">
            <a:extLst>
              <a:ext uri="{FF2B5EF4-FFF2-40B4-BE49-F238E27FC236}">
                <a16:creationId xmlns:a16="http://schemas.microsoft.com/office/drawing/2014/main" id="{0583D396-7FDF-332F-BEA4-791452AB13E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 rot="16200000">
            <a:off x="-1829595" y="2591593"/>
            <a:ext cx="4419600" cy="7604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lang="en-US" sz="1400" b="0" kern="1200" spc="100" baseline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endParaRPr lang="en-US" dirty="0"/>
          </a:p>
        </p:txBody>
      </p:sp>
      <p:sp>
        <p:nvSpPr>
          <p:cNvPr id="8" name="Date Placeholder 3">
            <a:extLst>
              <a:ext uri="{FF2B5EF4-FFF2-40B4-BE49-F238E27FC236}">
                <a16:creationId xmlns:a16="http://schemas.microsoft.com/office/drawing/2014/main" id="{157FA249-0BE5-21BF-D816-85FBE6C4BD1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 rot="16200000">
            <a:off x="-229393" y="5258593"/>
            <a:ext cx="1219200" cy="7604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spc="100" baseline="0"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4" name="Table Placeholder 3">
            <a:extLst>
              <a:ext uri="{FF2B5EF4-FFF2-40B4-BE49-F238E27FC236}">
                <a16:creationId xmlns:a16="http://schemas.microsoft.com/office/drawing/2014/main" id="{FD06F443-9595-7420-13F2-7AF883FDE5E1}"/>
              </a:ext>
            </a:extLst>
          </p:cNvPr>
          <p:cNvSpPr>
            <a:spLocks noGrp="1"/>
          </p:cNvSpPr>
          <p:nvPr>
            <p:ph type="tbl" sz="quarter" idx="14"/>
          </p:nvPr>
        </p:nvSpPr>
        <p:spPr>
          <a:xfrm>
            <a:off x="1293811" y="2743200"/>
            <a:ext cx="10134601" cy="3505200"/>
          </a:xfrm>
        </p:spPr>
        <p:txBody>
          <a:bodyPr/>
          <a:lstStyle>
            <a:lvl1pPr>
              <a:defRPr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zh-TW" altLang="en-US"/>
              <a:t>按一下圖示以新增表格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0091718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 1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B6A45E1A-7551-6F54-D038-074B58A3B73E}"/>
              </a:ext>
            </a:extLst>
          </p:cNvPr>
          <p:cNvSpPr/>
          <p:nvPr userDrawn="1"/>
        </p:nvSpPr>
        <p:spPr>
          <a:xfrm>
            <a:off x="7026044" y="0"/>
            <a:ext cx="4461334" cy="1981200"/>
          </a:xfrm>
          <a:custGeom>
            <a:avLst/>
            <a:gdLst>
              <a:gd name="connsiteX0" fmla="*/ 0 w 4461334"/>
              <a:gd name="connsiteY0" fmla="*/ 0 h 1981200"/>
              <a:gd name="connsiteX1" fmla="*/ 4461334 w 4461334"/>
              <a:gd name="connsiteY1" fmla="*/ 0 h 1981200"/>
              <a:gd name="connsiteX2" fmla="*/ 4432897 w 4461334"/>
              <a:gd name="connsiteY2" fmla="*/ 186331 h 1981200"/>
              <a:gd name="connsiteX3" fmla="*/ 2230667 w 4461334"/>
              <a:gd name="connsiteY3" fmla="*/ 1981200 h 1981200"/>
              <a:gd name="connsiteX4" fmla="*/ 28437 w 4461334"/>
              <a:gd name="connsiteY4" fmla="*/ 186331 h 1981200"/>
              <a:gd name="connsiteX5" fmla="*/ 0 w 4461334"/>
              <a:gd name="connsiteY5" fmla="*/ 0 h 1981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461334" h="1981200">
                <a:moveTo>
                  <a:pt x="0" y="0"/>
                </a:moveTo>
                <a:lnTo>
                  <a:pt x="4461334" y="0"/>
                </a:lnTo>
                <a:lnTo>
                  <a:pt x="4432897" y="186331"/>
                </a:lnTo>
                <a:cubicBezTo>
                  <a:pt x="4223288" y="1210661"/>
                  <a:pt x="3316962" y="1981200"/>
                  <a:pt x="2230667" y="1981200"/>
                </a:cubicBezTo>
                <a:cubicBezTo>
                  <a:pt x="1144372" y="1981200"/>
                  <a:pt x="238046" y="1210661"/>
                  <a:pt x="28437" y="186331"/>
                </a:cubicBezTo>
                <a:lnTo>
                  <a:pt x="0" y="0"/>
                </a:lnTo>
                <a:close/>
              </a:path>
            </a:pathLst>
          </a:custGeom>
          <a:gradFill>
            <a:gsLst>
              <a:gs pos="0">
                <a:schemeClr val="accent2">
                  <a:lumMod val="110000"/>
                  <a:satMod val="105000"/>
                  <a:tint val="67000"/>
                  <a:alpha val="0"/>
                </a:schemeClr>
              </a:gs>
              <a:gs pos="100000">
                <a:schemeClr val="bg2"/>
              </a:gs>
            </a:gsLst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lvl="0" algn="ctr"/>
            <a:endParaRPr lang="en-US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75C97BE-6AF8-5928-B560-739552D148BA}"/>
              </a:ext>
            </a:extLst>
          </p:cNvPr>
          <p:cNvSpPr/>
          <p:nvPr userDrawn="1"/>
        </p:nvSpPr>
        <p:spPr>
          <a:xfrm>
            <a:off x="0" y="0"/>
            <a:ext cx="760412" cy="685800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27000" sx="102000" sy="102000" algn="ctr" rotWithShape="0">
              <a:prstClr val="black">
                <a:alpha val="1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6" name="Cross 5">
            <a:extLst>
              <a:ext uri="{FF2B5EF4-FFF2-40B4-BE49-F238E27FC236}">
                <a16:creationId xmlns:a16="http://schemas.microsoft.com/office/drawing/2014/main" id="{049F4FA0-ECA1-9CE1-60CD-491656F225D3}"/>
              </a:ext>
            </a:extLst>
          </p:cNvPr>
          <p:cNvSpPr/>
          <p:nvPr userDrawn="1"/>
        </p:nvSpPr>
        <p:spPr>
          <a:xfrm>
            <a:off x="6683143" y="1397000"/>
            <a:ext cx="685800" cy="685800"/>
          </a:xfrm>
          <a:prstGeom prst="plus">
            <a:avLst>
              <a:gd name="adj" fmla="val 39796"/>
            </a:avLst>
          </a:prstGeom>
          <a:gradFill>
            <a:gsLst>
              <a:gs pos="0">
                <a:schemeClr val="accent2">
                  <a:lumMod val="110000"/>
                  <a:satMod val="105000"/>
                  <a:tint val="67000"/>
                  <a:alpha val="0"/>
                </a:schemeClr>
              </a:gs>
              <a:gs pos="100000">
                <a:schemeClr val="bg2"/>
              </a:gs>
            </a:gsLst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lvl="0" algn="ctr"/>
            <a:endParaRPr lang="en-US" dirty="0"/>
          </a:p>
        </p:txBody>
      </p:sp>
      <p:sp>
        <p:nvSpPr>
          <p:cNvPr id="7" name="Cross 6">
            <a:extLst>
              <a:ext uri="{FF2B5EF4-FFF2-40B4-BE49-F238E27FC236}">
                <a16:creationId xmlns:a16="http://schemas.microsoft.com/office/drawing/2014/main" id="{E0F6845B-3635-28EA-BA6E-5535FE48E8B0}"/>
              </a:ext>
            </a:extLst>
          </p:cNvPr>
          <p:cNvSpPr/>
          <p:nvPr userDrawn="1"/>
        </p:nvSpPr>
        <p:spPr>
          <a:xfrm>
            <a:off x="11085513" y="5638800"/>
            <a:ext cx="685800" cy="685800"/>
          </a:xfrm>
          <a:prstGeom prst="plus">
            <a:avLst>
              <a:gd name="adj" fmla="val 39796"/>
            </a:avLst>
          </a:prstGeom>
          <a:gradFill>
            <a:gsLst>
              <a:gs pos="0">
                <a:schemeClr val="accent2">
                  <a:lumMod val="110000"/>
                  <a:satMod val="105000"/>
                  <a:tint val="67000"/>
                  <a:alpha val="0"/>
                </a:schemeClr>
              </a:gs>
              <a:gs pos="100000">
                <a:schemeClr val="bg2"/>
              </a:gs>
            </a:gsLst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lvl="0" algn="ctr"/>
            <a:endParaRPr lang="en-US" dirty="0"/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D1B5BD44-F42D-3B65-BB68-E5C76C4E06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93812" y="609600"/>
            <a:ext cx="4914900" cy="1447800"/>
          </a:xfrm>
        </p:spPr>
        <p:txBody>
          <a:bodyPr anchor="t">
            <a:normAutofit/>
          </a:bodyPr>
          <a:lstStyle>
            <a:lvl1pPr>
              <a:defRPr sz="3200" b="1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zh-TW" altLang="en-US"/>
              <a:t>按一下以編輯母片標題樣式</a:t>
            </a:r>
            <a:endParaRPr dirty="0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E6F22956-4B4B-B972-CE6C-282D1D5918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" y="609600"/>
            <a:ext cx="760412" cy="381000"/>
          </a:xfrm>
        </p:spPr>
        <p:txBody>
          <a:bodyPr/>
          <a:lstStyle>
            <a:lvl1pPr algn="ctr">
              <a:defRPr sz="2400" b="1"/>
            </a:lvl1pPr>
          </a:lstStyle>
          <a:p>
            <a:fld id="{AAEAE4A8-A6E5-453E-B946-FB774B73F48C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24" name="Footer Placeholder 4">
            <a:extLst>
              <a:ext uri="{FF2B5EF4-FFF2-40B4-BE49-F238E27FC236}">
                <a16:creationId xmlns:a16="http://schemas.microsoft.com/office/drawing/2014/main" id="{C319E7A6-A7BC-1FD9-6936-D83244A4083E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>
          <a:xfrm rot="16200000">
            <a:off x="-1829595" y="2591593"/>
            <a:ext cx="4419600" cy="7604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lang="en-US" sz="1400" b="0" kern="1200" spc="100" baseline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endParaRPr lang="en-US" dirty="0"/>
          </a:p>
        </p:txBody>
      </p:sp>
      <p:sp>
        <p:nvSpPr>
          <p:cNvPr id="14" name="Date Placeholder 3">
            <a:extLst>
              <a:ext uri="{FF2B5EF4-FFF2-40B4-BE49-F238E27FC236}">
                <a16:creationId xmlns:a16="http://schemas.microsoft.com/office/drawing/2014/main" id="{2180FD49-43D5-4D47-7DA7-BF05B579F24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 rot="16200000">
            <a:off x="-229393" y="5258593"/>
            <a:ext cx="1219200" cy="7604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spc="100" baseline="0"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F11B92F8-C070-2CE8-09EC-DAB8F879C213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1293812" y="2438400"/>
            <a:ext cx="4911725" cy="4114799"/>
          </a:xfrm>
        </p:spPr>
        <p:txBody>
          <a:bodyPr>
            <a:normAutofit/>
          </a:bodyPr>
          <a:lstStyle>
            <a:lvl1pPr>
              <a:lnSpc>
                <a:spcPct val="110000"/>
              </a:lnSpc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1pPr>
            <a:lvl2pPr>
              <a:lnSpc>
                <a:spcPct val="110000"/>
              </a:lnSpc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2pPr>
            <a:lvl3pPr>
              <a:lnSpc>
                <a:spcPct val="110000"/>
              </a:lnSpc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3pPr>
            <a:lvl4pPr>
              <a:lnSpc>
                <a:spcPct val="110000"/>
              </a:lnSpc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4pPr>
            <a:lvl5pPr>
              <a:lnSpc>
                <a:spcPct val="110000"/>
              </a:lnSpc>
              <a:defRPr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dirty="0"/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7A79808F-B1FF-C536-B44F-59CEA545BFD5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6516689" y="2438400"/>
            <a:ext cx="4911725" cy="4114799"/>
          </a:xfrm>
        </p:spPr>
        <p:txBody>
          <a:bodyPr>
            <a:normAutofit/>
          </a:bodyPr>
          <a:lstStyle>
            <a:lvl1pPr>
              <a:lnSpc>
                <a:spcPct val="110000"/>
              </a:lnSpc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1pPr>
            <a:lvl2pPr>
              <a:lnSpc>
                <a:spcPct val="110000"/>
              </a:lnSpc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2pPr>
            <a:lvl3pPr>
              <a:lnSpc>
                <a:spcPct val="110000"/>
              </a:lnSpc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3pPr>
            <a:lvl4pPr>
              <a:lnSpc>
                <a:spcPct val="110000"/>
              </a:lnSpc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4pPr>
            <a:lvl5pPr>
              <a:lnSpc>
                <a:spcPct val="110000"/>
              </a:lnSpc>
              <a:defRPr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30154911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 2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B09E2F69-D76D-62CD-4B4B-52AB2F720DE4}"/>
              </a:ext>
            </a:extLst>
          </p:cNvPr>
          <p:cNvSpPr/>
          <p:nvPr userDrawn="1"/>
        </p:nvSpPr>
        <p:spPr>
          <a:xfrm>
            <a:off x="9958158" y="0"/>
            <a:ext cx="2230666" cy="1981200"/>
          </a:xfrm>
          <a:custGeom>
            <a:avLst/>
            <a:gdLst>
              <a:gd name="connsiteX0" fmla="*/ 0 w 2230666"/>
              <a:gd name="connsiteY0" fmla="*/ 0 h 1981200"/>
              <a:gd name="connsiteX1" fmla="*/ 2230666 w 2230666"/>
              <a:gd name="connsiteY1" fmla="*/ 0 h 1981200"/>
              <a:gd name="connsiteX2" fmla="*/ 2230666 w 2230666"/>
              <a:gd name="connsiteY2" fmla="*/ 1981200 h 1981200"/>
              <a:gd name="connsiteX3" fmla="*/ 2029222 w 2230666"/>
              <a:gd name="connsiteY3" fmla="*/ 1972296 h 1981200"/>
              <a:gd name="connsiteX4" fmla="*/ 28437 w 2230666"/>
              <a:gd name="connsiteY4" fmla="*/ 186331 h 1981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230666" h="1981200">
                <a:moveTo>
                  <a:pt x="0" y="0"/>
                </a:moveTo>
                <a:lnTo>
                  <a:pt x="2230666" y="0"/>
                </a:lnTo>
                <a:lnTo>
                  <a:pt x="2230666" y="1981200"/>
                </a:lnTo>
                <a:lnTo>
                  <a:pt x="2029222" y="1972296"/>
                </a:lnTo>
                <a:cubicBezTo>
                  <a:pt x="1033803" y="1883891"/>
                  <a:pt x="224946" y="1146640"/>
                  <a:pt x="28437" y="186331"/>
                </a:cubicBezTo>
                <a:close/>
              </a:path>
            </a:pathLst>
          </a:custGeom>
          <a:gradFill>
            <a:gsLst>
              <a:gs pos="0">
                <a:schemeClr val="accent2">
                  <a:lumMod val="110000"/>
                  <a:satMod val="105000"/>
                  <a:tint val="67000"/>
                  <a:alpha val="0"/>
                </a:schemeClr>
              </a:gs>
              <a:gs pos="100000">
                <a:schemeClr val="bg2"/>
              </a:gs>
            </a:gsLst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 rtlCol="0" anchor="ctr">
            <a:noAutofit/>
          </a:bodyPr>
          <a:lstStyle/>
          <a:p>
            <a:pPr lvl="0" algn="ctr"/>
            <a:endParaRPr lang="en-US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75C97BE-6AF8-5928-B560-739552D148BA}"/>
              </a:ext>
            </a:extLst>
          </p:cNvPr>
          <p:cNvSpPr/>
          <p:nvPr userDrawn="1"/>
        </p:nvSpPr>
        <p:spPr>
          <a:xfrm>
            <a:off x="0" y="0"/>
            <a:ext cx="760412" cy="685800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27000" sx="102000" sy="102000" algn="ctr" rotWithShape="0">
              <a:prstClr val="black">
                <a:alpha val="1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Cross 2">
            <a:extLst>
              <a:ext uri="{FF2B5EF4-FFF2-40B4-BE49-F238E27FC236}">
                <a16:creationId xmlns:a16="http://schemas.microsoft.com/office/drawing/2014/main" id="{A0041296-BAB4-9340-D4A7-59FD619AC52B}"/>
              </a:ext>
            </a:extLst>
          </p:cNvPr>
          <p:cNvSpPr/>
          <p:nvPr userDrawn="1"/>
        </p:nvSpPr>
        <p:spPr>
          <a:xfrm>
            <a:off x="7847012" y="381000"/>
            <a:ext cx="685800" cy="685800"/>
          </a:xfrm>
          <a:prstGeom prst="plus">
            <a:avLst>
              <a:gd name="adj" fmla="val 39796"/>
            </a:avLst>
          </a:prstGeom>
          <a:gradFill>
            <a:gsLst>
              <a:gs pos="0">
                <a:schemeClr val="accent2">
                  <a:lumMod val="110000"/>
                  <a:satMod val="105000"/>
                  <a:tint val="67000"/>
                  <a:alpha val="0"/>
                </a:schemeClr>
              </a:gs>
              <a:gs pos="100000">
                <a:schemeClr val="bg2"/>
              </a:gs>
            </a:gsLst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lvl="0" algn="ctr"/>
            <a:endParaRPr lang="en-US" dirty="0"/>
          </a:p>
        </p:txBody>
      </p:sp>
      <p:sp>
        <p:nvSpPr>
          <p:cNvPr id="5" name="Cross 4">
            <a:extLst>
              <a:ext uri="{FF2B5EF4-FFF2-40B4-BE49-F238E27FC236}">
                <a16:creationId xmlns:a16="http://schemas.microsoft.com/office/drawing/2014/main" id="{FFABB0BB-C379-786D-46F1-DEB6A507EA80}"/>
              </a:ext>
            </a:extLst>
          </p:cNvPr>
          <p:cNvSpPr/>
          <p:nvPr userDrawn="1"/>
        </p:nvSpPr>
        <p:spPr>
          <a:xfrm>
            <a:off x="8559685" y="1066800"/>
            <a:ext cx="685800" cy="685800"/>
          </a:xfrm>
          <a:prstGeom prst="plus">
            <a:avLst>
              <a:gd name="adj" fmla="val 39796"/>
            </a:avLst>
          </a:prstGeom>
          <a:gradFill>
            <a:gsLst>
              <a:gs pos="0">
                <a:schemeClr val="accent2">
                  <a:lumMod val="110000"/>
                  <a:satMod val="105000"/>
                  <a:tint val="67000"/>
                  <a:alpha val="0"/>
                </a:schemeClr>
              </a:gs>
              <a:gs pos="100000">
                <a:schemeClr val="bg2"/>
              </a:gs>
            </a:gsLst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lvl="0" algn="ctr"/>
            <a:endParaRPr lang="en-US" dirty="0"/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20BDC478-129E-9690-F10A-A1F679ABD6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93812" y="609600"/>
            <a:ext cx="4914900" cy="1447800"/>
          </a:xfrm>
        </p:spPr>
        <p:txBody>
          <a:bodyPr anchor="t">
            <a:normAutofit/>
          </a:bodyPr>
          <a:lstStyle>
            <a:lvl1pPr>
              <a:defRPr sz="3200" b="1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zh-TW" altLang="en-US"/>
              <a:t>按一下以編輯母片標題樣式</a:t>
            </a:r>
            <a:endParaRPr dirty="0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7BD29393-4996-16FE-FC38-2447AE812A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" y="609600"/>
            <a:ext cx="760412" cy="381000"/>
          </a:xfrm>
        </p:spPr>
        <p:txBody>
          <a:bodyPr/>
          <a:lstStyle>
            <a:lvl1pPr algn="ctr">
              <a:defRPr sz="2400" b="1"/>
            </a:lvl1pPr>
          </a:lstStyle>
          <a:p>
            <a:fld id="{AAEAE4A8-A6E5-453E-B946-FB774B73F48C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25" name="Footer Placeholder 4">
            <a:extLst>
              <a:ext uri="{FF2B5EF4-FFF2-40B4-BE49-F238E27FC236}">
                <a16:creationId xmlns:a16="http://schemas.microsoft.com/office/drawing/2014/main" id="{2FB2C37F-01F4-8BDA-35AA-8F8EBC5540A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 rot="16200000">
            <a:off x="-1829595" y="2591593"/>
            <a:ext cx="4419600" cy="7604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lang="en-US" sz="1400" b="0" kern="1200" spc="100" baseline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endParaRPr lang="en-US" dirty="0"/>
          </a:p>
        </p:txBody>
      </p:sp>
      <p:sp>
        <p:nvSpPr>
          <p:cNvPr id="14" name="Date Placeholder 3">
            <a:extLst>
              <a:ext uri="{FF2B5EF4-FFF2-40B4-BE49-F238E27FC236}">
                <a16:creationId xmlns:a16="http://schemas.microsoft.com/office/drawing/2014/main" id="{EF45931A-8732-7A9F-4CEE-22AA3831A48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 rot="16200000">
            <a:off x="-229393" y="5258593"/>
            <a:ext cx="1219200" cy="7604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spc="100" baseline="0"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F11B92F8-C070-2CE8-09EC-DAB8F879C213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1293812" y="2286000"/>
            <a:ext cx="4911725" cy="4267200"/>
          </a:xfrm>
        </p:spPr>
        <p:txBody>
          <a:bodyPr>
            <a:normAutofit/>
          </a:bodyPr>
          <a:lstStyle>
            <a:lvl1pPr marL="45720" indent="0">
              <a:lnSpc>
                <a:spcPct val="110000"/>
              </a:lnSpc>
              <a:buNone/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1pPr>
            <a:lvl2pPr marL="365760" indent="0">
              <a:lnSpc>
                <a:spcPct val="110000"/>
              </a:lnSpc>
              <a:buNone/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2pPr>
            <a:lvl3pPr marL="594360" indent="0">
              <a:lnSpc>
                <a:spcPct val="110000"/>
              </a:lnSpc>
              <a:buNone/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777240" indent="0">
              <a:lnSpc>
                <a:spcPct val="110000"/>
              </a:lnSpc>
              <a:buNone/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4pPr>
            <a:lvl5pPr marL="960120" indent="0">
              <a:lnSpc>
                <a:spcPct val="110000"/>
              </a:lnSpc>
              <a:buNone/>
              <a:defRPr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dirty="0"/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7A79808F-B1FF-C536-B44F-59CEA545BFD5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6516689" y="2286000"/>
            <a:ext cx="4911725" cy="4267200"/>
          </a:xfrm>
        </p:spPr>
        <p:txBody>
          <a:bodyPr>
            <a:normAutofit/>
          </a:bodyPr>
          <a:lstStyle>
            <a:lvl1pPr>
              <a:lnSpc>
                <a:spcPct val="110000"/>
              </a:lnSpc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1pPr>
            <a:lvl2pPr>
              <a:lnSpc>
                <a:spcPct val="110000"/>
              </a:lnSpc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2pPr>
            <a:lvl3pPr>
              <a:lnSpc>
                <a:spcPct val="110000"/>
              </a:lnSpc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3pPr>
            <a:lvl4pPr>
              <a:lnSpc>
                <a:spcPct val="110000"/>
              </a:lnSpc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4pPr>
            <a:lvl5pPr>
              <a:lnSpc>
                <a:spcPct val="110000"/>
              </a:lnSpc>
              <a:defRPr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32542941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losing">
    <p:bg>
      <p:bgPr>
        <a:gradFill>
          <a:gsLst>
            <a:gs pos="0">
              <a:schemeClr val="accent2">
                <a:lumMod val="110000"/>
                <a:satMod val="105000"/>
                <a:tint val="67000"/>
                <a:alpha val="0"/>
              </a:schemeClr>
            </a:gs>
            <a:gs pos="100000">
              <a:schemeClr val="bg2"/>
            </a:gs>
          </a:gsLst>
          <a:lin ang="54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Freeform: Shape 8">
            <a:extLst>
              <a:ext uri="{FF2B5EF4-FFF2-40B4-BE49-F238E27FC236}">
                <a16:creationId xmlns:a16="http://schemas.microsoft.com/office/drawing/2014/main" id="{55FB068A-9EE1-FCD9-54F9-D1322A68868B}"/>
              </a:ext>
            </a:extLst>
          </p:cNvPr>
          <p:cNvSpPr/>
          <p:nvPr userDrawn="1"/>
        </p:nvSpPr>
        <p:spPr>
          <a:xfrm>
            <a:off x="2132012" y="0"/>
            <a:ext cx="7924800" cy="6858000"/>
          </a:xfrm>
          <a:custGeom>
            <a:avLst/>
            <a:gdLst>
              <a:gd name="connsiteX0" fmla="*/ 1982890 w 7924800"/>
              <a:gd name="connsiteY0" fmla="*/ 0 h 6858000"/>
              <a:gd name="connsiteX1" fmla="*/ 5941911 w 7924800"/>
              <a:gd name="connsiteY1" fmla="*/ 0 h 6858000"/>
              <a:gd name="connsiteX2" fmla="*/ 6177816 w 7924800"/>
              <a:gd name="connsiteY2" fmla="*/ 143316 h 6858000"/>
              <a:gd name="connsiteX3" fmla="*/ 7924800 w 7924800"/>
              <a:gd name="connsiteY3" fmla="*/ 3429000 h 6858000"/>
              <a:gd name="connsiteX4" fmla="*/ 6017049 w 7924800"/>
              <a:gd name="connsiteY4" fmla="*/ 6817750 h 6858000"/>
              <a:gd name="connsiteX5" fmla="*/ 5947047 w 7924800"/>
              <a:gd name="connsiteY5" fmla="*/ 6858000 h 6858000"/>
              <a:gd name="connsiteX6" fmla="*/ 1977753 w 7924800"/>
              <a:gd name="connsiteY6" fmla="*/ 6858000 h 6858000"/>
              <a:gd name="connsiteX7" fmla="*/ 1907752 w 7924800"/>
              <a:gd name="connsiteY7" fmla="*/ 6817750 h 6858000"/>
              <a:gd name="connsiteX8" fmla="*/ 0 w 7924800"/>
              <a:gd name="connsiteY8" fmla="*/ 3429000 h 6858000"/>
              <a:gd name="connsiteX9" fmla="*/ 1746985 w 7924800"/>
              <a:gd name="connsiteY9" fmla="*/ 143316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7924800" h="6858000">
                <a:moveTo>
                  <a:pt x="1982890" y="0"/>
                </a:moveTo>
                <a:lnTo>
                  <a:pt x="5941911" y="0"/>
                </a:lnTo>
                <a:lnTo>
                  <a:pt x="6177816" y="143316"/>
                </a:lnTo>
                <a:cubicBezTo>
                  <a:pt x="7231821" y="855388"/>
                  <a:pt x="7924800" y="2061267"/>
                  <a:pt x="7924800" y="3429000"/>
                </a:cubicBezTo>
                <a:cubicBezTo>
                  <a:pt x="7924800" y="4865120"/>
                  <a:pt x="7160790" y="6122796"/>
                  <a:pt x="6017049" y="6817750"/>
                </a:cubicBezTo>
                <a:lnTo>
                  <a:pt x="5947047" y="6858000"/>
                </a:lnTo>
                <a:lnTo>
                  <a:pt x="1977753" y="6858000"/>
                </a:lnTo>
                <a:lnTo>
                  <a:pt x="1907752" y="6817750"/>
                </a:lnTo>
                <a:cubicBezTo>
                  <a:pt x="764010" y="6122796"/>
                  <a:pt x="0" y="4865120"/>
                  <a:pt x="0" y="3429000"/>
                </a:cubicBezTo>
                <a:cubicBezTo>
                  <a:pt x="0" y="2061267"/>
                  <a:pt x="692980" y="855388"/>
                  <a:pt x="1746985" y="143316"/>
                </a:cubicBezTo>
                <a:close/>
              </a:path>
            </a:pathLst>
          </a:custGeom>
          <a:gradFill>
            <a:gsLst>
              <a:gs pos="0">
                <a:schemeClr val="bg1"/>
              </a:gs>
              <a:gs pos="100000">
                <a:schemeClr val="bg1">
                  <a:alpha val="0"/>
                </a:schemeClr>
              </a:gs>
            </a:gsLst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8" name="Left Brace 7">
            <a:extLst>
              <a:ext uri="{FF2B5EF4-FFF2-40B4-BE49-F238E27FC236}">
                <a16:creationId xmlns:a16="http://schemas.microsoft.com/office/drawing/2014/main" id="{6A409372-199C-2F3B-65CD-ADC2E45B43B7}"/>
              </a:ext>
            </a:extLst>
          </p:cNvPr>
          <p:cNvSpPr/>
          <p:nvPr userDrawn="1"/>
        </p:nvSpPr>
        <p:spPr>
          <a:xfrm>
            <a:off x="5561012" y="2022021"/>
            <a:ext cx="838200" cy="2813960"/>
          </a:xfrm>
          <a:prstGeom prst="leftBrace">
            <a:avLst>
              <a:gd name="adj1" fmla="val 34932"/>
              <a:gd name="adj2" fmla="val 50000"/>
            </a:avLst>
          </a:prstGeom>
          <a:ln w="28575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C47599E9-7877-89FF-8C57-FEF4C3C864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1812" y="495300"/>
            <a:ext cx="4572000" cy="5867400"/>
          </a:xfrm>
        </p:spPr>
        <p:txBody>
          <a:bodyPr anchor="ctr">
            <a:normAutofit/>
          </a:bodyPr>
          <a:lstStyle>
            <a:lvl1pPr marL="0" indent="0" algn="r">
              <a:lnSpc>
                <a:spcPct val="110000"/>
              </a:lnSpc>
              <a:defRPr sz="4800"/>
            </a:lvl1pPr>
          </a:lstStyle>
          <a:p>
            <a:r>
              <a:rPr lang="zh-TW" altLang="en-US"/>
              <a:t>按一下以編輯母片標題樣式</a:t>
            </a:r>
            <a:endParaRPr dirty="0"/>
          </a:p>
        </p:txBody>
      </p:sp>
      <p:sp>
        <p:nvSpPr>
          <p:cNvPr id="4" name="Text Placeholder 10">
            <a:extLst>
              <a:ext uri="{FF2B5EF4-FFF2-40B4-BE49-F238E27FC236}">
                <a16:creationId xmlns:a16="http://schemas.microsoft.com/office/drawing/2014/main" id="{22A2F27B-8DDF-057C-B969-50B4B8C3D2AF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768305" y="2247900"/>
            <a:ext cx="4443413" cy="2400300"/>
          </a:xfrm>
        </p:spPr>
        <p:txBody>
          <a:bodyPr anchor="ctr">
            <a:normAutofit/>
          </a:bodyPr>
          <a:lstStyle>
            <a:lvl1pPr marL="45720" indent="0" algn="l" defTabSz="914400" rtl="0" eaLnBrk="1" latinLnBrk="0" hangingPunct="1">
              <a:lnSpc>
                <a:spcPct val="110000"/>
              </a:lnSpc>
              <a:spcBef>
                <a:spcPts val="1800"/>
              </a:spcBef>
              <a:buClr>
                <a:schemeClr val="tx1">
                  <a:lumMod val="65000"/>
                  <a:lumOff val="35000"/>
                </a:schemeClr>
              </a:buClr>
              <a:buSzPct val="80000"/>
              <a:buFont typeface="Arial" pitchFamily="34" charset="0"/>
              <a:buNone/>
              <a:defRPr lang="en-US" sz="2000" kern="1200" spc="30" dirty="0" smtClean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" indent="0" algn="l" defTabSz="914400" rtl="0" eaLnBrk="1" latinLnBrk="0" hangingPunct="1">
              <a:lnSpc>
                <a:spcPct val="110000"/>
              </a:lnSpc>
              <a:spcBef>
                <a:spcPts val="1800"/>
              </a:spcBef>
              <a:buClr>
                <a:schemeClr val="tx1">
                  <a:lumMod val="65000"/>
                  <a:lumOff val="35000"/>
                </a:schemeClr>
              </a:buClr>
              <a:buSzPct val="80000"/>
              <a:buFont typeface="Arial" pitchFamily="34" charset="0"/>
              <a:buNone/>
              <a:defRPr lang="en-US" sz="2000" kern="1200" spc="30" dirty="0" smtClean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45720" indent="0" algn="l" defTabSz="914400" rtl="0" eaLnBrk="1" latinLnBrk="0" hangingPunct="1">
              <a:lnSpc>
                <a:spcPct val="110000"/>
              </a:lnSpc>
              <a:spcBef>
                <a:spcPts val="1800"/>
              </a:spcBef>
              <a:buClr>
                <a:schemeClr val="tx1">
                  <a:lumMod val="65000"/>
                  <a:lumOff val="35000"/>
                </a:schemeClr>
              </a:buClr>
              <a:buSzPct val="80000"/>
              <a:buFont typeface="Arial" pitchFamily="34" charset="0"/>
              <a:buNone/>
              <a:defRPr lang="en-US" sz="2000" kern="1200" spc="30" dirty="0" smtClean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45720" indent="0" algn="l" defTabSz="914400" rtl="0" eaLnBrk="1" latinLnBrk="0" hangingPunct="1">
              <a:lnSpc>
                <a:spcPct val="110000"/>
              </a:lnSpc>
              <a:spcBef>
                <a:spcPts val="1800"/>
              </a:spcBef>
              <a:buClr>
                <a:schemeClr val="tx1">
                  <a:lumMod val="65000"/>
                  <a:lumOff val="35000"/>
                </a:schemeClr>
              </a:buClr>
              <a:buSzPct val="80000"/>
              <a:buFont typeface="Arial" pitchFamily="34" charset="0"/>
              <a:buNone/>
              <a:defRPr lang="en-US" sz="2000" kern="1200" spc="30" dirty="0" smtClean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45720" indent="0" algn="l" defTabSz="914400" rtl="0" eaLnBrk="1" latinLnBrk="0" hangingPunct="1">
              <a:lnSpc>
                <a:spcPct val="110000"/>
              </a:lnSpc>
              <a:spcBef>
                <a:spcPts val="1800"/>
              </a:spcBef>
              <a:buClr>
                <a:schemeClr val="tx1">
                  <a:lumMod val="65000"/>
                  <a:lumOff val="35000"/>
                </a:schemeClr>
              </a:buClr>
              <a:buSzPct val="80000"/>
              <a:buFont typeface="Arial" pitchFamily="34" charset="0"/>
              <a:buNone/>
              <a:defRPr lang="en-US" sz="2000" kern="1200" spc="3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53367294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 bwMode="gray"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1065212" y="533400"/>
            <a:ext cx="8686801" cy="106680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zh-TW" altLang="en-US"/>
              <a:t>按一下以編輯母片標題樣式</a:t>
            </a:r>
            <a:endParaRPr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65212" y="1828800"/>
            <a:ext cx="8686801" cy="41910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065213" y="6155267"/>
            <a:ext cx="5653087" cy="27304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100"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932612" y="6155267"/>
            <a:ext cx="1371600" cy="27304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100"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532812" y="6155267"/>
            <a:ext cx="1219201" cy="27304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100">
                <a:solidFill>
                  <a:schemeClr val="tx1"/>
                </a:solidFill>
              </a:defRPr>
            </a:lvl1pPr>
          </a:lstStyle>
          <a:p>
            <a:fld id="{AAEAE4A8-A6E5-453E-B946-FB774B73F48C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2767042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8" r:id="rId1"/>
    <p:sldLayoutId id="2147483672" r:id="rId2"/>
    <p:sldLayoutId id="2147483695" r:id="rId3"/>
    <p:sldLayoutId id="2147483685" r:id="rId4"/>
    <p:sldLayoutId id="2147483662" r:id="rId5"/>
    <p:sldLayoutId id="2147483682" r:id="rId6"/>
    <p:sldLayoutId id="2147483696" r:id="rId7"/>
    <p:sldLayoutId id="2147483693" r:id="rId8"/>
    <p:sldLayoutId id="2147483692" r:id="rId9"/>
    <p:sldLayoutId id="2147483676" r:id="rId10"/>
    <p:sldLayoutId id="2147483665" r:id="rId11"/>
    <p:sldLayoutId id="2147483688" r:id="rId12"/>
    <p:sldLayoutId id="2147483686" r:id="rId13"/>
  </p:sldLayoutIdLst>
  <p:hf hdr="0" ftr="0" dt="0"/>
  <p:txStyles>
    <p:titleStyle>
      <a:lvl1pPr algn="l" defTabSz="914400" rtl="0" eaLnBrk="1" latinLnBrk="0" hangingPunct="1">
        <a:lnSpc>
          <a:spcPct val="80000"/>
        </a:lnSpc>
        <a:spcBef>
          <a:spcPct val="0"/>
        </a:spcBef>
        <a:buNone/>
        <a:defRPr sz="3600" b="1" kern="1200">
          <a:solidFill>
            <a:schemeClr val="tx1">
              <a:lumMod val="85000"/>
              <a:lumOff val="15000"/>
            </a:schemeClr>
          </a:solidFill>
          <a:latin typeface="+mj-lt"/>
          <a:ea typeface="+mj-ea"/>
          <a:cs typeface="+mj-cs"/>
        </a:defRPr>
      </a:lvl1pPr>
    </p:titleStyle>
    <p:bodyStyle>
      <a:lvl1pPr marL="274320" indent="-228600" algn="l" defTabSz="914400" rtl="0" eaLnBrk="1" latinLnBrk="0" hangingPunct="1">
        <a:lnSpc>
          <a:spcPct val="90000"/>
        </a:lnSpc>
        <a:spcBef>
          <a:spcPts val="1800"/>
        </a:spcBef>
        <a:buClr>
          <a:schemeClr val="tx1">
            <a:lumMod val="65000"/>
            <a:lumOff val="35000"/>
          </a:schemeClr>
        </a:buClr>
        <a:buSzPct val="80000"/>
        <a:buFont typeface="Arial" pitchFamily="34" charset="0"/>
        <a:buChar char="•"/>
        <a:defRPr sz="20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1pPr>
      <a:lvl2pPr marL="594360" indent="-228600" algn="l" defTabSz="914400" rtl="0" eaLnBrk="1" latinLnBrk="0" hangingPunct="1">
        <a:lnSpc>
          <a:spcPct val="90000"/>
        </a:lnSpc>
        <a:spcBef>
          <a:spcPts val="1000"/>
        </a:spcBef>
        <a:buClr>
          <a:schemeClr val="tx1">
            <a:lumMod val="65000"/>
            <a:lumOff val="35000"/>
          </a:schemeClr>
        </a:buClr>
        <a:buSzPct val="80000"/>
        <a:buFont typeface="Arial" pitchFamily="34" charset="0"/>
        <a:buChar char="•"/>
        <a:defRPr sz="18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2pPr>
      <a:lvl3pPr marL="777240" indent="-182880" algn="l" defTabSz="914400" rtl="0" eaLnBrk="1" latinLnBrk="0" hangingPunct="1">
        <a:lnSpc>
          <a:spcPct val="90000"/>
        </a:lnSpc>
        <a:spcBef>
          <a:spcPts val="600"/>
        </a:spcBef>
        <a:buClr>
          <a:schemeClr val="tx1">
            <a:lumMod val="65000"/>
            <a:lumOff val="35000"/>
          </a:schemeClr>
        </a:buClr>
        <a:buSzPct val="80000"/>
        <a:buFont typeface="Arial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3pPr>
      <a:lvl4pPr marL="960120" indent="-182880" algn="l" defTabSz="914400" rtl="0" eaLnBrk="1" latinLnBrk="0" hangingPunct="1">
        <a:lnSpc>
          <a:spcPct val="90000"/>
        </a:lnSpc>
        <a:spcBef>
          <a:spcPts val="600"/>
        </a:spcBef>
        <a:buClr>
          <a:schemeClr val="tx1">
            <a:lumMod val="65000"/>
            <a:lumOff val="35000"/>
          </a:schemeClr>
        </a:buClr>
        <a:buSzPct val="80000"/>
        <a:buFont typeface="Arial" pitchFamily="34" charset="0"/>
        <a:buChar char="•"/>
        <a:defRPr sz="14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4pPr>
      <a:lvl5pPr marL="1097280" indent="-137160" algn="l" defTabSz="914400" rtl="0" eaLnBrk="1" latinLnBrk="0" hangingPunct="1">
        <a:lnSpc>
          <a:spcPct val="90000"/>
        </a:lnSpc>
        <a:spcBef>
          <a:spcPts val="600"/>
        </a:spcBef>
        <a:buClr>
          <a:schemeClr val="tx1">
            <a:lumMod val="65000"/>
            <a:lumOff val="35000"/>
          </a:schemeClr>
        </a:buClr>
        <a:buSzPct val="80000"/>
        <a:buFont typeface="Arial" pitchFamily="34" charset="0"/>
        <a:buChar char="•"/>
        <a:defRPr sz="14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5pPr>
      <a:lvl6pPr marL="1234440" indent="-137160" algn="l" defTabSz="914400" rtl="0" eaLnBrk="1" latinLnBrk="0" hangingPunct="1">
        <a:spcBef>
          <a:spcPts val="600"/>
        </a:spcBef>
        <a:buSzPct val="80000"/>
        <a:buFont typeface="Arial" pitchFamily="34" charset="0"/>
        <a:buChar char="•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6pPr>
      <a:lvl7pPr marL="1371600" indent="-137160" algn="l" defTabSz="914400" rtl="0" eaLnBrk="1" latinLnBrk="0" hangingPunct="1">
        <a:spcBef>
          <a:spcPts val="600"/>
        </a:spcBef>
        <a:buSzPct val="80000"/>
        <a:buFont typeface="Arial" pitchFamily="34" charset="0"/>
        <a:buChar char="•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7pPr>
      <a:lvl8pPr marL="1508760" indent="-137160" algn="l" defTabSz="914400" rtl="0" eaLnBrk="1" latinLnBrk="0" hangingPunct="1">
        <a:spcBef>
          <a:spcPts val="600"/>
        </a:spcBef>
        <a:buSzPct val="80000"/>
        <a:buFont typeface="Arial" pitchFamily="34" charset="0"/>
        <a:buChar char="•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8pPr>
      <a:lvl9pPr marL="1645920" indent="-137160" algn="l" defTabSz="914400" rtl="0" eaLnBrk="1" latinLnBrk="0" hangingPunct="1">
        <a:spcBef>
          <a:spcPts val="600"/>
        </a:spcBef>
        <a:buSzPct val="80000"/>
        <a:buFont typeface="Arial" pitchFamily="34" charset="0"/>
        <a:buChar char="•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dinchentech/tw-autotrader" TargetMode="External"/><Relationship Id="rId3" Type="http://schemas.openxmlformats.org/officeDocument/2006/relationships/image" Target="../media/image5.png"/><Relationship Id="rId4" Type="http://schemas.openxmlformats.org/officeDocument/2006/relationships/image" Target="../media/image6.jpeg"/><Relationship Id="rId5" Type="http://schemas.openxmlformats.org/officeDocument/2006/relationships/image" Target="../media/image7.png"/><Relationship Id="rId6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7.xml"/><Relationship Id="rId4" Type="http://schemas.openxmlformats.org/officeDocument/2006/relationships/image" Target="../media/image1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hyperlink" Target="https://github.com/dinchentech/tw-autotrader/blob/main/python_basic/3-gcp-setup.md" TargetMode="External"/><Relationship Id="rId3" Type="http://schemas.openxmlformats.org/officeDocument/2006/relationships/hyperlink" Target="https://openrouter.ai/" TargetMode="External"/><Relationship Id="rId4" Type="http://schemas.openxmlformats.org/officeDocument/2006/relationships/hyperlink" Target="https://build.nvidia.com/settings/api-keys" TargetMode="External"/><Relationship Id="rId5" Type="http://schemas.openxmlformats.org/officeDocument/2006/relationships/hyperlink" Target="https://finmindtrade.com/analysis/#/data/api" TargetMode="External"/><Relationship Id="rId6" Type="http://schemas.openxmlformats.org/officeDocument/2006/relationships/hyperlink" Target="https://esuntradingapi.esunsec.com.tw/keys/Home/Index" TargetMode="External"/><Relationship Id="rId7" Type="http://schemas.openxmlformats.org/officeDocument/2006/relationships/hyperlink" Target="https://code.visualstudio.com/" TargetMode="External"/><Relationship Id="rId8" Type="http://schemas.openxmlformats.org/officeDocument/2006/relationships/hyperlink" Target="https://marketplace.visualstudio.com/items?itemName=ms-vscode-remote.remote-wsl" TargetMode="External"/><Relationship Id="rId9" Type="http://schemas.openxmlformats.org/officeDocument/2006/relationships/hyperlink" Target="https://marketplace.visualstudio.com/items?itemName=yzhang.markdown-all-in-one" TargetMode="External"/><Relationship Id="rId10" Type="http://schemas.openxmlformats.org/officeDocument/2006/relationships/hyperlink" Target="https://github.com/dinchentech/tw-autotrader/blob/main/WSL%E6%81%A2%E5%BE%A9.md" TargetMode="External"/><Relationship Id="rId11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diagramData" Target="../diagrams/data1.xml"/><Relationship Id="rId3" Type="http://schemas.openxmlformats.org/officeDocument/2006/relationships/diagramLayout" Target="../diagrams/layout1.xml"/><Relationship Id="rId4" Type="http://schemas.openxmlformats.org/officeDocument/2006/relationships/diagramQuickStyle" Target="../diagrams/quickStyle1.xml"/><Relationship Id="rId5" Type="http://schemas.openxmlformats.org/officeDocument/2006/relationships/diagramColors" Target="../diagrams/colors1.xml"/><Relationship Id="rId6" Type="http://schemas.microsoft.com/office/2007/relationships/diagramDrawing" Target="../diagrams/drawing1.xml"/><Relationship Id="rId7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hyperlink" Target="https://cloud.google.com/free?hl=zh-TW" TargetMode="External"/><Relationship Id="rId3" Type="http://schemas.openxmlformats.org/officeDocument/2006/relationships/hyperlink" Target="https://console.cloud.google.com/" TargetMode="External"/><Relationship Id="rId4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hyperlink" Target="https://www.skills.google/focuses/3563?locale=zh_TW&amp;parent=catalog" TargetMode="External"/><Relationship Id="rId3" Type="http://schemas.openxmlformats.org/officeDocument/2006/relationships/hyperlink" Target="https://clone-info.net/gcp-always-free-vps-setup-guide/" TargetMode="External"/><Relationship Id="rId4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hyperlink" Target="https://console.cloud.google.com/" TargetMode="External"/><Relationship Id="rId3" Type="http://schemas.openxmlformats.org/officeDocument/2006/relationships/hyperlink" Target="https://esuntradingapi.esunsec.com.tw/keys/Home/Index" TargetMode="External"/><Relationship Id="rId4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2">
                <a:lumMod val="110000"/>
                <a:satMod val="105000"/>
                <a:tint val="67000"/>
                <a:alpha val="0"/>
              </a:schemeClr>
            </a:gs>
            <a:gs pos="100000">
              <a:schemeClr val="bg2"/>
            </a:gs>
          </a:gsLst>
          <a:lin ang="54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684212" y="1295400"/>
            <a:ext cx="10287000" cy="3886200"/>
          </a:xfrm>
        </p:spPr>
        <p:txBody>
          <a:bodyPr anchor="b">
            <a:normAutofit/>
          </a:bodyPr>
          <a:lstStyle/>
          <a:p>
            <a:r>
              <a:rPr lang="en-US" altLang="zh-TW" dirty="0"/>
              <a:t>TW-SELFSELECT</a:t>
            </a:r>
            <a:r>
              <a:rPr lang="en-US" dirty="0"/>
              <a:t> </a:t>
            </a:r>
            <a:br>
              <a:rPr lang="en-US" dirty="0"/>
            </a:br>
            <a:r>
              <a:rPr lang="en-US" dirty="0"/>
              <a:t> </a:t>
            </a:r>
            <a:r>
              <a:rPr lang="zh-TW" altLang="en-US" dirty="0"/>
              <a:t>台股買賣自動化系統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type="body" sz="quarter" idx="10"/>
          </p:nvPr>
        </p:nvSpPr>
        <p:spPr>
          <a:xfrm>
            <a:off x="684212" y="5600700"/>
            <a:ext cx="10287000" cy="533400"/>
          </a:xfrm>
        </p:spPr>
        <p:txBody>
          <a:bodyPr>
            <a:normAutofit/>
          </a:bodyPr>
          <a:lstStyle/>
          <a:p>
            <a:r>
              <a:rPr lang="zh-TW" altLang="en-US" dirty="0"/>
              <a:t>使用 Python 與 DSH</a:t>
            </a:r>
            <a:r>
              <a:rPr lang="en-US" altLang="zh-TW" dirty="0"/>
              <a:t/>
            </a:r>
            <a:r>
              <a:rPr lang="zh-TW" altLang="en-US" dirty="0"/>
              <a:t/>
            </a:r>
            <a:r>
              <a:rPr lang="en-US" altLang="zh-TW" dirty="0" err="1"/>
              <a:t/>
            </a:r>
            <a:r>
              <a:rPr lang="en-US" altLang="zh-TW" dirty="0"/>
              <a:t/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5812815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D8B68A17-565E-5F07-D76E-981C2E3273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89012" y="723900"/>
            <a:ext cx="4114800" cy="5295900"/>
          </a:xfrm>
        </p:spPr>
        <p:txBody>
          <a:bodyPr>
            <a:normAutofit/>
          </a:bodyPr>
          <a:lstStyle/>
          <a:p>
            <a:r>
              <a:rPr lang="zh-TW" altLang="en-US" sz="6600" dirty="0"/>
              <a:t>大綱</a:t>
            </a:r>
            <a:endParaRPr lang="en-US" sz="66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2788C46-D0BC-4307-AE55-7601A139E7C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932612" y="723900"/>
            <a:ext cx="4572000" cy="5372100"/>
          </a:xfrm>
        </p:spPr>
        <p:txBody>
          <a:bodyPr vert="horz" lIns="91416" tIns="45708" rIns="91416" bIns="45708" rtlCol="0" anchor="ctr">
            <a:normAutofit/>
          </a:bodyPr>
          <a:lstStyle/>
          <a:p>
            <a:r>
              <a:rPr lang="zh-TW" altLang="en-US" dirty="0"/>
              <a:t>關於我</a:t>
            </a:r>
            <a:endParaRPr lang="en-US" dirty="0"/>
          </a:p>
          <a:p>
            <a:r>
              <a:rPr lang="zh-TW" altLang="en-US" dirty="0"/>
              <a:t>系統簡介</a:t>
            </a:r>
            <a:endParaRPr lang="en-US" dirty="0"/>
          </a:p>
          <a:p>
            <a:r>
              <a:rPr lang="zh-TW" altLang="en-US" dirty="0"/>
              <a:t>關於</a:t>
            </a:r>
            <a:r>
              <a:rPr lang="en-US" altLang="zh-TW" dirty="0"/>
              <a:t>Python</a:t>
            </a:r>
            <a:endParaRPr lang="en-US" dirty="0"/>
          </a:p>
          <a:p>
            <a:r>
              <a:rPr lang="zh-TW" altLang="en-US" dirty="0"/>
              <a:t>關於 DSH</a:t>
            </a:r>
            <a:r>
              <a:rPr lang="en-US" altLang="zh-TW" dirty="0" err="1"/>
              <a:t/>
            </a:r>
            <a:endParaRPr lang="en-US" dirty="0"/>
          </a:p>
          <a:p>
            <a:r>
              <a:rPr lang="zh-TW" altLang="en-US" dirty="0"/>
              <a:t>現有策略介紹</a:t>
            </a:r>
            <a:endParaRPr lang="en-US" altLang="zh-TW" dirty="0"/>
          </a:p>
          <a:p>
            <a:r>
              <a:rPr lang="zh-TW" altLang="en-US" dirty="0"/>
              <a:t>策略的</a:t>
            </a:r>
            <a:r>
              <a:rPr lang="zh-TW" altLang="en-US"/>
              <a:t>回測與建立</a:t>
            </a:r>
            <a:endParaRPr lang="en-US" altLang="zh-TW" dirty="0"/>
          </a:p>
          <a:p>
            <a:r>
              <a:rPr lang="zh-TW" altLang="en-US" dirty="0"/>
              <a:t>實盤執行</a:t>
            </a:r>
            <a:endParaRPr lang="en-US" altLang="zh-TW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2560859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8012" y="685800"/>
            <a:ext cx="6372818" cy="4038600"/>
          </a:xfrm>
        </p:spPr>
        <p:txBody>
          <a:bodyPr anchor="b">
            <a:normAutofit/>
          </a:bodyPr>
          <a:lstStyle/>
          <a:p>
            <a:r>
              <a:rPr lang="zh-TW" altLang="en-US" dirty="0"/>
              <a:t>關於我</a:t>
            </a:r>
            <a:endParaRPr lang="en-US" dirty="0"/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9B989A75-8BF6-6DE9-1AB9-424401DB392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08012" y="4876800"/>
            <a:ext cx="6372817" cy="1104898"/>
          </a:xfrm>
        </p:spPr>
        <p:txBody>
          <a:bodyPr>
            <a:normAutofit lnSpcReduction="10000"/>
          </a:bodyPr>
          <a:lstStyle/>
          <a:p>
            <a:r>
              <a:t>謝宜軒,交通大學資訊工程碩士</a:t>
            </a:r>
            <a:br/>
            <a:r>
              <a:t>三十年資訊軟硬件設計經歷</a:t>
            </a:r>
            <a:br/>
            <a:r>
              <a:t>https://github.com/dinchentech/tw-selfselect</a:t>
            </a:r>
            <a:br/>
            <a:r>
              <a:t>tw-selfselect 台股買賣自動化系統作者（原始碼公開）</a:t>
            </a:r>
            <a:endParaRPr lang="en-US" dirty="0"/>
          </a:p>
        </p:txBody>
      </p:sp>
      <p:pic>
        <p:nvPicPr>
          <p:cNvPr id="45" name="Picture Placeholder 44" descr="Chart on a mobile device">
            <a:extLst>
              <a:ext uri="{FF2B5EF4-FFF2-40B4-BE49-F238E27FC236}">
                <a16:creationId xmlns:a16="http://schemas.microsoft.com/office/drawing/2014/main" id="{9731B764-336F-5EF9-5FCF-4EA90ACB8D9C}"/>
              </a:ext>
            </a:extLst>
          </p:cNvPr>
          <p:cNvPicPr>
            <a:picLocks noGrp="1" noChangeAspect="1"/>
          </p:cNvPicPr>
          <p:nvPr>
            <p:ph type="pic" sz="quarter" idx="15"/>
          </p:nvPr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4" b="24"/>
          <a:stretch/>
        </p:blipFill>
        <p:spPr>
          <a:xfrm>
            <a:off x="7765046" y="883471"/>
            <a:ext cx="2439096" cy="5091059"/>
          </a:xfrm>
        </p:spPr>
      </p:pic>
      <p:pic>
        <p:nvPicPr>
          <p:cNvPr id="5" name="圖片 4">
            <a:extLst>
              <a:ext uri="{FF2B5EF4-FFF2-40B4-BE49-F238E27FC236}">
                <a16:creationId xmlns:a16="http://schemas.microsoft.com/office/drawing/2014/main" id="{07BF7413-BBBC-8E63-4C7D-374798CA1D7D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32012" y="533400"/>
            <a:ext cx="2952946" cy="3182619"/>
          </a:xfrm>
          <a:prstGeom prst="rect">
            <a:avLst/>
          </a:prstGeom>
        </p:spPr>
      </p:pic>
      <p:pic>
        <p:nvPicPr>
          <p:cNvPr id="9" name="圖片 8">
            <a:extLst>
              <a:ext uri="{FF2B5EF4-FFF2-40B4-BE49-F238E27FC236}">
                <a16:creationId xmlns:a16="http://schemas.microsoft.com/office/drawing/2014/main" id="{00EB47F0-3807-D3E0-DD6C-6ADED96CCD4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65045" y="1524000"/>
            <a:ext cx="2439097" cy="41732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0890196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Title 1">
            <a:extLst>
              <a:ext uri="{FF2B5EF4-FFF2-40B4-BE49-F238E27FC236}">
                <a16:creationId xmlns:a16="http://schemas.microsoft.com/office/drawing/2014/main" id="{F5FE211A-0ABC-9C19-2AF8-30635484BD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4212" y="-4076700"/>
            <a:ext cx="10287000" cy="3886200"/>
          </a:xfrm>
        </p:spPr>
        <p:txBody>
          <a:bodyPr/>
          <a:lstStyle/>
          <a:p>
            <a:endParaRPr lang="en-US"/>
          </a:p>
        </p:txBody>
      </p:sp>
      <p:sp>
        <p:nvSpPr>
          <p:cNvPr id="12" name="文字版面配置區 2">
            <a:extLst>
              <a:ext uri="{FF2B5EF4-FFF2-40B4-BE49-F238E27FC236}">
                <a16:creationId xmlns:a16="http://schemas.microsoft.com/office/drawing/2014/main" id="{B7CE2223-955B-67A0-AB78-7EA4B0E35C23}"/>
              </a:ext>
            </a:extLst>
          </p:cNvPr>
          <p:cNvSpPr>
            <a:spLocks noGrp="1"/>
          </p:cNvSpPr>
          <p:nvPr>
            <p:ph type="body" sz="quarter" idx="10"/>
            <p:extLst>
              <p:ext uri="{E7BDC344-281C-4309-B0C6-D0EE65EED2A8}">
                <p202:designPr xmlns:p202="http://schemas.microsoft.com/office/powerpoint/2020/02/main">
                  <p202:designTagLst>
                    <p202:designTag name="ARCH:1:CLS" val="LargePlainText"/>
                  </p202:designTagLst>
                </p202:designPr>
              </p:ext>
            </p:extLst>
          </p:nvPr>
        </p:nvSpPr>
        <p:spPr>
          <a:xfrm>
            <a:off x="684212" y="457200"/>
            <a:ext cx="10896600" cy="5676900"/>
          </a:xfrm>
        </p:spPr>
        <p:txBody>
          <a:bodyPr anchor="t">
            <a:normAutofit fontScale="92500" lnSpcReduction="10000"/>
          </a:bodyPr>
          <a:lstStyle/>
          <a:p>
            <a:pPr indent="0">
              <a:buNone/>
            </a:pPr>
            <a:r>
              <a:rPr lang="zh-TW" altLang="en-US" sz="8000" b="1" dirty="0"/>
              <a:t>目標客群</a:t>
            </a:r>
            <a:r>
              <a:rPr lang="en-US" altLang="zh-TW" sz="8000" b="1" dirty="0"/>
              <a:t>:</a:t>
            </a:r>
          </a:p>
          <a:p>
            <a:pPr marL="1737360" lvl="1" indent="-1143000">
              <a:buFont typeface="+mj-lt"/>
              <a:buAutoNum type="arabicPeriod"/>
            </a:pPr>
            <a:r>
              <a:rPr lang="zh-TW" altLang="en-US" sz="5400" dirty="0"/>
              <a:t>有策略不知如何量化</a:t>
            </a:r>
            <a:endParaRPr lang="en-US" altLang="zh-TW" sz="5400" dirty="0"/>
          </a:p>
          <a:p>
            <a:pPr marL="1737360" lvl="1" indent="-1143000">
              <a:buFont typeface="+mj-lt"/>
              <a:buAutoNum type="arabicPeriod"/>
            </a:pPr>
            <a:r>
              <a:rPr lang="zh-TW" altLang="en-US" sz="5400" dirty="0"/>
              <a:t>想投資台股，沒時間看盤</a:t>
            </a:r>
            <a:endParaRPr lang="en-US" altLang="zh-TW" sz="5400" dirty="0"/>
          </a:p>
          <a:p>
            <a:pPr marL="1737360" lvl="1" indent="-1143000">
              <a:buFont typeface="+mj-lt"/>
              <a:buAutoNum type="arabicPeriod"/>
            </a:pPr>
            <a:r>
              <a:rPr lang="zh-TW" altLang="en-US" sz="5400" dirty="0"/>
              <a:t>覺得</a:t>
            </a:r>
            <a:r>
              <a:rPr lang="en-US" altLang="zh-TW" sz="5400" dirty="0"/>
              <a:t>ETF(0050)</a:t>
            </a:r>
            <a:r>
              <a:rPr lang="zh-TW" altLang="en-US" sz="5400" dirty="0"/>
              <a:t>收入還不行</a:t>
            </a:r>
            <a:endParaRPr lang="en-US" altLang="zh-TW" sz="5400" dirty="0"/>
          </a:p>
          <a:p>
            <a:r>
              <a:rPr lang="zh-TW" altLang="en-US" sz="4800" dirty="0"/>
              <a:t>關鍵字</a:t>
            </a:r>
            <a:r>
              <a:rPr lang="en-US" altLang="zh-TW" sz="4800" dirty="0"/>
              <a:t>:</a:t>
            </a:r>
            <a:r>
              <a:rPr lang="zh-TW" altLang="en-US" sz="4800" dirty="0"/>
              <a:t>  </a:t>
            </a:r>
            <a:r>
              <a:rPr lang="en-US" altLang="zh-TW" sz="4800" dirty="0">
                <a:highlight>
                  <a:srgbClr val="FFFF00"/>
                </a:highlight>
              </a:rPr>
              <a:t>AI</a:t>
            </a:r>
            <a:r>
              <a:rPr lang="en-US" altLang="zh-TW" sz="4800" dirty="0"/>
              <a:t>,</a:t>
            </a:r>
            <a:r>
              <a:rPr lang="zh-TW" altLang="en-US" sz="4800" dirty="0"/>
              <a:t>策略</a:t>
            </a:r>
            <a:r>
              <a:rPr lang="zh-TW" altLang="en-US" sz="4800" dirty="0">
                <a:highlight>
                  <a:srgbClr val="FFFF00"/>
                </a:highlight>
              </a:rPr>
              <a:t>量化</a:t>
            </a:r>
            <a:r>
              <a:rPr lang="en-US" altLang="zh-TW" sz="4800" dirty="0"/>
              <a:t>,</a:t>
            </a:r>
            <a:r>
              <a:rPr lang="zh-TW" altLang="en-US" sz="4800" dirty="0"/>
              <a:t>買賣</a:t>
            </a:r>
            <a:r>
              <a:rPr lang="zh-TW" altLang="en-US" sz="4800" dirty="0">
                <a:highlight>
                  <a:srgbClr val="FFFF00"/>
                </a:highlight>
              </a:rPr>
              <a:t>自動化</a:t>
            </a:r>
            <a:endParaRPr lang="en-US" altLang="zh-TW" sz="4800" dirty="0">
              <a:highlight>
                <a:srgbClr val="FFFF00"/>
              </a:highlight>
            </a:endParaRPr>
          </a:p>
          <a:p>
            <a:r>
              <a:rPr lang="zh-TW" altLang="en-US" sz="4800" dirty="0"/>
              <a:t>前提</a:t>
            </a:r>
            <a:r>
              <a:rPr lang="en-US" altLang="zh-TW" sz="4800" dirty="0"/>
              <a:t>:</a:t>
            </a:r>
            <a:r>
              <a:rPr lang="zh-TW" altLang="en-US" sz="4800" dirty="0"/>
              <a:t> </a:t>
            </a:r>
            <a:r>
              <a:rPr lang="zh-TW" altLang="en-US" sz="4800" b="1" dirty="0"/>
              <a:t>懂</a:t>
            </a:r>
            <a:r>
              <a:rPr lang="zh-TW" altLang="en-US" sz="4800" dirty="0"/>
              <a:t>電腦操作</a:t>
            </a:r>
            <a:r>
              <a:rPr lang="en-US" altLang="zh-TW" sz="4800" dirty="0"/>
              <a:t>,</a:t>
            </a:r>
            <a:r>
              <a:rPr lang="zh-TW" altLang="en-US" sz="4800" b="1" dirty="0"/>
              <a:t>不用懂</a:t>
            </a:r>
            <a:r>
              <a:rPr lang="zh-TW" altLang="en-US" sz="4800" dirty="0"/>
              <a:t>編程</a:t>
            </a:r>
            <a:endParaRPr lang="en-US" altLang="zh-TW" sz="4800" dirty="0"/>
          </a:p>
          <a:p>
            <a:r>
              <a:rPr lang="zh-TW" altLang="en-US" sz="4800" dirty="0"/>
              <a:t>澄清</a:t>
            </a:r>
            <a:r>
              <a:rPr lang="en-US" altLang="zh-TW" sz="4800" dirty="0"/>
              <a:t>:</a:t>
            </a:r>
            <a:r>
              <a:rPr lang="zh-TW" altLang="en-US" sz="4800" dirty="0"/>
              <a:t> 我們教</a:t>
            </a:r>
            <a:r>
              <a:rPr lang="zh-TW" altLang="en-US" sz="4800" b="1" dirty="0"/>
              <a:t>策略量化</a:t>
            </a:r>
            <a:r>
              <a:rPr lang="en-US" altLang="zh-TW" sz="4800" b="1" dirty="0"/>
              <a:t>/</a:t>
            </a:r>
            <a:r>
              <a:rPr lang="zh-TW" altLang="en-US" sz="4800" b="1" dirty="0"/>
              <a:t>自動化</a:t>
            </a:r>
            <a:r>
              <a:rPr lang="en-US" altLang="zh-TW" sz="4800" dirty="0"/>
              <a:t>,</a:t>
            </a:r>
            <a:r>
              <a:rPr lang="zh-TW" altLang="en-US" sz="4800" b="1" dirty="0"/>
              <a:t>非</a:t>
            </a:r>
            <a:r>
              <a:rPr lang="zh-TW" altLang="en-US" sz="4800" dirty="0"/>
              <a:t>股票投資</a:t>
            </a:r>
            <a:r>
              <a:rPr lang="en-US" altLang="zh-TW" sz="4800" dirty="0"/>
              <a:t>!</a:t>
            </a:r>
            <a:endParaRPr lang="zh-TW" altLang="en-US" sz="4800" dirty="0"/>
          </a:p>
        </p:txBody>
      </p:sp>
    </p:spTree>
    <p:extLst>
      <p:ext uri="{BB962C8B-B14F-4D97-AF65-F5344CB8AC3E}">
        <p14:creationId xmlns:p14="http://schemas.microsoft.com/office/powerpoint/2010/main" val="115876188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AA5645-D83C-00B9-42A5-49DE5E58FE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9CEB3A-33FC-A791-B970-2B951495DF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1812" y="495300"/>
            <a:ext cx="4572000" cy="5867400"/>
          </a:xfrm>
        </p:spPr>
        <p:txBody>
          <a:bodyPr anchor="ctr">
            <a:normAutofit/>
          </a:bodyPr>
          <a:lstStyle/>
          <a:p>
            <a:r>
              <a:rPr lang="zh-TW" altLang="en-US" dirty="0"/>
              <a:t>系統簡介</a:t>
            </a:r>
            <a:r>
              <a:rPr lang="en-US" dirty="0"/>
              <a:t>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2F58F5-5804-D293-9422-2FDD2A7787C6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768305" y="304800"/>
            <a:ext cx="4572000" cy="5791199"/>
          </a:xfrm>
        </p:spPr>
        <p:txBody>
          <a:bodyPr vert="horz" lIns="91440" tIns="45720" rIns="91440" bIns="45720" rtlCol="0" anchor="ctr">
            <a:normAutofit fontScale="85000" lnSpcReduction="10000"/>
          </a:bodyPr>
          <a:lstStyle/>
          <a:p>
            <a:pPr marL="388620" indent="-342900">
              <a:buFont typeface="Arial" panose="020B0604020202020204" pitchFamily="34" charset="0"/>
              <a:buChar char="•"/>
            </a:pPr>
            <a:r>
              <a:rPr lang="zh-TW" altLang="en-US" dirty="0"/>
              <a:t>為非資訊背景人員設計</a:t>
            </a:r>
            <a:endParaRPr lang="en-US" altLang="zh-TW" dirty="0"/>
          </a:p>
          <a:p>
            <a:pPr marL="388620" indent="-342900">
              <a:buFont typeface="Arial" panose="020B0604020202020204" pitchFamily="34" charset="0"/>
              <a:buChar char="•"/>
            </a:pPr>
            <a:r>
              <a:rPr lang="zh-TW" altLang="en-US" dirty="0"/>
              <a:t>每個雲主機月費不到百元</a:t>
            </a:r>
            <a:endParaRPr lang="en-US" altLang="zh-TW" dirty="0"/>
          </a:p>
          <a:p>
            <a:pPr marL="388620" indent="-342900">
              <a:buFont typeface="Arial" panose="020B0604020202020204" pitchFamily="34" charset="0"/>
              <a:buChar char="•"/>
            </a:pPr>
            <a:r>
              <a:rPr lang="zh-TW" altLang="en-US" dirty="0"/>
              <a:t>每個雲主機可控制</a:t>
            </a:r>
            <a:r>
              <a:rPr lang="en-US" altLang="zh-TW" dirty="0"/>
              <a:t>15</a:t>
            </a:r>
            <a:r>
              <a:rPr lang="zh-TW" altLang="en-US" dirty="0"/>
              <a:t>個以內個股</a:t>
            </a:r>
            <a:endParaRPr lang="en-US" altLang="zh-TW" dirty="0"/>
          </a:p>
          <a:p>
            <a:pPr marL="388620" indent="-342900">
              <a:buFont typeface="Arial" panose="020B0604020202020204" pitchFamily="34" charset="0"/>
              <a:buChar char="•"/>
            </a:pPr>
            <a:r>
              <a:rPr lang="zh-TW" altLang="en-US" dirty="0"/>
              <a:t>程式自動開關機</a:t>
            </a:r>
            <a:endParaRPr lang="en-US" altLang="zh-TW" dirty="0"/>
          </a:p>
          <a:p>
            <a:pPr marL="388620" indent="-342900">
              <a:buFont typeface="Arial" panose="020B0604020202020204" pitchFamily="34" charset="0"/>
              <a:buChar char="•"/>
            </a:pPr>
            <a:r>
              <a:rPr lang="zh-TW" altLang="en-US" dirty="0"/>
              <a:t>以</a:t>
            </a:r>
            <a:r>
              <a:rPr lang="en-US" altLang="zh-TW" dirty="0"/>
              <a:t>Telegram</a:t>
            </a:r>
            <a:r>
              <a:rPr lang="zh-TW" altLang="en-US" dirty="0"/>
              <a:t>手機簡訊通知買賣</a:t>
            </a:r>
            <a:endParaRPr lang="en-US" altLang="zh-TW" dirty="0"/>
          </a:p>
          <a:p>
            <a:pPr marL="388620" indent="-342900">
              <a:buFont typeface="Arial" panose="020B0604020202020204" pitchFamily="34" charset="0"/>
              <a:buChar char="•"/>
            </a:pPr>
            <a:r>
              <a:rPr lang="zh-TW" altLang="en-US" dirty="0"/>
              <a:t>自行設定買賣個股</a:t>
            </a:r>
            <a:r>
              <a:rPr lang="en-US" altLang="zh-TW" dirty="0"/>
              <a:t>/</a:t>
            </a:r>
            <a:r>
              <a:rPr lang="zh-TW" altLang="en-US" dirty="0"/>
              <a:t>策略</a:t>
            </a:r>
            <a:r>
              <a:rPr lang="en-US" altLang="zh-TW" dirty="0"/>
              <a:t>/</a:t>
            </a:r>
            <a:r>
              <a:rPr lang="zh-TW" altLang="en-US" dirty="0"/>
              <a:t>資金</a:t>
            </a:r>
            <a:endParaRPr lang="en-US" altLang="zh-TW" dirty="0"/>
          </a:p>
          <a:p>
            <a:pPr marL="388620" indent="-342900">
              <a:buFont typeface="Arial" panose="020B0604020202020204" pitchFamily="34" charset="0"/>
              <a:buChar char="•"/>
            </a:pPr>
            <a:r>
              <a:rPr lang="zh-TW" altLang="en-US" dirty="0"/>
              <a:t>不用編程</a:t>
            </a:r>
            <a:r>
              <a:rPr lang="en-US" altLang="zh-TW" dirty="0"/>
              <a:t>,</a:t>
            </a:r>
            <a:r>
              <a:rPr lang="zh-TW" altLang="en-US" dirty="0"/>
              <a:t>但建議能看懂</a:t>
            </a:r>
            <a:r>
              <a:rPr lang="en-US" altLang="zh-TW" dirty="0"/>
              <a:t>Python</a:t>
            </a:r>
          </a:p>
          <a:p>
            <a:pPr marL="388620" indent="-342900">
              <a:buFont typeface="Arial" panose="020B0604020202020204" pitchFamily="34" charset="0"/>
              <a:buChar char="•"/>
            </a:pPr>
            <a:r>
              <a:rPr lang="zh-TW" altLang="en-US" dirty="0"/>
              <a:t>內建</a:t>
            </a:r>
            <a:r>
              <a:rPr lang="en-US" altLang="zh-TW" dirty="0"/>
              <a:t>6</a:t>
            </a:r>
            <a:r>
              <a:rPr lang="zh-TW" altLang="en-US" dirty="0"/>
              <a:t>組策略預留四組使用者定義策略</a:t>
            </a:r>
            <a:endParaRPr lang="en-US" altLang="zh-TW" dirty="0"/>
          </a:p>
          <a:p>
            <a:pPr marL="388620" indent="-342900">
              <a:buFont typeface="Arial" panose="020B0604020202020204" pitchFamily="34" charset="0"/>
              <a:buChar char="•"/>
            </a:pPr>
            <a:r>
              <a:rPr lang="zh-TW" altLang="en-US" dirty="0"/>
              <a:t>能調用</a:t>
            </a:r>
            <a:r>
              <a:rPr lang="en-US" altLang="zh-TW" dirty="0" err="1"/>
              <a:t>Finmind</a:t>
            </a:r>
            <a:r>
              <a:rPr lang="en-US" altLang="zh-TW" dirty="0"/>
              <a:t>, TWSE</a:t>
            </a:r>
            <a:r>
              <a:rPr lang="zh-TW" altLang="en-US" dirty="0"/>
              <a:t>過去股市資料回測</a:t>
            </a:r>
            <a:endParaRPr lang="en-US" altLang="zh-TW" dirty="0"/>
          </a:p>
          <a:p>
            <a:pPr marL="388620" indent="-342900">
              <a:buFont typeface="Arial" panose="020B0604020202020204" pitchFamily="34" charset="0"/>
              <a:buChar char="•"/>
            </a:pPr>
            <a:r>
              <a:rPr lang="zh-TW" altLang="en-US" dirty="0"/>
              <a:t>使用玉山</a:t>
            </a:r>
            <a:r>
              <a:rPr lang="en-US" altLang="zh-TW" dirty="0"/>
              <a:t>API,</a:t>
            </a:r>
            <a:r>
              <a:rPr lang="zh-TW" altLang="en-US" dirty="0"/>
              <a:t>使用者可自行替代其他卷商</a:t>
            </a:r>
            <a:r>
              <a:rPr lang="en-US" altLang="zh-TW" dirty="0"/>
              <a:t>API</a:t>
            </a:r>
          </a:p>
          <a:p>
            <a:pPr marL="388620" indent="-342900">
              <a:buFont typeface="Arial" panose="020B0604020202020204" pitchFamily="34" charset="0"/>
              <a:buChar char="•"/>
            </a:pPr>
            <a:r>
              <a:rPr lang="zh-TW" altLang="en-US" dirty="0"/>
              <a:t>完整</a:t>
            </a:r>
            <a:r>
              <a:rPr lang="en-US" altLang="zh-TW" dirty="0"/>
              <a:t>WSL</a:t>
            </a:r>
            <a:r>
              <a:rPr lang="zh-TW" altLang="en-US" dirty="0"/>
              <a:t>壓縮檔</a:t>
            </a:r>
            <a:r>
              <a:rPr lang="en-US" altLang="zh-TW" dirty="0"/>
              <a:t>,</a:t>
            </a:r>
            <a:r>
              <a:rPr lang="zh-TW" altLang="en-US" dirty="0"/>
              <a:t> 已經安裝好所有</a:t>
            </a:r>
            <a:r>
              <a:rPr lang="en-US" altLang="zh-TW" dirty="0"/>
              <a:t>Python/</a:t>
            </a:r>
            <a:r>
              <a:rPr lang="en-US" altLang="zh-TW" dirty="0" err="1"/>
              <a:t>DSH</a:t>
            </a:r>
            <a:r>
              <a:rPr lang="en-US" altLang="zh-TW" dirty="0"/>
              <a:t>/…</a:t>
            </a:r>
            <a:r>
              <a:rPr lang="zh-TW" altLang="en-US" dirty="0"/>
              <a:t>工具</a:t>
            </a:r>
            <a:endParaRPr lang="en-US" dirty="0"/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0DC734CB-0BA7-8F93-C035-84283CB1872C}"/>
              </a:ext>
            </a:extLst>
          </p:cNvPr>
          <p:cNvSpPr txBox="1"/>
          <p:nvPr/>
        </p:nvSpPr>
        <p:spPr>
          <a:xfrm>
            <a:off x="3047238" y="3302042"/>
            <a:ext cx="6094476" cy="253916"/>
          </a:xfrm>
          <a:prstGeom prst="rect">
            <a:avLst/>
          </a:prstGeom>
          <a:noFill/>
          <a:ln>
            <a:solidFill>
              <a:schemeClr val="bg2"/>
            </a:solidFill>
          </a:ln>
        </p:spPr>
        <p:txBody>
          <a:bodyPr wrap="square">
            <a:spAutoFit/>
          </a:bodyPr>
          <a:lstStyle/>
          <a:p>
            <a:r>
              <a:rPr lang="zh-TW" altLang="zh-TW" sz="1050" b="0" i="0" dirty="0">
                <a:solidFill>
                  <a:srgbClr val="EDEDED"/>
                </a:solidFill>
                <a:effectLst/>
                <a:latin typeface="ui-sans-serif"/>
              </a:rPr>
              <a:t>00632R </a:t>
            </a: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67536062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93812" y="609600"/>
            <a:ext cx="4914900" cy="1447800"/>
          </a:xfrm>
        </p:spPr>
        <p:txBody>
          <a:bodyPr anchor="t">
            <a:normAutofit/>
          </a:bodyPr>
          <a:lstStyle/>
          <a:p>
            <a:r>
              <a:rPr lang="zh-TW" altLang="en-US" dirty="0"/>
              <a:t>系統優點</a:t>
            </a:r>
            <a:endParaRPr lang="en-US" dirty="0"/>
          </a:p>
        </p:txBody>
      </p: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7B95A416-05FC-CE36-FB78-577BDA3753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" y="609600"/>
            <a:ext cx="760412" cy="381000"/>
          </a:xfrm>
        </p:spPr>
        <p:txBody>
          <a:bodyPr/>
          <a:lstStyle/>
          <a:p>
            <a:fld id="{AAEAE4A8-A6E5-453E-B946-FB774B73F48C}" type="slidenum">
              <a:rPr lang="en-US" smtClean="0"/>
              <a:pPr/>
              <a:t>6</a:t>
            </a:fld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11274" y="2286000"/>
            <a:ext cx="6992938" cy="4267200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t>原始碼全部公開在 GitHub（授權見 LICENSE：個人學習／研究使用），可直接 git clone；沒有加密檔，WSL 壓縮檔只是省安裝時間</a:t>
            </a:r>
          </a:p>
          <a:p>
            <a:r>
              <a:t>設定好策略後,自動買賣,不用整天盯盤</a:t>
            </a:r>
          </a:p>
          <a:p>
            <a:r>
              <a:t>利用免費的TWSE及Finmind額度即可回測,不用再花錢買資料庫</a:t>
            </a:r>
          </a:p>
          <a:p>
            <a:r>
              <a:t>五大策略(布林通道/MA Cross/VWAP反轉/唐奇安通道/低接高賣)已含括大部分盤勢, 並預留4個預備策略</a:t>
            </a:r>
          </a:p>
          <a:p>
            <a:r>
              <a:t>建議以 repo 上長期測試過的版本為主，只要修改內建策略參數或加上你自己的策略即可</a:t>
            </a:r>
          </a:p>
        </p:txBody>
      </p:sp>
    </p:spTree>
    <p:extLst>
      <p:ext uri="{BB962C8B-B14F-4D97-AF65-F5344CB8AC3E}">
        <p14:creationId xmlns:p14="http://schemas.microsoft.com/office/powerpoint/2010/main" val="163731064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Title 1">
            <a:extLst>
              <a:ext uri="{FF2B5EF4-FFF2-40B4-BE49-F238E27FC236}">
                <a16:creationId xmlns:a16="http://schemas.microsoft.com/office/drawing/2014/main" id="{D6C5DF0E-0ACB-00E1-94E1-B6FF845210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93812" y="609600"/>
            <a:ext cx="4914900" cy="609600"/>
          </a:xfrm>
        </p:spPr>
        <p:txBody>
          <a:bodyPr/>
          <a:lstStyle/>
          <a:p>
            <a:r>
              <a:rPr lang="zh-TW" altLang="en-US" dirty="0"/>
              <a:t>實際運行展示</a:t>
            </a:r>
            <a:endParaRPr lang="en-US" dirty="0"/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8D428980-9284-8574-976B-0B59626ECB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" y="609600"/>
            <a:ext cx="760412" cy="381000"/>
          </a:xfrm>
        </p:spPr>
        <p:txBody>
          <a:bodyPr anchor="ctr">
            <a:normAutofit/>
          </a:bodyPr>
          <a:lstStyle/>
          <a:p>
            <a:pPr>
              <a:lnSpc>
                <a:spcPct val="90000"/>
              </a:lnSpc>
              <a:spcAft>
                <a:spcPts val="600"/>
              </a:spcAft>
            </a:pPr>
            <a:fld id="{AAEAE4A8-A6E5-453E-B946-FB774B73F48C}" type="slidenum">
              <a:rPr lang="en-US" sz="2000" smtClean="0"/>
              <a:pPr>
                <a:lnSpc>
                  <a:spcPct val="90000"/>
                </a:lnSpc>
                <a:spcAft>
                  <a:spcPts val="600"/>
                </a:spcAft>
              </a:pPr>
              <a:t>7</a:t>
            </a:fld>
            <a:endParaRPr lang="en-US" sz="2000"/>
          </a:p>
        </p:txBody>
      </p:sp>
      <p:pic>
        <p:nvPicPr>
          <p:cNvPr id="19" name="Picture 18" descr="dashboard_real_2026102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6928" y="1298448"/>
            <a:ext cx="6309360" cy="4829947"/>
          </a:xfrm>
          <a:prstGeom prst="rect">
            <a:avLst/>
          </a:prstGeom>
          <a:ln w="9525">
            <a:solidFill>
              <a:srgbClr val="BFC7D1"/>
            </a:solidFill>
          </a:ln>
        </p:spPr>
      </p:pic>
      <p:sp>
        <p:nvSpPr>
          <p:cNvPr id="20" name="Rectangle 19"/>
          <p:cNvSpPr/>
          <p:nvPr/>
        </p:nvSpPr>
        <p:spPr>
          <a:xfrm>
            <a:off x="6903720" y="1298448"/>
            <a:ext cx="5029200" cy="5230368"/>
          </a:xfrm>
          <a:prstGeom prst="rect">
            <a:avLst/>
          </a:prstGeom>
          <a:solidFill>
            <a:srgbClr val="FFFFFF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132320" y="1444752"/>
            <a:ext cx="4572000" cy="5029200"/>
          </a:xfrm>
          <a:prstGeom prst="rect">
            <a:avLst/>
          </a:prstGeom>
          <a:noFill/>
        </p:spPr>
        <p:txBody>
          <a:bodyPr wrap="square" lIns="0" rIns="0" tIns="0">
            <a:spAutoFit/>
          </a:bodyPr>
          <a:lstStyle/>
          <a:p>
            <a:pPr>
              <a:spcBef>
                <a:spcPts val="1600"/>
              </a:spcBef>
              <a:spcAft>
                <a:spcPts val="0"/>
              </a:spcAft>
            </a:pPr>
            <a:r>
              <a:rPr sz="2400" b="1">
                <a:solidFill>
                  <a:srgbClr val="111111"/>
                </a:solidFill>
                <a:latin typeface="Yu Gothic UI"/>
              </a:rPr>
              <a:t>線上儀表板</a:t>
            </a:r>
          </a:p>
          <a:p>
            <a:pPr>
              <a:spcBef>
                <a:spcPts val="600"/>
              </a:spcBef>
              <a:spcAft>
                <a:spcPts val="0"/>
              </a:spcAft>
            </a:pPr>
            <a:r>
              <a:rPr sz="1500" b="0">
                <a:solidFill>
                  <a:srgbClr val="2B2B2B"/>
                </a:solidFill>
                <a:latin typeface="Yu Gothic UI"/>
              </a:rPr>
              <a:t>實機畫面（VM，2026-10-26）</a:t>
            </a:r>
          </a:p>
          <a:p>
            <a:pPr>
              <a:spcBef>
                <a:spcPts val="600"/>
              </a:spcBef>
              <a:spcAft>
                <a:spcPts val="0"/>
              </a:spcAft>
            </a:pPr>
            <a:r>
              <a:rPr sz="1350" b="0">
                <a:solidFill>
                  <a:srgbClr val="2B2B2B"/>
                </a:solidFill>
                <a:latin typeface="Yu Gothic UI"/>
              </a:rPr>
              <a:t>https://dinchentech.github.io/tw-selfselect/</a:t>
            </a:r>
          </a:p>
          <a:p>
            <a:pPr>
              <a:spcBef>
                <a:spcPts val="1600"/>
              </a:spcBef>
              <a:spcAft>
                <a:spcPts val="0"/>
              </a:spcAft>
            </a:pPr>
            <a:r>
              <a:rPr sz="1700" b="1">
                <a:solidFill>
                  <a:srgbClr val="111111"/>
                </a:solidFill>
                <a:latin typeface="Yu Gothic UI"/>
              </a:rPr>
              <a:t>內容：</a:t>
            </a:r>
          </a:p>
          <a:p>
            <a:pPr>
              <a:spcBef>
                <a:spcPts val="600"/>
              </a:spcBef>
              <a:spcAft>
                <a:spcPts val="0"/>
              </a:spcAft>
            </a:pPr>
            <a:r>
              <a:rPr sz="1700" b="0">
                <a:solidFill>
                  <a:srgbClr val="2B2B2B"/>
                </a:solidFill>
                <a:latin typeface="Yu Gothic UI"/>
              </a:rPr>
              <a:t>• KPI 卡片：已實現／未實現損益、報酬率</a:t>
            </a:r>
          </a:p>
          <a:p>
            <a:pPr>
              <a:spcBef>
                <a:spcPts val="600"/>
              </a:spcBef>
              <a:spcAft>
                <a:spcPts val="0"/>
              </a:spcAft>
            </a:pPr>
            <a:r>
              <a:rPr sz="1700" b="0">
                <a:solidFill>
                  <a:srgbClr val="2B2B2B"/>
                </a:solidFill>
                <a:latin typeface="Yu Gothic UI"/>
              </a:rPr>
              <a:t>• 持倉一覽：代號、股數、成本、現價、</a:t>
            </a:r>
          </a:p>
          <a:p>
            <a:pPr>
              <a:spcBef>
                <a:spcPts val="600"/>
              </a:spcBef>
              <a:spcAft>
                <a:spcPts val="0"/>
              </a:spcAft>
            </a:pPr>
            <a:r>
              <a:rPr sz="1700" b="0">
                <a:solidFill>
                  <a:srgbClr val="2B2B2B"/>
                </a:solidFill>
                <a:latin typeface="Yu Gothic UI"/>
              </a:rPr>
              <a:t>　市值、損益，多一欄「策略」</a:t>
            </a:r>
          </a:p>
          <a:p>
            <a:pPr>
              <a:spcBef>
                <a:spcPts val="600"/>
              </a:spcBef>
              <a:spcAft>
                <a:spcPts val="0"/>
              </a:spcAft>
            </a:pPr>
            <a:r>
              <a:rPr sz="1700" b="0">
                <a:solidFill>
                  <a:srgbClr val="2B2B2B"/>
                </a:solidFill>
                <a:latin typeface="Yu Gothic UI"/>
              </a:rPr>
              <a:t>• 資金曲線（Chart.js）與交易明細</a:t>
            </a:r>
          </a:p>
          <a:p>
            <a:pPr>
              <a:spcBef>
                <a:spcPts val="600"/>
              </a:spcBef>
              <a:spcAft>
                <a:spcPts val="0"/>
              </a:spcAft>
            </a:pPr>
            <a:r>
              <a:rPr sz="1700" b="0">
                <a:solidFill>
                  <a:srgbClr val="2B2B2B"/>
                </a:solidFill>
                <a:latin typeface="Yu Gothic UI"/>
              </a:rPr>
              <a:t>• VM 每日 13:45 產生 logs/dashboard.html</a:t>
            </a:r>
          </a:p>
          <a:p>
            <a:pPr>
              <a:spcBef>
                <a:spcPts val="600"/>
              </a:spcBef>
              <a:spcAft>
                <a:spcPts val="0"/>
              </a:spcAft>
            </a:pPr>
            <a:r>
              <a:rPr sz="1400" b="0">
                <a:solidFill>
                  <a:srgbClr val="2B2B2B"/>
                </a:solidFill>
                <a:latin typeface="Yu Gothic UI"/>
              </a:rPr>
              <a:t>（線上示範頁為範例資料；左圖為 VM 實機畫面）</a:t>
            </a:r>
          </a:p>
        </p:txBody>
      </p:sp>
    </p:spTree>
    <p:extLst>
      <p:ext uri="{BB962C8B-B14F-4D97-AF65-F5344CB8AC3E}">
        <p14:creationId xmlns:p14="http://schemas.microsoft.com/office/powerpoint/2010/main" val="199671982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884C66A-2706-6C14-2138-4D11C19235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93811" y="609600"/>
            <a:ext cx="10363201" cy="1447800"/>
          </a:xfrm>
        </p:spPr>
        <p:txBody>
          <a:bodyPr/>
          <a:lstStyle/>
          <a:p>
            <a:r>
              <a:rPr lang="en-US" altLang="zh-TW" dirty="0" err="1"/>
              <a:t>DSH + Finmind</a:t>
            </a:r>
            <a:r>
              <a:rPr lang="zh-TW" altLang="en-US" dirty="0"/>
              <a:t>能做甚麼</a:t>
            </a:r>
            <a:r>
              <a:rPr lang="en-US" altLang="zh-TW" dirty="0"/>
              <a:t>?</a:t>
            </a:r>
            <a:br>
              <a:rPr lang="en-US" altLang="zh-TW" dirty="0"/>
            </a:br>
            <a:r>
              <a:rPr lang="en-US" altLang="zh-TW" dirty="0"/>
              <a:t>=&gt;</a:t>
            </a:r>
            <a:r>
              <a:rPr lang="zh-TW" altLang="en-US" dirty="0"/>
              <a:t>幫我做一個台灣</a:t>
            </a:r>
            <a:r>
              <a:rPr lang="en-US" altLang="zh-TW" dirty="0"/>
              <a:t>2026</a:t>
            </a:r>
            <a:r>
              <a:rPr lang="zh-TW" altLang="en-US" dirty="0"/>
              <a:t>前</a:t>
            </a:r>
            <a:r>
              <a:rPr lang="en-US" altLang="zh-TW" dirty="0"/>
              <a:t>10</a:t>
            </a:r>
            <a:r>
              <a:rPr lang="zh-TW" altLang="en-US" dirty="0"/>
              <a:t>大</a:t>
            </a:r>
            <a:r>
              <a:rPr lang="en-US" altLang="zh-TW" dirty="0"/>
              <a:t>eps</a:t>
            </a:r>
            <a:r>
              <a:rPr lang="zh-TW" altLang="en-US" dirty="0"/>
              <a:t>公司的走勢</a:t>
            </a:r>
            <a:r>
              <a:rPr lang="en-US" altLang="zh-TW" dirty="0"/>
              <a:t>html</a:t>
            </a:r>
            <a:endParaRPr lang="en-US" dirty="0"/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92961E63-6D8B-D6F7-C778-8B05EA4B8F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EAE4A8-A6E5-453E-B946-FB774B73F48C}" type="slidenum">
              <a:rPr lang="en-US" smtClean="0"/>
              <a:pPr/>
              <a:t>8</a:t>
            </a:fld>
            <a:endParaRPr lang="en-US" dirty="0"/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22F3BE32-341D-8E1B-D549-00E4FD022F1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93810" y="1828800"/>
            <a:ext cx="3182938" cy="3962400"/>
          </a:xfrm>
        </p:spPr>
        <p:txBody>
          <a:bodyPr/>
          <a:lstStyle/>
          <a:p>
            <a:r>
              <a:rPr lang="en-US" altLang="zh-TW" dirty="0"/>
              <a:t>Why HTML?</a:t>
            </a:r>
          </a:p>
          <a:p>
            <a:r>
              <a:rPr lang="en-US" altLang="zh-TW" dirty="0"/>
              <a:t>HTML</a:t>
            </a:r>
            <a:r>
              <a:rPr lang="zh-TW" altLang="en-US" dirty="0"/>
              <a:t>能動態顯示</a:t>
            </a:r>
            <a:r>
              <a:rPr lang="en-US" altLang="zh-TW" dirty="0"/>
              <a:t>.enable/disable </a:t>
            </a:r>
            <a:r>
              <a:rPr lang="zh-TW" altLang="en-US" dirty="0"/>
              <a:t>個股</a:t>
            </a:r>
            <a:endParaRPr lang="en-US" altLang="zh-TW" dirty="0"/>
          </a:p>
          <a:p>
            <a:r>
              <a:rPr lang="zh-TW" altLang="en-US" dirty="0"/>
              <a:t>移動鼠標</a:t>
            </a:r>
            <a:r>
              <a:rPr lang="en-US" altLang="zh-TW" dirty="0"/>
              <a:t>,</a:t>
            </a:r>
            <a:r>
              <a:rPr lang="zh-TW" altLang="en-US" dirty="0"/>
              <a:t>顯示該時間點資訊</a:t>
            </a:r>
            <a:endParaRPr lang="en-US" dirty="0"/>
          </a:p>
        </p:txBody>
      </p:sp>
      <p:pic>
        <p:nvPicPr>
          <p:cNvPr id="7" name="內容版面配置區 6">
            <a:extLst>
              <a:ext uri="{FF2B5EF4-FFF2-40B4-BE49-F238E27FC236}">
                <a16:creationId xmlns:a16="http://schemas.microsoft.com/office/drawing/2014/main" id="{92A19A8B-91F3-160C-7961-413EB540DBBB}"/>
              </a:ext>
            </a:extLst>
          </p:cNvPr>
          <p:cNvPicPr>
            <a:picLocks noGrp="1" noChangeAspect="1"/>
          </p:cNvPicPr>
          <p:nvPr>
            <p:ph sz="quarter" idx="15"/>
          </p:nvPr>
        </p:nvPicPr>
        <p:blipFill>
          <a:blip r:embed="rId2"/>
          <a:stretch>
            <a:fillRect/>
          </a:stretch>
        </p:blipFill>
        <p:spPr>
          <a:xfrm>
            <a:off x="4893084" y="1828800"/>
            <a:ext cx="6763929" cy="41412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2282918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532D72-98E2-CEC8-CE3D-3C9DA63EB6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9F478C8-87B1-062F-A37A-F083274A86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7612" y="381000"/>
            <a:ext cx="10591801" cy="1447800"/>
          </a:xfrm>
        </p:spPr>
        <p:txBody>
          <a:bodyPr/>
          <a:lstStyle/>
          <a:p>
            <a:r>
              <a:rPr lang="en-US" altLang="zh-TW" dirty="0" err="1"/>
              <a:t>DSH + Finmind</a:t>
            </a:r>
            <a:r>
              <a:rPr lang="zh-TW" altLang="en-US" dirty="0"/>
              <a:t>能做甚麼</a:t>
            </a:r>
            <a:r>
              <a:rPr lang="en-US" altLang="zh-TW" dirty="0"/>
              <a:t>?</a:t>
            </a:r>
            <a:br>
              <a:rPr lang="en-US" altLang="zh-TW" dirty="0"/>
            </a:br>
            <a:r>
              <a:rPr lang="en-US" altLang="zh-TW" dirty="0"/>
              <a:t>=&gt;</a:t>
            </a:r>
            <a:r>
              <a:rPr lang="zh-TW" altLang="en-US" dirty="0"/>
              <a:t>幫我做一個台灣</a:t>
            </a:r>
            <a:r>
              <a:rPr lang="en-US" altLang="zh-TW" dirty="0"/>
              <a:t>2026</a:t>
            </a:r>
            <a:r>
              <a:rPr lang="zh-TW" altLang="en-US" dirty="0"/>
              <a:t>前</a:t>
            </a:r>
            <a:r>
              <a:rPr lang="en-US" altLang="zh-TW" dirty="0"/>
              <a:t>10</a:t>
            </a:r>
            <a:r>
              <a:rPr lang="zh-TW" altLang="en-US" dirty="0"/>
              <a:t>便宜</a:t>
            </a:r>
            <a:r>
              <a:rPr lang="en-US" altLang="zh-TW" dirty="0"/>
              <a:t>eps&gt;30</a:t>
            </a:r>
            <a:r>
              <a:rPr lang="zh-TW" altLang="en-US" dirty="0"/>
              <a:t>公司的走勢</a:t>
            </a:r>
            <a:r>
              <a:rPr lang="en-US" altLang="zh-TW" dirty="0"/>
              <a:t>html</a:t>
            </a:r>
            <a:endParaRPr lang="en-US" dirty="0"/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1087809A-0A32-02E5-E531-97CDBF6ADD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EAE4A8-A6E5-453E-B946-FB774B73F48C}" type="slidenum">
              <a:rPr lang="en-US" smtClean="0"/>
              <a:pPr/>
              <a:t>9</a:t>
            </a:fld>
            <a:endParaRPr lang="en-US" dirty="0"/>
          </a:p>
        </p:txBody>
      </p:sp>
      <p:pic>
        <p:nvPicPr>
          <p:cNvPr id="11" name="內容版面配置區 10">
            <a:extLst>
              <a:ext uri="{FF2B5EF4-FFF2-40B4-BE49-F238E27FC236}">
                <a16:creationId xmlns:a16="http://schemas.microsoft.com/office/drawing/2014/main" id="{847C296B-A443-4130-FEE2-F1E59542BFDA}"/>
              </a:ext>
            </a:extLst>
          </p:cNvPr>
          <p:cNvPicPr>
            <a:picLocks noGrp="1" noChangeAspect="1"/>
          </p:cNvPicPr>
          <p:nvPr>
            <p:ph sz="quarter" idx="15"/>
          </p:nvPr>
        </p:nvPicPr>
        <p:blipFill>
          <a:blip r:embed="rId2"/>
          <a:stretch>
            <a:fillRect/>
          </a:stretch>
        </p:blipFill>
        <p:spPr>
          <a:xfrm>
            <a:off x="1522412" y="1295400"/>
            <a:ext cx="8382000" cy="54093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8324606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38B23F7-6C1D-49AF-D337-AA3D6DB541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11274" y="266700"/>
            <a:ext cx="10668000" cy="685800"/>
          </a:xfrm>
        </p:spPr>
        <p:txBody>
          <a:bodyPr/>
          <a:lstStyle/>
          <a:p>
            <a:r>
              <a:rPr lang="zh-TW" altLang="en-US" dirty="0"/>
              <a:t>deepseek-flash</a:t>
            </a:r>
            <a:r>
              <a:rPr lang="en-US" altLang="zh-TW" dirty="0"/>
              <a:t/>
            </a:r>
            <a:r>
              <a:rPr lang="en-US" altLang="zh-TW" dirty="0" err="1"/>
              <a:t/>
            </a:r>
            <a:r>
              <a:rPr lang="en-US" altLang="zh-TW" dirty="0"/>
              <a:t/>
            </a:r>
            <a:r>
              <a:rPr lang="zh-TW" altLang="en-US" dirty="0"/>
              <a:t/>
            </a:r>
            <a:r>
              <a:rPr lang="en-US" altLang="zh-TW" dirty="0"/>
              <a:t/>
            </a:r>
            <a:endParaRPr lang="en-US" dirty="0"/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11FFCA50-8ED7-369C-3E04-9D5319B453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EAE4A8-A6E5-453E-B946-FB774B73F48C}" type="slidenum">
              <a:rPr lang="en-US" smtClean="0"/>
              <a:pPr/>
              <a:t>10</a:t>
            </a:fld>
            <a:endParaRPr lang="en-US" dirty="0"/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0822B4C1-805D-353B-49C1-87840576B18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9412" y="914400"/>
            <a:ext cx="6553200" cy="5334000"/>
          </a:xfrm>
        </p:spPr>
        <p:txBody>
          <a:bodyPr>
            <a:normAutofit fontScale="70000" lnSpcReduction="20000"/>
          </a:bodyPr>
          <a:lstStyle/>
          <a:p>
            <a:r>
              <a:rPr lang="en-US" dirty="0" err="1"/>
              <a:t>核心矛盾</a:t>
            </a:r>
            <a:r>
              <a:rPr lang="en-US" dirty="0"/>
              <a:t>： </a:t>
            </a:r>
            <a:r>
              <a:rPr lang="en-US" dirty="0" err="1">
                <a:highlight>
                  <a:srgbClr val="FFFF00"/>
                </a:highlight>
              </a:rPr>
              <a:t>XX是「結構性利多</a:t>
            </a:r>
            <a:r>
              <a:rPr lang="en-US" dirty="0">
                <a:highlight>
                  <a:srgbClr val="FFFF00"/>
                </a:highlight>
              </a:rPr>
              <a:t>」+「</a:t>
            </a:r>
            <a:r>
              <a:rPr lang="en-US" dirty="0" err="1">
                <a:highlight>
                  <a:srgbClr val="FFFF00"/>
                </a:highlight>
              </a:rPr>
              <a:t>循環股標籤</a:t>
            </a:r>
            <a:r>
              <a:rPr lang="en-US" dirty="0" err="1"/>
              <a:t>」的混合體。結構性利多讓它有向上空間，循環股標籤讓波動極大。策略要同時兼顧這兩者</a:t>
            </a:r>
            <a:r>
              <a:rPr lang="en-US" dirty="0"/>
              <a:t>。</a:t>
            </a:r>
          </a:p>
          <a:p>
            <a:r>
              <a:rPr lang="en-US" dirty="0"/>
              <a:t>適合考慮的方向：</a:t>
            </a:r>
          </a:p>
          <a:p>
            <a:r>
              <a:rPr lang="en-US" dirty="0"/>
              <a:t>1. 核心部位 + 移動停利 大部分持倉抱著吃主升段，但設一個動態出場條件——例如跌破 季線（60MA） 或 月線 </a:t>
            </a:r>
            <a:r>
              <a:rPr lang="en-US" dirty="0" err="1"/>
              <a:t>減碼一部分。循環股最大的風險不是看錯方向，而是抱上去又抱下來</a:t>
            </a:r>
            <a:r>
              <a:rPr lang="en-US" dirty="0"/>
              <a:t>。</a:t>
            </a:r>
          </a:p>
          <a:p>
            <a:r>
              <a:rPr lang="en-US" dirty="0"/>
              <a:t>2. </a:t>
            </a:r>
            <a:r>
              <a:rPr lang="en-US" dirty="0" err="1">
                <a:highlight>
                  <a:srgbClr val="FFFF00"/>
                </a:highlight>
              </a:rPr>
              <a:t>盯著毛利率和庫存轉折</a:t>
            </a:r>
            <a:r>
              <a:rPr lang="en-US" dirty="0" err="1"/>
              <a:t>XX</a:t>
            </a:r>
            <a:r>
              <a:rPr lang="en-US" dirty="0"/>
              <a:t> Q1 毛利率 38%，這在 memory </a:t>
            </a:r>
            <a:r>
              <a:rPr lang="en-US" dirty="0" err="1"/>
              <a:t>模組廠是史詩級數字。真正該警覺的信號是：毛利率連續兩季下滑（代表漲價動能減弱）DRAM</a:t>
            </a:r>
            <a:r>
              <a:rPr lang="en-US" dirty="0"/>
              <a:t> </a:t>
            </a:r>
            <a:r>
              <a:rPr lang="en-US" dirty="0" err="1"/>
              <a:t>合約價漲幅收斂到個位數存貨週轉天數從</a:t>
            </a:r>
            <a:r>
              <a:rPr lang="en-US" dirty="0"/>
              <a:t> 183 天繼續攀升但營收沒跟上那時即使股價還在漲，也要開始收了。</a:t>
            </a:r>
          </a:p>
          <a:p>
            <a:r>
              <a:rPr lang="en-US" dirty="0"/>
              <a:t>3. </a:t>
            </a:r>
            <a:r>
              <a:rPr lang="en-US" dirty="0">
                <a:highlight>
                  <a:srgbClr val="FFFF00"/>
                </a:highlight>
              </a:rPr>
              <a:t>分批出場計畫</a:t>
            </a:r>
            <a:r>
              <a:rPr lang="en-US" dirty="0"/>
              <a:t> 循環股的鐵律：不要妄想賣在最高點。 可以先設幾個目標價區間（比如 300、400、500），每過一個關卡出 20~30%，最後留一些看能不能吃到泡沫。這樣即使後面繼續漲也不會心態炸裂。</a:t>
            </a:r>
          </a:p>
          <a:p>
            <a:r>
              <a:rPr lang="en-US" dirty="0"/>
              <a:t>4</a:t>
            </a:r>
            <a:r>
              <a:rPr lang="en-US" dirty="0">
                <a:highlight>
                  <a:srgbClr val="FFFF00"/>
                </a:highlight>
              </a:rPr>
              <a:t>. 不利情境的準備 </a:t>
            </a:r>
            <a:r>
              <a:rPr lang="en-US" dirty="0"/>
              <a:t>目前的風險不是景氣反轉（你說了一兩年內不太可能），而是：</a:t>
            </a:r>
          </a:p>
          <a:p>
            <a:r>
              <a:rPr lang="en-US" dirty="0"/>
              <a:t>漲多修正 — YTD +22% 了，中間一定會有回檔</a:t>
            </a:r>
          </a:p>
          <a:p>
            <a:r>
              <a:rPr lang="en-US" dirty="0"/>
              <a:t>市場突然重新定性 — 如果哪天市場把記憶體股從「循環股」重新評為「成長股」，反而是大利多，但這個過程不會平滑</a:t>
            </a:r>
          </a:p>
          <a:p>
            <a:r>
              <a:rPr lang="en-US" dirty="0"/>
              <a:t>先想清楚你要賺的是哪一段，再決定策略。如果需要，</a:t>
            </a:r>
            <a:r>
              <a:rPr lang="en-US" b="1" dirty="0">
                <a:highlight>
                  <a:srgbClr val="FFFF00"/>
                </a:highlight>
              </a:rPr>
              <a:t>我可以幫你用 TWSE 資料跑一下十銓的技術面支撐壓力區間。</a:t>
            </a:r>
          </a:p>
          <a:p>
            <a:endParaRPr lang="en-US" dirty="0"/>
          </a:p>
        </p:txBody>
      </p:sp>
      <p:sp>
        <p:nvSpPr>
          <p:cNvPr id="5" name="內容版面配置區 4">
            <a:extLst>
              <a:ext uri="{FF2B5EF4-FFF2-40B4-BE49-F238E27FC236}">
                <a16:creationId xmlns:a16="http://schemas.microsoft.com/office/drawing/2014/main" id="{145A4D0F-B435-A4BA-2CE9-312A361C5654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7085012" y="914400"/>
            <a:ext cx="4572001" cy="4953000"/>
          </a:xfrm>
        </p:spPr>
        <p:txBody>
          <a:bodyPr/>
          <a:lstStyle/>
          <a:p>
            <a:r>
              <a:rPr lang="zh-TW" altLang="en-US" dirty="0"/>
              <a:t>我預期</a:t>
            </a:r>
            <a:r>
              <a:rPr lang="en-US" altLang="zh-TW" dirty="0"/>
              <a:t>xx</a:t>
            </a:r>
            <a:r>
              <a:rPr lang="zh-TW" altLang="en-US" dirty="0"/>
              <a:t>股價還會上升</a:t>
            </a:r>
            <a:r>
              <a:rPr lang="en-US" altLang="zh-TW" dirty="0"/>
              <a:t>, </a:t>
            </a:r>
            <a:r>
              <a:rPr lang="zh-TW" altLang="en-US" dirty="0"/>
              <a:t>你認為這要用甚麼策略</a:t>
            </a:r>
            <a:r>
              <a:rPr lang="en-US" altLang="zh-TW" dirty="0"/>
              <a:t>?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2886442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3A5445-2D7C-3FA0-4533-9FFDC0498B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B885A11-CB83-6BB1-7948-91E998EE28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11274" y="266700"/>
            <a:ext cx="10668000" cy="685800"/>
          </a:xfrm>
        </p:spPr>
        <p:txBody>
          <a:bodyPr/>
          <a:lstStyle/>
          <a:p>
            <a:r>
              <a:rPr lang="zh-TW" altLang="en-US" dirty="0"/>
              <a:t>deepseek-flash</a:t>
            </a:r>
            <a:r>
              <a:rPr lang="en-US" altLang="zh-TW" dirty="0"/>
              <a:t/>
            </a:r>
            <a:r>
              <a:rPr lang="en-US" altLang="zh-TW" dirty="0" err="1"/>
              <a:t/>
            </a:r>
            <a:r>
              <a:rPr lang="en-US" altLang="zh-TW" dirty="0"/>
              <a:t/>
            </a:r>
            <a:r>
              <a:rPr lang="zh-TW" altLang="en-US" dirty="0"/>
              <a:t/>
            </a:r>
            <a:r>
              <a:rPr lang="en-US" altLang="zh-TW" dirty="0"/>
              <a:t/>
            </a:r>
            <a:endParaRPr lang="en-US" dirty="0"/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EF0328A6-E297-7838-14B4-9CDDFCA420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EAE4A8-A6E5-453E-B946-FB774B73F48C}" type="slidenum">
              <a:rPr lang="en-US" smtClean="0"/>
              <a:pPr/>
              <a:t>11</a:t>
            </a:fld>
            <a:endParaRPr lang="en-US" dirty="0"/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AFCFE8B7-5A60-6E0F-51BC-71C5EF8E8A5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9412" y="914400"/>
            <a:ext cx="6553200" cy="5334000"/>
          </a:xfrm>
        </p:spPr>
        <p:txBody>
          <a:bodyPr>
            <a:normAutofit fontScale="70000" lnSpcReduction="20000"/>
          </a:bodyPr>
          <a:lstStyle/>
          <a:p>
            <a:r>
              <a:rPr lang="en-US" dirty="0"/>
              <a:t>這個策略簡單明瞭，但我想幫你 check </a:t>
            </a:r>
            <a:r>
              <a:rPr lang="en-US" dirty="0" err="1"/>
              <a:t>一下數字：目前股價</a:t>
            </a:r>
            <a:r>
              <a:rPr lang="en-US" dirty="0"/>
              <a:t> 233，已經在 250 以下了，所以其實現在就已經是買點。</a:t>
            </a:r>
          </a:p>
          <a:p>
            <a:r>
              <a:rPr lang="en-US" dirty="0"/>
              <a:t>問題在於 280 </a:t>
            </a:r>
            <a:r>
              <a:rPr lang="en-US" dirty="0" err="1"/>
              <a:t>就賣：XX</a:t>
            </a:r>
            <a:r>
              <a:rPr lang="en-US" dirty="0"/>
              <a:t> 2026 年光是 Q1 EPS 就 27 元</a:t>
            </a:r>
          </a:p>
          <a:p>
            <a:r>
              <a:rPr lang="en-US" dirty="0"/>
              <a:t>就算後面三季保守估 30 元，全年 EPS 也有 ~57 元 280 賣掉 = 本益比不到 5 倍</a:t>
            </a:r>
          </a:p>
          <a:p>
            <a:r>
              <a:rPr lang="en-US" dirty="0"/>
              <a:t>如果這一波真的是結構性超級景氣，市場稍微重新評價到 810 倍本益比，股價可以到 **450~570 元**。現在 280 就賣，可能會賣在剛開始起漲的位置。</a:t>
            </a:r>
          </a:p>
          <a:p>
            <a:r>
              <a:rPr lang="en-US" dirty="0"/>
              <a:t>比較合理的做法：</a:t>
            </a:r>
          </a:p>
          <a:p>
            <a:r>
              <a:rPr lang="en-US" dirty="0">
                <a:highlight>
                  <a:srgbClr val="FFFF00"/>
                </a:highlight>
              </a:rPr>
              <a:t>250 以下買 → 這沒問題</a:t>
            </a:r>
            <a:r>
              <a:rPr lang="en-US" dirty="0"/>
              <a:t>，現在就可以建立部位</a:t>
            </a:r>
          </a:p>
          <a:p>
            <a:r>
              <a:rPr lang="en-US" dirty="0"/>
              <a:t>但賣的條件可以更動態——不要鎖死 280，而是跟 EPS 的實際成長 掛鉤。例如：</a:t>
            </a:r>
          </a:p>
          <a:p>
            <a:pPr lvl="1"/>
            <a:r>
              <a:rPr lang="en-US" dirty="0">
                <a:highlight>
                  <a:srgbClr val="FFFF00"/>
                </a:highlight>
              </a:rPr>
              <a:t>第一目標 300 出 1/3</a:t>
            </a:r>
          </a:p>
          <a:p>
            <a:pPr lvl="1"/>
            <a:r>
              <a:rPr lang="en-US" dirty="0">
                <a:highlight>
                  <a:srgbClr val="FFFF00"/>
                </a:highlight>
              </a:rPr>
              <a:t>第二目標 400 出 1/3</a:t>
            </a:r>
          </a:p>
          <a:p>
            <a:pPr lvl="1"/>
            <a:r>
              <a:rPr lang="en-US" dirty="0">
                <a:highlight>
                  <a:srgbClr val="FFFF00"/>
                </a:highlight>
              </a:rPr>
              <a:t>留一部分看景氣能走到什麼時候</a:t>
            </a:r>
          </a:p>
          <a:p>
            <a:r>
              <a:rPr lang="en-US" dirty="0"/>
              <a:t>單純鎖 250~280 </a:t>
            </a:r>
            <a:r>
              <a:rPr lang="en-US" dirty="0" err="1"/>
              <a:t>區間，等於是預設</a:t>
            </a:r>
            <a:r>
              <a:rPr lang="en-US" altLang="zh-TW" dirty="0" err="1"/>
              <a:t>XX</a:t>
            </a:r>
            <a:r>
              <a:rPr lang="en-US" dirty="0" err="1"/>
              <a:t>只值</a:t>
            </a:r>
            <a:r>
              <a:rPr lang="en-US" dirty="0"/>
              <a:t> 5 倍本益比——如果結構性利多真的兌現，這個假設可能會讓你把魚頭魚身都錯過。要設一個讓自己不會後悔的出場計畫比較實際。</a:t>
            </a:r>
          </a:p>
          <a:p>
            <a:endParaRPr lang="en-US" dirty="0"/>
          </a:p>
        </p:txBody>
      </p:sp>
      <p:sp>
        <p:nvSpPr>
          <p:cNvPr id="5" name="內容版面配置區 4">
            <a:extLst>
              <a:ext uri="{FF2B5EF4-FFF2-40B4-BE49-F238E27FC236}">
                <a16:creationId xmlns:a16="http://schemas.microsoft.com/office/drawing/2014/main" id="{7BA726EA-468E-7831-EAF6-A28EA0E6ACC0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7085012" y="914400"/>
            <a:ext cx="4572001" cy="4953000"/>
          </a:xfrm>
        </p:spPr>
        <p:txBody>
          <a:bodyPr/>
          <a:lstStyle/>
          <a:p>
            <a:r>
              <a:rPr lang="en-US" dirty="0" err="1"/>
              <a:t>可以keep</a:t>
            </a:r>
            <a:r>
              <a:rPr lang="en-US" dirty="0"/>
              <a:t> </a:t>
            </a:r>
            <a:r>
              <a:rPr lang="en-US" dirty="0">
                <a:highlight>
                  <a:srgbClr val="FFFF00"/>
                </a:highlight>
              </a:rPr>
              <a:t>wait 250以下買,280以上賣</a:t>
            </a:r>
            <a:r>
              <a:rPr lang="en-US" dirty="0"/>
              <a:t>?</a:t>
            </a:r>
          </a:p>
        </p:txBody>
      </p:sp>
      <p:sp>
        <p:nvSpPr>
          <p:cNvPr id="6" name="文字方塊 5">
            <a:extLst>
              <a:ext uri="{FF2B5EF4-FFF2-40B4-BE49-F238E27FC236}">
                <a16:creationId xmlns:a16="http://schemas.microsoft.com/office/drawing/2014/main" id="{01E6E4A6-3D69-529F-5F5A-9CD8C19232B5}"/>
              </a:ext>
            </a:extLst>
          </p:cNvPr>
          <p:cNvSpPr txBox="1"/>
          <p:nvPr/>
        </p:nvSpPr>
        <p:spPr>
          <a:xfrm>
            <a:off x="7237412" y="2385538"/>
            <a:ext cx="4191000" cy="1477328"/>
          </a:xfrm>
          <a:prstGeom prst="rect">
            <a:avLst/>
          </a:prstGeom>
          <a:noFill/>
          <a:ln>
            <a:solidFill>
              <a:schemeClr val="bg2"/>
            </a:solidFill>
          </a:ln>
        </p:spPr>
        <p:txBody>
          <a:bodyPr wrap="square" rtlCol="0" anchor="ctr" anchorCtr="1">
            <a:spAutoFit/>
          </a:bodyPr>
          <a:lstStyle/>
          <a:p>
            <a:r>
              <a:rPr lang="zh-TW" altLang="en-US" b="1" dirty="0">
                <a:solidFill>
                  <a:srgbClr val="FF0000"/>
                </a:solidFill>
              </a:rPr>
              <a:t>請注意這是在</a:t>
            </a:r>
            <a:r>
              <a:rPr lang="en-US" altLang="zh-TW" b="1" dirty="0" err="1">
                <a:solidFill>
                  <a:srgbClr val="FF0000"/>
                </a:solidFill>
              </a:rPr>
              <a:t>DSH</a:t>
            </a:r>
            <a:r>
              <a:rPr lang="zh-TW" altLang="en-US" b="1" dirty="0">
                <a:solidFill>
                  <a:srgbClr val="FF0000"/>
                </a:solidFill>
              </a:rPr>
              <a:t>中的</a:t>
            </a:r>
            <a:r>
              <a:rPr lang="en-US" altLang="zh-TW" b="1" dirty="0">
                <a:solidFill>
                  <a:srgbClr val="FF0000"/>
                </a:solidFill>
              </a:rPr>
              <a:t>AI</a:t>
            </a:r>
            <a:r>
              <a:rPr lang="zh-TW" altLang="en-US" b="1" dirty="0">
                <a:solidFill>
                  <a:srgbClr val="FF0000"/>
                </a:solidFill>
              </a:rPr>
              <a:t>問答</a:t>
            </a:r>
            <a:r>
              <a:rPr lang="en-US" altLang="zh-TW" b="1" dirty="0">
                <a:solidFill>
                  <a:srgbClr val="FF0000"/>
                </a:solidFill>
              </a:rPr>
              <a:t>,</a:t>
            </a:r>
            <a:r>
              <a:rPr lang="zh-TW" altLang="en-US" b="1" dirty="0">
                <a:solidFill>
                  <a:srgbClr val="FF0000"/>
                </a:solidFill>
              </a:rPr>
              <a:t>不是一般對話型</a:t>
            </a:r>
            <a:r>
              <a:rPr lang="en-US" altLang="zh-TW" b="1" dirty="0">
                <a:solidFill>
                  <a:srgbClr val="FF0000"/>
                </a:solidFill>
              </a:rPr>
              <a:t>AI</a:t>
            </a:r>
            <a:r>
              <a:rPr lang="zh-TW" altLang="en-US" b="1" dirty="0">
                <a:solidFill>
                  <a:srgbClr val="FF0000"/>
                </a:solidFill>
              </a:rPr>
              <a:t>的回答</a:t>
            </a:r>
            <a:r>
              <a:rPr lang="en-US" altLang="zh-TW" b="1" dirty="0">
                <a:solidFill>
                  <a:srgbClr val="FF0000"/>
                </a:solidFill>
              </a:rPr>
              <a:t>,</a:t>
            </a:r>
            <a:r>
              <a:rPr lang="zh-TW" altLang="en-US" b="1" dirty="0">
                <a:solidFill>
                  <a:srgbClr val="FF0000"/>
                </a:solidFill>
              </a:rPr>
              <a:t> </a:t>
            </a:r>
            <a:r>
              <a:rPr lang="en-US" altLang="zh-TW" b="1" dirty="0" err="1">
                <a:solidFill>
                  <a:srgbClr val="FF0000"/>
                </a:solidFill>
              </a:rPr>
              <a:t>DSH</a:t>
            </a:r>
            <a:r>
              <a:rPr lang="zh-TW" altLang="en-US" b="1" dirty="0">
                <a:solidFill>
                  <a:srgbClr val="FF0000"/>
                </a:solidFill>
              </a:rPr>
              <a:t>會先掃描專案內的所有檔案才有辦法針對本專案來回答</a:t>
            </a:r>
            <a:r>
              <a:rPr lang="en-US" altLang="zh-TW" b="1" dirty="0">
                <a:solidFill>
                  <a:srgbClr val="FF0000"/>
                </a:solidFill>
              </a:rPr>
              <a:t>.</a:t>
            </a:r>
          </a:p>
          <a:p>
            <a:r>
              <a:rPr lang="en-US" altLang="zh-TW" b="1" dirty="0">
                <a:solidFill>
                  <a:srgbClr val="FF0000"/>
                </a:solidFill>
              </a:rPr>
              <a:t>AI</a:t>
            </a:r>
            <a:r>
              <a:rPr lang="zh-TW" altLang="en-US" b="1" dirty="0">
                <a:solidFill>
                  <a:srgbClr val="FF0000"/>
                </a:solidFill>
              </a:rPr>
              <a:t>說的不全對</a:t>
            </a:r>
            <a:r>
              <a:rPr lang="en-US" altLang="zh-TW" b="1" dirty="0">
                <a:solidFill>
                  <a:srgbClr val="FF0000"/>
                </a:solidFill>
              </a:rPr>
              <a:t>,</a:t>
            </a:r>
            <a:r>
              <a:rPr lang="zh-TW" altLang="en-US" b="1" dirty="0">
                <a:solidFill>
                  <a:srgbClr val="FF0000"/>
                </a:solidFill>
              </a:rPr>
              <a:t>但是很有參考價值</a:t>
            </a:r>
            <a:r>
              <a:rPr lang="en-US" altLang="zh-TW" b="1" dirty="0">
                <a:solidFill>
                  <a:srgbClr val="FF0000"/>
                </a:solidFill>
              </a:rPr>
              <a:t>!</a:t>
            </a:r>
            <a:endParaRPr lang="en-US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3232634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E4467E24-ACF7-FF7F-3725-B515FFE853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20164" y="342900"/>
            <a:ext cx="8431848" cy="533400"/>
          </a:xfrm>
        </p:spPr>
        <p:txBody>
          <a:bodyPr anchor="t">
            <a:normAutofit/>
          </a:bodyPr>
          <a:lstStyle/>
          <a:p>
            <a:r>
              <a:rPr lang="zh-TW" altLang="en-US" dirty="0"/>
              <a:t>需要先申請的帳號</a:t>
            </a:r>
            <a:r>
              <a:rPr lang="en-US" altLang="zh-TW" dirty="0"/>
              <a:t>/</a:t>
            </a:r>
            <a:r>
              <a:rPr lang="zh-TW" altLang="en-US" dirty="0"/>
              <a:t>安裝軟件</a:t>
            </a:r>
            <a:r>
              <a:rPr lang="en-US" altLang="zh-TW" dirty="0"/>
              <a:t>(PPT</a:t>
            </a:r>
            <a:r>
              <a:rPr lang="zh-TW" altLang="en-US" dirty="0"/>
              <a:t>檔中有連接</a:t>
            </a:r>
            <a:r>
              <a:rPr lang="en-US" altLang="zh-TW" dirty="0"/>
              <a:t>)</a:t>
            </a:r>
            <a:endParaRPr lang="en-US" dirty="0"/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87D63ECD-E295-7072-F51D-3DBD85579E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" y="609600"/>
            <a:ext cx="760412" cy="381000"/>
          </a:xfrm>
        </p:spPr>
        <p:txBody>
          <a:bodyPr anchor="ctr">
            <a:normAutofit/>
          </a:bodyPr>
          <a:lstStyle/>
          <a:p>
            <a:pPr>
              <a:lnSpc>
                <a:spcPct val="90000"/>
              </a:lnSpc>
              <a:spcAft>
                <a:spcPts val="600"/>
              </a:spcAft>
            </a:pPr>
            <a:fld id="{AAEAE4A8-A6E5-453E-B946-FB774B73F48C}" type="slidenum">
              <a:rPr lang="en-US" sz="2000" smtClean="0"/>
              <a:pPr>
                <a:lnSpc>
                  <a:spcPct val="90000"/>
                </a:lnSpc>
                <a:spcAft>
                  <a:spcPts val="600"/>
                </a:spcAft>
              </a:pPr>
              <a:t>12</a:t>
            </a:fld>
            <a:endParaRPr lang="en-US" sz="2000"/>
          </a:p>
        </p:txBody>
      </p:sp>
      <p:graphicFrame>
        <p:nvGraphicFramePr>
          <p:cNvPr id="7" name="內容版面配置區 6">
            <a:extLst>
              <a:ext uri="{FF2B5EF4-FFF2-40B4-BE49-F238E27FC236}">
                <a16:creationId xmlns:a16="http://schemas.microsoft.com/office/drawing/2014/main" id="{160DD418-8697-0184-7A17-329D20E7E568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11079218"/>
              </p:ext>
              <p:ext uri="{E7BDC344-281C-4309-B0C6-D0EE65EED2A8}">
                <p202:designPr xmlns:p202="http://schemas.microsoft.com/office/powerpoint/2020/02/main">
                  <p202:designTagLst>
                    <p202:designTag name="ARCH:1:CLS" val="StackedSequentialRowTable"/>
                  </p202:designTagLst>
                </p202:designPr>
              </p:ext>
            </p:extLst>
          </p:nvPr>
        </p:nvGraphicFramePr>
        <p:xfrm>
          <a:off x="1446212" y="800100"/>
          <a:ext cx="9677400" cy="5867400"/>
        </p:xfrm>
        <a:graphic>
          <a:graphicData uri="http://schemas.openxmlformats.org/drawingml/2006/table">
            <a:tbl>
              <a:tblPr bandRow="1">
                <a:tableStyleId>{BC89EF96-8CEA-46FF-86C4-4CE0E7609802}</a:tableStyleId>
              </a:tblPr>
              <a:tblGrid>
                <a:gridCol w="2119323">
                  <a:extLst>
                    <a:ext uri="{9D8B030D-6E8A-4147-A177-3AD203B41FA5}">
                      <a16:colId xmlns:a16="http://schemas.microsoft.com/office/drawing/2014/main" val="1443436253"/>
                    </a:ext>
                  </a:extLst>
                </a:gridCol>
                <a:gridCol w="7558077">
                  <a:extLst>
                    <a:ext uri="{9D8B030D-6E8A-4147-A177-3AD203B41FA5}">
                      <a16:colId xmlns:a16="http://schemas.microsoft.com/office/drawing/2014/main" val="2659316039"/>
                    </a:ext>
                  </a:extLst>
                </a:gridCol>
              </a:tblGrid>
              <a:tr h="103936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3300"/>
                        <a:t>01</a:t>
                      </a:r>
                    </a:p>
                  </a:txBody>
                  <a:tcPr marL="167640" marR="167640" marT="83820" marB="838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3300" dirty="0"/>
                        <a:t>Google </a:t>
                      </a:r>
                      <a:r>
                        <a:rPr lang="zh-TW" altLang="en-US" sz="3300" dirty="0"/>
                        <a:t>帳號並綁上</a:t>
                      </a:r>
                      <a:r>
                        <a:rPr lang="en-US" altLang="zh-TW" sz="3300" dirty="0"/>
                        <a:t>google pay</a:t>
                      </a:r>
                      <a:r>
                        <a:rPr lang="zh-TW" altLang="en-US" sz="3300" dirty="0"/>
                        <a:t>來</a:t>
                      </a:r>
                      <a:r>
                        <a:rPr lang="zh-TW" altLang="en-US" sz="3300" dirty="0">
                          <a:hlinkClick r:id="rId2"/>
                        </a:rPr>
                        <a:t>申請雲端主機</a:t>
                      </a:r>
                      <a:endParaRPr lang="en-US" sz="3300" dirty="0"/>
                    </a:p>
                  </a:txBody>
                  <a:tcPr marL="167640" marR="167640" marT="83820" marB="838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02678377"/>
                  </a:ext>
                </a:extLst>
              </a:tr>
              <a:tr h="103936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3300"/>
                        <a:t>02</a:t>
                      </a:r>
                    </a:p>
                  </a:txBody>
                  <a:tcPr marL="167640" marR="167640" marT="83820" marB="838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3300" dirty="0" err="1">
                          <a:hlinkClick r:id="rId3"/>
                        </a:rPr>
                        <a:t>（本課程統一用 DeepSeek 官方模型，避免金鑰與計費混亂）</a:t>
                      </a:r>
                      <a:r>
                        <a:rPr lang="zh-TW" altLang="en-US" sz="3300" dirty="0"/>
                        <a:t/>
                      </a:r>
                      <a:r>
                        <a:rPr lang="en-US" altLang="zh-TW" sz="3300" dirty="0"/>
                        <a:t/>
                      </a:r>
                      <a:r>
                        <a:rPr lang="zh-TW" altLang="en-US" sz="3300" dirty="0"/>
                        <a:t/>
                      </a:r>
                      <a:r>
                        <a:rPr lang="en-US" altLang="zh-TW" sz="3300" dirty="0"/>
                        <a:t/>
                      </a:r>
                      <a:r>
                        <a:rPr lang="zh-TW" altLang="en-US" sz="3300" dirty="0"/>
                        <a:t/>
                      </a:r>
                      <a:r>
                        <a:rPr lang="en-US" altLang="zh-TW" sz="3300" dirty="0"/>
                        <a:t/>
                      </a:r>
                      <a:r>
                        <a:rPr lang="zh-TW" altLang="en-US" sz="3300" dirty="0"/>
                        <a:t/>
                      </a:r>
                      <a:r>
                        <a:rPr lang="en-US" altLang="zh-TW" sz="3300" dirty="0"/>
                        <a:t/>
                      </a:r>
                      <a:r>
                        <a:rPr lang="zh-TW" altLang="en-US" sz="3300" dirty="0"/>
                        <a:t/>
                      </a:r>
                      <a:r>
                        <a:rPr lang="en-US" altLang="zh-TW" sz="3300" dirty="0"/>
                        <a:t/>
                      </a:r>
                      <a:r>
                        <a:rPr lang="zh-TW" altLang="en-US" sz="3300" dirty="0"/>
                        <a:t/>
                      </a:r>
                      <a:r>
                        <a:rPr lang="en-US" altLang="zh-TW" sz="3300" dirty="0">
                          <a:hlinkClick r:id="rId4"/>
                        </a:rPr>
                        <a:t/>
                      </a:r>
                      <a:r>
                        <a:rPr lang="zh-TW" altLang="en-US" sz="3300" dirty="0"/>
                        <a:t/>
                      </a:r>
                      <a:endParaRPr lang="en-US" sz="3300" dirty="0"/>
                    </a:p>
                  </a:txBody>
                  <a:tcPr marL="167640" marR="167640" marT="83820" marB="838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17871689"/>
                  </a:ext>
                </a:extLst>
              </a:tr>
              <a:tr h="103936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3300" dirty="0"/>
                        <a:t>03</a:t>
                      </a:r>
                    </a:p>
                  </a:txBody>
                  <a:tcPr marL="167640" marR="167640" marT="83820" marB="838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3300" dirty="0"/>
                        <a:t>申請</a:t>
                      </a:r>
                      <a:r>
                        <a:rPr lang="en-US" altLang="zh-TW" sz="3300" dirty="0" err="1">
                          <a:hlinkClick r:id="rId5"/>
                        </a:rPr>
                        <a:t>Finmind</a:t>
                      </a:r>
                      <a:r>
                        <a:rPr lang="zh-TW" altLang="en-US" sz="3300" dirty="0"/>
                        <a:t>的帳號及</a:t>
                      </a:r>
                      <a:r>
                        <a:rPr lang="en-US" altLang="zh-TW" sz="3300" dirty="0"/>
                        <a:t>API Key(</a:t>
                      </a:r>
                      <a:r>
                        <a:rPr lang="zh-TW" altLang="en-US" sz="3300" dirty="0"/>
                        <a:t>回測資料</a:t>
                      </a:r>
                      <a:r>
                        <a:rPr lang="en-US" altLang="zh-TW" sz="3300" dirty="0"/>
                        <a:t>,</a:t>
                      </a:r>
                      <a:r>
                        <a:rPr lang="zh-TW" altLang="en-US" sz="3300" dirty="0"/>
                        <a:t>免費有一小時</a:t>
                      </a:r>
                      <a:r>
                        <a:rPr lang="en-US" altLang="zh-TW" sz="3300" dirty="0"/>
                        <a:t>600</a:t>
                      </a:r>
                      <a:r>
                        <a:rPr lang="zh-TW" altLang="en-US" sz="3300" dirty="0"/>
                        <a:t>次限制</a:t>
                      </a:r>
                      <a:r>
                        <a:rPr lang="en-US" altLang="zh-TW" sz="3300" dirty="0"/>
                        <a:t>)</a:t>
                      </a:r>
                      <a:endParaRPr lang="en-US" sz="3300" dirty="0"/>
                    </a:p>
                  </a:txBody>
                  <a:tcPr marL="167640" marR="167640" marT="83820" marB="838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16033343"/>
                  </a:ext>
                </a:extLst>
              </a:tr>
              <a:tr h="103936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3300" dirty="0"/>
                        <a:t>04</a:t>
                      </a:r>
                    </a:p>
                  </a:txBody>
                  <a:tcPr marL="167640" marR="167640" marT="83820" marB="838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TW" altLang="en-US" sz="3300" dirty="0"/>
                        <a:t>申請玉山</a:t>
                      </a:r>
                      <a:r>
                        <a:rPr lang="en-US" altLang="zh-TW" sz="3300" dirty="0">
                          <a:hlinkClick r:id="rId6"/>
                        </a:rPr>
                        <a:t>API</a:t>
                      </a:r>
                      <a:r>
                        <a:rPr lang="zh-TW" altLang="en-US" sz="3300" dirty="0">
                          <a:hlinkClick r:id="rId6"/>
                        </a:rPr>
                        <a:t>取得</a:t>
                      </a:r>
                      <a:r>
                        <a:rPr lang="en-US" altLang="zh-TW" sz="3300" dirty="0"/>
                        <a:t>(</a:t>
                      </a:r>
                      <a:r>
                        <a:rPr lang="zh-TW" altLang="en-US" sz="3300" dirty="0"/>
                        <a:t>需先開證卷戶</a:t>
                      </a:r>
                      <a:r>
                        <a:rPr lang="en-US" altLang="zh-TW" sz="3300" dirty="0"/>
                        <a:t>)</a:t>
                      </a:r>
                      <a:r>
                        <a:rPr lang="en-US" altLang="zh-TW" sz="3300" dirty="0" err="1"/>
                        <a:t>ini</a:t>
                      </a:r>
                      <a:r>
                        <a:rPr lang="en-US" altLang="zh-TW" sz="3300" dirty="0"/>
                        <a:t> example</a:t>
                      </a:r>
                      <a:r>
                        <a:rPr lang="zh-TW" altLang="en-US" sz="3300" dirty="0"/>
                        <a:t>與</a:t>
                      </a:r>
                      <a:r>
                        <a:rPr lang="en-US" altLang="zh-TW" sz="3300" dirty="0"/>
                        <a:t>p12</a:t>
                      </a:r>
                      <a:r>
                        <a:rPr lang="zh-TW" altLang="en-US" sz="3300" dirty="0"/>
                        <a:t>檔</a:t>
                      </a:r>
                      <a:endParaRPr lang="en-US" sz="3300" dirty="0"/>
                    </a:p>
                  </a:txBody>
                  <a:tcPr marL="167640" marR="167640" marT="83820" marB="838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33203648"/>
                  </a:ext>
                </a:extLst>
              </a:tr>
              <a:tr h="103936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3300" dirty="0"/>
                        <a:t>05</a:t>
                      </a:r>
                    </a:p>
                    <a:p>
                      <a:pPr>
                        <a:buNone/>
                      </a:pPr>
                      <a:endParaRPr lang="en-US" sz="3300" dirty="0"/>
                    </a:p>
                  </a:txBody>
                  <a:tcPr marL="167640" marR="167640" marT="83820" marB="838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600" dirty="0"/>
                        <a:t>PC:</a:t>
                      </a:r>
                      <a:r>
                        <a:rPr lang="zh-TW" altLang="en-US" sz="1600" dirty="0"/>
                        <a:t>安裝</a:t>
                      </a:r>
                      <a:r>
                        <a:rPr lang="en-US" altLang="zh-TW" sz="1600" dirty="0" err="1">
                          <a:hlinkClick r:id="rId7"/>
                        </a:rPr>
                        <a:t>Vscode</a:t>
                      </a:r>
                      <a:r>
                        <a:rPr lang="en-US" altLang="zh-TW" sz="1600" dirty="0"/>
                        <a:t>(</a:t>
                      </a:r>
                      <a:r>
                        <a:rPr lang="en-US" altLang="zh-TW" sz="1600" dirty="0" err="1">
                          <a:hlinkClick r:id="rId8"/>
                        </a:rPr>
                        <a:t>wsl</a:t>
                      </a:r>
                      <a:r>
                        <a:rPr lang="zh-TW" altLang="en-US" sz="1600" dirty="0"/>
                        <a:t>及</a:t>
                      </a:r>
                      <a:r>
                        <a:rPr lang="en-US" altLang="zh-TW" sz="1600" dirty="0">
                          <a:hlinkClick r:id="rId9"/>
                        </a:rPr>
                        <a:t>markdown all in one</a:t>
                      </a:r>
                      <a:r>
                        <a:rPr lang="zh-TW" altLang="en-US" sz="1600" dirty="0"/>
                        <a:t>插件</a:t>
                      </a:r>
                      <a:r>
                        <a:rPr lang="en-US" altLang="zh-TW" sz="1600" dirty="0"/>
                        <a:t>),</a:t>
                      </a:r>
                      <a:r>
                        <a:rPr lang="en-US" altLang="zh-TW" sz="1600" dirty="0" err="1"/>
                        <a:t>wsl</a:t>
                      </a:r>
                      <a:r>
                        <a:rPr lang="en-US" altLang="zh-TW" sz="1600" dirty="0"/>
                        <a:t>(CMD</a:t>
                      </a:r>
                      <a:r>
                        <a:rPr lang="zh-TW" altLang="en-US" sz="1600" dirty="0"/>
                        <a:t>下</a:t>
                      </a:r>
                      <a:r>
                        <a:rPr lang="en-US" sz="1600" dirty="0" err="1"/>
                        <a:t>wsl</a:t>
                      </a:r>
                      <a:r>
                        <a:rPr lang="en-US" sz="1600" dirty="0"/>
                        <a:t> –install)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600" dirty="0"/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TW" altLang="en-US" sz="1600" dirty="0"/>
                        <a:t>手機</a:t>
                      </a:r>
                      <a:r>
                        <a:rPr lang="en-US" altLang="zh-TW" sz="1600" dirty="0"/>
                        <a:t>:</a:t>
                      </a:r>
                      <a:r>
                        <a:rPr lang="zh-TW" altLang="en-US" sz="1600" dirty="0"/>
                        <a:t> 安裝</a:t>
                      </a:r>
                      <a:r>
                        <a:rPr lang="en-US" sz="16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Telegram</a:t>
                      </a:r>
                      <a:r>
                        <a:rPr lang="zh-TW" altLang="en-US" sz="16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並申請</a:t>
                      </a:r>
                      <a:r>
                        <a:rPr lang="en-US" sz="16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 Bot Token</a:t>
                      </a:r>
                      <a:r>
                        <a:rPr lang="en-US" altLang="zh-TW" sz="16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(Git</a:t>
                      </a:r>
                      <a:r>
                        <a:rPr lang="zh-TW" altLang="en-US" sz="16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上</a:t>
                      </a:r>
                      <a:r>
                        <a:rPr lang="en-US" altLang="zh-TW" sz="16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hlinkClick r:id="rId10"/>
                        </a:rPr>
                        <a:t>WSL</a:t>
                      </a:r>
                      <a:r>
                        <a:rPr lang="zh-TW" altLang="en-US" sz="16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hlinkClick r:id="rId10"/>
                        </a:rPr>
                        <a:t>恢復</a:t>
                      </a:r>
                      <a:r>
                        <a:rPr lang="en-US" altLang="zh-TW" sz="16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hlinkClick r:id="rId10"/>
                        </a:rPr>
                        <a:t>.MD</a:t>
                      </a:r>
                      <a:r>
                        <a:rPr lang="en-US" altLang="zh-TW" sz="16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)</a:t>
                      </a:r>
                      <a:endParaRPr lang="en-US" sz="1600" dirty="0"/>
                    </a:p>
                  </a:txBody>
                  <a:tcPr marL="167640" marR="167640" marT="83820" marB="838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5187195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80905868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B24F3B5-0207-9973-6118-60A7FDD69F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93812" y="609600"/>
            <a:ext cx="4914900" cy="1447800"/>
          </a:xfrm>
        </p:spPr>
        <p:txBody>
          <a:bodyPr anchor="t">
            <a:normAutofit/>
          </a:bodyPr>
          <a:lstStyle/>
          <a:p>
            <a:r>
              <a:rPr lang="en-US" altLang="zh-TW" sz="6600" dirty="0" err="1"/>
              <a:t>Github</a:t>
            </a:r>
            <a:endParaRPr lang="zh-TW" altLang="en-US" sz="6600" dirty="0"/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131FC2F7-4A65-612A-6B7C-760602BA96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" y="609600"/>
            <a:ext cx="760412" cy="381000"/>
          </a:xfrm>
        </p:spPr>
        <p:txBody>
          <a:bodyPr anchor="ctr">
            <a:normAutofit/>
          </a:bodyPr>
          <a:lstStyle/>
          <a:p>
            <a:pPr>
              <a:lnSpc>
                <a:spcPct val="90000"/>
              </a:lnSpc>
              <a:spcAft>
                <a:spcPts val="600"/>
              </a:spcAft>
            </a:pPr>
            <a:fld id="{AAEAE4A8-A6E5-453E-B946-FB774B73F48C}" type="slidenum">
              <a:rPr lang="en-US" sz="2000" smtClean="0"/>
              <a:pPr>
                <a:lnSpc>
                  <a:spcPct val="90000"/>
                </a:lnSpc>
                <a:spcAft>
                  <a:spcPts val="600"/>
                </a:spcAft>
              </a:pPr>
              <a:t>13</a:t>
            </a:fld>
            <a:endParaRPr lang="en-US" sz="2000"/>
          </a:p>
        </p:txBody>
      </p:sp>
      <p:graphicFrame>
        <p:nvGraphicFramePr>
          <p:cNvPr id="6" name="內容版面配置區 3">
            <a:extLst>
              <a:ext uri="{FF2B5EF4-FFF2-40B4-BE49-F238E27FC236}">
                <a16:creationId xmlns:a16="http://schemas.microsoft.com/office/drawing/2014/main" id="{A39688D0-C00F-30C3-272F-EBF00BE1EA33}"/>
              </a:ext>
            </a:extLst>
          </p:cNvPr>
          <p:cNvGraphicFramePr>
            <a:graphicFrameLocks noGrp="1"/>
          </p:cNvGraphicFramePr>
          <p:nvPr>
            <p:ph type="tbl" sz="quarter" idx="14"/>
            <p:extLst>
              <p:ext uri="{D42A27DB-BD31-4B8C-83A1-F6EECF244321}">
                <p14:modId xmlns:p14="http://schemas.microsoft.com/office/powerpoint/2010/main" val="935842177"/>
              </p:ext>
            </p:extLst>
          </p:nvPr>
        </p:nvGraphicFramePr>
        <p:xfrm>
          <a:off x="1293811" y="2743200"/>
          <a:ext cx="10134601" cy="350520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8939420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70A8FA1-30AD-354D-73A1-9F012DCA7A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0414" y="152401"/>
            <a:ext cx="5146195" cy="2666999"/>
          </a:xfrm>
        </p:spPr>
        <p:txBody>
          <a:bodyPr>
            <a:normAutofit fontScale="90000"/>
          </a:bodyPr>
          <a:lstStyle/>
          <a:p>
            <a:pPr marL="45720" marR="0" lvl="0" indent="0" algn="l" defTabSz="914400" rtl="0" eaLnBrk="1" fontAlgn="auto" latinLnBrk="0" hangingPunct="1">
              <a:lnSpc>
                <a:spcPct val="110000"/>
              </a:lnSpc>
              <a:spcBef>
                <a:spcPts val="1800"/>
              </a:spcBef>
              <a:spcAft>
                <a:spcPts val="0"/>
              </a:spcAft>
              <a:buClr>
                <a:prstClr val="black">
                  <a:lumMod val="65000"/>
                  <a:lumOff val="35000"/>
                </a:prstClr>
              </a:buClr>
              <a:buSzPct val="80000"/>
              <a:buFont typeface="Arial" pitchFamily="34" charset="0"/>
              <a:buNone/>
              <a:tabLst/>
              <a:defRPr/>
            </a:pPr>
            <a:r>
              <a:t>怎樣申請Gcloud雲端主機-1</a:t>
            </a:r>
            <a:br/>
            <a:r>
              <a:t>名稱為 tw-selfselect（可自取）的 VM 虛擬機器（Virtual Machine）。 </a:t>
            </a:r>
            <a:br/>
            <a:r>
              <a:t>這台機器的規格和特點如下：</a:t>
            </a:r>
            <a:br/>
            <a:r>
              <a:t>位置：asia-east1-b（位於台灣彰濱工業區的機房，對台灣使用者而言連線速度最快）。</a:t>
            </a:r>
            <a:br/>
            <a:r>
              <a:t>機型：e2-micro（配備 1 核心 vCPU、1 GB 記憶體），這是 Google 提供給新用戶或特定區域的輕量級機型。</a:t>
            </a:r>
            <a:br/>
            <a:r>
              <a:t>作業系統：ubuntu-2204-jammy。 </a:t>
            </a:r>
            <a:br/>
            <a:endParaRPr lang="zh-TW" altLang="en-US" dirty="0"/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68BDA5BB-E04C-3A54-7340-A9E809575B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EAE4A8-A6E5-453E-B946-FB774B73F48C}" type="slidenum">
              <a:rPr lang="en-US" smtClean="0"/>
              <a:pPr/>
              <a:t>14</a:t>
            </a:fld>
            <a:endParaRPr lang="en-US" dirty="0"/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A1547577-8D12-9DEB-58B5-83A9960EC8D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84212" y="3124200"/>
            <a:ext cx="5105400" cy="2362200"/>
          </a:xfrm>
        </p:spPr>
        <p:txBody>
          <a:bodyPr>
            <a:normAutofit/>
          </a:bodyPr>
          <a:lstStyle/>
          <a:p>
            <a:r>
              <a:rPr lang="zh-TW" altLang="zh-TW" b="1" dirty="0"/>
              <a:t>第一步：註冊 Google Cloud 帳戶並開通免費試用</a:t>
            </a:r>
          </a:p>
          <a:p>
            <a:r>
              <a:rPr lang="zh-TW" altLang="zh-TW" dirty="0"/>
              <a:t>使用您的 Google 帳戶登入 </a:t>
            </a:r>
            <a:r>
              <a:rPr lang="zh-TW" altLang="zh-TW" b="1" dirty="0">
                <a:hlinkClick r:id="rId2"/>
              </a:rPr>
              <a:t>Google Cloud 繁體中文官網</a:t>
            </a:r>
            <a:r>
              <a:rPr lang="zh-TW" altLang="zh-TW" dirty="0"/>
              <a:t>。 </a:t>
            </a:r>
          </a:p>
          <a:p>
            <a:r>
              <a:rPr lang="zh-TW" altLang="zh-TW" dirty="0"/>
              <a:t>點擊頁面上的 </a:t>
            </a:r>
            <a:r>
              <a:rPr lang="zh-TW" altLang="zh-TW" b="1" dirty="0"/>
              <a:t>「免費開始使用」</a:t>
            </a:r>
            <a:r>
              <a:rPr lang="zh-TW" altLang="zh-TW" dirty="0"/>
              <a:t> 或 </a:t>
            </a:r>
            <a:r>
              <a:rPr lang="zh-TW" altLang="zh-TW" b="1" dirty="0"/>
              <a:t>「免費試用」</a:t>
            </a:r>
            <a:r>
              <a:rPr lang="zh-TW" altLang="zh-TW" dirty="0"/>
              <a:t> 按鈕。 </a:t>
            </a:r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3CF6EC3A-0D05-C17B-90EE-4F591092A590}"/>
              </a:ext>
            </a:extLst>
          </p:cNvPr>
          <p:cNvSpPr txBox="1"/>
          <p:nvPr/>
        </p:nvSpPr>
        <p:spPr>
          <a:xfrm>
            <a:off x="6270272" y="643631"/>
            <a:ext cx="5410200" cy="5355312"/>
          </a:xfrm>
          <a:prstGeom prst="rect">
            <a:avLst/>
          </a:prstGeom>
          <a:noFill/>
          <a:ln>
            <a:solidFill>
              <a:schemeClr val="bg2"/>
            </a:solidFill>
          </a:ln>
        </p:spPr>
        <p:txBody>
          <a:bodyPr wrap="square" rtlCol="0" anchor="ctr" anchorCtr="1">
            <a:spAutoFit/>
          </a:bodyPr>
          <a:lstStyle/>
          <a:p>
            <a:r>
              <a:rPr lang="zh-TW" altLang="zh-TW" b="1" dirty="0"/>
              <a:t>填寫基本資料與開通帳單</a:t>
            </a:r>
            <a:r>
              <a:rPr lang="zh-TW" altLang="zh-TW" dirty="0"/>
              <a:t>：</a:t>
            </a:r>
          </a:p>
          <a:p>
            <a:pPr lvl="1"/>
            <a:r>
              <a:rPr lang="zh-TW" altLang="zh-TW" dirty="0"/>
              <a:t>填寫您的個人或企業資訊。</a:t>
            </a:r>
          </a:p>
          <a:p>
            <a:pPr lvl="1"/>
            <a:r>
              <a:rPr lang="zh-TW" altLang="zh-TW" dirty="0"/>
              <a:t>系統會要求綁定一張</a:t>
            </a:r>
            <a:r>
              <a:rPr lang="zh-TW" altLang="zh-TW" b="1" dirty="0"/>
              <a:t>信用卡或金融卡</a:t>
            </a:r>
            <a:r>
              <a:rPr lang="zh-TW" altLang="zh-TW" dirty="0"/>
              <a:t>（支援海外刷卡功能）。</a:t>
            </a:r>
          </a:p>
          <a:p>
            <a:pPr lvl="1"/>
            <a:r>
              <a:rPr lang="zh-TW" altLang="zh-TW" i="1" dirty="0"/>
              <a:t>提示：Google 綁定信用卡主要是為了驗證真人身分、防止機器人濫用，在您手動升級為付費帳戶前，並不會自動扣款。註冊成功通常會獲得 $300 美元的免費試用折抵額度（限期 90 天）。</a:t>
            </a:r>
            <a:r>
              <a:rPr lang="zh-TW" altLang="zh-TW" dirty="0"/>
              <a:t> </a:t>
            </a:r>
          </a:p>
          <a:p>
            <a:br>
              <a:rPr lang="zh-TW" altLang="zh-TW" dirty="0"/>
            </a:br>
            <a:endParaRPr lang="zh-TW" altLang="zh-TW" dirty="0"/>
          </a:p>
          <a:p>
            <a:r>
              <a:rPr lang="zh-TW" altLang="zh-TW" b="1" dirty="0"/>
              <a:t>第二步：建立一個新專案</a:t>
            </a:r>
          </a:p>
          <a:p>
            <a:r>
              <a:rPr lang="zh-TW" altLang="zh-TW" dirty="0"/>
              <a:t>進入 </a:t>
            </a:r>
            <a:r>
              <a:rPr lang="zh-TW" altLang="zh-TW" b="1" dirty="0">
                <a:hlinkClick r:id="rId3"/>
              </a:rPr>
              <a:t>Google Cloud 控制台</a:t>
            </a:r>
            <a:r>
              <a:rPr lang="zh-TW" altLang="zh-TW" dirty="0"/>
              <a:t>。</a:t>
            </a:r>
          </a:p>
          <a:p>
            <a:r>
              <a:rPr lang="zh-TW" altLang="zh-TW" dirty="0"/>
              <a:t>點擊頂端列的專案下拉選單，選擇 </a:t>
            </a:r>
            <a:r>
              <a:rPr lang="zh-TW" altLang="zh-TW" b="1" dirty="0"/>
              <a:t>「新建專案」</a:t>
            </a:r>
            <a:r>
              <a:rPr lang="zh-TW" altLang="zh-TW" dirty="0"/>
              <a:t>（New Project）。</a:t>
            </a:r>
          </a:p>
          <a:p>
            <a:r>
              <a:rPr lang="zh-TW" altLang="zh-TW" dirty="0"/>
              <a:t>自訂您的專案名稱（例如：</a:t>
            </a:r>
            <a:r>
              <a:rPr lang="zh-TW" altLang="zh-TW" sz="1400" dirty="0"/>
              <a:t>my-trader-project</a:t>
            </a:r>
            <a:r>
              <a:rPr lang="zh-TW" altLang="zh-TW" dirty="0"/>
              <a:t>），然後點擊建立。 </a:t>
            </a:r>
          </a:p>
          <a:p>
            <a:br>
              <a:rPr lang="en-US" altLang="zh-TW" dirty="0"/>
            </a:b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61643918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CBE3C7-E7E8-3C5C-ACCF-FE5E5B47FE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0B3D8304-D5EC-6377-8068-A8C933BCFD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0414" y="152401"/>
            <a:ext cx="5181598" cy="685799"/>
          </a:xfrm>
        </p:spPr>
        <p:txBody>
          <a:bodyPr>
            <a:normAutofit fontScale="90000"/>
          </a:bodyPr>
          <a:lstStyle/>
          <a:p>
            <a:pPr marL="45720" marR="0" lvl="0" indent="0" algn="l" defTabSz="914400" rtl="0" eaLnBrk="1" fontAlgn="auto" latinLnBrk="0" hangingPunct="1">
              <a:lnSpc>
                <a:spcPct val="110000"/>
              </a:lnSpc>
              <a:spcBef>
                <a:spcPts val="1800"/>
              </a:spcBef>
              <a:spcAft>
                <a:spcPts val="0"/>
              </a:spcAft>
              <a:buClr>
                <a:prstClr val="black">
                  <a:lumMod val="65000"/>
                  <a:lumOff val="35000"/>
                </a:prstClr>
              </a:buClr>
              <a:buSzPct val="80000"/>
              <a:buFont typeface="Arial" pitchFamily="34" charset="0"/>
              <a:buNone/>
              <a:tabLst/>
              <a:defRPr/>
            </a:pPr>
            <a:r>
              <a:rPr lang="zh-TW" altLang="en-US" dirty="0"/>
              <a:t>怎樣申請</a:t>
            </a:r>
            <a:r>
              <a:rPr lang="en-US" altLang="zh-TW" dirty="0" err="1"/>
              <a:t>Gcloud</a:t>
            </a:r>
            <a:r>
              <a:rPr lang="zh-TW" altLang="en-US" dirty="0"/>
              <a:t>雲端主機</a:t>
            </a:r>
            <a:r>
              <a:rPr lang="en-US" altLang="zh-TW" dirty="0"/>
              <a:t>-2</a:t>
            </a:r>
            <a:br>
              <a:rPr lang="en-US" altLang="zh-TW" dirty="0"/>
            </a:br>
            <a:br>
              <a:rPr kumimoji="0" lang="zh-TW" altLang="zh-TW" sz="11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Century Gothic"/>
              </a:rPr>
            </a:br>
            <a:endParaRPr lang="zh-TW" altLang="en-US" dirty="0"/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A6C6D341-3B4C-C433-9D34-A88F3B400D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EAE4A8-A6E5-453E-B946-FB774B73F48C}" type="slidenum">
              <a:rPr lang="en-US" smtClean="0"/>
              <a:pPr/>
              <a:t>15</a:t>
            </a:fld>
            <a:endParaRPr lang="en-US" dirty="0"/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A462C350-7F14-14A8-9EBA-3E740361807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8013" y="1045717"/>
            <a:ext cx="5105400" cy="4516883"/>
          </a:xfrm>
        </p:spPr>
        <p:txBody>
          <a:bodyPr>
            <a:normAutofit fontScale="92500" lnSpcReduction="20000"/>
          </a:bodyPr>
          <a:lstStyle/>
          <a:p>
            <a:r>
              <a:rPr lang="zh-TW" altLang="zh-TW" b="1" dirty="0"/>
              <a:t>第三步：建立與圖片中完全相同的 VM 虛擬機器</a:t>
            </a:r>
          </a:p>
          <a:p>
            <a:r>
              <a:rPr lang="zh-TW" altLang="zh-TW" dirty="0"/>
              <a:t>點擊控制台左上角的 </a:t>
            </a:r>
            <a:r>
              <a:rPr lang="zh-TW" altLang="zh-TW" b="1" dirty="0"/>
              <a:t>「導覽選單 ☰」</a:t>
            </a:r>
            <a:r>
              <a:rPr lang="zh-TW" altLang="zh-TW" dirty="0"/>
              <a:t>。 [</a:t>
            </a:r>
            <a:r>
              <a:rPr lang="zh-TW" altLang="zh-TW" dirty="0">
                <a:hlinkClick r:id="rId2"/>
              </a:rPr>
              <a:t>1</a:t>
            </a:r>
            <a:r>
              <a:rPr lang="zh-TW" altLang="zh-TW" dirty="0"/>
              <a:t>, </a:t>
            </a:r>
            <a:r>
              <a:rPr lang="zh-TW" altLang="zh-TW" dirty="0">
                <a:hlinkClick r:id="rId3"/>
              </a:rPr>
              <a:t>2</a:t>
            </a:r>
            <a:r>
              <a:rPr lang="zh-TW" altLang="zh-TW" dirty="0"/>
              <a:t>]</a:t>
            </a:r>
          </a:p>
          <a:p>
            <a:r>
              <a:rPr lang="zh-TW" altLang="zh-TW" dirty="0"/>
              <a:t>找到並依序點選 </a:t>
            </a:r>
            <a:r>
              <a:rPr lang="zh-TW" altLang="zh-TW" b="1" dirty="0"/>
              <a:t>「Compute Engine」</a:t>
            </a:r>
            <a:r>
              <a:rPr lang="zh-TW" altLang="zh-TW" dirty="0"/>
              <a:t> ＞ </a:t>
            </a:r>
            <a:r>
              <a:rPr lang="zh-TW" altLang="zh-TW" b="1" dirty="0"/>
              <a:t>「VM 執行個體」</a:t>
            </a:r>
            <a:r>
              <a:rPr lang="zh-TW" altLang="zh-TW" dirty="0"/>
              <a:t>（VM Instances）。 </a:t>
            </a:r>
          </a:p>
          <a:p>
            <a:r>
              <a:rPr lang="zh-TW" altLang="zh-TW" i="1" dirty="0"/>
              <a:t>如果是第一次使用，系統會提示您啟用 Compute Engine API，點擊「啟用」並稍等幾分鐘即可。</a:t>
            </a:r>
            <a:endParaRPr lang="zh-TW" altLang="zh-TW" dirty="0"/>
          </a:p>
          <a:p>
            <a:r>
              <a:rPr lang="zh-TW" altLang="zh-TW" dirty="0"/>
              <a:t>點擊頁面上方的 </a:t>
            </a:r>
            <a:r>
              <a:rPr lang="zh-TW" altLang="zh-TW" b="1" dirty="0"/>
              <a:t>「</a:t>
            </a:r>
            <a:r>
              <a:rPr lang="zh-TW" altLang="zh-TW" b="1" dirty="0">
                <a:highlight>
                  <a:srgbClr val="FFFF00"/>
                </a:highlight>
              </a:rPr>
              <a:t>建立執行個體</a:t>
            </a:r>
            <a:r>
              <a:rPr lang="zh-TW" altLang="zh-TW" b="1" dirty="0"/>
              <a:t>」</a:t>
            </a:r>
            <a:r>
              <a:rPr lang="zh-TW" altLang="zh-TW" dirty="0"/>
              <a:t>（Create Instance）。</a:t>
            </a:r>
            <a:endParaRPr lang="en-US" altLang="zh-TW" dirty="0"/>
          </a:p>
          <a:p>
            <a:r>
              <a:rPr lang="zh-TW" altLang="zh-TW" b="1" dirty="0"/>
              <a:t>依照規格進行設定</a:t>
            </a:r>
            <a:r>
              <a:rPr lang="zh-TW" altLang="zh-TW" dirty="0"/>
              <a:t>：</a:t>
            </a:r>
          </a:p>
          <a:p>
            <a:pPr lvl="1"/>
            <a:r>
              <a:t>名稱：輸入 tw-selfselect（可自取，需與 .env 的 SYNC_VM_NAME 一致）。</a:t>
            </a:r>
          </a:p>
          <a:p>
            <a:pPr lvl="1"/>
            <a:r>
              <a:rPr lang="zh-TW" altLang="zh-TW" sz="2400" b="1" dirty="0"/>
              <a:t>區域</a:t>
            </a:r>
            <a:r>
              <a:rPr lang="zh-TW" altLang="zh-TW" sz="2400" dirty="0"/>
              <a:t>：選擇 </a:t>
            </a:r>
            <a:r>
              <a:rPr lang="zh-TW" altLang="zh-TW" b="1" dirty="0"/>
              <a:t>asia-east1</a:t>
            </a:r>
            <a:r>
              <a:rPr lang="zh-TW" altLang="zh-TW" sz="2400" b="1" dirty="0"/>
              <a:t> (台灣)</a:t>
            </a:r>
            <a:r>
              <a:rPr lang="zh-TW" altLang="zh-TW" sz="2400" dirty="0"/>
              <a:t>，可用區選擇 </a:t>
            </a:r>
            <a:r>
              <a:rPr lang="zh-TW" altLang="zh-TW" b="1" dirty="0">
                <a:highlight>
                  <a:srgbClr val="FFFF00"/>
                </a:highlight>
              </a:rPr>
              <a:t>asia-east1-b</a:t>
            </a:r>
            <a:r>
              <a:rPr lang="zh-TW" altLang="zh-TW" sz="2400" dirty="0"/>
              <a:t>。</a:t>
            </a:r>
          </a:p>
          <a:p>
            <a:endParaRPr lang="zh-TW" altLang="zh-TW" dirty="0"/>
          </a:p>
          <a:p>
            <a:endParaRPr lang="zh-TW" altLang="en-US" dirty="0"/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72C3D3AC-2FEC-0B45-C35C-08AD7AAB6F41}"/>
              </a:ext>
            </a:extLst>
          </p:cNvPr>
          <p:cNvSpPr txBox="1"/>
          <p:nvPr/>
        </p:nvSpPr>
        <p:spPr>
          <a:xfrm>
            <a:off x="5637212" y="678854"/>
            <a:ext cx="6172200" cy="5078313"/>
          </a:xfrm>
          <a:prstGeom prst="rect">
            <a:avLst/>
          </a:prstGeom>
          <a:noFill/>
          <a:ln>
            <a:solidFill>
              <a:schemeClr val="bg2"/>
            </a:solidFill>
          </a:ln>
        </p:spPr>
        <p:txBody>
          <a:bodyPr wrap="square" rtlCol="0" anchor="ctr" anchorCtr="1">
            <a:spAutoFit/>
          </a:bodyPr>
          <a:lstStyle/>
          <a:p>
            <a:pPr lvl="1"/>
            <a:r>
              <a:rPr lang="zh-TW" altLang="zh-TW" b="1" dirty="0"/>
              <a:t>機器組態（Machine configuration）</a:t>
            </a:r>
            <a:r>
              <a:rPr lang="zh-TW" altLang="zh-TW" dirty="0"/>
              <a:t>：</a:t>
            </a:r>
          </a:p>
          <a:p>
            <a:pPr lvl="2"/>
            <a:r>
              <a:rPr lang="zh-TW" altLang="zh-TW" dirty="0"/>
              <a:t>系列選擇 </a:t>
            </a:r>
            <a:r>
              <a:rPr lang="zh-TW" altLang="zh-TW" b="1" dirty="0">
                <a:highlight>
                  <a:srgbClr val="FFFF00"/>
                </a:highlight>
              </a:rPr>
              <a:t>E2</a:t>
            </a:r>
            <a:r>
              <a:rPr lang="zh-TW" altLang="zh-TW" dirty="0"/>
              <a:t>。</a:t>
            </a:r>
          </a:p>
          <a:p>
            <a:pPr lvl="2"/>
            <a:r>
              <a:rPr lang="zh-TW" altLang="zh-TW" dirty="0"/>
              <a:t>機器類型選擇 </a:t>
            </a:r>
            <a:r>
              <a:rPr lang="zh-TW" altLang="zh-TW" sz="1400" b="1" dirty="0">
                <a:highlight>
                  <a:srgbClr val="FFFF00"/>
                </a:highlight>
              </a:rPr>
              <a:t>e2-micro</a:t>
            </a:r>
            <a:r>
              <a:rPr lang="zh-TW" altLang="zh-TW" b="1" dirty="0"/>
              <a:t> (1 vCPU, 1 GB 記憶體)</a:t>
            </a:r>
            <a:r>
              <a:rPr lang="zh-TW" altLang="zh-TW" dirty="0"/>
              <a:t>。</a:t>
            </a:r>
          </a:p>
          <a:p>
            <a:pPr lvl="1"/>
            <a:r>
              <a:rPr lang="zh-TW" altLang="zh-TW" b="1" dirty="0"/>
              <a:t>開機磁碟（Boot disk）</a:t>
            </a:r>
            <a:r>
              <a:rPr lang="zh-TW" altLang="zh-TW" dirty="0"/>
              <a:t>：</a:t>
            </a:r>
          </a:p>
          <a:p>
            <a:pPr lvl="2"/>
            <a:r>
              <a:rPr lang="zh-TW" altLang="zh-TW" dirty="0"/>
              <a:t>點擊「變更」按鈕。</a:t>
            </a:r>
          </a:p>
          <a:p>
            <a:pPr lvl="2"/>
            <a:r>
              <a:rPr lang="zh-TW" altLang="zh-TW" dirty="0"/>
              <a:t>作業系統（Operating system）選擇 </a:t>
            </a:r>
            <a:r>
              <a:rPr lang="zh-TW" altLang="zh-TW" b="1" dirty="0"/>
              <a:t>Ubuntu</a:t>
            </a:r>
            <a:r>
              <a:rPr lang="zh-TW" altLang="zh-TW" dirty="0"/>
              <a:t>。</a:t>
            </a:r>
          </a:p>
          <a:p>
            <a:pPr lvl="2"/>
            <a:r>
              <a:rPr lang="zh-TW" altLang="zh-TW" dirty="0"/>
              <a:t>版本（Version）選擇 </a:t>
            </a:r>
            <a:r>
              <a:rPr lang="zh-TW" altLang="zh-TW" b="1" dirty="0">
                <a:highlight>
                  <a:srgbClr val="FFFF00"/>
                </a:highlight>
              </a:rPr>
              <a:t>Ubuntu 22.04 LTS</a:t>
            </a:r>
            <a:r>
              <a:rPr lang="zh-TW" altLang="zh-TW" dirty="0">
                <a:highlight>
                  <a:srgbClr val="FFFF00"/>
                </a:highlight>
              </a:rPr>
              <a:t> </a:t>
            </a:r>
            <a:r>
              <a:rPr lang="zh-TW" altLang="zh-TW" dirty="0"/>
              <a:t>(對應圖中的 ubuntu-2204-jammy)。</a:t>
            </a:r>
          </a:p>
          <a:p>
            <a:pPr lvl="2"/>
            <a:r>
              <a:rPr lang="zh-TW" altLang="zh-TW" dirty="0"/>
              <a:t>點擊選取。</a:t>
            </a:r>
          </a:p>
          <a:p>
            <a:pPr lvl="1"/>
            <a:r>
              <a:rPr lang="zh-TW" altLang="zh-TW" b="1" dirty="0"/>
              <a:t>防火牆</a:t>
            </a:r>
            <a:r>
              <a:rPr lang="zh-TW" altLang="zh-TW" dirty="0"/>
              <a:t>：</a:t>
            </a:r>
          </a:p>
          <a:p>
            <a:pPr lvl="2"/>
            <a:r>
              <a:rPr lang="zh-TW" altLang="zh-TW" dirty="0"/>
              <a:t>如果這台機器未來需要架設網站或對外連線，勾選「允許 HTTP 流量」和「允許 HTTPS 流量」。 </a:t>
            </a:r>
          </a:p>
          <a:p>
            <a:r>
              <a:rPr lang="zh-TW" altLang="zh-TW" dirty="0"/>
              <a:t>確認右側的預估費用資訊後，點擊最下方的 </a:t>
            </a:r>
            <a:r>
              <a:rPr lang="zh-TW" altLang="zh-TW" b="1" dirty="0"/>
              <a:t>「</a:t>
            </a:r>
            <a:r>
              <a:rPr lang="zh-TW" altLang="zh-TW" b="1" dirty="0">
                <a:highlight>
                  <a:srgbClr val="FFFF00"/>
                </a:highlight>
              </a:rPr>
              <a:t>建立</a:t>
            </a:r>
            <a:r>
              <a:rPr lang="zh-TW" altLang="zh-TW" b="1" dirty="0"/>
              <a:t>」</a:t>
            </a:r>
            <a:r>
              <a:rPr lang="zh-TW" altLang="zh-TW" dirty="0"/>
              <a:t> 按鈕。 </a:t>
            </a:r>
          </a:p>
          <a:p>
            <a:r>
              <a:rPr lang="zh-TW" altLang="zh-TW" dirty="0"/>
              <a:t>建立完成後，您就可以在列表中看到跟圖片一樣處於運行狀態的虛擬機器，並可以透過頁面上的 「</a:t>
            </a:r>
            <a:r>
              <a:rPr lang="zh-TW" altLang="zh-TW" dirty="0">
                <a:highlight>
                  <a:srgbClr val="FFFF00"/>
                </a:highlight>
              </a:rPr>
              <a:t>SSH</a:t>
            </a:r>
            <a:r>
              <a:rPr lang="zh-TW" altLang="zh-TW" dirty="0"/>
              <a:t>」 按鈕直接連線進去操作。</a:t>
            </a:r>
          </a:p>
          <a:p>
            <a:br>
              <a:rPr lang="zh-TW" altLang="zh-TW" dirty="0"/>
            </a:br>
            <a:endParaRPr lang="zh-TW" altLang="zh-TW" dirty="0"/>
          </a:p>
        </p:txBody>
      </p:sp>
    </p:spTree>
    <p:extLst>
      <p:ext uri="{BB962C8B-B14F-4D97-AF65-F5344CB8AC3E}">
        <p14:creationId xmlns:p14="http://schemas.microsoft.com/office/powerpoint/2010/main" val="167292549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BC6B528-0DBB-C8C4-437F-6C77D40A7C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93812" y="609600"/>
            <a:ext cx="7924800" cy="533400"/>
          </a:xfrm>
        </p:spPr>
        <p:txBody>
          <a:bodyPr>
            <a:normAutofit fontScale="90000"/>
          </a:bodyPr>
          <a:lstStyle/>
          <a:p>
            <a:r>
              <a:rPr lang="zh-TW" altLang="zh-TW" dirty="0"/>
              <a:t>快速設定靜態</a:t>
            </a:r>
            <a:r>
              <a:rPr lang="en-US" altLang="zh-TW" dirty="0"/>
              <a:t>IP</a:t>
            </a:r>
            <a:r>
              <a:rPr lang="zh-TW" altLang="zh-TW" dirty="0"/>
              <a:t>步驟（將現有 IP 轉為靜態）</a:t>
            </a:r>
            <a:br>
              <a:rPr lang="zh-TW" altLang="zh-TW" dirty="0"/>
            </a:br>
            <a:endParaRPr lang="zh-TW" altLang="en-US" dirty="0"/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4557841F-C232-280B-EBBA-1D218C778F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EAE4A8-A6E5-453E-B946-FB774B73F48C}" type="slidenum">
              <a:rPr lang="en-US" smtClean="0"/>
              <a:pPr/>
              <a:t>16</a:t>
            </a:fld>
            <a:endParaRPr lang="en-US" dirty="0"/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85CE650A-8D98-02E6-8BE2-9F890E00E2A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93812" y="1295400"/>
            <a:ext cx="10345738" cy="5029200"/>
          </a:xfrm>
        </p:spPr>
        <p:txBody>
          <a:bodyPr>
            <a:normAutofit fontScale="85000" lnSpcReduction="10000"/>
          </a:bodyPr>
          <a:lstStyle/>
          <a:p>
            <a:r>
              <a:rPr lang="zh-TW" altLang="zh-TW" b="1" dirty="0"/>
              <a:t>進入 GCP 控制台</a:t>
            </a:r>
            <a:endParaRPr lang="zh-TW" altLang="zh-TW" dirty="0"/>
          </a:p>
          <a:p>
            <a:pPr lvl="1"/>
            <a:r>
              <a:rPr lang="zh-TW" altLang="zh-TW" dirty="0"/>
              <a:t>打開並登入 </a:t>
            </a:r>
            <a:r>
              <a:rPr lang="zh-TW" altLang="zh-TW" b="1" dirty="0">
                <a:hlinkClick r:id="rId2"/>
              </a:rPr>
              <a:t>Google Cloud 控制台</a:t>
            </a:r>
            <a:r>
              <a:rPr lang="zh-TW" altLang="zh-TW" dirty="0"/>
              <a:t>。</a:t>
            </a:r>
          </a:p>
          <a:p>
            <a:r>
              <a:rPr lang="zh-TW" altLang="zh-TW" b="1" dirty="0"/>
              <a:t>尋找 VPC 網路設定</a:t>
            </a:r>
            <a:endParaRPr lang="zh-TW" altLang="zh-TW" dirty="0"/>
          </a:p>
          <a:p>
            <a:pPr lvl="1"/>
            <a:r>
              <a:rPr lang="zh-TW" altLang="zh-TW" dirty="0"/>
              <a:t>點擊左上角的 </a:t>
            </a:r>
            <a:r>
              <a:rPr lang="zh-TW" altLang="zh-TW" b="1" dirty="0"/>
              <a:t>「導覽選單 ☰」</a:t>
            </a:r>
            <a:r>
              <a:rPr lang="zh-TW" altLang="zh-TW" dirty="0"/>
              <a:t>。</a:t>
            </a:r>
          </a:p>
          <a:p>
            <a:pPr lvl="1"/>
            <a:r>
              <a:rPr lang="zh-TW" altLang="zh-TW" dirty="0"/>
              <a:t>向下捲動找到 </a:t>
            </a:r>
            <a:r>
              <a:rPr lang="zh-TW" altLang="zh-TW" b="1" dirty="0"/>
              <a:t>「</a:t>
            </a:r>
            <a:r>
              <a:rPr lang="zh-TW" altLang="zh-TW" b="1" dirty="0">
                <a:highlight>
                  <a:srgbClr val="FFFF00"/>
                </a:highlight>
              </a:rPr>
              <a:t>VPC 網路</a:t>
            </a:r>
            <a:r>
              <a:rPr lang="zh-TW" altLang="zh-TW" b="1" dirty="0"/>
              <a:t>」</a:t>
            </a:r>
            <a:r>
              <a:rPr lang="zh-TW" altLang="zh-TW" dirty="0"/>
              <a:t>（VPC network），然後點選 </a:t>
            </a:r>
            <a:r>
              <a:rPr lang="zh-TW" altLang="zh-TW" b="1" dirty="0"/>
              <a:t>「</a:t>
            </a:r>
            <a:r>
              <a:rPr lang="zh-TW" altLang="zh-TW" b="1" dirty="0">
                <a:highlight>
                  <a:srgbClr val="FFFF00"/>
                </a:highlight>
              </a:rPr>
              <a:t>IP 位址</a:t>
            </a:r>
            <a:r>
              <a:rPr lang="zh-TW" altLang="zh-TW" b="1" dirty="0"/>
              <a:t>」</a:t>
            </a:r>
            <a:r>
              <a:rPr lang="zh-TW" altLang="zh-TW" dirty="0"/>
              <a:t>（IP addresses）。</a:t>
            </a:r>
          </a:p>
          <a:p>
            <a:r>
              <a:rPr lang="zh-TW" altLang="zh-TW" b="1" dirty="0"/>
              <a:t>保留 IP 位址</a:t>
            </a:r>
            <a:endParaRPr lang="zh-TW" altLang="zh-TW" dirty="0"/>
          </a:p>
          <a:p>
            <a:pPr lvl="1"/>
            <a:r>
              <a:t>在列表中，您會看到一筆目前分配給 tw-selfselect 的 IP 紀錄，其「類型」此時顯示為 外網/暫時（Ephemeral）。</a:t>
            </a:r>
          </a:p>
          <a:p>
            <a:pPr lvl="1"/>
            <a:r>
              <a:rPr lang="zh-TW" altLang="zh-TW" dirty="0"/>
              <a:t>點擊該 IP 資料列最右側的 </a:t>
            </a:r>
            <a:r>
              <a:rPr lang="zh-TW" altLang="zh-TW" b="1" dirty="0"/>
              <a:t>「三個點（更多動作） ⋮」</a:t>
            </a:r>
            <a:r>
              <a:rPr lang="zh-TW" altLang="zh-TW" dirty="0"/>
              <a:t>。</a:t>
            </a:r>
          </a:p>
          <a:p>
            <a:pPr lvl="1"/>
            <a:r>
              <a:rPr lang="zh-TW" altLang="zh-TW" dirty="0"/>
              <a:t>選擇 </a:t>
            </a:r>
            <a:r>
              <a:rPr lang="zh-TW" altLang="zh-TW" b="1" dirty="0"/>
              <a:t>「</a:t>
            </a:r>
            <a:r>
              <a:rPr lang="zh-TW" altLang="zh-TW" b="1" dirty="0">
                <a:highlight>
                  <a:srgbClr val="FFFF00"/>
                </a:highlight>
              </a:rPr>
              <a:t>保留靜態外部 IP 位址」</a:t>
            </a:r>
            <a:r>
              <a:rPr lang="zh-TW" altLang="zh-TW" dirty="0">
                <a:highlight>
                  <a:srgbClr val="FFFF00"/>
                </a:highlight>
              </a:rPr>
              <a:t>（Reserve static external IP address）</a:t>
            </a:r>
            <a:r>
              <a:rPr lang="zh-TW" altLang="zh-TW" dirty="0"/>
              <a:t>。</a:t>
            </a:r>
          </a:p>
          <a:p>
            <a:r>
              <a:rPr lang="zh-TW" altLang="zh-TW" b="1" dirty="0"/>
              <a:t>命名與確認</a:t>
            </a:r>
            <a:endParaRPr lang="zh-TW" altLang="zh-TW" dirty="0"/>
          </a:p>
          <a:p>
            <a:pPr lvl="1"/>
            <a:r>
              <a:t>在彈出的視窗中，為這個靜態 IP 取一個名字（例如：tw-selfselect-static-ip）。</a:t>
            </a:r>
          </a:p>
          <a:p>
            <a:pPr lvl="1"/>
            <a:r>
              <a:rPr lang="zh-TW" altLang="zh-TW" dirty="0"/>
              <a:t>點擊 </a:t>
            </a:r>
            <a:r>
              <a:rPr lang="zh-TW" altLang="zh-TW" b="1" dirty="0"/>
              <a:t>「</a:t>
            </a:r>
            <a:r>
              <a:rPr lang="zh-TW" altLang="zh-TW" b="1" dirty="0">
                <a:highlight>
                  <a:srgbClr val="FFFF00"/>
                </a:highlight>
              </a:rPr>
              <a:t>保留</a:t>
            </a:r>
            <a:r>
              <a:rPr lang="zh-TW" altLang="zh-TW" b="1" dirty="0"/>
              <a:t>」</a:t>
            </a:r>
            <a:r>
              <a:rPr lang="zh-TW" altLang="zh-TW" dirty="0"/>
              <a:t>。</a:t>
            </a:r>
            <a:r>
              <a:rPr lang="en-US" altLang="zh-TW" dirty="0"/>
              <a:t>=&gt;</a:t>
            </a:r>
            <a:r>
              <a:rPr lang="zh-TW" altLang="en-US" dirty="0"/>
              <a:t>請記錄這個</a:t>
            </a:r>
            <a:r>
              <a:rPr lang="en-US" altLang="zh-TW" dirty="0"/>
              <a:t>IP,</a:t>
            </a:r>
            <a:r>
              <a:rPr lang="zh-TW" altLang="en-US" dirty="0"/>
              <a:t> 要到</a:t>
            </a:r>
            <a:r>
              <a:rPr lang="zh-TW" altLang="en-US" dirty="0">
                <a:hlinkClick r:id="rId3"/>
              </a:rPr>
              <a:t>玉山</a:t>
            </a:r>
            <a:r>
              <a:rPr lang="en-US" altLang="zh-TW" dirty="0">
                <a:hlinkClick r:id="rId3"/>
              </a:rPr>
              <a:t>API</a:t>
            </a:r>
            <a:r>
              <a:rPr lang="zh-TW" altLang="en-US" dirty="0"/>
              <a:t>去設白名單</a:t>
            </a:r>
            <a:r>
              <a:rPr lang="en-US" altLang="zh-TW" dirty="0"/>
              <a:t>.</a:t>
            </a:r>
            <a:endParaRPr lang="zh-TW" altLang="zh-TW" dirty="0"/>
          </a:p>
          <a:p>
            <a:r>
              <a:rPr lang="zh-TW" altLang="zh-TW" dirty="0"/>
              <a:t>此時，該 IP 的類型會變成 </a:t>
            </a:r>
            <a:r>
              <a:rPr lang="zh-TW" altLang="zh-TW" b="1" dirty="0"/>
              <a:t>靜態</a:t>
            </a:r>
            <a:r>
              <a:rPr lang="zh-TW" altLang="zh-TW" dirty="0"/>
              <a:t>，這意味著無論您的 VM 往後如何重啟或關機，這個外部 IP 位址都永遠不會改變。</a:t>
            </a:r>
          </a:p>
          <a:p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65470381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FAE308-3076-43DB-B834-DA0B0AE19A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1812" y="495300"/>
            <a:ext cx="4572000" cy="5867400"/>
          </a:xfrm>
        </p:spPr>
        <p:txBody>
          <a:bodyPr>
            <a:normAutofit/>
          </a:bodyPr>
          <a:lstStyle/>
          <a:p>
            <a:r>
              <a:rPr lang="en-US" dirty="0"/>
              <a:t>Thank you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ABC2CE0-8806-4B2A-A10A-32984D317434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768305" y="2247900"/>
            <a:ext cx="4443413" cy="2400300"/>
          </a:xfrm>
        </p:spPr>
        <p:txBody>
          <a:bodyPr anchor="ctr"/>
          <a:lstStyle/>
          <a:p>
            <a:r>
              <a:rPr lang="en-US" dirty="0"/>
              <a:t>frank@dinchen.com.tw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03683689"/>
      </p:ext>
    </p:extLst>
  </p:cSld>
  <p:clrMapOvr>
    <a:masterClrMapping/>
  </p:clrMapOvr>
</p:sld>
</file>

<file path=ppt/theme/theme1.xml><?xml version="1.0" encoding="utf-8"?>
<a:theme xmlns:a="http://schemas.openxmlformats.org/drawingml/2006/main" name="Custom">
  <a:themeElements>
    <a:clrScheme name="Custom 174">
      <a:dk1>
        <a:sysClr val="windowText" lastClr="000000"/>
      </a:dk1>
      <a:lt1>
        <a:sysClr val="window" lastClr="FFFFFF"/>
      </a:lt1>
      <a:dk2>
        <a:srgbClr val="242852"/>
      </a:dk2>
      <a:lt2>
        <a:srgbClr val="ACCBF9"/>
      </a:lt2>
      <a:accent1>
        <a:srgbClr val="4A66AC"/>
      </a:accent1>
      <a:accent2>
        <a:srgbClr val="629DD1"/>
      </a:accent2>
      <a:accent3>
        <a:srgbClr val="297FD5"/>
      </a:accent3>
      <a:accent4>
        <a:srgbClr val="7F8FA9"/>
      </a:accent4>
      <a:accent5>
        <a:srgbClr val="5AA2AE"/>
      </a:accent5>
      <a:accent6>
        <a:srgbClr val="E1EAED"/>
      </a:accent6>
      <a:hlink>
        <a:srgbClr val="9454C3"/>
      </a:hlink>
      <a:folHlink>
        <a:srgbClr val="3EBBF0"/>
      </a:folHlink>
    </a:clrScheme>
    <a:fontScheme name="Custom 30">
      <a:majorFont>
        <a:latin typeface="Century Gothic"/>
        <a:ea typeface=""/>
        <a:cs typeface=""/>
      </a:majorFont>
      <a:minorFont>
        <a:latin typeface="Century Gothic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satMod val="150000"/>
                <a:lumMod val="102000"/>
              </a:schemeClr>
            </a:gs>
            <a:gs pos="50000">
              <a:schemeClr val="phClr">
                <a:tint val="98000"/>
                <a:shade val="90000"/>
                <a:satMod val="13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ln>
          <a:noFill/>
        </a:ln>
      </a:spPr>
      <a:bodyPr rtlCol="0" anchor="ctr"/>
      <a:lstStyle>
        <a:defPPr algn="ctr">
          <a:defRPr dirty="0"/>
        </a:defPPr>
      </a:lstStyle>
      <a:style>
        <a:lnRef idx="1">
          <a:schemeClr val="accent2"/>
        </a:lnRef>
        <a:fillRef idx="2">
          <a:schemeClr val="accent2"/>
        </a:fillRef>
        <a:effectRef idx="1">
          <a:schemeClr val="accent2"/>
        </a:effectRef>
        <a:fontRef idx="minor">
          <a:schemeClr val="dk1"/>
        </a:fontRef>
      </a:style>
    </a:spDef>
    <a:lnDef>
      <a:spPr/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  <a:ln>
          <a:solidFill>
            <a:schemeClr val="bg2"/>
          </a:solidFill>
        </a:ln>
      </a:spPr>
      <a:bodyPr wrap="square" rtlCol="0" anchor="ctr" anchorCtr="1">
        <a:spAutoFit/>
      </a:bodyPr>
      <a:lstStyle>
        <a:defPPr>
          <a:defRPr dirty="0" smtClean="0"/>
        </a:defPPr>
      </a:lstStyle>
    </a:txDef>
  </a:objectDefaults>
  <a:extraClrSchemeLst/>
  <a:extLst>
    <a:ext uri="{05A4C25C-085E-4340-85A3-A5531E510DB2}">
      <thm15:themeFamily xmlns:thm15="http://schemas.microsoft.com/office/thememl/2012/main" name="TM03460663_win32_LW_V7.potx" id="{B4376E67-A46A-4922-AE0D-3354FC109E20}" vid="{F49CC2A7-BC98-4F28-8A83-D1D23E8024B9}"/>
    </a:ext>
  </a:extLst>
</a:theme>
</file>

<file path=ppt/theme/theme2.xml><?xml version="1.0" encoding="utf-8"?>
<a:theme xmlns:a="http://schemas.openxmlformats.org/drawingml/2006/main" name="Office Theme">
  <a:themeElements>
    <a:clrScheme name="Blue Red">
      <a:dk1>
        <a:sysClr val="windowText" lastClr="000000"/>
      </a:dk1>
      <a:lt1>
        <a:sysClr val="window" lastClr="FFFFFF"/>
      </a:lt1>
      <a:dk2>
        <a:srgbClr val="242852"/>
      </a:dk2>
      <a:lt2>
        <a:srgbClr val="ACCBF9"/>
      </a:lt2>
      <a:accent1>
        <a:srgbClr val="4A66AC"/>
      </a:accent1>
      <a:accent2>
        <a:srgbClr val="629DD1"/>
      </a:accent2>
      <a:accent3>
        <a:srgbClr val="297FD5"/>
      </a:accent3>
      <a:accent4>
        <a:srgbClr val="7F8FA9"/>
      </a:accent4>
      <a:accent5>
        <a:srgbClr val="5AA2AE"/>
      </a:accent5>
      <a:accent6>
        <a:srgbClr val="9D90A0"/>
      </a:accent6>
      <a:hlink>
        <a:srgbClr val="9454C3"/>
      </a:hlink>
      <a:folHlink>
        <a:srgbClr val="3EBBF0"/>
      </a:folHlink>
    </a:clrScheme>
    <a:fontScheme name="Century Gothic-Palatino Linotype">
      <a:majorFont>
        <a:latin typeface="Century Gothic" panose="020B0502020202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Palatino Linotype" panose="020405020505050303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satMod val="150000"/>
                <a:lumMod val="102000"/>
              </a:schemeClr>
            </a:gs>
            <a:gs pos="50000">
              <a:schemeClr val="phClr">
                <a:tint val="98000"/>
                <a:shade val="90000"/>
                <a:satMod val="13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Blue Red">
      <a:dk1>
        <a:sysClr val="windowText" lastClr="000000"/>
      </a:dk1>
      <a:lt1>
        <a:sysClr val="window" lastClr="FFFFFF"/>
      </a:lt1>
      <a:dk2>
        <a:srgbClr val="242852"/>
      </a:dk2>
      <a:lt2>
        <a:srgbClr val="ACCBF9"/>
      </a:lt2>
      <a:accent1>
        <a:srgbClr val="4A66AC"/>
      </a:accent1>
      <a:accent2>
        <a:srgbClr val="629DD1"/>
      </a:accent2>
      <a:accent3>
        <a:srgbClr val="297FD5"/>
      </a:accent3>
      <a:accent4>
        <a:srgbClr val="7F8FA9"/>
      </a:accent4>
      <a:accent5>
        <a:srgbClr val="5AA2AE"/>
      </a:accent5>
      <a:accent6>
        <a:srgbClr val="9D90A0"/>
      </a:accent6>
      <a:hlink>
        <a:srgbClr val="9454C3"/>
      </a:hlink>
      <a:folHlink>
        <a:srgbClr val="3EBBF0"/>
      </a:folHlink>
    </a:clrScheme>
    <a:fontScheme name="Century Gothic-Palatino Linotype">
      <a:majorFont>
        <a:latin typeface="Century Gothic" panose="020B0502020202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Palatino Linotype" panose="020405020505050303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satMod val="150000"/>
                <a:lumMod val="102000"/>
              </a:schemeClr>
            </a:gs>
            <a:gs pos="50000">
              <a:schemeClr val="phClr">
                <a:tint val="98000"/>
                <a:shade val="90000"/>
                <a:satMod val="13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28" ma:contentTypeDescription="Create a new document." ma:contentTypeScope="" ma:versionID="60f5a4f2d2b0abadcf532d48ebf9cb71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7dd78129e6a1811f84807ad11c651531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Status" minOccurs="0"/>
                <xsd:element ref="ns2:Image" minOccurs="0"/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1:_ip_UnifiedCompliancePolicyProperties" minOccurs="0"/>
                <xsd:element ref="ns1:_ip_UnifiedCompliancePolicyUIAction" minOccurs="0"/>
                <xsd:element ref="ns4:TaxCatchAll" minOccurs="0"/>
                <xsd:element ref="ns2:ImageTagsTaxHTField" minOccurs="0"/>
                <xsd:element ref="ns2:MediaServiceLocation" minOccurs="0"/>
                <xsd:element ref="ns2:MediaLengthInSeconds" minOccurs="0"/>
                <xsd:element ref="ns2:Background" minOccurs="0"/>
                <xsd:element ref="ns2:MediaServiceSearchProperties" minOccurs="0"/>
                <xsd:element ref="ns2:MediaServiceDocTags" minOccurs="0"/>
                <xsd:element ref="ns2:MediaServiceObjectDetectorVersions" minOccurs="0"/>
                <xsd:element ref="ns2:MediaServiceSystemTag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 ma:readOnly="false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 ma:readOnly="fals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Status" ma:index="2" nillable="true" ma:displayName="Status" ma:default="Not started" ma:format="Dropdown" ma:internalName="Status" ma:readOnly="false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3" nillable="true" ma:displayName="Image" ma:format="Image" ma:internalName="Image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hidden="true" ma:internalName="MediaServiceOCR" ma:readOnly="true">
      <xsd:simpleType>
        <xsd:restriction base="dms:Note"/>
      </xsd:simpleType>
    </xsd:element>
    <xsd:element name="MediaServiceAutoTags" ma:index="11" nillable="true" ma:displayName="MediaServiceAutoTags" ma:hidden="true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hidden="true" ma:internalName="MediaServiceKeyPoints" ma:readOnly="false">
      <xsd:simpleType>
        <xsd:restriction base="dms:Note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6" nillable="true" ma:displayName="Location" ma:hidden="true" ma:internalName="MediaServiceLocation" ma:readOnly="true">
      <xsd:simpleType>
        <xsd:restriction base="dms:Text"/>
      </xsd:simpleType>
    </xsd:element>
    <xsd:element name="MediaLengthInSeconds" ma:index="27" nillable="true" ma:displayName="MediaLengthInSeconds" ma:hidden="true" ma:internalName="MediaLengthInSeconds" ma:readOnly="true">
      <xsd:simpleType>
        <xsd:restriction base="dms:Unknown"/>
      </xsd:simpleType>
    </xsd:element>
    <xsd:element name="Background" ma:index="28" nillable="true" ma:displayName="Background" ma:default="0" ma:format="Dropdown" ma:internalName="Background">
      <xsd:simpleType>
        <xsd:restriction base="dms:Boolean"/>
      </xsd:simpleType>
    </xsd:element>
    <xsd:element name="MediaServiceSearchProperties" ma:index="2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ocTags" ma:index="30" nillable="true" ma:displayName="MediaServiceDocTags" ma:hidden="true" ma:internalName="MediaServiceDocTags" ma:readOnly="true">
      <xsd:simpleType>
        <xsd:restriction base="dms:Note"/>
      </xsd:simpleType>
    </xsd:element>
    <xsd:element name="MediaServiceObjectDetectorVersions" ma:index="31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ystemTags" ma:index="32" nillable="true" ma:displayName="MediaServiceSystemTags" ma:hidden="true" ma:internalName="MediaServiceSystemTag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hidden="true" ma:internalName="SharedWithDetail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readOnly="false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Content Type"/>
        <xsd:element ref="dc:title" minOccurs="0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Image xmlns="71af3243-3dd4-4a8d-8c0d-dd76da1f02a5">
      <Url xsi:nil="true"/>
      <Description xsi:nil="true"/>
    </Image>
    <Status xmlns="71af3243-3dd4-4a8d-8c0d-dd76da1f02a5">Not started</Status>
    <Background xmlns="71af3243-3dd4-4a8d-8c0d-dd76da1f02a5">false</Background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 xsi:nil="true"/>
    <MediaServiceKeyPoints xmlns="71af3243-3dd4-4a8d-8c0d-dd76da1f02a5" xsi:nil="true"/>
  </documentManagement>
</p:properties>
</file>

<file path=customXml/itemProps1.xml><?xml version="1.0" encoding="utf-8"?>
<ds:datastoreItem xmlns:ds="http://schemas.openxmlformats.org/officeDocument/2006/customXml" ds:itemID="{20C06458-EC9A-428C-9123-A760B9587A60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4C37B52A-9EC8-4B7A-85C4-31F7EAFE403D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AF050606-E255-48B6-AE23-CE03A589EB22}">
  <ds:schemaRefs>
    <ds:schemaRef ds:uri="http://schemas.microsoft.com/office/infopath/2007/PartnerControls"/>
    <ds:schemaRef ds:uri="http://schemas.microsoft.com/office/2006/metadata/properties"/>
    <ds:schemaRef ds:uri="http://purl.org/dc/dcmitype/"/>
    <ds:schemaRef ds:uri="http://schemas.microsoft.com/office/2006/documentManagement/types"/>
    <ds:schemaRef ds:uri="http://purl.org/dc/elements/1.1/"/>
    <ds:schemaRef ds:uri="http://schemas.openxmlformats.org/package/2006/metadata/core-properties"/>
    <ds:schemaRef ds:uri="230e9df3-be65-4c73-a93b-d1236ebd677e"/>
    <ds:schemaRef ds:uri="16c05727-aa75-4e4a-9b5f-8a80a1165891"/>
    <ds:schemaRef ds:uri="http://schemas.microsoft.com/sharepoint/v3"/>
    <ds:schemaRef ds:uri="71af3243-3dd4-4a8d-8c0d-dd76da1f02a5"/>
    <ds:schemaRef ds:uri="http://www.w3.org/XML/1998/namespace"/>
    <ds:schemaRef ds:uri="http://purl.org/dc/terms/"/>
  </ds:schemaRefs>
</ds:datastoreItem>
</file>

<file path=docMetadata/LabelInfo.xml><?xml version="1.0" encoding="utf-8"?>
<clbl:labelList xmlns:clbl="http://schemas.microsoft.com/office/2020/mipLabelMetadata"/>
</file>

<file path=docProps/app.xml><?xml version="1.0" encoding="utf-8"?>
<Properties xmlns="http://schemas.openxmlformats.org/officeDocument/2006/extended-properties" xmlns:vt="http://schemas.openxmlformats.org/officeDocument/2006/docPropsVTypes">
  <Template>{01E1B3A5-1AE4-4177-BC3F-C596D532C00B}TFf1460845-8e07-4b92-9183-e15be13008a218dbe6a5_win32-cc1095971745</Template>
  <TotalTime>1386</TotalTime>
  <Words>1877</Words>
  <Application>Microsoft Office PowerPoint</Application>
  <PresentationFormat>自訂</PresentationFormat>
  <Paragraphs>153</Paragraphs>
  <Slides>17</Slides>
  <Notes>1</Notes>
  <HiddenSlides>0</HiddenSlides>
  <MMClips>0</MMClips>
  <ScaleCrop>false</ScaleCrop>
  <HeadingPairs>
    <vt:vector size="6" baseType="variant">
      <vt:variant>
        <vt:lpstr>使用字型</vt:lpstr>
      </vt:variant>
      <vt:variant>
        <vt:i4>4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17</vt:i4>
      </vt:variant>
    </vt:vector>
  </HeadingPairs>
  <TitlesOfParts>
    <vt:vector size="22" baseType="lpstr">
      <vt:lpstr>ui-sans-serif</vt:lpstr>
      <vt:lpstr>Arial</vt:lpstr>
      <vt:lpstr>Century Gothic</vt:lpstr>
      <vt:lpstr>Palatino Linotype</vt:lpstr>
      <vt:lpstr>Custom</vt:lpstr>
      <vt:lpstr>TW-AUTOTRADER   台股買賣自動化系統</vt:lpstr>
      <vt:lpstr>大綱</vt:lpstr>
      <vt:lpstr>關於我</vt:lpstr>
      <vt:lpstr>PowerPoint 簡報</vt:lpstr>
      <vt:lpstr>系統簡介 </vt:lpstr>
      <vt:lpstr>系統優點</vt:lpstr>
      <vt:lpstr>實際運行展示</vt:lpstr>
      <vt:lpstr>Opencode+Finmind能做甚麼? =&gt;幫我做一個台灣2026前10大eps公司的走勢html</vt:lpstr>
      <vt:lpstr>Opencode+Finmind能做甚麼? =&gt;幫我做一個台灣2026前10便宜eps&gt;30公司的走勢html</vt:lpstr>
      <vt:lpstr>與AI(Deepseek R4 Flash)討論策略-1</vt:lpstr>
      <vt:lpstr>與AI(Deepseek R4 Flash)討論策略-2</vt:lpstr>
      <vt:lpstr>需要先申請的帳號/安裝軟件(PPT檔中有連接)</vt:lpstr>
      <vt:lpstr>Github</vt:lpstr>
      <vt:lpstr>怎樣申請Gcloud雲端主機-1 名稱為 tw-Autotrader(使用者自定) 的 VM 虛擬機器（Virtual Machine）。  這台機器的規格和特點如下： 位置：asia-east1-b（位於台灣彰濱工業區的機房，對台灣使用者而言連線速度最快）。 機型：e2-micro（配備 1 核心 vCPU、1 GB 記憶體），這是 Google 提供給新用戶或特定區域的輕量級機型。 作業系統：ubuntu-2204-jammy。  </vt:lpstr>
      <vt:lpstr>怎樣申請Gcloud雲端主機-2  </vt:lpstr>
      <vt:lpstr>快速設定靜態IP步驟（將現有 IP 轉為靜態） </vt:lpstr>
      <vt:lpstr>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宜軒 謝</dc:creator>
  <cp:lastModifiedBy>宜軒 謝</cp:lastModifiedBy>
  <cp:revision>3</cp:revision>
  <dcterms:created xsi:type="dcterms:W3CDTF">2026-07-14T08:04:07Z</dcterms:created>
  <dcterms:modified xsi:type="dcterms:W3CDTF">2026-07-21T16:24:15Z</dcterms:modified>
  <cp:version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  <property fmtid="{D5CDD505-2E9C-101B-9397-08002B2CF9AE}" pid="3" name="Order">
    <vt:r8>74069400</vt:r8>
  </property>
  <property fmtid="{D5CDD505-2E9C-101B-9397-08002B2CF9AE}" pid="4" name="HiddenCategoryTags">
    <vt:lpwstr/>
  </property>
  <property fmtid="{D5CDD505-2E9C-101B-9397-08002B2CF9AE}" pid="5" name="InternalTags">
    <vt:lpwstr/>
  </property>
  <property fmtid="{D5CDD505-2E9C-101B-9397-08002B2CF9AE}" pid="6" name="FeatureTags">
    <vt:lpwstr/>
  </property>
  <property fmtid="{D5CDD505-2E9C-101B-9397-08002B2CF9AE}" pid="7" name="LocalizationTags">
    <vt:lpwstr/>
  </property>
  <property fmtid="{D5CDD505-2E9C-101B-9397-08002B2CF9AE}" pid="8" name="CategoryTags">
    <vt:lpwstr/>
  </property>
  <property fmtid="{D5CDD505-2E9C-101B-9397-08002B2CF9AE}" pid="9" name="Applications">
    <vt:lpwstr/>
  </property>
  <property fmtid="{D5CDD505-2E9C-101B-9397-08002B2CF9AE}" pid="10" name="CampaignTags">
    <vt:lpwstr/>
  </property>
  <property fmtid="{D5CDD505-2E9C-101B-9397-08002B2CF9AE}" pid="11" name="ScenarioTags">
    <vt:lpwstr/>
  </property>
  <property fmtid="{D5CDD505-2E9C-101B-9397-08002B2CF9AE}" pid="12" name="MediaServiceImageTags">
    <vt:lpwstr/>
  </property>
</Properties>
</file>