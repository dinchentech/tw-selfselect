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theme/theme1.xml" ContentType="application/vnd.openxmlformats-officedocument.theme+xml"/>
  <Override PartName="/ppt/theme/theme14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media/image2.svg" ContentType="image/svg"/>
  <Override PartName="/ppt/media/image4.svg" ContentType="image/svg"/>
  <Override PartName="/ppt/media/image7.svg" ContentType="image/svg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請按這裡移動投影片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請按這裡編輯備註格式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&lt;頁首&gt;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3567035-CC05-48DF-9193-253203A1993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大家好，歡迎來到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TW-SELFSELECT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台股買賣自動化系統的第一堂課。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這套系統，是用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搭配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打造的——簡單說，就是讓電腦幫你看盤、幫你下單、用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Telegram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通知你買賣。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不管你有沒有程式基礎，這一整個系列課程結束之後，你都能把自己的投資策略，變成一台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小時自動運作的機器。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【講師提示】可以先問台下「有人寫過程式嗎？」建立互動，帶出「不用懂程式也能用」的安心感。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DA26F4-D5EE-4E54-AF0F-4126442755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先讓大家知道今天我們要聊什麼。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今天的內容包括：簡單認識我、系統簡介、什麼是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、什麼是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，接著會介紹系統內建的五大策略、怎麼回測、最後是實盤執行。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如果你對哪一段特別有興趣，也可以隨時舉手打斷我。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【講師提示】照著唸即可，這是課程地圖，節奏可以稍微快一點。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A033E61-0EE9-4290-815D-D173D4E6858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先自我介紹一下。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我是謝宜軒，交通大學資訊工程碩士，有三十年資訊軟硬體設計的經歷。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這套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tw-selfselect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台股買賣自動化系統，是我公開放在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上的專案——原始碼都看得到、可以學、可以改；授權為個人學習／研究使用，商業使用須經書面授權（詳見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LICENSE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【講師提示】可以順手把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網址投到畫面上，或請學員記下來。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E39548F-D9F6-48BC-B1F0-DF8EFE72C68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這套系統是為誰設計的？如果你符合以下任何一種情況，那你就是我們的目標客群：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第一，你已經有投資策略，但不知道怎麼把它變成量化的程式；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第二，你想投資台股，但沒時間盯盤；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第三，你覺得買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、像是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0050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那樣的收入，還不夠過癮。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關鍵字就是三個：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、策略量化、買賣自動化。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前提是：你懂電腦操作就好，不用懂寫程式。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不過我要先聲明一件事——我們教的是「策略量化」和「自動化」，不是股票投資建議。這一點很重要，請大家記住。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【講師提示】這是合規重點，語氣要認真、明確，可以停頓一下再繼續。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B911F02-2540-4DAC-81FB-43005C6DCC1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接下來介紹系統本身。這套系統最大的設計理念，就是「為非資訊背景的人設計」。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首先，每個雲端主機一個月的費用不到一百塊台幣；每個主機可以控制十五檔以內的個股。程式會自動開關機，省電也省錢。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買賣的時候，系統會用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Telegram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手機簡訊通知你——你不用一直盯著螢幕。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你可以自行設定要買賣的個股、策略和資金。不用寫程式，但我建議你至少看得懂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，這樣以後要調整參數會比較方便。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系統內建五組策略，另外預留四組讓你自己定義。回測資料方面，可以調用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TWSE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的歷史股市資料——這些都是免費的。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下單的部分，目前使用玉山證券的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，之後你也可以自行換成其他券商的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最後，我們會給你一份完整的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壓縮檔，所有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等工具都已經安裝好了，打開就能用。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【講師提示】這頁資訊量大，可以搭配畫面逐條指著講；提到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00632R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時可略作說明它是反向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範例。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373306F-64C1-4934-8ED6-0E950A9C427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為什麼要用這套系統？我列幾個優點給大家聽。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第一，原始碼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全部公開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（授權見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LICENSE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：個人學習／研究使用，商業使用須經書面授權）——沒有加密檔，所有程式都看得到、也改得動；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壓縮檔只是幫你省安裝時間而已。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第二，設定好策略之後，系統自動買賣，你不用整天盯盤。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第三，用免費的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TWSE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額度就可以回測，不用再花錢買資料庫。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第四，五大策略——布林通道、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 Cross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反轉、唐奇安通道、低接高賣——已經涵蓋大部分盤勢，另外還預留四個預備策略。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最後提醒：建議大家直接使用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上長期測試過的版本，你要做的就是修改內建策略參數，或是加上你自己的策略。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【講師提示】強調「公開源碼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建議用測試過的版本」兩件事不衝突：看得懂、改得動，但不必自己重造輪子。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86BE0C5-D666-4397-A9B1-5E58F94D6D1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左邊是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VM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實機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儀表板截圖（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2026-10-26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收盤後產生），右邊連結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https://dinchentech.github.io/tw-selfselect/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Pages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上的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示範頁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、資料是範例。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看圖時帶學員注意三點：①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KPI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卡片（已實現／未實現損益、報酬率）；② 持倉一覽多一欄「策略」——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1301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顯示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auto→bollinger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表示是系統當月選股買的，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keep_wait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的部位會直接標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keep_wait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，沒有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PC_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條目的就顯示「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」；③ 下面是資金曲線（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Chart.js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【講師提示】實機每天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13:45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產生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logs/dashboard.html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（只留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VM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、不進版控）；示範頁只是給學員「看長什麼樣子」，別把示範頁數字當績效。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6AD58E1-74CF-464C-A3CE-592A5D82D95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在進入正題之前，我先給大家看兩個例子，讓你們感受一下「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加上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Finmind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」到底能做到什麼程度。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我請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幫我做一個「台灣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年前十大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公司走勢」的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HTML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網頁。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為什麼用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HTML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？因為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HTML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能動態顯示——你可以勾選、取消勾選個股，畫面就會即時增減；滑鼠移到某個時間點，還會顯示那時候的資訊。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這不是靜態圖片，而是一個可以互動的分析工具。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【講師提示】可以現場示範勾選個股與滑鼠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hover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，這是「看得見的震撼」，比講十句話有用。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C1D4D45-2E69-4AA6-AB66-151AC4FBC11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第二個例子。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這次我請它做「台灣前十大、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大於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、而且便宜的公司」走勢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HTML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注意，這個條件是複合的——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要高、股價要相對便宜。這種「用一句話描述篩選條件、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直接幫你做出可互動網頁」的能力，就是這門課你們會反覆用到的工作方式。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【講師提示】強調「複合條件一句話完成」，這是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工作流的精髓預告。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D3F722D-E76C-4C7D-96FD-3C91FFB3150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接下來這個例子很重要，讓大家看看怎麼「跟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討論策略」。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我問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：我預期某檔股票——我們姑且叫它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XX——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股價還會上升，該用什麼策略？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分析後指出：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XX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是「結構性利多」加上「循環股標籤」的混合體。結構性利多讓它有向上空間，循環股標籤讓它波動極大。所以策略要同時兼顧這兩者。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它給了我四個方向：第一，核心部位加移動停利——大部分持倉抱緊吃主升段，但跌破季線或月線就減碼；第二，盯著毛利率和庫存轉折——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毛利率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38%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，是記憶體模組廠的史詩級數字，要小心的是毛利率連續兩季下滑、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DRAM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合約價漲幅收斂、存貨週轉天數攀升這些訊號；第三，分批出場——循環股的鐵律是不要妄想賣在最高點，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每過一個關卡出二到三成；第四，想清楚不利情境——漲多修正、市場重新定性，這些風險要先有心理準備。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【講師提示】這頁是「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能當策略軍師」的示範，講解時可以放慢，讓學員消化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的推理邏輯。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5EC74B2-F04A-44B3-9937-1D1DB418CAF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我接著問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：那「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以下買、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以上賣」可以嗎？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先幫我檢查數字——它說目前股價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233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，本來就已經在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以下，所以現在就是買點。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問題在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就賣：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XX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光是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Q1 EPS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元，就算後面三季保守估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元，全年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也有大約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57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元。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賣掉，本益比不到五倍。如果這波真的是結構性超級景氣，市場重新評價到八到十倍本益比，股價可以到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450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570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元——現在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就賣，等於賣在剛起漲的位置。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所以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建議：買的條件沒問題，但賣的條件要更動態——第一目標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出三分之一、第二目標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再出三分之一，留一部分看景氣能走到哪裡。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最後我要強調兩件事：第一，這是在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中的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問答，不是一般對話型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AI——DSH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會先掃描專案內所有檔案，才能針對這個專案回答；第二，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說的不全對，但是很有參考價值。這是我們面對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建議該有的心態。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【講師提示】這頁是全場重點，可以放慢到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分鐘。最後那句「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說的不全對，但很有參考價值」是這堂課的態度宣示，務必講清楚。（備答：這一頁示範的是自訂範本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`g1_strategy_1`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；現在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`keep_wait`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`max_entry_price`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`tp_tiers`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`price`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也能做同一件事，還多了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DCA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加碼、分層停利與冷卻——見策略說明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§9.5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§9.6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。學員若問「這要自己寫程式嗎？」可以這樣回答。）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2615081-73AF-4F9A-950C-59D27B150FC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好，接下來我們進入實作前的準備工作。總共有五件事要辦：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第一，申請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Google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帳號，並綁上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Google Pay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，用來申請雲端主機；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第二，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服務：本課程使用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DeepSeek Harness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）＋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deepseek-flash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，金鑰事先設好，不需要另外申請；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第三，申請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Finmind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的帳號和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Key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，這是回測資料來源，免費，但有一小時六百次的限制；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第四，申請玉山證券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API——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這個需要先開證券戶，會拿到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範例檔和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檔；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第五，在你的電腦上安裝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VSCode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，記得裝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Markdown All in One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插件，然後在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CMD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底下執行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 --install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安裝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。手機上要裝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Telegram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，並申請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Bot Token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【講師提示】這頁是功課清單，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檔裡有連結，提醒學員回家照著做。可以逐一編號講，節奏明快。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B470896-380A-4759-8337-13DCE59BEDA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所有教學資源、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恢復檔的說明，都放在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上。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請大家到我們的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專案頁面，找到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WSL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恢復的說明文件，先把環境準備好。下一頁開始，我們會實際走一遍雲端主機的申請流程。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【講師提示】過場頁，快速帶過即可。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1EECC46-612B-446B-A38F-2A378798B38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接下來是今天的重頭戲：怎麼申請一台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Google Cloud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雲端主機。我會照著畫面一步一步帶大家做。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這台機器我們取名為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tw-selfselect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（名稱可自取；本機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.env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SYNC_VM_NAME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要填同名），規格是：位置在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asia-east1-b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，也就是台灣彰濱工業區的機房，對台灣使用者來說連線速度最快；機型是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e2-micro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，一核心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vCPU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1GB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記憶體；作業系統用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ubuntu-2204-jammy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第一步，註冊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Google Cloud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帳戶並開通免費試用：用你的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Google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帳戶登入官網，點「免費開始使用」，填基本資料、綁定一張信用卡或金融卡。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不用擔心，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Google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綁定信用卡主要是驗證真人身份，在你手動升級為付費帳戶之前不會自動扣款。註冊成功通常會拿到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美元的免費試用額度，限期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天。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第二步，建立新專案：進到控制台，點「新建專案」，取個名字，比如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my-trader-project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【講師提示】操作型頁面，建議邊講邊示範，或請學員跟著操作；學員卡關就停下來等。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066E57A-13D5-413F-917C-833A2BA3C32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第三步，建立跟圖片一模一樣的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VM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虛擬機器。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點左上角導覽選單，找到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 Engine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，選「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VM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執行個體」。第一次使用會提示啟用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 Engine API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，點啟用，等幾分鐘。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接著點「建立執行個體」，照著規格設定：名稱輸入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tw-selfselect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（可自取，需與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.env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SYNC_VM_NAME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一致）；區域選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asia-east1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，可用區選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asia-east1-b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；機器組態選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系列、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e2-micro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類型；開機磁碟點「變更」，作業系統選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Ubuntu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、版本選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22.04 LTS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防火牆的部分：如果這台機器未來要架網站或對外連線，就勾選「允許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流量」和「允許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流量」。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確認右側預估費用後，點「建立」。建立完成後，你就能在列表看到這台機器在運行，透過「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SSH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」按鈕就能連進去操作。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【講師提示】建議提醒學員：規格必須跟圖片一致，不要自己升級，省錢是這堂課的重點。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D0891C8-1B30-426E-9778-DAC44AD06E1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機器建好之後，還有一個關鍵動作：把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轉成靜態。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為什麼要這樣做？因為預設的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是暫時的——機器重啟或關機後就可能變動。但玉山證券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需要設定白名單，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一變就麻煩了。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步驟如下：進到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GCP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控制台，點導覽選單，找到「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VPC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網路」裡的「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位址」。你會看到一筆分配給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tw-selfselect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IP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，類型顯示「外網／暫時」。點右側的三個點，選「保留靜態外部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位址」，取個名字，比如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tw-selfselect-static-ip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，然後點「保留」。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請把這個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記錄下來——等一下申請玉山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的時候，要拿它去設白名單。設定完成後，類型會變成「靜態」，以後不管機器怎麼重啟關機，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都不會變了。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【講師提示】強調「記錄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IP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」這個動作，學員最常在這裡漏掉。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0F58037-E79D-492C-BCDC-34A494A6C2F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好，今天的課程到這裡。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我是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frank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，信箱是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frank@dinchen.com.tw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，有任何問題歡迎寫信給我。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今天的功課：把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slide-12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的五個帳號申請好、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Gcloud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機器建起來、靜態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設好。下週我們會開始裝系統、跑回測。我們下次見！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【講師提示】收尾節奏明快，把功課清單再唸一次，加強記憶。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9FE504B-4531-4D61-A465-CBFD295549C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Cross 8"/>
          <p:cNvSpPr/>
          <p:nvPr/>
        </p:nvSpPr>
        <p:spPr>
          <a:xfrm>
            <a:off x="8151840" y="56707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482495A3-48C5-4D57-A757-9FA286738BA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3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" name="Cross 14"/>
          <p:cNvSpPr/>
          <p:nvPr/>
        </p:nvSpPr>
        <p:spPr>
          <a:xfrm>
            <a:off x="7351560" y="44197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0" name="Freeform: Shape 4"/>
          <p:cNvSpPr/>
          <p:nvPr/>
        </p:nvSpPr>
        <p:spPr>
          <a:xfrm>
            <a:off x="8609040" y="-21960"/>
            <a:ext cx="3579120" cy="6901200"/>
          </a:xfrm>
          <a:custGeom>
            <a:avLst/>
            <a:gdLst>
              <a:gd name="textAreaLeft" fmla="*/ 0 w 3579120"/>
              <a:gd name="textAreaRight" fmla="*/ 3579840 w 3579120"/>
              <a:gd name="textAreaTop" fmla="*/ 0 h 6901200"/>
              <a:gd name="textAreaBottom" fmla="*/ 6901920 h 690120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4"/>
          <p:cNvSpPr/>
          <p:nvPr/>
        </p:nvSpPr>
        <p:spPr>
          <a:xfrm>
            <a:off x="6703920" y="838080"/>
            <a:ext cx="5028480" cy="5028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2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3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360" cy="3809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4D22240F-B50E-47CD-B678-4B6A8FFD78EC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6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680" cy="2687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560" cy="528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1" name="Cross 2"/>
          <p:cNvSpPr/>
          <p:nvPr/>
        </p:nvSpPr>
        <p:spPr>
          <a:xfrm>
            <a:off x="7130160" y="3969360"/>
            <a:ext cx="640080" cy="640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22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3320" cy="55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ross 5"/>
          <p:cNvSpPr/>
          <p:nvPr/>
        </p:nvSpPr>
        <p:spPr>
          <a:xfrm>
            <a:off x="6368040" y="2407320"/>
            <a:ext cx="640080" cy="640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360" cy="438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4"/>
          <p:cNvSpPr/>
          <p:nvPr/>
        </p:nvSpPr>
        <p:spPr>
          <a:xfrm>
            <a:off x="6361200" y="1317240"/>
            <a:ext cx="5028480" cy="5028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42969B83-B38F-4D93-9BDD-7B55E0BD43C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9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00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8CFC39C7-A69D-40D0-BA64-645C6E520CA4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040" cy="39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3240" cy="686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280" cy="388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Cross 2"/>
          <p:cNvSpPr/>
          <p:nvPr/>
        </p:nvSpPr>
        <p:spPr>
          <a:xfrm>
            <a:off x="10975680" y="49870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Cross 3"/>
          <p:cNvSpPr/>
          <p:nvPr/>
        </p:nvSpPr>
        <p:spPr>
          <a:xfrm>
            <a:off x="10118880" y="35812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eform: Shape 9"/>
          <p:cNvSpPr/>
          <p:nvPr/>
        </p:nvSpPr>
        <p:spPr>
          <a:xfrm>
            <a:off x="7026120" y="0"/>
            <a:ext cx="4460760" cy="1980360"/>
          </a:xfrm>
          <a:custGeom>
            <a:avLst/>
            <a:gdLst>
              <a:gd name="textAreaLeft" fmla="*/ 0 w 4460760"/>
              <a:gd name="textAreaRight" fmla="*/ 4461480 w 4460760"/>
              <a:gd name="textAreaTop" fmla="*/ 0 h 1980360"/>
              <a:gd name="textAreaBottom" fmla="*/ 1981080 h 198036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6" name="Rectangle 2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BC1D9C62-FB4F-413C-B5F8-21760B057FC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000" cy="3504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Freeform: Shape 16"/>
          <p:cNvSpPr/>
          <p:nvPr/>
        </p:nvSpPr>
        <p:spPr>
          <a:xfrm>
            <a:off x="7026120" y="0"/>
            <a:ext cx="4460760" cy="1980360"/>
          </a:xfrm>
          <a:custGeom>
            <a:avLst/>
            <a:gdLst>
              <a:gd name="textAreaLeft" fmla="*/ 0 w 4460760"/>
              <a:gd name="textAreaRight" fmla="*/ 4461480 w 4460760"/>
              <a:gd name="textAreaTop" fmla="*/ 0 h 1980360"/>
              <a:gd name="textAreaBottom" fmla="*/ 1981080 h 198036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Rectangle 1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Cross 5"/>
          <p:cNvSpPr/>
          <p:nvPr/>
        </p:nvSpPr>
        <p:spPr>
          <a:xfrm>
            <a:off x="6683040" y="139716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Cross 6"/>
          <p:cNvSpPr/>
          <p:nvPr/>
        </p:nvSpPr>
        <p:spPr>
          <a:xfrm>
            <a:off x="11085480" y="5638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4404540-3DE9-4D65-BA4E-5B6234FD1407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12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12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Freeform: Shape 14"/>
          <p:cNvSpPr/>
          <p:nvPr/>
        </p:nvSpPr>
        <p:spPr>
          <a:xfrm>
            <a:off x="9958320" y="0"/>
            <a:ext cx="2229840" cy="1980360"/>
          </a:xfrm>
          <a:custGeom>
            <a:avLst/>
            <a:gdLst>
              <a:gd name="textAreaLeft" fmla="*/ 0 w 2229840"/>
              <a:gd name="textAreaRight" fmla="*/ 2230560 w 2229840"/>
              <a:gd name="textAreaTop" fmla="*/ 0 h 1980360"/>
              <a:gd name="textAreaBottom" fmla="*/ 1981080 h 198036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Rectangle 1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Cross 2"/>
          <p:cNvSpPr/>
          <p:nvPr/>
        </p:nvSpPr>
        <p:spPr>
          <a:xfrm>
            <a:off x="7846920" y="3808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5" name="Cross 4"/>
          <p:cNvSpPr/>
          <p:nvPr/>
        </p:nvSpPr>
        <p:spPr>
          <a:xfrm>
            <a:off x="8559720" y="1066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59B2745-0E8A-4B81-9E98-8BB8FE49945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12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12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Freeform: Shape 8"/>
          <p:cNvSpPr/>
          <p:nvPr/>
        </p:nvSpPr>
        <p:spPr>
          <a:xfrm>
            <a:off x="2131920" y="0"/>
            <a:ext cx="7923960" cy="6857280"/>
          </a:xfrm>
          <a:custGeom>
            <a:avLst/>
            <a:gdLst>
              <a:gd name="textAreaLeft" fmla="*/ 0 w 7923960"/>
              <a:gd name="textAreaRight" fmla="*/ 7924680 w 7923960"/>
              <a:gd name="textAreaTop" fmla="*/ 0 h 6857280"/>
              <a:gd name="textAreaBottom" fmla="*/ 6858000 h 685728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Left Brace 7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2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760" cy="23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7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7" name="Freeform: Shape 12"/>
          <p:cNvSpPr/>
          <p:nvPr/>
        </p:nvSpPr>
        <p:spPr>
          <a:xfrm>
            <a:off x="0" y="1440"/>
            <a:ext cx="3427560" cy="6855840"/>
          </a:xfrm>
          <a:custGeom>
            <a:avLst/>
            <a:gdLst>
              <a:gd name="textAreaLeft" fmla="*/ 0 w 3427560"/>
              <a:gd name="textAreaRight" fmla="*/ 3428280 w 3427560"/>
              <a:gd name="textAreaTop" fmla="*/ 0 h 6855840"/>
              <a:gd name="textAreaBottom" fmla="*/ 6856560 h 685584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080" cy="5295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080" cy="285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Cross 13"/>
          <p:cNvSpPr/>
          <p:nvPr/>
        </p:nvSpPr>
        <p:spPr>
          <a:xfrm>
            <a:off x="4837680" y="91440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Cross 14"/>
          <p:cNvSpPr/>
          <p:nvPr/>
        </p:nvSpPr>
        <p:spPr>
          <a:xfrm>
            <a:off x="3085200" y="56959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Left Brace 1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val 6"/>
          <p:cNvSpPr/>
          <p:nvPr/>
        </p:nvSpPr>
        <p:spPr>
          <a:xfrm>
            <a:off x="6703920" y="1148400"/>
            <a:ext cx="4560480" cy="4560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84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5640" cy="566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Cross 8"/>
          <p:cNvSpPr/>
          <p:nvPr/>
        </p:nvSpPr>
        <p:spPr>
          <a:xfrm>
            <a:off x="10818720" y="535320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10"/>
          <p:cNvSpPr/>
          <p:nvPr/>
        </p:nvSpPr>
        <p:spPr>
          <a:xfrm>
            <a:off x="6336000" y="805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000" cy="403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000" cy="110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280" cy="5090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Oval 4"/>
          <p:cNvSpPr/>
          <p:nvPr/>
        </p:nvSpPr>
        <p:spPr>
          <a:xfrm>
            <a:off x="3274920" y="609480"/>
            <a:ext cx="5637960" cy="563796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1" name="Left Brace 7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2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760" cy="28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jpe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https://github.com/dinchentech/tw-autotrader/blob/main/python_basic/3-gcp-setup.md" TargetMode="External"/><Relationship Id="rId2" Type="http://schemas.openxmlformats.org/officeDocument/2006/relationships/hyperlink" Target="https://openrouter.ai/" TargetMode="External"/><Relationship Id="rId3" Type="http://schemas.openxmlformats.org/officeDocument/2006/relationships/hyperlink" Target="https://finmindtrade.com/analysis/#/data/api" TargetMode="External"/><Relationship Id="rId4" Type="http://schemas.openxmlformats.org/officeDocument/2006/relationships/hyperlink" Target="https://esuntradingapi.esunsec.com.tw/keys/Home/Index" TargetMode="External"/><Relationship Id="rId5" Type="http://schemas.openxmlformats.org/officeDocument/2006/relationships/hyperlink" Target="https://esuntradingapi.esunsec.com.tw/keys/Home/Index" TargetMode="External"/><Relationship Id="rId6" Type="http://schemas.openxmlformats.org/officeDocument/2006/relationships/hyperlink" Target="https://code.visualstudio.com/" TargetMode="External"/><Relationship Id="rId7" Type="http://schemas.openxmlformats.org/officeDocument/2006/relationships/hyperlink" Target="https://marketplace.visualstudio.com/items?itemName=ms-vscode-remote.remote-wsl" TargetMode="External"/><Relationship Id="rId8" Type="http://schemas.openxmlformats.org/officeDocument/2006/relationships/hyperlink" Target="https://marketplace.visualstudio.com/items?itemName=yzhang.markdown-all-in-one" TargetMode="External"/><Relationship Id="rId9" Type="http://schemas.openxmlformats.org/officeDocument/2006/relationships/hyperlink" Target="https://github.com/dinchentech/tw-autotrader/blob/main/WSL&#24674;&#24489;.md" TargetMode="External"/><Relationship Id="rId10" Type="http://schemas.openxmlformats.org/officeDocument/2006/relationships/hyperlink" Target="https://github.com/dinchentech/tw-autotrader/blob/main/WSL&#24674;&#24489;.md" TargetMode="External"/><Relationship Id="rId11" Type="http://schemas.openxmlformats.org/officeDocument/2006/relationships/hyperlink" Target="https://github.com/dinchentech/tw-autotrader/blob/main/WSL&#24674;&#24489;.md" TargetMode="Externa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s://youtu.be/atqcAb7MFAM?si=uJu7R7h8OElpUUX-" TargetMode="Externa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https://cloud.google.com/free?hl=zh-TW" TargetMode="External"/><Relationship Id="rId2" Type="http://schemas.openxmlformats.org/officeDocument/2006/relationships/hyperlink" Target="https://console.cloud.google.com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hyperlink" Target="https://www.skills.google/focuses/3563?locale=zh_TW&amp;parent=catalog" TargetMode="External"/><Relationship Id="rId2" Type="http://schemas.openxmlformats.org/officeDocument/2006/relationships/hyperlink" Target="https://clone-info.net/gcp-always-free-vps-setup-guid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https://console.cloud.google.com/" TargetMode="External"/><Relationship Id="rId2" Type="http://schemas.openxmlformats.org/officeDocument/2006/relationships/hyperlink" Target="https://esuntradingapi.esunsec.com.tw/keys/Home/Index" TargetMode="External"/><Relationship Id="rId3" Type="http://schemas.openxmlformats.org/officeDocument/2006/relationships/hyperlink" Target="https://esuntradingapi.esunsec.com.tw/keys/Home/Inde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280" cy="388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080" cy="5295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大綱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932520" y="723960"/>
            <a:ext cx="4571280" cy="537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關於我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系統簡介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 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現有策略介紹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策略的回測與建立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實盤執行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000" cy="403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關於我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8040" y="4876920"/>
            <a:ext cx="6372000" cy="110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謝宜軒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交通大學資訊工程碩士</a:t>
            </a:r>
            <a:br>
              <a:rPr sz="2000"/>
            </a:b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三十年資訊軟硬件設計經歷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https://github.com/dinchentech/tw-selfselect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台股買賣自動化系統作者（原始碼公開）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106" name="Picture Placeholder 44" descr="Chart on a mobile device"/>
          <p:cNvSpPr/>
          <p:nvPr/>
        </p:nvSpPr>
        <p:spPr>
          <a:xfrm>
            <a:off x="7765200" y="883440"/>
            <a:ext cx="2438280" cy="5090400"/>
          </a:xfrm>
          <a:custGeom>
            <a:avLst/>
            <a:gdLst>
              <a:gd name="textAreaLeft" fmla="*/ 0 w 2438280"/>
              <a:gd name="textAreaRight" fmla="*/ 2439000 w 2438280"/>
              <a:gd name="textAreaTop" fmla="*/ 0 h 5090400"/>
              <a:gd name="textAreaBottom" fmla="*/ 5091120 h 5090400"/>
              <a:gd name="GluePoint1X" fmla="*/ 340815 w 2439096"/>
              <a:gd name="GluePoint1Y" fmla="*/ 0 h 5091059"/>
              <a:gd name="GluePoint2X" fmla="*/ 2098281 w 2439096"/>
              <a:gd name="GluePoint2Y" fmla="*/ 0 h 5091059"/>
              <a:gd name="GluePoint3X" fmla="*/ 2439096 w 2439096"/>
              <a:gd name="GluePoint3Y" fmla="*/ 340815 h 5091059"/>
              <a:gd name="GluePoint4X" fmla="*/ 2439096 w 2439096"/>
              <a:gd name="GluePoint4Y" fmla="*/ 495300 h 5091059"/>
              <a:gd name="GluePoint5X" fmla="*/ 2439096 w 2439096"/>
              <a:gd name="GluePoint5Y" fmla="*/ 4750244 h 5091059"/>
              <a:gd name="GluePoint6X" fmla="*/ 2098281 w 2439096"/>
              <a:gd name="GluePoint6Y" fmla="*/ 5091059 h 5091059"/>
              <a:gd name="GluePoint7X" fmla="*/ 340815 w 2439096"/>
              <a:gd name="GluePoint7Y" fmla="*/ 5091059 h 5091059"/>
              <a:gd name="GluePoint8X" fmla="*/ 0 w 2439096"/>
              <a:gd name="GluePoint8Y" fmla="*/ 4750244 h 5091059"/>
              <a:gd name="GluePoint9X" fmla="*/ 0 w 2439096"/>
              <a:gd name="GluePoint9Y" fmla="*/ 495300 h 5091059"/>
              <a:gd name="GluePoint10X" fmla="*/ 0 w 2439096"/>
              <a:gd name="GluePoint10Y" fmla="*/ 340815 h 5091059"/>
              <a:gd name="GluePoint11X" fmla="*/ 340815 w 2439096"/>
              <a:gd name="GluePoint11Y" fmla="*/ 0 h 5091059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</a:cxnLst>
            <a:rect l="textAreaLeft" t="textAreaTop" r="textAreaRight" b="textAreaBottom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圖片 4"/>
          <p:cNvPicPr/>
          <p:nvPr/>
        </p:nvPicPr>
        <p:blipFill>
          <a:blip r:embed="rId2"/>
          <a:stretch/>
        </p:blipFill>
        <p:spPr>
          <a:xfrm>
            <a:off x="2131920" y="533520"/>
            <a:ext cx="2952360" cy="3182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8" name="圖片 8"/>
          <p:cNvPicPr/>
          <p:nvPr/>
        </p:nvPicPr>
        <p:blipFill>
          <a:blip r:embed="rId3"/>
          <a:stretch/>
        </p:blipFill>
        <p:spPr>
          <a:xfrm>
            <a:off x="7765200" y="1523880"/>
            <a:ext cx="2438280" cy="4172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84360" y="-4076640"/>
            <a:ext cx="10286280" cy="388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914400">
              <a:buNone/>
              <a:tabLst>
                <a:tab pos="0" algn="l"/>
              </a:tabLst>
            </a:pP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684360" y="457200"/>
            <a:ext cx="10895760" cy="567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8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目標客群</a:t>
            </a:r>
            <a:r>
              <a:rPr lang="en-US" sz="8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endParaRPr lang="en-US" sz="8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737360" lvl="1" indent="-11430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Century Gothic"/>
              <a:buAutoNum type="arabicPeriod"/>
              <a:tabLst>
                <a:tab pos="0" algn="l"/>
              </a:tabLst>
            </a:pPr>
            <a:r>
              <a:rPr lang="zh-TW" sz="5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有策略不知如何量化</a:t>
            </a:r>
            <a:endParaRPr lang="en-US" sz="5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737360" lvl="1" indent="-11430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Century Gothic"/>
              <a:buAutoNum type="arabicPeriod"/>
              <a:tabLst>
                <a:tab pos="0" algn="l"/>
              </a:tabLst>
            </a:pPr>
            <a:r>
              <a:rPr lang="zh-TW" sz="5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想投資台股，沒時間看盤</a:t>
            </a:r>
            <a:endParaRPr lang="en-US" sz="5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737360" lvl="1" indent="-11430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Century Gothic"/>
              <a:buAutoNum type="arabicPeriod"/>
              <a:tabLst>
                <a:tab pos="0" algn="l"/>
              </a:tabLst>
            </a:pPr>
            <a:r>
              <a:rPr lang="zh-TW" sz="5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覺得</a:t>
            </a:r>
            <a:r>
              <a:rPr lang="en-US" sz="5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ETF(0050)</a:t>
            </a:r>
            <a:r>
              <a:rPr lang="zh-TW" sz="5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收入還不行</a:t>
            </a:r>
            <a:endParaRPr lang="en-US" sz="5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關鍵字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  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AI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</a:t>
            </a: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量化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買賣</a:t>
            </a: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自動化</a:t>
            </a:r>
            <a:endParaRPr lang="en-US" sz="4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前提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 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懂</a:t>
            </a: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電腦操作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不用懂</a:t>
            </a: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編程</a:t>
            </a:r>
            <a:endParaRPr lang="en-US" sz="4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澄清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 </a:t>
            </a: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我們教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策略量化</a:t>
            </a: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自動化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非</a:t>
            </a: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股票投資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!</a:t>
            </a:r>
            <a:endParaRPr lang="en-US" sz="4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2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系統簡介</a:t>
            </a: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768360" y="304920"/>
            <a:ext cx="4571280" cy="579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為非資訊背景人員設計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每個雲主機月費不到百元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每個雲主機可控制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15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個以內個股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程式自動開關機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以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Telegram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手機簡訊通知買賣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自行設定買賣個股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資金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不用編程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但建議能看懂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內建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組策略，另預留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4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組自訂範本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能調用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Finmind, TWSE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過去股市資料回測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使用玉山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API,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使用者可自行替代其他卷商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API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完整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壓縮檔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已經安裝好所有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Python/DSH/…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工具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系統優點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715702F1-8316-4893-96FF-FB55D0C3912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6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1311120" y="2286000"/>
            <a:ext cx="699228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原始碼全部公開在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GitHub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（授權見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LICENSE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：個人學習／研究使用），可直接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git clone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；沒有加密檔，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壓縮檔只是省安裝時間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設定好策略後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自動買賣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不用整天盯盤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利用免費的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TWSE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Finmind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額度即可回測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不用再花錢買資料庫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五大策略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布林通道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/MA Cross/VWAP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唐奇安通道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低接高賣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已含括大部分盤勢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並預留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個預備策略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建議以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repo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上長期測試過的版本為主，只要修改內建策略參數或加上你自己的策略即可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實際運行展示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41F75901-F7BB-498E-9EAA-DADBFA6165F6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8" name="Picture 18" descr="dashboard_real_20261026.png"/>
          <p:cNvPicPr/>
          <p:nvPr/>
        </p:nvPicPr>
        <p:blipFill>
          <a:blip r:embed="rId1"/>
          <a:stretch/>
        </p:blipFill>
        <p:spPr>
          <a:xfrm>
            <a:off x="567000" y="1298520"/>
            <a:ext cx="6308640" cy="4829400"/>
          </a:xfrm>
          <a:prstGeom prst="rect">
            <a:avLst/>
          </a:prstGeom>
          <a:noFill/>
          <a:ln w="9525">
            <a:solidFill>
              <a:srgbClr val="BFC7D1"/>
            </a:solidFill>
            <a:round/>
          </a:ln>
        </p:spPr>
      </p:pic>
      <p:sp>
        <p:nvSpPr>
          <p:cNvPr id="119" name="Rectangle 19"/>
          <p:cNvSpPr/>
          <p:nvPr/>
        </p:nvSpPr>
        <p:spPr>
          <a:xfrm>
            <a:off x="6903720" y="1298520"/>
            <a:ext cx="5028480" cy="5229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120" name="TextBox 20"/>
          <p:cNvSpPr/>
          <p:nvPr/>
        </p:nvSpPr>
        <p:spPr>
          <a:xfrm>
            <a:off x="7132320" y="1444680"/>
            <a:ext cx="4571280" cy="50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45000" anchor="t">
            <a:spAutoFit/>
          </a:bodyPr>
          <a:p>
            <a:pPr defTabSz="914400">
              <a:lnSpc>
                <a:spcPct val="100000"/>
              </a:lnSpc>
              <a:spcBef>
                <a:spcPts val="1599"/>
              </a:spcBef>
            </a:pPr>
            <a:r>
              <a:rPr lang="zh-TW" sz="2400" b="1" u="none" strike="noStrike">
                <a:solidFill>
                  <a:srgbClr val="111111"/>
                </a:solidFill>
                <a:effectLst/>
                <a:uFillTx/>
                <a:latin typeface="Yu Gothic UI"/>
              </a:rPr>
              <a:t>線上儀表板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lang="zh-TW" sz="15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實機畫面（</a:t>
            </a:r>
            <a:r>
              <a:rPr lang="en-US" sz="15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VM</a:t>
            </a:r>
            <a:r>
              <a:rPr lang="zh-TW" sz="15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，</a:t>
            </a:r>
            <a:r>
              <a:rPr lang="en-US" sz="15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2026-10-26</a:t>
            </a:r>
            <a:r>
              <a:rPr lang="zh-TW" sz="15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lang="en-US" sz="135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https://dinchentech.github.io/tw-selfselect/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599"/>
              </a:spcBef>
            </a:pPr>
            <a:r>
              <a:rPr lang="zh-TW" sz="1700" b="1" u="none" strike="noStrike">
                <a:solidFill>
                  <a:srgbClr val="111111"/>
                </a:solidFill>
                <a:effectLst/>
                <a:uFillTx/>
                <a:latin typeface="Yu Gothic UI"/>
              </a:rPr>
              <a:t>內容：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lang="en-US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• KPI </a:t>
            </a:r>
            <a:r>
              <a:rPr lang="zh-TW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卡片：已實現／未實現損益、報酬率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lang="en-US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• 持倉一覽：代號、股數、成本、現價、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lang="zh-TW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　市值、損益，多一欄「策略」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lang="en-US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• 資金曲線（</a:t>
            </a:r>
            <a:r>
              <a:rPr lang="en-US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Chart.js</a:t>
            </a:r>
            <a:r>
              <a:rPr lang="zh-TW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）與交易明細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lang="en-US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• VM </a:t>
            </a:r>
            <a:r>
              <a:rPr lang="zh-TW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每日 </a:t>
            </a:r>
            <a:r>
              <a:rPr lang="en-US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13:45 </a:t>
            </a:r>
            <a:r>
              <a:rPr lang="zh-TW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產生 </a:t>
            </a:r>
            <a:r>
              <a:rPr lang="en-US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logs/dashboard.html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lang="zh-TW" sz="14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（線上示範頁為範例資料；左圖為 </a:t>
            </a:r>
            <a:r>
              <a:rPr lang="en-US" sz="14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VM </a:t>
            </a:r>
            <a:r>
              <a:rPr lang="zh-TW" sz="14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實機畫面）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36260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 + Finmind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能做甚麼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br>
              <a:rPr sz="3200"/>
            </a:b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=&gt;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幫我做一個台灣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2026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10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大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eps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公司的走勢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1293840" y="1828800"/>
            <a:ext cx="318204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Why HTML?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HTML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能動態顯示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.enable/disable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個股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移動鼠標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顯示該時間點資訊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23" name="內容版面配置區 6"/>
          <p:cNvPicPr/>
          <p:nvPr/>
        </p:nvPicPr>
        <p:blipFill>
          <a:blip r:embed="rId1"/>
          <a:stretch/>
        </p:blipFill>
        <p:spPr>
          <a:xfrm>
            <a:off x="4893120" y="1828800"/>
            <a:ext cx="6763320" cy="414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D2B605FB-E532-47B7-8E61-BF9FE2810F1C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1217520" y="380880"/>
            <a:ext cx="1059120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 + Finmind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能做甚麼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br>
              <a:rPr sz="3200"/>
            </a:b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=&gt;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幫我做一個台灣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2026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10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便宜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eps&gt;30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公司的走勢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25" name="內容版面配置區 10"/>
          <p:cNvPicPr/>
          <p:nvPr/>
        </p:nvPicPr>
        <p:blipFill>
          <a:blip r:embed="rId1"/>
          <a:stretch/>
        </p:blipFill>
        <p:spPr>
          <a:xfrm>
            <a:off x="2286000" y="1267920"/>
            <a:ext cx="8381160" cy="540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8CD97A06-AECB-45BB-956C-4770CF485E29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311120" y="266760"/>
            <a:ext cx="1066716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deepseek-flash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379440" y="914400"/>
            <a:ext cx="6552360" cy="533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核心矛盾：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XX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是「結構性利多」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+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「循環股標籤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」的混合體。結構性利多讓它有向上空間，循環股標籤讓波動極大。策略要同時兼顧這兩者。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適合考慮的方向：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核心部位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移動停利 大部分持倉抱著吃主升段，但設一個動態出場條件——例如跌破 季線（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60MA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 或 月線 減碼一部分。循環股最大的風險不是看錯方向，而是抱上去又抱下來。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盯著毛利率和庫存轉折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XX Q1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毛利率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38%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，這在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memory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模組廠是史詩級數字。真正該警覺的信號是：毛利率連續兩季下滑（代表漲價動能減弱）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DRAM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合約價漲幅收斂到個位數存貨週轉天數從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183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天繼續攀升但營收沒跟上那時即使股價還在漲，也要開始收了。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分批出場計畫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循環股的鐵律：不要妄想賣在最高點。 可以先設幾個目標價區間（比如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300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400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），每過一個關卡出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20~30%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，最後留一些看能不能吃到泡沫。這樣即使後面繼續漲也不會心態炸裂。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不利情境的準備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目前的風險不是景氣反轉（你說了一兩年內不太可能），而是：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漲多修正 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YTD +22%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了，中間一定會有回檔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市場突然重新定性 — 如果哪天市場把記憶體股從「循環股」重新評為「成長股」，反而是大利多，但這個過程不會平滑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先想清楚你要賺的是哪一段，再決定策略。如果需要，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我可以幫你用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TWSE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資料跑一下十銓的技術面支撐壓力區間。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7085160" y="914400"/>
            <a:ext cx="4571280" cy="49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我預期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xx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股價還會上升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你認為這要用甚麼策略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5D2868FF-202F-4554-97FE-71D5DBF26C5F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311120" y="266760"/>
            <a:ext cx="1066716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deepseek-flash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379440" y="914400"/>
            <a:ext cx="6552360" cy="533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這個策略簡單明瞭，但我想幫你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check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一下數字：目前股價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233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，已經在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250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以下了，所以其實現在就已經是買點。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問題在於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280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就賣：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XX 2026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年光是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Q1 EPS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27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就算後面三季保守估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元，全年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EPS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也有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~57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280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賣掉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本益比不到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如果這一波真的是結構性超級景氣，市場稍微重新評價到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810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倍本益比，股價可以到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**450~570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。現在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280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就賣，可能會賣在剛開始起漲的位置。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比較合理的做法：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250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以下買 → 這沒問題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，現在就可以建立部位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但賣的條件可以更動態——不要鎖死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280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，而是跟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EPS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的實際成長 掛鉤。例如：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第一目標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300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出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1/3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第二目標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400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出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1/3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留一部分看景氣能走到什麼時候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單純鎖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250~280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區間，等於是預設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XX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只值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倍本益比——如果結構性利多真的兌現，這個假設可能會讓你把魚頭魚身都錯過。要設一個讓自己不會後悔的出場計畫比較實際。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7085160" y="914400"/>
            <a:ext cx="4571280" cy="49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keep 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wait 250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以下買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,280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以上賣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2" name="文字方塊 5"/>
          <p:cNvSpPr/>
          <p:nvPr/>
        </p:nvSpPr>
        <p:spPr>
          <a:xfrm>
            <a:off x="7237440" y="2385360"/>
            <a:ext cx="4190400" cy="147672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請注意這是在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DSH</a:t>
            </a:r>
            <a:r>
              <a:rPr lang="zh-TW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中的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AI</a:t>
            </a:r>
            <a:r>
              <a:rPr lang="zh-TW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問答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,</a:t>
            </a:r>
            <a:r>
              <a:rPr lang="zh-TW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不是一般對話型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AI</a:t>
            </a:r>
            <a:r>
              <a:rPr lang="zh-TW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的回答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, DSH</a:t>
            </a:r>
            <a:r>
              <a:rPr lang="zh-TW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會先掃描專案內的所有檔案才有辦法針對本專案來回答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AI</a:t>
            </a:r>
            <a:r>
              <a:rPr lang="zh-TW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說的不全對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,</a:t>
            </a:r>
            <a:r>
              <a:rPr lang="zh-TW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但是很有參考價值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3969077D-67AB-4283-B099-A65D763FE216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1320120" y="343080"/>
            <a:ext cx="843120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需要先申請的帳號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安裝軟件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(PPT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檔中有連接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019BF83C-7201-4440-9F08-F5285D56BFDF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35" name="內容版面配置區 6"/>
          <p:cNvGraphicFramePr/>
          <p:nvPr/>
        </p:nvGraphicFramePr>
        <p:xfrm>
          <a:off x="1446120" y="800280"/>
          <a:ext cx="9676800" cy="5853960"/>
        </p:xfrm>
        <a:graphic>
          <a:graphicData uri="http://schemas.openxmlformats.org/drawingml/2006/table">
            <a:tbl>
              <a:tblPr/>
              <a:tblGrid>
                <a:gridCol w="2119320"/>
                <a:gridCol w="7557840"/>
              </a:tblGrid>
              <a:tr h="1039320"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01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Google 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帳號並綁上</a:t>
                      </a: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google pay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來</a:t>
                      </a:r>
                      <a:r>
                        <a:rPr lang="zh-TW" sz="33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1"/>
                        </a:rPr>
                        <a:t>申請雲端主機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1039320"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02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33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2"/>
                        </a:rPr>
                        <a:t>（本課程統一用 DeepSeek 官方模型，避免金鑰與計費混亂）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1039320"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03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申請</a:t>
                      </a:r>
                      <a:r>
                        <a:rPr lang="en-US" sz="33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3"/>
                        </a:rPr>
                        <a:t>Finmind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的帳號及</a:t>
                      </a: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API Key(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回測資料</a:t>
                      </a: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,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免費有一小時</a:t>
                      </a: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600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次限制</a:t>
                      </a: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)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1039320"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04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申請玉山</a:t>
                      </a:r>
                      <a:r>
                        <a:rPr lang="en-US" sz="33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4"/>
                        </a:rPr>
                        <a:t>API</a:t>
                      </a:r>
                      <a:r>
                        <a:rPr lang="zh-TW" sz="33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5"/>
                        </a:rPr>
                        <a:t>取得</a:t>
                      </a: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(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需先開證卷戶</a:t>
                      </a: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)ini example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與</a:t>
                      </a: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p12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檔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1039320"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05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PC: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安裝</a:t>
                      </a:r>
                      <a:r>
                        <a:rPr lang="en-US" sz="16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6"/>
                        </a:rPr>
                        <a:t>Vscode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(</a:t>
                      </a:r>
                      <a:r>
                        <a:rPr lang="en-US" sz="16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7"/>
                        </a:rPr>
                        <a:t>wsl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及</a:t>
                      </a:r>
                      <a:r>
                        <a:rPr lang="en-US" sz="16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8"/>
                        </a:rPr>
                        <a:t>markdown all in one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插件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),wsl(CMD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下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wsl –install)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手機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: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安裝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Telegram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並申請 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Bot Token(Git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上</a:t>
                      </a:r>
                      <a:r>
                        <a:rPr lang="en-US" sz="16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9"/>
                        </a:rPr>
                        <a:t>WSL</a:t>
                      </a:r>
                      <a:r>
                        <a:rPr lang="zh-TW" sz="16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10"/>
                        </a:rPr>
                        <a:t>恢復</a:t>
                      </a:r>
                      <a:r>
                        <a:rPr lang="en-US" sz="16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11"/>
                        </a:rPr>
                        <a:t>.MD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Github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BD4033D3-E5B2-4E9F-9366-347E282CE001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38" name="Diagram1"/>
          <p:cNvGrpSpPr/>
          <p:nvPr/>
        </p:nvGrpSpPr>
        <p:grpSpPr>
          <a:xfrm>
            <a:off x="1293840" y="2743200"/>
            <a:ext cx="10134000" cy="3504960"/>
            <a:chOff x="1293840" y="2743200"/>
            <a:chExt cx="10134000" cy="3504960"/>
          </a:xfrm>
        </p:grpSpPr>
        <p:sp>
          <p:nvSpPr>
            <p:cNvPr id="139" name=""/>
            <p:cNvSpPr/>
            <p:nvPr/>
          </p:nvSpPr>
          <p:spPr>
            <a:xfrm>
              <a:off x="1293840" y="2743200"/>
              <a:ext cx="10134000" cy="3504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" name=""/>
            <p:cNvSpPr/>
            <p:nvPr/>
          </p:nvSpPr>
          <p:spPr>
            <a:xfrm>
              <a:off x="1298880" y="2743200"/>
              <a:ext cx="10124280" cy="3504960"/>
            </a:xfrm>
            <a:prstGeom prst="roundRect">
              <a:avLst>
                <a:gd name="adj" fmla="val 10000"/>
              </a:avLst>
            </a:prstGeom>
            <a:solidFill>
              <a:schemeClr val="accent3">
                <a:hueOff val="0"/>
                <a:satOff val="0"/>
                <a:lumOff val="0"/>
                <a:alphaOff val="0"/>
              </a:schemeClr>
            </a:solidFill>
            <a:ln>
              <a:solidFill>
                <a:srgbClr val="FFFFFF">
                  <a:hueOff val="0"/>
                  <a:satOff val="0"/>
                  <a:lumOff val="0"/>
                  <a:alphaOff val="0"/>
                </a:srgbClr>
              </a:solidFill>
            </a:ln>
          </p:spPr>
          <p:style>
            <a:lnRef idx="3"/>
            <a:fillRef idx="0"/>
            <a:effectRef idx="1"/>
            <a:fontRef idx="minor"/>
          </p:style>
          <p:txBody>
            <a:bodyPr numCol="1" spcCol="1440" lIns="141120" tIns="141120" rIns="141120" bIns="141120" anchor="t">
              <a:noAutofit/>
            </a:bodyPr>
            <a:p>
              <a:pPr defTabSz="1644480">
                <a:lnSpc>
                  <a:spcPct val="90000"/>
                </a:lnSpc>
                <a:spcAft>
                  <a:spcPts val="1295"/>
                </a:spcAft>
                <a:tabLst>
                  <a:tab pos="0" algn="l"/>
                </a:tabLst>
              </a:pPr>
              <a:r>
                <a:rPr lang="zh-TW" sz="3700" b="0" u="none" strike="noStrike">
                  <a:solidFill>
                    <a:schemeClr val="lt1"/>
                  </a:solidFill>
                  <a:effectLst/>
                  <a:highlight>
                    <a:srgbClr val="00FF00"/>
                  </a:highlight>
                  <a:uFillTx/>
                  <a:latin typeface="Century Gothic"/>
                  <a:hlinkClick r:id="rId1"/>
                </a:rPr>
                <a:t>說明視頻</a:t>
              </a:r>
              <a:endParaRPr lang="en-US" sz="37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  <a:p>
              <a:pPr marL="285840" lvl="1" indent="-285840" defTabSz="1289160">
                <a:lnSpc>
                  <a:spcPct val="90000"/>
                </a:lnSpc>
                <a:spcAft>
                  <a:spcPts val="434"/>
                </a:spcAft>
                <a:buClr>
                  <a:srgbClr val="FFFFFF"/>
                </a:buClr>
                <a:buFont typeface="Symbol" charset="2"/>
                <a:buChar char=""/>
                <a:tabLst>
                  <a:tab pos="0" algn="l"/>
                </a:tabLst>
              </a:pPr>
              <a:r>
                <a:rPr lang="zh-TW" sz="2900" b="0" u="none" strike="noStrike">
                  <a:solidFill>
                    <a:schemeClr val="lt1"/>
                  </a:solidFill>
                  <a:effectLst/>
                  <a:uFillTx/>
                  <a:latin typeface="Century Gothic"/>
                </a:rPr>
                <a:t>雲端擺程式的地方</a:t>
              </a:r>
              <a:endParaRPr lang="en-US" sz="29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  <a:p>
              <a:pPr marL="285840" lvl="1" indent="-285840" defTabSz="1289160">
                <a:lnSpc>
                  <a:spcPct val="90000"/>
                </a:lnSpc>
                <a:spcAft>
                  <a:spcPts val="434"/>
                </a:spcAft>
                <a:buClr>
                  <a:srgbClr val="FFFFFF"/>
                </a:buClr>
                <a:buFont typeface="Symbol" charset="2"/>
                <a:buChar char=""/>
                <a:tabLst>
                  <a:tab pos="0" algn="l"/>
                </a:tabLst>
              </a:pPr>
              <a:r>
                <a:rPr lang="zh-TW" sz="2900" b="0" u="none" strike="noStrike">
                  <a:solidFill>
                    <a:schemeClr val="lt1"/>
                  </a:solidFill>
                  <a:effectLst/>
                  <a:uFillTx/>
                  <a:latin typeface="Century Gothic"/>
                </a:rPr>
                <a:t>紀錄改版的過程</a:t>
              </a:r>
              <a:endParaRPr lang="en-US" sz="29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  <a:p>
              <a:pPr marL="285840" lvl="1" indent="-285840" defTabSz="1289160">
                <a:lnSpc>
                  <a:spcPct val="90000"/>
                </a:lnSpc>
                <a:spcAft>
                  <a:spcPts val="434"/>
                </a:spcAft>
                <a:buClr>
                  <a:srgbClr val="FFFFFF"/>
                </a:buClr>
                <a:buFont typeface="Symbol" charset="2"/>
                <a:buChar char=""/>
                <a:tabLst>
                  <a:tab pos="0" algn="l"/>
                </a:tabLst>
              </a:pPr>
              <a:r>
                <a:rPr lang="zh-TW" sz="2900" b="0" u="none" strike="noStrike">
                  <a:solidFill>
                    <a:schemeClr val="lt1"/>
                  </a:solidFill>
                  <a:effectLst/>
                  <a:uFillTx/>
                  <a:latin typeface="Century Gothic"/>
                </a:rPr>
                <a:t>可以多人協作</a:t>
              </a:r>
              <a:endParaRPr lang="en-US" sz="29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760320" y="152280"/>
            <a:ext cx="5145480" cy="2666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47500" lnSpcReduction="1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怎樣申請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Gcloud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雲端主機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-1</a:t>
            </a: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名稱為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（可自取）的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VM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虛擬機器（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Virtual Machine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）。 </a:t>
            </a: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這台機器的規格和特點如下：</a:t>
            </a: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位置：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asia-east1-b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（位於台灣彰濱工業區的機房，對台灣使用者而言連線速度最快）。</a:t>
            </a: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機型：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e2-micro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（配備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核心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vCPU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、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 GB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記憶體），這是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Google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提供給新用戶或特定區域的輕量級機型。</a:t>
            </a: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作業系統：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ubuntu-2204-jammy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。 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684360" y="3124080"/>
            <a:ext cx="5104800" cy="2361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第一步：註冊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Google Cloud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帳戶並開通免費試用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使用您的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Google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帳戶登入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1"/>
              </a:rPr>
              <a:t>Google Cloud 繁體中文官網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點擊頁面上的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「免費開始使用」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或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「免費試用」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按鈕。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3" name="文字方塊 4"/>
          <p:cNvSpPr/>
          <p:nvPr/>
        </p:nvSpPr>
        <p:spPr>
          <a:xfrm>
            <a:off x="6270120" y="643680"/>
            <a:ext cx="5409360" cy="535464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填寫基本資料與開通帳單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填寫您的個人或企業資訊。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系統會要求綁定一張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信用卡或金融卡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（支援海外刷卡功能）。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lang="zh-TW" sz="1800" b="0" i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提示：</a:t>
            </a:r>
            <a:r>
              <a:rPr lang="en-US" sz="1800" b="0" i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Google </a:t>
            </a:r>
            <a:r>
              <a:rPr lang="zh-TW" sz="1800" b="0" i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綁定信用卡主要是為了驗證真人身分、防止機器人濫用，在您手動升級為付費帳戶前，並不會自動扣款。註冊成功通常會獲得 </a:t>
            </a:r>
            <a:r>
              <a:rPr lang="en-US" sz="1800" b="0" i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$300 </a:t>
            </a:r>
            <a:r>
              <a:rPr lang="zh-TW" sz="1800" b="0" i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美元的免費試用折抵額度（限期 </a:t>
            </a:r>
            <a:r>
              <a:rPr lang="en-US" sz="1800" b="0" i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90 </a:t>
            </a:r>
            <a:r>
              <a:rPr lang="zh-TW" sz="1800" b="0" i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天）。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第二步：建立一個新專案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進入 </a:t>
            </a:r>
            <a:r>
              <a:rPr lang="en-US" sz="1800" b="1" u="sng" strike="noStrike">
                <a:solidFill>
                  <a:schemeClr val="dk1"/>
                </a:solidFill>
                <a:effectLst/>
                <a:uFillTx/>
                <a:latin typeface="Century Gothic"/>
                <a:hlinkClick r:id="rId2"/>
              </a:rPr>
              <a:t>Google Cloud 控制台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點擊頂端列的專案下拉選單，選擇 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「新建專案」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New Project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自訂您的專案名稱（例如：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my-trader-project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），然後點擊建立。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EB38AE8-77C0-4027-B181-C787EB97F4EF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760320" y="152280"/>
            <a:ext cx="518076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40000" lnSpcReduction="1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怎樣申請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Gcloud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雲端主機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-2</a:t>
            </a:r>
            <a:br>
              <a:rPr sz="3200"/>
            </a:b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608040" y="1045800"/>
            <a:ext cx="5104800" cy="451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第三步：建立與圖片中完全相同的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虛擬機器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點擊控制台左上角的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「導覽選單 ☰」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[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1"/>
              </a:rPr>
              <a:t>1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2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]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找到並依序點選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Compute Engine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＞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執行個體」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Instances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如果是第一次使用，系統會提示您啟用 </a:t>
            </a:r>
            <a:r>
              <a:rPr lang="en-US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Compute Engine API</a:t>
            </a:r>
            <a:r>
              <a:rPr lang="zh-TW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，點擊「啟用」並稍等幾分鐘即可。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點擊頁面上方的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建立執行個體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Create Instance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依照規格進行設定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名稱：輸入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（可自取，需與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.env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SYNC_VM_NAME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一致）。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區域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：選擇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asia-east1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，可用區選擇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asia-east1-b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6" name="文字方塊 4"/>
          <p:cNvSpPr/>
          <p:nvPr/>
        </p:nvSpPr>
        <p:spPr>
          <a:xfrm>
            <a:off x="5637240" y="678960"/>
            <a:ext cx="6171480" cy="507744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marL="457200"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機器組態（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Machine configuration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系列選擇 </a:t>
            </a:r>
            <a:r>
              <a:rPr lang="en-US" sz="1800" b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E2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機器類型選擇 </a:t>
            </a:r>
            <a:r>
              <a:rPr lang="en-US" sz="1400" b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e2-micro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(1 vCPU, 1 GB 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記憶體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)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開機磁碟（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Boot disk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點擊「變更」按鈕。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作業系統（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Operating system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）選擇 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Ubuntu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版本（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Version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）選擇 </a:t>
            </a:r>
            <a:r>
              <a:rPr lang="en-US" sz="1800" b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Ubuntu 22.04 LTS</a:t>
            </a: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(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對應圖中的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ubuntu-2204-jammy)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點擊選取。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防火牆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如果這台機器未來需要架設網站或對外連線，勾選「允許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HTTP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流量」和「允許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HTTPS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流量」。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確認右側的預估費用資訊後，點擊最下方的 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「</a:t>
            </a:r>
            <a:r>
              <a:rPr lang="zh-TW" sz="1800" b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建立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」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按鈕。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建立完成後，您就可以在列表中看到跟圖片一樣處於運行狀態的虛擬機器，並可以透過頁面上的 「</a:t>
            </a: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SSH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」 按鈕直接連線進去操作。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5481938-46DA-4153-AECD-7250AD5BC406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792396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47500" lnSpcReduction="1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快速設定靜態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IP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步驟（將現有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IP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轉為靜態）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1293840" y="1295280"/>
            <a:ext cx="10344960" cy="502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進入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GCP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控制台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打開並登入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1"/>
              </a:rPr>
              <a:t>Google Cloud 控制台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尋找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VPC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網路設定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點擊左上角的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「導覽選單 ☰」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向下捲動找到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VPC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網路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VPC network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），然後點選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位址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IP addresses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保留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IP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位址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在列表中，您會看到一筆目前分配給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紀錄，其「類型」此時顯示為 外網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暫時（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Ephemeral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資料列最右側的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「三個點（更多動作） ⋮」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選擇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保留靜態外部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位址」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Reserve static external IP address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命名與確認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在彈出的視窗中，為這個靜態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取一個名字（例如：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tw-selfselect-static-ip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保留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請記錄這個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IP,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要到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玉山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3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去設白名單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此時，該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的類型會變成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靜態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，這意味著無論您的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往後如何重啟或關機，這個外部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位址都永遠不會改變。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09CC561-81C9-49C8-9BBA-A1D92A0F57C1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2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2760" cy="23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1399</TotalTime>
  <Application>LibreOffice/26.2.6.3$Windows_X86_64 LibreOffice_project/8221e31b3ac356a1623c672912a3d2b492f7e3d1</Application>
  <AppVersion>15.0000</AppVersion>
  <Words>1877</Words>
  <Paragraphs>153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en-US</dc:language>
  <cp:lastModifiedBy/>
  <dcterms:modified xsi:type="dcterms:W3CDTF">2026-10-26T22:54:10Z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17</vt:i4>
  </property>
</Properties>
</file>