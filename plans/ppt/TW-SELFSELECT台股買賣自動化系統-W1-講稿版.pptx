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2.svg" ContentType="image/svg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handoutMasterIdLst>
    <p:handoutMasterId r:id="rId23"/>
  </p:handoutMasterIdLst>
  <p:sldIdLst>
    <p:sldId id="257" r:id="rId5"/>
    <p:sldId id="264" r:id="rId6"/>
    <p:sldId id="282" r:id="rId7"/>
    <p:sldId id="297" r:id="rId8"/>
    <p:sldId id="296" r:id="rId9"/>
    <p:sldId id="258" r:id="rId10"/>
    <p:sldId id="287" r:id="rId11"/>
    <p:sldId id="288" r:id="rId12"/>
    <p:sldId id="289" r:id="rId13"/>
    <p:sldId id="290" r:id="rId14"/>
    <p:sldId id="291" r:id="rId15"/>
    <p:sldId id="292" r:id="rId16"/>
    <p:sldId id="298" r:id="rId17"/>
    <p:sldId id="293" r:id="rId18"/>
    <p:sldId id="294" r:id="rId19"/>
    <p:sldId id="295" r:id="rId20"/>
    <p:sldId id="277" r:id="rId2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14F4E1-2B30-4D5F-8195-12B2D8A8E359}" v="113" dt="2026-07-21T16:23:55.571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79" autoAdjust="0"/>
  </p:normalViewPr>
  <p:slideViewPr>
    <p:cSldViewPr showGuides="1">
      <p:cViewPr varScale="1">
        <p:scale>
          <a:sx n="105" d="100"/>
          <a:sy n="105" d="100"/>
        </p:scale>
        <p:origin x="834" y="42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6/11/relationships/changesInfo" Target="changesInfos/changesInfo1.xml"/><Relationship Id="rId2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宜軒 謝" userId="2eb2341147ac0da6" providerId="LiveId" clId="{3C637DDA-15F1-4277-AED3-B98324C04A77}"/>
    <pc:docChg chg="undo custSel addSld delSld modSld">
      <pc:chgData name="宜軒 謝" userId="2eb2341147ac0da6" providerId="LiveId" clId="{3C637DDA-15F1-4277-AED3-B98324C04A77}" dt="2026-07-21T16:24:12.680" v="886" actId="403"/>
      <pc:docMkLst>
        <pc:docMk/>
      </pc:docMkLst>
      <pc:sldChg chg="modSp mod">
        <pc:chgData name="宜軒 謝" userId="2eb2341147ac0da6" providerId="LiveId" clId="{3C637DDA-15F1-4277-AED3-B98324C04A77}" dt="2026-07-18T13:31:30.714" v="728" actId="6549"/>
        <pc:sldMkLst>
          <pc:docMk/>
          <pc:sldMk cId="1325608595" sldId="264"/>
        </pc:sldMkLst>
        <pc:spChg chg="mod">
          <ac:chgData name="宜軒 謝" userId="2eb2341147ac0da6" providerId="LiveId" clId="{3C637DDA-15F1-4277-AED3-B98324C04A77}" dt="2026-07-18T13:31:30.714" v="728" actId="6549"/>
          <ac:spMkLst>
            <pc:docMk/>
            <pc:sldMk cId="1325608595" sldId="264"/>
            <ac:spMk id="3" creationId="{22788C46-D0BC-4307-AE55-7601A139E7CB}"/>
          </ac:spMkLst>
        </pc:spChg>
      </pc:sldChg>
      <pc:sldChg chg="modSp mod">
        <pc:chgData name="宜軒 謝" userId="2eb2341147ac0da6" providerId="LiveId" clId="{3C637DDA-15F1-4277-AED3-B98324C04A77}" dt="2026-07-15T11:17:37.278" v="119" actId="20577"/>
        <pc:sldMkLst>
          <pc:docMk/>
          <pc:sldMk cId="3103683689" sldId="277"/>
        </pc:sldMkLst>
        <pc:spChg chg="mod">
          <ac:chgData name="宜軒 謝" userId="2eb2341147ac0da6" providerId="LiveId" clId="{3C637DDA-15F1-4277-AED3-B98324C04A77}" dt="2026-07-15T11:17:37.278" v="119" actId="20577"/>
          <ac:spMkLst>
            <pc:docMk/>
            <pc:sldMk cId="3103683689" sldId="277"/>
            <ac:spMk id="3" creationId="{BABC2CE0-8806-4B2A-A10A-32984D317434}"/>
          </ac:spMkLst>
        </pc:spChg>
      </pc:sldChg>
      <pc:sldChg chg="modSp mod">
        <pc:chgData name="宜軒 謝" userId="2eb2341147ac0da6" providerId="LiveId" clId="{3C637DDA-15F1-4277-AED3-B98324C04A77}" dt="2026-07-15T13:19:30.685" v="161"/>
        <pc:sldMkLst>
          <pc:docMk/>
          <pc:sldMk cId="3809058685" sldId="292"/>
        </pc:sldMkLst>
        <pc:graphicFrameChg chg="mod modGraphic">
          <ac:chgData name="宜軒 謝" userId="2eb2341147ac0da6" providerId="LiveId" clId="{3C637DDA-15F1-4277-AED3-B98324C04A77}" dt="2026-07-15T13:19:30.685" v="161"/>
          <ac:graphicFrameMkLst>
            <pc:docMk/>
            <pc:sldMk cId="3809058685" sldId="292"/>
            <ac:graphicFrameMk id="7" creationId="{160DD418-8697-0184-7A17-329D20E7E568}"/>
          </ac:graphicFrameMkLst>
        </pc:graphicFrameChg>
      </pc:sldChg>
      <pc:sldChg chg="add setBg">
        <pc:chgData name="宜軒 謝" userId="2eb2341147ac0da6" providerId="LiveId" clId="{3C637DDA-15F1-4277-AED3-B98324C04A77}" dt="2026-07-17T07:10:56.621" v="163"/>
        <pc:sldMkLst>
          <pc:docMk/>
          <pc:sldMk cId="675360620" sldId="296"/>
        </pc:sldMkLst>
      </pc:sldChg>
      <pc:sldChg chg="addSp delSp modSp new mod setBg modClrScheme chgLayout">
        <pc:chgData name="宜軒 謝" userId="2eb2341147ac0da6" providerId="LiveId" clId="{3C637DDA-15F1-4277-AED3-B98324C04A77}" dt="2026-07-17T07:32:11.470" v="716" actId="113"/>
        <pc:sldMkLst>
          <pc:docMk/>
          <pc:sldMk cId="1158761888" sldId="297"/>
        </pc:sldMkLst>
        <pc:spChg chg="add mod">
          <ac:chgData name="宜軒 謝" userId="2eb2341147ac0da6" providerId="LiveId" clId="{3C637DDA-15F1-4277-AED3-B98324C04A77}" dt="2026-07-17T07:32:11.470" v="716" actId="113"/>
          <ac:spMkLst>
            <pc:docMk/>
            <pc:sldMk cId="1158761888" sldId="297"/>
            <ac:spMk id="12" creationId="{B7CE2223-955B-67A0-AB78-7EA4B0E35C23}"/>
          </ac:spMkLst>
        </pc:spChg>
        <pc:spChg chg="add">
          <ac:chgData name="宜軒 謝" userId="2eb2341147ac0da6" providerId="LiveId" clId="{3C637DDA-15F1-4277-AED3-B98324C04A77}" dt="2026-07-17T07:13:39.691" v="178" actId="26606"/>
          <ac:spMkLst>
            <pc:docMk/>
            <pc:sldMk cId="1158761888" sldId="297"/>
            <ac:spMk id="25" creationId="{F5FE211A-0ABC-9C19-2AF8-30635484BDC7}"/>
          </ac:spMkLst>
        </pc:spChg>
      </pc:sldChg>
      <pc:sldChg chg="addSp delSp modSp new mod modClrScheme chgLayout">
        <pc:chgData name="宜軒 謝" userId="2eb2341147ac0da6" providerId="LiveId" clId="{3C637DDA-15F1-4277-AED3-B98324C04A77}" dt="2026-07-21T16:24:12.680" v="886" actId="403"/>
        <pc:sldMkLst>
          <pc:docMk/>
          <pc:sldMk cId="289394202" sldId="298"/>
        </pc:sldMkLst>
        <pc:spChg chg="mod">
          <ac:chgData name="宜軒 謝" userId="2eb2341147ac0da6" providerId="LiveId" clId="{3C637DDA-15F1-4277-AED3-B98324C04A77}" dt="2026-07-21T16:24:12.680" v="886" actId="403"/>
          <ac:spMkLst>
            <pc:docMk/>
            <pc:sldMk cId="289394202" sldId="298"/>
            <ac:spMk id="2" creationId="{FB24F3B5-0207-9973-6118-60A7FDD69F80}"/>
          </ac:spMkLst>
        </pc:spChg>
        <pc:spChg chg="mod">
          <ac:chgData name="宜軒 謝" userId="2eb2341147ac0da6" providerId="LiveId" clId="{3C637DDA-15F1-4277-AED3-B98324C04A77}" dt="2026-07-21T16:23:19.841" v="878" actId="26606"/>
          <ac:spMkLst>
            <pc:docMk/>
            <pc:sldMk cId="289394202" sldId="298"/>
            <ac:spMk id="3" creationId="{131FC2F7-4A65-612A-6B7C-760602BA9655}"/>
          </ac:spMkLst>
        </pc:spChg>
        <pc:spChg chg="del mod">
          <ac:chgData name="宜軒 謝" userId="2eb2341147ac0da6" providerId="LiveId" clId="{3C637DDA-15F1-4277-AED3-B98324C04A77}" dt="2026-07-21T16:23:19.841" v="878" actId="26606"/>
          <ac:spMkLst>
            <pc:docMk/>
            <pc:sldMk cId="289394202" sldId="298"/>
            <ac:spMk id="4" creationId="{AEBF45E6-9D57-E2E4-FB1E-9237C016DDE2}"/>
          </ac:spMkLst>
        </pc:spChg>
        <pc:graphicFrameChg chg="add mod">
          <ac:chgData name="宜軒 謝" userId="2eb2341147ac0da6" providerId="LiveId" clId="{3C637DDA-15F1-4277-AED3-B98324C04A77}" dt="2026-07-21T16:23:55.571" v="879" actId="13926"/>
          <ac:graphicFrameMkLst>
            <pc:docMk/>
            <pc:sldMk cId="289394202" sldId="298"/>
            <ac:graphicFrameMk id="6" creationId="{A39688D0-C00F-30C3-272F-EBF00BE1EA33}"/>
          </ac:graphicFrameMkLst>
        </pc:graphicFrameChg>
      </pc:sldChg>
    </pc:docChg>
  </pc:docChgLst>
</pc:chgInfo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hyperlink" Target="https://youtu.be/atqcAb7MFAM?si=uHh_ad2PKQeRTSso" TargetMode="External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hyperlink" Target="https://youtu.be/atqcAb7MFAM?si=uHh_ad2PKQeRTSso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91EB54-36F7-4FA0-B5BB-F2152ED8FC40}" type="doc">
      <dgm:prSet loTypeId="urn:microsoft.com/office/officeart/2005/8/layout/process1" loCatId="process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8E3638B4-411F-45DE-BCC0-FB714BEA7962}">
      <dgm:prSet/>
      <dgm:spPr/>
      <dgm:t>
        <a:bodyPr/>
        <a:lstStyle/>
        <a:p>
          <a:r>
            <a:rPr lang="zh-TW" dirty="0">
              <a:highlight>
                <a:srgbClr val="00FF00"/>
              </a:highlight>
              <a:hlinkClick xmlns:r="http://schemas.openxmlformats.org/officeDocument/2006/relationships" r:id="rId1"/>
            </a:rPr>
            <a:t>說明視頻</a:t>
          </a:r>
          <a:endParaRPr lang="en-US" dirty="0">
            <a:highlight>
              <a:srgbClr val="00FF00"/>
            </a:highlight>
          </a:endParaRPr>
        </a:p>
      </dgm:t>
    </dgm:pt>
    <dgm:pt modelId="{4EF02013-264D-45E9-89CB-DF4E19BF6AAE}" type="parTrans" cxnId="{53C4E1C1-CEA0-411A-BCC7-627F602A56AD}">
      <dgm:prSet/>
      <dgm:spPr/>
      <dgm:t>
        <a:bodyPr/>
        <a:lstStyle/>
        <a:p>
          <a:endParaRPr lang="en-US"/>
        </a:p>
      </dgm:t>
    </dgm:pt>
    <dgm:pt modelId="{D86C78AC-76FD-4E4D-AEFD-BA29982DDBBA}" type="sibTrans" cxnId="{53C4E1C1-CEA0-411A-BCC7-627F602A56AD}">
      <dgm:prSet/>
      <dgm:spPr/>
      <dgm:t>
        <a:bodyPr/>
        <a:lstStyle/>
        <a:p>
          <a:endParaRPr lang="en-US"/>
        </a:p>
      </dgm:t>
    </dgm:pt>
    <dgm:pt modelId="{A54CF058-1976-4B5F-AAC3-86E6F8E26CB5}">
      <dgm:prSet/>
      <dgm:spPr/>
      <dgm:t>
        <a:bodyPr/>
        <a:lstStyle/>
        <a:p>
          <a:r>
            <a:rPr lang="zh-TW"/>
            <a:t>雲端擺程式的地方</a:t>
          </a:r>
          <a:endParaRPr lang="en-US"/>
        </a:p>
      </dgm:t>
    </dgm:pt>
    <dgm:pt modelId="{1287F98C-9009-4249-AEAB-E65E1CF25452}" type="parTrans" cxnId="{B4C49A2F-03AF-4D4D-9944-D08F656202EA}">
      <dgm:prSet/>
      <dgm:spPr/>
      <dgm:t>
        <a:bodyPr/>
        <a:lstStyle/>
        <a:p>
          <a:endParaRPr lang="en-US"/>
        </a:p>
      </dgm:t>
    </dgm:pt>
    <dgm:pt modelId="{C81DBF78-D989-42E9-B8AF-AD4E824B6257}" type="sibTrans" cxnId="{B4C49A2F-03AF-4D4D-9944-D08F656202EA}">
      <dgm:prSet/>
      <dgm:spPr/>
      <dgm:t>
        <a:bodyPr/>
        <a:lstStyle/>
        <a:p>
          <a:endParaRPr lang="en-US"/>
        </a:p>
      </dgm:t>
    </dgm:pt>
    <dgm:pt modelId="{8AF7FAA8-9C44-446B-B0AB-F7E13DC58B98}">
      <dgm:prSet/>
      <dgm:spPr/>
      <dgm:t>
        <a:bodyPr/>
        <a:lstStyle/>
        <a:p>
          <a:r>
            <a:rPr lang="zh-TW"/>
            <a:t>紀錄改版的過程</a:t>
          </a:r>
          <a:endParaRPr lang="en-US"/>
        </a:p>
      </dgm:t>
    </dgm:pt>
    <dgm:pt modelId="{54DC7AF1-2CA9-4C81-AEF5-85DEC84E8E0A}" type="parTrans" cxnId="{88B90034-6258-4AA4-A7B2-BB76B43CD4C1}">
      <dgm:prSet/>
      <dgm:spPr/>
      <dgm:t>
        <a:bodyPr/>
        <a:lstStyle/>
        <a:p>
          <a:endParaRPr lang="en-US"/>
        </a:p>
      </dgm:t>
    </dgm:pt>
    <dgm:pt modelId="{0A523E67-CBCA-46C0-9EBE-6487CB841A78}" type="sibTrans" cxnId="{88B90034-6258-4AA4-A7B2-BB76B43CD4C1}">
      <dgm:prSet/>
      <dgm:spPr/>
      <dgm:t>
        <a:bodyPr/>
        <a:lstStyle/>
        <a:p>
          <a:endParaRPr lang="en-US"/>
        </a:p>
      </dgm:t>
    </dgm:pt>
    <dgm:pt modelId="{D3574923-EB64-4EBD-B8D8-75B306B91A4C}">
      <dgm:prSet/>
      <dgm:spPr/>
      <dgm:t>
        <a:bodyPr/>
        <a:lstStyle/>
        <a:p>
          <a:r>
            <a:rPr lang="zh-TW"/>
            <a:t>可以多人協作</a:t>
          </a:r>
          <a:endParaRPr lang="en-US"/>
        </a:p>
      </dgm:t>
    </dgm:pt>
    <dgm:pt modelId="{3C7DA012-32A7-4D24-A648-ABE8A4138975}" type="parTrans" cxnId="{19CEF65C-016A-4CC8-9111-E0EF80AC11D1}">
      <dgm:prSet/>
      <dgm:spPr/>
      <dgm:t>
        <a:bodyPr/>
        <a:lstStyle/>
        <a:p>
          <a:endParaRPr lang="en-US"/>
        </a:p>
      </dgm:t>
    </dgm:pt>
    <dgm:pt modelId="{58607DAF-29AE-4B7D-9E88-C426903325FB}" type="sibTrans" cxnId="{19CEF65C-016A-4CC8-9111-E0EF80AC11D1}">
      <dgm:prSet/>
      <dgm:spPr/>
      <dgm:t>
        <a:bodyPr/>
        <a:lstStyle/>
        <a:p>
          <a:endParaRPr lang="en-US"/>
        </a:p>
      </dgm:t>
    </dgm:pt>
    <dgm:pt modelId="{06E11198-6884-4612-A3EC-2977FF4280A4}" type="pres">
      <dgm:prSet presAssocID="{8891EB54-36F7-4FA0-B5BB-F2152ED8FC40}" presName="Name0" presStyleCnt="0">
        <dgm:presLayoutVars>
          <dgm:dir/>
          <dgm:resizeHandles val="exact"/>
        </dgm:presLayoutVars>
      </dgm:prSet>
      <dgm:spPr/>
    </dgm:pt>
    <dgm:pt modelId="{4D759FBE-DF56-48EE-AADE-38DB07F39F74}" type="pres">
      <dgm:prSet presAssocID="{8E3638B4-411F-45DE-BCC0-FB714BEA7962}" presName="node" presStyleLbl="node1" presStyleIdx="0" presStyleCnt="1">
        <dgm:presLayoutVars>
          <dgm:bulletEnabled val="1"/>
        </dgm:presLayoutVars>
      </dgm:prSet>
      <dgm:spPr/>
    </dgm:pt>
  </dgm:ptLst>
  <dgm:cxnLst>
    <dgm:cxn modelId="{9B79B412-EF19-4362-8EC8-B9E3F1BB30F5}" type="presOf" srcId="{8891EB54-36F7-4FA0-B5BB-F2152ED8FC40}" destId="{06E11198-6884-4612-A3EC-2977FF4280A4}" srcOrd="0" destOrd="0" presId="urn:microsoft.com/office/officeart/2005/8/layout/process1"/>
    <dgm:cxn modelId="{55D70F21-C0EA-4B07-9677-7D7A2936F02C}" type="presOf" srcId="{A54CF058-1976-4B5F-AAC3-86E6F8E26CB5}" destId="{4D759FBE-DF56-48EE-AADE-38DB07F39F74}" srcOrd="0" destOrd="1" presId="urn:microsoft.com/office/officeart/2005/8/layout/process1"/>
    <dgm:cxn modelId="{B4C49A2F-03AF-4D4D-9944-D08F656202EA}" srcId="{8E3638B4-411F-45DE-BCC0-FB714BEA7962}" destId="{A54CF058-1976-4B5F-AAC3-86E6F8E26CB5}" srcOrd="0" destOrd="0" parTransId="{1287F98C-9009-4249-AEAB-E65E1CF25452}" sibTransId="{C81DBF78-D989-42E9-B8AF-AD4E824B6257}"/>
    <dgm:cxn modelId="{88B90034-6258-4AA4-A7B2-BB76B43CD4C1}" srcId="{8E3638B4-411F-45DE-BCC0-FB714BEA7962}" destId="{8AF7FAA8-9C44-446B-B0AB-F7E13DC58B98}" srcOrd="1" destOrd="0" parTransId="{54DC7AF1-2CA9-4C81-AEF5-85DEC84E8E0A}" sibTransId="{0A523E67-CBCA-46C0-9EBE-6487CB841A78}"/>
    <dgm:cxn modelId="{19CEF65C-016A-4CC8-9111-E0EF80AC11D1}" srcId="{8E3638B4-411F-45DE-BCC0-FB714BEA7962}" destId="{D3574923-EB64-4EBD-B8D8-75B306B91A4C}" srcOrd="2" destOrd="0" parTransId="{3C7DA012-32A7-4D24-A648-ABE8A4138975}" sibTransId="{58607DAF-29AE-4B7D-9E88-C426903325FB}"/>
    <dgm:cxn modelId="{D0E5FA9E-0B7F-447C-ADDD-4F06B81D8E23}" type="presOf" srcId="{D3574923-EB64-4EBD-B8D8-75B306B91A4C}" destId="{4D759FBE-DF56-48EE-AADE-38DB07F39F74}" srcOrd="0" destOrd="3" presId="urn:microsoft.com/office/officeart/2005/8/layout/process1"/>
    <dgm:cxn modelId="{1FF7C6B6-FEF1-4D3F-ACC8-A0080319D0AE}" type="presOf" srcId="{8E3638B4-411F-45DE-BCC0-FB714BEA7962}" destId="{4D759FBE-DF56-48EE-AADE-38DB07F39F74}" srcOrd="0" destOrd="0" presId="urn:microsoft.com/office/officeart/2005/8/layout/process1"/>
    <dgm:cxn modelId="{53C4E1C1-CEA0-411A-BCC7-627F602A56AD}" srcId="{8891EB54-36F7-4FA0-B5BB-F2152ED8FC40}" destId="{8E3638B4-411F-45DE-BCC0-FB714BEA7962}" srcOrd="0" destOrd="0" parTransId="{4EF02013-264D-45E9-89CB-DF4E19BF6AAE}" sibTransId="{D86C78AC-76FD-4E4D-AEFD-BA29982DDBBA}"/>
    <dgm:cxn modelId="{DC1522E1-2564-4D8F-9B26-1988672B277A}" type="presOf" srcId="{8AF7FAA8-9C44-446B-B0AB-F7E13DC58B98}" destId="{4D759FBE-DF56-48EE-AADE-38DB07F39F74}" srcOrd="0" destOrd="2" presId="urn:microsoft.com/office/officeart/2005/8/layout/process1"/>
    <dgm:cxn modelId="{B3C7C52D-1358-4002-B709-7780DC04BFD4}" type="presParOf" srcId="{06E11198-6884-4612-A3EC-2977FF4280A4}" destId="{4D759FBE-DF56-48EE-AADE-38DB07F39F74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759FBE-DF56-48EE-AADE-38DB07F39F74}">
      <dsp:nvSpPr>
        <dsp:cNvPr id="0" name=""/>
        <dsp:cNvSpPr/>
      </dsp:nvSpPr>
      <dsp:spPr>
        <a:xfrm>
          <a:off x="4948" y="0"/>
          <a:ext cx="10124703" cy="35052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700" kern="1200" dirty="0">
              <a:highlight>
                <a:srgbClr val="00FF00"/>
              </a:highlight>
              <a:hlinkClick xmlns:r="http://schemas.openxmlformats.org/officeDocument/2006/relationships" r:id="rId1"/>
            </a:rPr>
            <a:t>說明視頻</a:t>
          </a:r>
          <a:endParaRPr lang="en-US" sz="3700" kern="1200" dirty="0">
            <a:highlight>
              <a:srgbClr val="00FF00"/>
            </a:highlight>
          </a:endParaRP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sz="2900" kern="1200"/>
            <a:t>雲端擺程式的地方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sz="2900" kern="1200"/>
            <a:t>紀錄改版的過程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sz="2900" kern="1200"/>
            <a:t>可以多人協作</a:t>
          </a:r>
          <a:endParaRPr lang="en-US" sz="2900" kern="1200"/>
        </a:p>
      </dsp:txBody>
      <dsp:txXfrm>
        <a:off x="107612" y="102664"/>
        <a:ext cx="9919375" cy="32998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7/22/2026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7/22/2026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建議時間：30 秒</a:t>
            </a:r>
          </a:p>
          <a:p/>
          <a:p>
            <a:r>
              <a:t>大家好，歡迎來到 TW-SELFSELECT 台股買賣自動化系統的第一堂課。</a:t>
            </a:r>
          </a:p>
          <a:p>
            <a:r>
              <a:t>這套系統，是用 Python 搭配 Opencode AI 打造的——簡單說，就是讓電腦幫你看盤、幫你下單、用 Telegram 通知你買賣。</a:t>
            </a:r>
          </a:p>
          <a:p>
            <a:r>
              <a:t>不管你有沒有程式基礎，這一整個系列課程結束之後，你都能把自己的投資策略，變成一台 24 小時自動運作的機器。</a:t>
            </a:r>
          </a:p>
          <a:p>
            <a:r>
              <a:t>---</a:t>
            </a:r>
          </a:p>
          <a:p/>
          <a:p>
            <a:r>
              <a:t>【講師提示】可以先問台下「有人寫過程式嗎？」建立互動，帶出「不用懂程式也能用」的安心感。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建議時間：45 秒</a:t>
            </a:r>
          </a:p>
          <a:p/>
          <a:p>
            <a:r>
              <a:t>先讓大家知道今天我們要聊什麼。</a:t>
            </a:r>
          </a:p>
          <a:p>
            <a:r>
              <a:t>今天的內容包括：簡單認識我、系統簡介、什麼是 Python、什麼是 Opencode，接著會介紹系統內建的五大策略、怎麼回測、最後是實盤執行。</a:t>
            </a:r>
          </a:p>
          <a:p>
            <a:r>
              <a:t>如果你對哪一段特別有興趣，也可以隨時舉手打斷我。</a:t>
            </a:r>
          </a:p>
          <a:p>
            <a:r>
              <a:t>---</a:t>
            </a:r>
          </a:p>
          <a:p/>
          <a:p>
            <a:r>
              <a:t>【講師提示】照著唸即可，這是課程地圖，節奏可以稍微快一點。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建議時間：45 秒</a:t>
            </a:r>
          </a:p>
          <a:p/>
          <a:p>
            <a:r>
              <a:t>先自我介紹一下。</a:t>
            </a:r>
          </a:p>
          <a:p>
            <a:r>
              <a:t>我是謝宜軒，交通大學資訊工程碩士，有三十年資訊軟硬體設計的經歷。</a:t>
            </a:r>
          </a:p>
          <a:p>
            <a:r>
              <a:t>這套 tw-autotrader 台股買賣自動化系統，是我開源放在 GitHub 上的專案——意思是所有原始碼都公開，你隨時可以上網看、可以學、可以改。</a:t>
            </a:r>
          </a:p>
          <a:p>
            <a:r>
              <a:t>---</a:t>
            </a:r>
          </a:p>
          <a:p/>
          <a:p>
            <a:r>
              <a:t>【講師提示】可以順手把 GitHub 網址投到畫面上，或請學員記下來。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這套系統是為誰設計的？如果你符合以下任何一種情況，那你就是我們的目標客群：</a:t>
            </a:r>
          </a:p>
          <a:p>
            <a:r>
              <a:t>第一，你已經有投資策略，但不知道怎麼把它變成量化的程式；</a:t>
            </a:r>
          </a:p>
          <a:p>
            <a:r>
              <a:t>第二，你想投資台股，但沒時間盯盤；</a:t>
            </a:r>
          </a:p>
          <a:p>
            <a:r>
              <a:t>第三，你覺得買 ETF、像是 0050 那樣的收入，還不夠過癮。</a:t>
            </a:r>
          </a:p>
          <a:p>
            <a:r>
              <a:t>關鍵字就是三個：AI、策略量化、買賣自動化。</a:t>
            </a:r>
          </a:p>
          <a:p>
            <a:r>
              <a:t>前提是：你懂電腦操作就好，不用懂寫程式。</a:t>
            </a:r>
          </a:p>
          <a:p>
            <a:r>
              <a:t>不過我要先聲明一件事——我們教的是「策略量化」和「自動化」，不是股票投資建議。這一點很重要，請大家記住。</a:t>
            </a:r>
          </a:p>
          <a:p>
            <a:r>
              <a:t>---</a:t>
            </a:r>
          </a:p>
          <a:p/>
          <a:p>
            <a:r>
              <a:t>【講師提示】這是合規重點，語氣要認真、明確，可以停頓一下再繼續。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接下來介紹系統本身。這套系統最大的設計理念，就是「為非資訊背景的人設計」。</a:t>
            </a:r>
          </a:p>
          <a:p>
            <a:r>
              <a:t>首先，每個雲端主機一個月的費用不到一百塊台幣；每個主機可以控制十五檔以內的個股。程式會自動開關機，省電也省錢。</a:t>
            </a:r>
          </a:p>
          <a:p>
            <a:r>
              <a:t>買賣的時候，系統會用 Telegram 手機簡訊通知你——你不用一直盯著螢幕。</a:t>
            </a:r>
          </a:p>
          <a:p>
            <a:r>
              <a:t>你可以自行設定要買賣的個股、策略和資金。不用寫程式，但我建議你至少看得懂 Python，這樣以後要調整參數會比較方便。</a:t>
            </a:r>
          </a:p>
          <a:p>
            <a:r>
              <a:t>系統內建六組策略，另外預留四組讓你自己定義。回測資料方面，可以調用 Finmind 和 TWSE 的歷史股市資料——這些都是免費的。</a:t>
            </a:r>
          </a:p>
          <a:p>
            <a:r>
              <a:t>下單的部分，目前使用玉山證券的 API，之後你也可以自行換成其他券商的 API。</a:t>
            </a:r>
          </a:p>
          <a:p>
            <a:r>
              <a:t>最後，我們會給你一份完整的 WSL 壓縮檔，所有 Python、Opencode 等工具都已經安裝好了，打開就能用。</a:t>
            </a:r>
          </a:p>
          <a:p>
            <a:r>
              <a:t>---</a:t>
            </a:r>
          </a:p>
          <a:p/>
          <a:p>
            <a:r>
              <a:t>【講師提示】這頁資訊量大，可以搭配畫面逐條指著講；提到 00632R 時可略作說明它是反向 ETF 範例。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為什麼要用這套系統？我列幾個優點給大家聽。</a:t>
            </a:r>
          </a:p>
          <a:p>
            <a:r>
              <a:t>第一，所有策略源碼公開——只有主程式在 GitHub 上是加密檔。購買教程之後，會提供 WSL 壓縮檔；執行源碼的部分，可以等你先用加密檔測試、覺得 OK 之後再購買。</a:t>
            </a:r>
          </a:p>
          <a:p>
            <a:r>
              <a:t>第二，設定好策略之後，系統自動買賣，你不用整天盯盤。</a:t>
            </a:r>
          </a:p>
          <a:p>
            <a:r>
              <a:t>第三，用免費的 TWSE 和 Finmind 額度就可以回測，不用再花錢買資料庫。</a:t>
            </a:r>
          </a:p>
          <a:p>
            <a:r>
              <a:t>第四，五大策略——布林通道、MA Cross、VWAP 反轉、唐奇安通道、低接高賣——已經涵蓋大部分盤勢，另外還預留四個預備策略。</a:t>
            </a:r>
          </a:p>
          <a:p>
            <a:r>
              <a:t>最後要提醒大家：雖然我們有提供主程式源碼，但我建議大家使用我們長期測試過的版本就好，你要做的就是修改內建策略參數，或是加上你自己的策略。</a:t>
            </a:r>
          </a:p>
          <a:p>
            <a:r>
              <a:t>---</a:t>
            </a:r>
          </a:p>
          <a:p/>
          <a:p>
            <a:r>
              <a:t>【講師提示】講到「長期測試過」時可以稍微強調，這是降低學員踩雷風險的關鍵提醒。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光說不練沒意思，我們直接看實際運行的畫面。</a:t>
            </a:r>
          </a:p>
          <a:p>
            <a:r>
              <a:t>這是系統的實際運行展示頁面，網址在這裡——dinchentech.github.io/tw-autotrader。</a:t>
            </a:r>
          </a:p>
          <a:p>
            <a:r>
              <a:t>大家可以看看它跑起來的樣子：策略怎麼觸發、買賣訊號怎麼產生、Telegram 通知長什麼樣。</a:t>
            </a:r>
          </a:p>
          <a:p>
            <a:r>
              <a:t>---</a:t>
            </a:r>
          </a:p>
          <a:p/>
          <a:p>
            <a:r>
              <a:t>【講師提示】建議現場直接開網頁示範，點擊頁面讓大家感受真實操作介面。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在進入正題之前，我先給大家看兩個例子，讓你們感受一下「Opencode 加上 Finmind」到底能做到什麼程度。</a:t>
            </a:r>
          </a:p>
          <a:p>
            <a:r>
              <a:t>我請 Opencode 幫我做一個「台灣 2026 年前十大 EPS 公司走勢」的 HTML 網頁。</a:t>
            </a:r>
          </a:p>
          <a:p>
            <a:r>
              <a:t>為什麼用 HTML？因為 HTML 能動態顯示——你可以勾選、取消勾選個股，畫面就會即時增減；滑鼠移到某個時間點，還會顯示那時候的資訊。</a:t>
            </a:r>
          </a:p>
          <a:p>
            <a:r>
              <a:t>這不是靜態圖片，而是一個可以互動的分析工具。</a:t>
            </a:r>
          </a:p>
          <a:p>
            <a:r>
              <a:t>---</a:t>
            </a:r>
          </a:p>
          <a:p/>
          <a:p>
            <a:r>
              <a:t>【講師提示】可以現場示範勾選個股與滑鼠 hover，這是「看得見的震撼」，比講十句話有用。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第二個例子。</a:t>
            </a:r>
          </a:p>
          <a:p>
            <a:r>
              <a:t>這次我請它做「台灣前十大、EPS 大於 30、而且便宜的公司」走勢 HTML。</a:t>
            </a:r>
          </a:p>
          <a:p>
            <a:r>
              <a:t>注意，這個條件是複合的——EPS 要高、股價要相對便宜。這種「用一句話描述篩選條件、AI 直接幫你做出可互動網頁」的能力，就是這門課你們會反覆用到的工作方式。</a:t>
            </a:r>
          </a:p>
          <a:p>
            <a:r>
              <a:t>---</a:t>
            </a:r>
          </a:p>
          <a:p/>
          <a:p>
            <a:r>
              <a:t>【講師提示】強調「複合條件一句話完成」，這是 Opencode 工作流的精髓預告。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接下來這個例子很重要，讓大家看看怎麼「跟 AI 討論策略」。</a:t>
            </a:r>
          </a:p>
          <a:p>
            <a:r>
              <a:t>我問 Opencode：我預期某檔股票——我們姑且叫它 XX——股價還會上升，該用什麼策略？</a:t>
            </a:r>
          </a:p>
          <a:p>
            <a:r>
              <a:t>AI 分析後指出：XX 是「結構性利多」加上「循環股標籤」的混合體。結構性利多讓它有向上空間，循環股標籤讓它波動極大。所以策略要同時兼顧這兩者。</a:t>
            </a:r>
          </a:p>
          <a:p>
            <a:r>
              <a:t>它給了我四個方向：第一，核心部位加移動停利——大部分持倉抱緊吃主升段，但跌破季線或月線就減碼；第二，盯著毛利率和庫存轉折——Q1 毛利率 38%，是記憶體模組廠的史詩級數字，要小心的是毛利率連續兩季下滑、DRAM 合約價漲幅收斂、存貨週轉天數攀升這些訊號；第三，分批出場——循環股的鐵律是不要妄想賣在最高點，300、400、500 每過一個關卡出二到三成；第四，想清楚不利情境——漲多修正、市場重新定性，這些風險要先有心理準備。</a:t>
            </a:r>
          </a:p>
          <a:p>
            <a:r>
              <a:t>---</a:t>
            </a:r>
          </a:p>
          <a:p/>
          <a:p>
            <a:r>
              <a:t>【講師提示】這頁是「AI 能當策略軍師」的示範，講解時可以放慢，讓學員消化 AI 的推理邏輯。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我接著問 AI：那「250 以下買、280 以上賣」可以嗎？</a:t>
            </a:r>
          </a:p>
          <a:p>
            <a:r>
              <a:t>AI 先幫我檢查數字——它說目前股價 233，本來就已經在 250 以下，所以現在就是買點。</a:t>
            </a:r>
          </a:p>
          <a:p>
            <a:r>
              <a:t>問題在 280 就賣：XX 光是 Q1 EPS 就 27 元，就算後面三季保守估 30 元，全年 EPS 也有大約 57 元。280 賣掉，本益比不到五倍。如果這波真的是結構性超級景氣，市場重新評價到八到十倍本益比，股價可以到 450 到 570 元——現在 280 就賣，等於賣在剛起漲的位置。</a:t>
            </a:r>
          </a:p>
          <a:p>
            <a:r>
              <a:t>所以 AI 建議：買的條件沒問題，但賣的條件要更動態——第一目標 300 出三分之一、第二目標 400 再出三分之一，留一部分看景氣能走到哪裡。</a:t>
            </a:r>
          </a:p>
          <a:p>
            <a:r>
              <a:t>最後我要強調兩件事：第一，這是在 Opencode 中的 AI 問答，不是一般對話型 AI——Opencode 會先掃描專案內所有檔案，才能針對這個專案回答；第二，AI 說的不全對，但是很有參考價值。這是我們面對 AI 建議該有的心態。</a:t>
            </a:r>
          </a:p>
          <a:p>
            <a:r>
              <a:t>---</a:t>
            </a:r>
          </a:p>
          <a:p/>
          <a:p>
            <a:r>
              <a:t>【講師提示】這頁是全場重點，可以放慢到 2.5 分鐘。最後那句「AI 說的不全對，但很有參考價值」是這堂課的態度宣示，務必講清楚。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好，接下來我們進入實作前的準備工作。總共有五件事要辦：</a:t>
            </a:r>
          </a:p>
          <a:p>
            <a:r>
              <a:t>第一，申請 Google 帳號，並綁上 Google Pay，用來申請雲端主機；</a:t>
            </a:r>
          </a:p>
          <a:p>
            <a:r>
              <a:t>第二，申請 OpenRouter 帳戶，先儲值個 20 美金，用完再加——這是用來呼叫 AI 的，另外申請 Nvidia 帳號備用；</a:t>
            </a:r>
          </a:p>
          <a:p>
            <a:r>
              <a:t>第三，申請 Finmind 的帳號和 API Key，這是回測資料來源，免費，但有一小時六百次的限制；</a:t>
            </a:r>
          </a:p>
          <a:p>
            <a:r>
              <a:t>第四，申請玉山證券 API——這個需要先開證券戶，會拿到 ini 範例檔和 p12 檔；</a:t>
            </a:r>
          </a:p>
          <a:p>
            <a:r>
              <a:t>第五，在你的電腦上安裝 VSCode，記得裝 WSL 和 Markdown All in One 插件，然後在 CMD 底下執行 wsl --install 安裝 WSL。手機上要裝 Telegram，並申請 Bot Token。</a:t>
            </a:r>
          </a:p>
          <a:p>
            <a:r>
              <a:t>---</a:t>
            </a:r>
          </a:p>
          <a:p/>
          <a:p>
            <a:r>
              <a:t>【講師提示】這頁是功課清單，PPT 檔裡有連結，提醒學員回家照著做。可以逐一編號講，節奏明快。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建議時間：30 秒</a:t>
            </a:r>
          </a:p>
          <a:p/>
          <a:p>
            <a:r>
              <a:t>所有教學資源、WSL 恢復檔的說明，都放在 GitHub 上。</a:t>
            </a:r>
          </a:p>
          <a:p>
            <a:r>
              <a:t>請大家到我們的 GitHub 專案頁面，找到 WSL 恢復的說明文件，先把環境準備好。下一頁開始，我們會實際走一遍雲端主機的申請流程。</a:t>
            </a:r>
          </a:p>
          <a:p>
            <a:r>
              <a:t>---</a:t>
            </a:r>
          </a:p>
          <a:p/>
          <a:p>
            <a:r>
              <a:t>【講師提示】過場頁，快速帶過即可。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建議時間：3 分鐘</a:t>
            </a:r>
          </a:p>
          <a:p/>
          <a:p>
            <a:r>
              <a:t>接下來是今天的重頭戲：怎麼申請一台 Google Cloud 雲端主機。我會照著畫面一步一步帶大家做。</a:t>
            </a:r>
          </a:p>
          <a:p>
            <a:r>
              <a:t>這台機器我們取名為 tw-autotrader，規格是：位置在 asia-east1-b，也就是台灣彰濱工業區的機房，對台灣使用者來說連線速度最快；機型是 e2-micro，一核心 vCPU、1GB 記憶體；作業系統用 ubuntu-2204-jammy。</a:t>
            </a:r>
          </a:p>
          <a:p>
            <a:r>
              <a:t>第一步，註冊 Google Cloud 帳戶並開通免費試用：用你的 Google 帳戶登入官網，點「免費開始使用」，填基本資料、綁定一張信用卡或金融卡。</a:t>
            </a:r>
          </a:p>
          <a:p>
            <a:r>
              <a:t>不用擔心，Google 綁定信用卡主要是驗證真人身份，在你手動升級為付費帳戶之前不會自動扣款。註冊成功通常會拿到 300 美元的免費試用額度，限期 90 天。</a:t>
            </a:r>
          </a:p>
          <a:p>
            <a:r>
              <a:t>第二步，建立新專案：進到控制台，點「新建專案」，取個名字，比如 my-trader-project。</a:t>
            </a:r>
          </a:p>
          <a:p>
            <a:r>
              <a:t>---</a:t>
            </a:r>
          </a:p>
          <a:p/>
          <a:p>
            <a:r>
              <a:t>【講師提示】操作型頁面，建議邊講邊示範，或請學員跟著操作；學員卡關就停下來等。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建議時間：3 分鐘</a:t>
            </a:r>
          </a:p>
          <a:p/>
          <a:p>
            <a:r>
              <a:t>第三步，建立跟圖片一模一樣的 VM 虛擬機器。</a:t>
            </a:r>
          </a:p>
          <a:p>
            <a:r>
              <a:t>點左上角導覽選單，找到 Compute Engine，選「VM 執行個體」。第一次使用會提示啟用 Compute Engine API，點啟用，等幾分鐘。</a:t>
            </a:r>
          </a:p>
          <a:p>
            <a:r>
              <a:t>接著點「建立執行個體」，照著規格設定：名稱輸入 tw-autotrader；區域選 asia-east1，可用區選 asia-east1-b；機器組態選 E2 系列、e2-micro 類型；開機磁碟點「變更」，作業系統選 Ubuntu、版本選 22.04 LTS。</a:t>
            </a:r>
          </a:p>
          <a:p>
            <a:r>
              <a:t>防火牆的部分：如果這台機器未來要架網站或對外連線，就勾選「允許 HTTP 流量」和「允許 HTTPS 流量」。</a:t>
            </a:r>
          </a:p>
          <a:p>
            <a:r>
              <a:t>確認右側預估費用後，點「建立」。建立完成後，你就能在列表看到這台機器在運行，透過「SSH」按鈕就能連進去操作。</a:t>
            </a:r>
          </a:p>
          <a:p>
            <a:r>
              <a:t>---</a:t>
            </a:r>
          </a:p>
          <a:p/>
          <a:p>
            <a:r>
              <a:t>【講師提示】建議提醒學員：規格必須跟圖片一致，不要自己升級，省錢是這堂課的重點。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機器建好之後，還有一個關鍵動作：把 IP 轉成靜態。</a:t>
            </a:r>
          </a:p>
          <a:p>
            <a:r>
              <a:t>為什麼要這樣做？因為預設的 IP 是暫時的——機器重啟或關機後就可能變動。但玉山證券 API 需要設定白名單，IP 一變就麻煩了。</a:t>
            </a:r>
          </a:p>
          <a:p>
            <a:r>
              <a:t>步驟如下：進到 GCP 控制台，點導覽選單，找到「VPC 網路」裡的「IP 位址」。你會看到一筆分配給 tw-autotrader 的 IP，類型顯示「外網／暫時」。點右側的三個點，選「保留靜態外部 IP 位址」，取個名字，比如 tw-autotrader-static-ip，然後點「保留」。</a:t>
            </a:r>
          </a:p>
          <a:p>
            <a:r>
              <a:t>請把這個 IP 記錄下來——等一下申請玉山 API 的時候，要拿它去設白名單。設定完成後，類型會變成「靜態」，以後不管機器怎麼重啟關機，IP 都不會變了。</a:t>
            </a:r>
          </a:p>
          <a:p>
            <a:r>
              <a:t>---</a:t>
            </a:r>
          </a:p>
          <a:p/>
          <a:p>
            <a:r>
              <a:t>【講師提示】強調「記錄 IP」這個動作，學員最常在這裡漏掉。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建議時間：30 秒</a:t>
            </a:r>
          </a:p>
          <a:p/>
          <a:p>
            <a:r>
              <a:t>好，今天的課程到這裡。</a:t>
            </a:r>
          </a:p>
          <a:p>
            <a:r>
              <a:t>我是 frank，信箱是 frank@dinchen.com.tw，有任何問題歡迎寫信給我。</a:t>
            </a:r>
          </a:p>
          <a:p>
            <a:r>
              <a:t>今天的功課：把 slide-12 的五個帳號申請好、Gcloud 機器建起來、靜態 IP 設好。下週我們會開始裝系統、跑回測。我們下次見！</a:t>
            </a:r>
          </a:p>
          <a:p>
            <a:r>
              <a:t>---</a:t>
            </a:r>
          </a:p>
          <a:p/>
          <a:p>
            <a:r>
              <a:t>【講師提示】收尾節奏明快，把功課清單再唸一次，加強記憶。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r>
              <a:rPr lang="zh-TW" altLang="en-US"/>
              <a:t>按一下圖示以新增表格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按一下圖示以新增表格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dinchentech/tw-autotrader" TargetMode="External"/><Relationship Id="rId3" Type="http://schemas.openxmlformats.org/officeDocument/2006/relationships/image" Target="../media/image5.png"/><Relationship Id="rId4" Type="http://schemas.openxmlformats.org/officeDocument/2006/relationships/image" Target="../media/image6.jpe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github.com/dinchentech/tw-autotrader/blob/main/python_basic/3-gcp-setup.md" TargetMode="External"/><Relationship Id="rId3" Type="http://schemas.openxmlformats.org/officeDocument/2006/relationships/hyperlink" Target="https://openrouter.ai/" TargetMode="External"/><Relationship Id="rId4" Type="http://schemas.openxmlformats.org/officeDocument/2006/relationships/hyperlink" Target="https://build.nvidia.com/settings/api-keys" TargetMode="External"/><Relationship Id="rId5" Type="http://schemas.openxmlformats.org/officeDocument/2006/relationships/hyperlink" Target="https://finmindtrade.com/analysis/#/data/api" TargetMode="External"/><Relationship Id="rId6" Type="http://schemas.openxmlformats.org/officeDocument/2006/relationships/hyperlink" Target="https://esuntradingapi.esunsec.com.tw/keys/Home/Index" TargetMode="External"/><Relationship Id="rId7" Type="http://schemas.openxmlformats.org/officeDocument/2006/relationships/hyperlink" Target="https://code.visualstudio.com/" TargetMode="External"/><Relationship Id="rId8" Type="http://schemas.openxmlformats.org/officeDocument/2006/relationships/hyperlink" Target="https://marketplace.visualstudio.com/items?itemName=ms-vscode-remote.remote-wsl" TargetMode="External"/><Relationship Id="rId9" Type="http://schemas.openxmlformats.org/officeDocument/2006/relationships/hyperlink" Target="https://marketplace.visualstudio.com/items?itemName=yzhang.markdown-all-in-one" TargetMode="External"/><Relationship Id="rId10" Type="http://schemas.openxmlformats.org/officeDocument/2006/relationships/hyperlink" Target="https://github.com/dinchentech/tw-autotrader/blob/main/WSL%E6%81%A2%E5%BE%A9.md" TargetMode="External"/><Relationship Id="rId11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cloud.google.com/free?hl=zh-TW" TargetMode="External"/><Relationship Id="rId3" Type="http://schemas.openxmlformats.org/officeDocument/2006/relationships/hyperlink" Target="https://console.cloud.google.com/" TargetMode="Externa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skills.google/focuses/3563?locale=zh_TW&amp;parent=catalog" TargetMode="External"/><Relationship Id="rId3" Type="http://schemas.openxmlformats.org/officeDocument/2006/relationships/hyperlink" Target="https://clone-info.net/gcp-always-free-vps-setup-guide/" TargetMode="Externa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console.cloud.google.com/" TargetMode="External"/><Relationship Id="rId3" Type="http://schemas.openxmlformats.org/officeDocument/2006/relationships/hyperlink" Target="https://esuntradingapi.esunsec.com.tw/keys/Home/Index" TargetMode="Externa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/>
          <a:p>
            <a:r>
              <a:rPr lang="en-US" altLang="zh-TW" dirty="0"/>
              <a:t>TW-SELFSELECT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</a:t>
            </a:r>
            <a:r>
              <a:rPr lang="zh-TW" altLang="en-US" dirty="0"/>
              <a:t>台股買賣自動化系統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>
            <a:normAutofit/>
          </a:bodyPr>
          <a:lstStyle/>
          <a:p>
            <a:r>
              <a:rPr lang="zh-TW" altLang="en-US" dirty="0"/>
              <a:t>使用</a:t>
            </a:r>
            <a:r>
              <a:rPr lang="en-US" altLang="zh-TW" dirty="0"/>
              <a:t>Python</a:t>
            </a:r>
            <a:r>
              <a:rPr lang="zh-TW" altLang="en-US" dirty="0"/>
              <a:t>與</a:t>
            </a:r>
            <a:r>
              <a:rPr lang="en-US" altLang="zh-TW" dirty="0" err="1"/>
              <a:t>Opencode</a:t>
            </a:r>
            <a:r>
              <a:rPr lang="en-US" altLang="zh-TW" dirty="0"/>
              <a:t> 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B68A17-565E-5F07-D76E-981C2E327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>
            <a:normAutofit/>
          </a:bodyPr>
          <a:lstStyle/>
          <a:p>
            <a:r>
              <a:rPr lang="zh-TW" altLang="en-US" sz="6600" dirty="0"/>
              <a:t>大綱</a:t>
            </a:r>
            <a:endParaRPr lang="en-US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2612" y="723900"/>
            <a:ext cx="4572000" cy="5372100"/>
          </a:xfrm>
        </p:spPr>
        <p:txBody>
          <a:bodyPr vert="horz" lIns="91416" tIns="45708" rIns="91416" bIns="45708" rtlCol="0" anchor="ctr">
            <a:normAutofit/>
          </a:bodyPr>
          <a:lstStyle/>
          <a:p>
            <a:r>
              <a:rPr lang="zh-TW" altLang="en-US" dirty="0"/>
              <a:t>關於我</a:t>
            </a:r>
            <a:endParaRPr lang="en-US" dirty="0"/>
          </a:p>
          <a:p>
            <a:r>
              <a:rPr lang="zh-TW" altLang="en-US" dirty="0"/>
              <a:t>系統簡介</a:t>
            </a:r>
            <a:endParaRPr lang="en-US" dirty="0"/>
          </a:p>
          <a:p>
            <a:r>
              <a:rPr lang="zh-TW" altLang="en-US" dirty="0"/>
              <a:t>關於</a:t>
            </a:r>
            <a:r>
              <a:rPr lang="en-US" altLang="zh-TW" dirty="0"/>
              <a:t>Python</a:t>
            </a:r>
            <a:endParaRPr lang="en-US" dirty="0"/>
          </a:p>
          <a:p>
            <a:r>
              <a:rPr lang="zh-TW" altLang="en-US" dirty="0"/>
              <a:t>關於</a:t>
            </a:r>
            <a:r>
              <a:rPr lang="en-US" altLang="zh-TW" dirty="0" err="1"/>
              <a:t>Opencode</a:t>
            </a:r>
            <a:endParaRPr lang="en-US" dirty="0"/>
          </a:p>
          <a:p>
            <a:r>
              <a:rPr lang="zh-TW" altLang="en-US" dirty="0"/>
              <a:t>現有策略介紹</a:t>
            </a:r>
            <a:endParaRPr lang="en-US" altLang="zh-TW" dirty="0"/>
          </a:p>
          <a:p>
            <a:r>
              <a:rPr lang="zh-TW" altLang="en-US" dirty="0"/>
              <a:t>策略的</a:t>
            </a:r>
            <a:r>
              <a:rPr lang="zh-TW" altLang="en-US"/>
              <a:t>回測與建立</a:t>
            </a:r>
            <a:endParaRPr lang="en-US" altLang="zh-TW" dirty="0"/>
          </a:p>
          <a:p>
            <a:r>
              <a:rPr lang="zh-TW" altLang="en-US" dirty="0"/>
              <a:t>實盤執行</a:t>
            </a:r>
            <a:endParaRPr lang="en-US" altLang="zh-TW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關於我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B989A75-8BF6-6DE9-1AB9-424401DB39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謝宜軒</a:t>
            </a:r>
            <a:r>
              <a:rPr lang="en-US" altLang="zh-TW" dirty="0"/>
              <a:t>,</a:t>
            </a:r>
            <a:r>
              <a:rPr lang="zh-TW" altLang="en-US" dirty="0"/>
              <a:t>交通大學資訊工程碩士</a:t>
            </a:r>
            <a:br>
              <a:rPr lang="en-US" dirty="0"/>
            </a:br>
            <a:r>
              <a:rPr lang="zh-TW" altLang="en-US" dirty="0"/>
              <a:t>三十年資訊軟硬件設計經歷</a:t>
            </a:r>
            <a:br>
              <a:rPr lang="en-US" altLang="zh-TW" dirty="0"/>
            </a:br>
            <a:r>
              <a:rPr lang="en-US" altLang="zh-TW" dirty="0">
                <a:hlinkClick r:id="rId2"/>
              </a:rPr>
              <a:t>https://github.com/dinchentech/tw-autotrader</a:t>
            </a:r>
            <a:br>
              <a:rPr lang="en-US" altLang="zh-TW" dirty="0"/>
            </a:br>
            <a:r>
              <a:rPr lang="zh-TW" altLang="en-US" dirty="0"/>
              <a:t>開源</a:t>
            </a:r>
            <a:r>
              <a:rPr lang="en-US" altLang="zh-TW" dirty="0" err="1"/>
              <a:t>tw-autotrader</a:t>
            </a:r>
            <a:r>
              <a:rPr lang="zh-TW" altLang="en-US" dirty="0"/>
              <a:t>台股買賣自動化系統作者</a:t>
            </a:r>
            <a:endParaRPr lang="en-US" dirty="0"/>
          </a:p>
        </p:txBody>
      </p:sp>
      <p:pic>
        <p:nvPicPr>
          <p:cNvPr id="45" name="Picture Placeholder 44" descr="Chart on a mobile device">
            <a:extLst>
              <a:ext uri="{FF2B5EF4-FFF2-40B4-BE49-F238E27FC236}">
                <a16:creationId xmlns:a16="http://schemas.microsoft.com/office/drawing/2014/main" id="{9731B764-336F-5EF9-5FCF-4EA90ACB8D9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" b="24"/>
          <a:stretch/>
        </p:blipFill>
        <p:spPr>
          <a:xfrm>
            <a:off x="7765046" y="883471"/>
            <a:ext cx="2439096" cy="5091059"/>
          </a:xfr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7BF7413-BBBC-8E63-4C7D-374798CA1D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012" y="533400"/>
            <a:ext cx="2952946" cy="318261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0EB47F0-3807-D3E0-DD6C-6ADED96CC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5045" y="1524000"/>
            <a:ext cx="2439097" cy="417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01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F5FE211A-0ABC-9C19-2AF8-30635484B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-4076700"/>
            <a:ext cx="10287000" cy="38862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文字版面配置區 2">
            <a:extLst>
              <a:ext uri="{FF2B5EF4-FFF2-40B4-BE49-F238E27FC236}">
                <a16:creationId xmlns:a16="http://schemas.microsoft.com/office/drawing/2014/main" id="{B7CE2223-955B-67A0-AB78-7EA4B0E35C23}"/>
              </a:ext>
            </a:extLst>
          </p:cNvPr>
          <p:cNvSpPr>
            <a:spLocks noGrp="1"/>
          </p:cNvSpPr>
          <p:nvPr>
            <p:ph type="body" sz="quarter" idx="10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684212" y="457200"/>
            <a:ext cx="10896600" cy="5676900"/>
          </a:xfrm>
        </p:spPr>
        <p:txBody>
          <a:bodyPr anchor="t">
            <a:normAutofit fontScale="92500" lnSpcReduction="10000"/>
          </a:bodyPr>
          <a:lstStyle/>
          <a:p>
            <a:pPr indent="0">
              <a:buNone/>
            </a:pPr>
            <a:r>
              <a:rPr lang="zh-TW" altLang="en-US" sz="8000" b="1" dirty="0"/>
              <a:t>目標客群</a:t>
            </a:r>
            <a:r>
              <a:rPr lang="en-US" altLang="zh-TW" sz="8000" b="1" dirty="0"/>
              <a:t>:</a:t>
            </a:r>
          </a:p>
          <a:p>
            <a:pPr marL="1737360" lvl="1" indent="-1143000">
              <a:buFont typeface="+mj-lt"/>
              <a:buAutoNum type="arabicPeriod"/>
            </a:pPr>
            <a:r>
              <a:rPr lang="zh-TW" altLang="en-US" sz="5400" dirty="0"/>
              <a:t>有策略不知如何量化</a:t>
            </a:r>
            <a:endParaRPr lang="en-US" altLang="zh-TW" sz="5400" dirty="0"/>
          </a:p>
          <a:p>
            <a:pPr marL="1737360" lvl="1" indent="-1143000">
              <a:buFont typeface="+mj-lt"/>
              <a:buAutoNum type="arabicPeriod"/>
            </a:pPr>
            <a:r>
              <a:rPr lang="zh-TW" altLang="en-US" sz="5400" dirty="0"/>
              <a:t>想投資台股，沒時間看盤</a:t>
            </a:r>
            <a:endParaRPr lang="en-US" altLang="zh-TW" sz="5400" dirty="0"/>
          </a:p>
          <a:p>
            <a:pPr marL="1737360" lvl="1" indent="-1143000">
              <a:buFont typeface="+mj-lt"/>
              <a:buAutoNum type="arabicPeriod"/>
            </a:pPr>
            <a:r>
              <a:rPr lang="zh-TW" altLang="en-US" sz="5400" dirty="0"/>
              <a:t>覺得</a:t>
            </a:r>
            <a:r>
              <a:rPr lang="en-US" altLang="zh-TW" sz="5400" dirty="0"/>
              <a:t>ETF(0050)</a:t>
            </a:r>
            <a:r>
              <a:rPr lang="zh-TW" altLang="en-US" sz="5400" dirty="0"/>
              <a:t>收入還不行</a:t>
            </a:r>
            <a:endParaRPr lang="en-US" altLang="zh-TW" sz="5400" dirty="0"/>
          </a:p>
          <a:p>
            <a:r>
              <a:rPr lang="zh-TW" altLang="en-US" sz="4800" dirty="0"/>
              <a:t>關鍵字</a:t>
            </a:r>
            <a:r>
              <a:rPr lang="en-US" altLang="zh-TW" sz="4800" dirty="0"/>
              <a:t>:</a:t>
            </a:r>
            <a:r>
              <a:rPr lang="zh-TW" altLang="en-US" sz="4800" dirty="0"/>
              <a:t>  </a:t>
            </a:r>
            <a:r>
              <a:rPr lang="en-US" altLang="zh-TW" sz="4800" dirty="0">
                <a:highlight>
                  <a:srgbClr val="FFFF00"/>
                </a:highlight>
              </a:rPr>
              <a:t>AI</a:t>
            </a:r>
            <a:r>
              <a:rPr lang="en-US" altLang="zh-TW" sz="4800" dirty="0"/>
              <a:t>,</a:t>
            </a:r>
            <a:r>
              <a:rPr lang="zh-TW" altLang="en-US" sz="4800" dirty="0"/>
              <a:t>策略</a:t>
            </a:r>
            <a:r>
              <a:rPr lang="zh-TW" altLang="en-US" sz="4800" dirty="0">
                <a:highlight>
                  <a:srgbClr val="FFFF00"/>
                </a:highlight>
              </a:rPr>
              <a:t>量化</a:t>
            </a:r>
            <a:r>
              <a:rPr lang="en-US" altLang="zh-TW" sz="4800" dirty="0"/>
              <a:t>,</a:t>
            </a:r>
            <a:r>
              <a:rPr lang="zh-TW" altLang="en-US" sz="4800" dirty="0"/>
              <a:t>買賣</a:t>
            </a:r>
            <a:r>
              <a:rPr lang="zh-TW" altLang="en-US" sz="4800" dirty="0">
                <a:highlight>
                  <a:srgbClr val="FFFF00"/>
                </a:highlight>
              </a:rPr>
              <a:t>自動化</a:t>
            </a:r>
            <a:endParaRPr lang="en-US" altLang="zh-TW" sz="4800" dirty="0">
              <a:highlight>
                <a:srgbClr val="FFFF00"/>
              </a:highlight>
            </a:endParaRPr>
          </a:p>
          <a:p>
            <a:r>
              <a:rPr lang="zh-TW" altLang="en-US" sz="4800" dirty="0"/>
              <a:t>前提</a:t>
            </a:r>
            <a:r>
              <a:rPr lang="en-US" altLang="zh-TW" sz="4800" dirty="0"/>
              <a:t>:</a:t>
            </a:r>
            <a:r>
              <a:rPr lang="zh-TW" altLang="en-US" sz="4800" dirty="0"/>
              <a:t> </a:t>
            </a:r>
            <a:r>
              <a:rPr lang="zh-TW" altLang="en-US" sz="4800" b="1" dirty="0"/>
              <a:t>懂</a:t>
            </a:r>
            <a:r>
              <a:rPr lang="zh-TW" altLang="en-US" sz="4800" dirty="0"/>
              <a:t>電腦操作</a:t>
            </a:r>
            <a:r>
              <a:rPr lang="en-US" altLang="zh-TW" sz="4800" dirty="0"/>
              <a:t>,</a:t>
            </a:r>
            <a:r>
              <a:rPr lang="zh-TW" altLang="en-US" sz="4800" b="1" dirty="0"/>
              <a:t>不用懂</a:t>
            </a:r>
            <a:r>
              <a:rPr lang="zh-TW" altLang="en-US" sz="4800" dirty="0"/>
              <a:t>編程</a:t>
            </a:r>
            <a:endParaRPr lang="en-US" altLang="zh-TW" sz="4800" dirty="0"/>
          </a:p>
          <a:p>
            <a:r>
              <a:rPr lang="zh-TW" altLang="en-US" sz="4800" dirty="0"/>
              <a:t>澄清</a:t>
            </a:r>
            <a:r>
              <a:rPr lang="en-US" altLang="zh-TW" sz="4800" dirty="0"/>
              <a:t>:</a:t>
            </a:r>
            <a:r>
              <a:rPr lang="zh-TW" altLang="en-US" sz="4800" dirty="0"/>
              <a:t> 我們教</a:t>
            </a:r>
            <a:r>
              <a:rPr lang="zh-TW" altLang="en-US" sz="4800" b="1" dirty="0"/>
              <a:t>策略量化</a:t>
            </a:r>
            <a:r>
              <a:rPr lang="en-US" altLang="zh-TW" sz="4800" b="1" dirty="0"/>
              <a:t>/</a:t>
            </a:r>
            <a:r>
              <a:rPr lang="zh-TW" altLang="en-US" sz="4800" b="1" dirty="0"/>
              <a:t>自動化</a:t>
            </a:r>
            <a:r>
              <a:rPr lang="en-US" altLang="zh-TW" sz="4800" dirty="0"/>
              <a:t>,</a:t>
            </a:r>
            <a:r>
              <a:rPr lang="zh-TW" altLang="en-US" sz="4800" b="1" dirty="0"/>
              <a:t>非</a:t>
            </a:r>
            <a:r>
              <a:rPr lang="zh-TW" altLang="en-US" sz="4800" dirty="0"/>
              <a:t>股票投資</a:t>
            </a:r>
            <a:r>
              <a:rPr lang="en-US" altLang="zh-TW" sz="4800" dirty="0"/>
              <a:t>!</a:t>
            </a:r>
            <a:endParaRPr lang="zh-TW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158761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A5645-D83C-00B9-42A5-49DE5E58F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CEB3A-33FC-A791-B970-2B951495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/>
          <a:p>
            <a:r>
              <a:rPr lang="zh-TW" altLang="en-US" dirty="0"/>
              <a:t>系統簡介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F58F5-5804-D293-9422-2FDD2A7787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304800"/>
            <a:ext cx="4572000" cy="5791199"/>
          </a:xfr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388620" indent="-342900">
              <a:buFont typeface="Arial" panose="020B0604020202020204" pitchFamily="34" charset="0"/>
              <a:buChar char="•"/>
            </a:pPr>
            <a:r>
              <a:rPr lang="zh-TW" altLang="en-US" dirty="0"/>
              <a:t>為非資訊背景人員設計</a:t>
            </a:r>
            <a:endParaRPr lang="en-US" altLang="zh-TW" dirty="0"/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zh-TW" altLang="en-US" dirty="0"/>
              <a:t>每個雲主機月費不到百元</a:t>
            </a:r>
            <a:endParaRPr lang="en-US" altLang="zh-TW" dirty="0"/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zh-TW" altLang="en-US" dirty="0"/>
              <a:t>每個雲主機可控制</a:t>
            </a:r>
            <a:r>
              <a:rPr lang="en-US" altLang="zh-TW" dirty="0"/>
              <a:t>15</a:t>
            </a:r>
            <a:r>
              <a:rPr lang="zh-TW" altLang="en-US" dirty="0"/>
              <a:t>個以內個股</a:t>
            </a:r>
            <a:endParaRPr lang="en-US" altLang="zh-TW" dirty="0"/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zh-TW" altLang="en-US" dirty="0"/>
              <a:t>程式自動開關機</a:t>
            </a:r>
            <a:endParaRPr lang="en-US" altLang="zh-TW" dirty="0"/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zh-TW" altLang="en-US" dirty="0"/>
              <a:t>以</a:t>
            </a:r>
            <a:r>
              <a:rPr lang="en-US" altLang="zh-TW" dirty="0"/>
              <a:t>Telegram</a:t>
            </a:r>
            <a:r>
              <a:rPr lang="zh-TW" altLang="en-US" dirty="0"/>
              <a:t>手機簡訊通知買賣</a:t>
            </a:r>
            <a:endParaRPr lang="en-US" altLang="zh-TW" dirty="0"/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zh-TW" altLang="en-US" dirty="0"/>
              <a:t>自行設定買賣個股</a:t>
            </a:r>
            <a:r>
              <a:rPr lang="en-US" altLang="zh-TW" dirty="0"/>
              <a:t>/</a:t>
            </a:r>
            <a:r>
              <a:rPr lang="zh-TW" altLang="en-US" dirty="0"/>
              <a:t>策略</a:t>
            </a:r>
            <a:r>
              <a:rPr lang="en-US" altLang="zh-TW" dirty="0"/>
              <a:t>/</a:t>
            </a:r>
            <a:r>
              <a:rPr lang="zh-TW" altLang="en-US" dirty="0"/>
              <a:t>資金</a:t>
            </a:r>
            <a:endParaRPr lang="en-US" altLang="zh-TW" dirty="0"/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zh-TW" altLang="en-US" dirty="0"/>
              <a:t>不用編程</a:t>
            </a:r>
            <a:r>
              <a:rPr lang="en-US" altLang="zh-TW" dirty="0"/>
              <a:t>,</a:t>
            </a:r>
            <a:r>
              <a:rPr lang="zh-TW" altLang="en-US" dirty="0"/>
              <a:t>但建議能看懂</a:t>
            </a:r>
            <a:r>
              <a:rPr lang="en-US" altLang="zh-TW" dirty="0"/>
              <a:t>Python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zh-TW" altLang="en-US" dirty="0"/>
              <a:t>內建</a:t>
            </a:r>
            <a:r>
              <a:rPr lang="en-US" altLang="zh-TW" dirty="0"/>
              <a:t>6</a:t>
            </a:r>
            <a:r>
              <a:rPr lang="zh-TW" altLang="en-US" dirty="0"/>
              <a:t>組策略預留四組使用者定義策略</a:t>
            </a:r>
            <a:endParaRPr lang="en-US" altLang="zh-TW" dirty="0"/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zh-TW" altLang="en-US" dirty="0"/>
              <a:t>能調用</a:t>
            </a:r>
            <a:r>
              <a:rPr lang="en-US" altLang="zh-TW" dirty="0" err="1"/>
              <a:t>Finmind</a:t>
            </a:r>
            <a:r>
              <a:rPr lang="en-US" altLang="zh-TW" dirty="0"/>
              <a:t>, TWSE</a:t>
            </a:r>
            <a:r>
              <a:rPr lang="zh-TW" altLang="en-US" dirty="0"/>
              <a:t>過去股市資料回測</a:t>
            </a:r>
            <a:endParaRPr lang="en-US" altLang="zh-TW" dirty="0"/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zh-TW" altLang="en-US" dirty="0"/>
              <a:t>使用玉山</a:t>
            </a:r>
            <a:r>
              <a:rPr lang="en-US" altLang="zh-TW" dirty="0"/>
              <a:t>API,</a:t>
            </a:r>
            <a:r>
              <a:rPr lang="zh-TW" altLang="en-US" dirty="0"/>
              <a:t>使用者可自行替代其他卷商</a:t>
            </a:r>
            <a:r>
              <a:rPr lang="en-US" altLang="zh-TW" dirty="0"/>
              <a:t>API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zh-TW" altLang="en-US" dirty="0"/>
              <a:t>完整</a:t>
            </a:r>
            <a:r>
              <a:rPr lang="en-US" altLang="zh-TW" dirty="0"/>
              <a:t>WSL</a:t>
            </a:r>
            <a:r>
              <a:rPr lang="zh-TW" altLang="en-US" dirty="0"/>
              <a:t>壓縮檔</a:t>
            </a:r>
            <a:r>
              <a:rPr lang="en-US" altLang="zh-TW" dirty="0"/>
              <a:t>,</a:t>
            </a:r>
            <a:r>
              <a:rPr lang="zh-TW" altLang="en-US" dirty="0"/>
              <a:t> 已經安裝好所有</a:t>
            </a:r>
            <a:r>
              <a:rPr lang="en-US" altLang="zh-TW" dirty="0"/>
              <a:t>Python/</a:t>
            </a:r>
            <a:r>
              <a:rPr lang="en-US" altLang="zh-TW" dirty="0" err="1"/>
              <a:t>Opencode</a:t>
            </a:r>
            <a:r>
              <a:rPr lang="en-US" altLang="zh-TW" dirty="0"/>
              <a:t>/…</a:t>
            </a:r>
            <a:r>
              <a:rPr lang="zh-TW" altLang="en-US" dirty="0"/>
              <a:t>工具</a:t>
            </a:r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DC734CB-0BA7-8F93-C035-84283CB1872C}"/>
              </a:ext>
            </a:extLst>
          </p:cNvPr>
          <p:cNvSpPr txBox="1"/>
          <p:nvPr/>
        </p:nvSpPr>
        <p:spPr>
          <a:xfrm>
            <a:off x="3047238" y="3302042"/>
            <a:ext cx="6094476" cy="25391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TW" altLang="zh-TW" sz="1050" b="0" i="0" dirty="0">
                <a:solidFill>
                  <a:srgbClr val="EDEDED"/>
                </a:solidFill>
                <a:effectLst/>
                <a:latin typeface="ui-sans-serif"/>
              </a:rPr>
              <a:t>00632R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536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/>
          <a:p>
            <a:r>
              <a:rPr lang="zh-TW" altLang="en-US" dirty="0"/>
              <a:t>系統優點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B95A416-05FC-CE36-FB78-577BDA37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6992938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3147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所有源碼公開</a:t>
            </a:r>
            <a:r>
              <a:rPr lang="en-US" altLang="zh-TW" dirty="0"/>
              <a:t>,</a:t>
            </a:r>
            <a:r>
              <a:rPr lang="zh-TW" altLang="en-US" dirty="0"/>
              <a:t> 只有主程式於</a:t>
            </a:r>
            <a:r>
              <a:rPr lang="en-US" altLang="zh-TW" dirty="0"/>
              <a:t>git</a:t>
            </a:r>
            <a:r>
              <a:rPr lang="zh-TW" altLang="en-US" dirty="0"/>
              <a:t>上給加密檔</a:t>
            </a:r>
            <a:r>
              <a:rPr lang="en-US" altLang="zh-TW" dirty="0"/>
              <a:t>,</a:t>
            </a:r>
            <a:r>
              <a:rPr lang="zh-TW" altLang="en-US" dirty="0"/>
              <a:t> 買教程會提供</a:t>
            </a:r>
            <a:r>
              <a:rPr lang="en-US" altLang="zh-TW" dirty="0"/>
              <a:t>WSL</a:t>
            </a:r>
            <a:r>
              <a:rPr lang="zh-TW" altLang="en-US" dirty="0"/>
              <a:t>壓縮檔及源碼</a:t>
            </a:r>
            <a:r>
              <a:rPr lang="en-US" altLang="zh-TW" dirty="0"/>
              <a:t>.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設定好策略後</a:t>
            </a:r>
            <a:r>
              <a:rPr lang="en-US" altLang="zh-TW" dirty="0"/>
              <a:t>,</a:t>
            </a:r>
            <a:r>
              <a:rPr lang="zh-TW" altLang="en-US" dirty="0"/>
              <a:t>自動買賣</a:t>
            </a:r>
            <a:r>
              <a:rPr lang="en-US" altLang="zh-TW" dirty="0"/>
              <a:t>,</a:t>
            </a:r>
            <a:r>
              <a:rPr lang="zh-TW" altLang="en-US" dirty="0"/>
              <a:t>不用整天盯盤</a:t>
            </a:r>
            <a:endParaRPr lang="en-US" altLang="zh-TW" dirty="0"/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利用免費的</a:t>
            </a:r>
            <a:r>
              <a:rPr lang="en-US" altLang="zh-TW" dirty="0"/>
              <a:t>TWSE</a:t>
            </a:r>
            <a:r>
              <a:rPr lang="zh-TW" altLang="en-US" dirty="0"/>
              <a:t>及</a:t>
            </a:r>
            <a:r>
              <a:rPr lang="en-US" altLang="zh-TW" dirty="0" err="1"/>
              <a:t>Finmind</a:t>
            </a:r>
            <a:r>
              <a:rPr lang="zh-TW" altLang="en-US" dirty="0"/>
              <a:t>額度即可回測</a:t>
            </a:r>
            <a:r>
              <a:rPr lang="en-US" altLang="zh-TW" dirty="0"/>
              <a:t>,</a:t>
            </a:r>
            <a:r>
              <a:rPr lang="zh-TW" altLang="en-US" dirty="0"/>
              <a:t>不用再花錢買資料庫</a:t>
            </a:r>
            <a:endParaRPr lang="en-US" altLang="zh-TW" dirty="0"/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t>五大策略(布林通道/MA Cross/VWAP反轉/唐奇安通道/低接高賣)已含括大部分盤勢, 並預留4個預備策略</a:t>
            </a:r>
            <a:endParaRPr lang="en-US" altLang="zh-TW" dirty="0"/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雖然</a:t>
            </a:r>
            <a:r>
              <a:rPr lang="en-US" altLang="zh-TW" dirty="0"/>
              <a:t>,</a:t>
            </a:r>
            <a:r>
              <a:rPr lang="zh-TW" altLang="en-US" dirty="0"/>
              <a:t>我們有給主程式源碼</a:t>
            </a:r>
            <a:r>
              <a:rPr lang="en-US" altLang="zh-TW" dirty="0"/>
              <a:t>,</a:t>
            </a:r>
            <a:r>
              <a:rPr lang="zh-TW" altLang="en-US" dirty="0"/>
              <a:t>但建議使用者使用我們長期測試過的版本</a:t>
            </a:r>
            <a:r>
              <a:rPr lang="en-US" altLang="zh-TW" dirty="0"/>
              <a:t>,</a:t>
            </a:r>
            <a:r>
              <a:rPr lang="zh-TW" altLang="en-US" dirty="0"/>
              <a:t>只要修改內建策略參數或加上你自己的策略即可</a:t>
            </a:r>
            <a:r>
              <a:rPr lang="en-US" altLang="zh-TW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D6C5DF0E-0ACB-00E1-94E1-B6FF84521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609600"/>
          </a:xfrm>
        </p:spPr>
        <p:txBody>
          <a:bodyPr/>
          <a:lstStyle/>
          <a:p>
            <a:r>
              <a:rPr lang="zh-TW" altLang="en-US" dirty="0"/>
              <a:t>實際運行展示</a:t>
            </a:r>
            <a:endParaRPr 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D428980-9284-8574-976B-0B59626EC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AAEAE4A8-A6E5-453E-B946-FB774B73F48C}" type="slidenum">
              <a:rPr lang="en-US" sz="200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sz="2000"/>
          </a:p>
        </p:txBody>
      </p:sp>
      <p:sp>
        <p:nvSpPr>
          <p:cNvPr id="13" name="內容版面配置區 3">
            <a:extLst>
              <a:ext uri="{FF2B5EF4-FFF2-40B4-BE49-F238E27FC236}">
                <a16:creationId xmlns:a16="http://schemas.microsoft.com/office/drawing/2014/main" id="{AA7CC225-0541-6C1B-44A6-A09C6AF90C80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4799012" y="457200"/>
            <a:ext cx="6324600" cy="838200"/>
          </a:xfrm>
        </p:spPr>
        <p:txBody>
          <a:bodyPr>
            <a:normAutofit fontScale="55000" lnSpcReduction="20000"/>
          </a:bodyPr>
          <a:lstStyle/>
          <a:p>
            <a:pPr indent="0">
              <a:buNone/>
            </a:pPr>
            <a:r>
              <a:rPr lang="en-US" sz="3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rPr>
              <a:t>https://dinchentech.github.io/tw-autotrader/</a:t>
            </a:r>
            <a:br>
              <a: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rPr>
            </a:br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1376C30-1F24-DEC8-AF76-298A03D8FA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" b="11789"/>
          <a:stretch>
            <a:fillRect/>
          </a:stretch>
        </p:blipFill>
        <p:spPr>
          <a:xfrm>
            <a:off x="4778374" y="1219200"/>
            <a:ext cx="6953250" cy="4953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96719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84C66A-2706-6C14-2138-4D11C1923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609600"/>
            <a:ext cx="10363201" cy="1447800"/>
          </a:xfrm>
        </p:spPr>
        <p:txBody>
          <a:bodyPr/>
          <a:lstStyle/>
          <a:p>
            <a:r>
              <a:rPr lang="en-US" altLang="zh-TW" dirty="0" err="1"/>
              <a:t>Opencode+Finmind</a:t>
            </a:r>
            <a:r>
              <a:rPr lang="zh-TW" altLang="en-US" dirty="0"/>
              <a:t>能做甚麼</a:t>
            </a:r>
            <a:r>
              <a:rPr lang="en-US" altLang="zh-TW" dirty="0"/>
              <a:t>?</a:t>
            </a:r>
            <a:br>
              <a:rPr lang="en-US" altLang="zh-TW" dirty="0"/>
            </a:br>
            <a:r>
              <a:rPr lang="en-US" altLang="zh-TW" dirty="0"/>
              <a:t>=&gt;</a:t>
            </a:r>
            <a:r>
              <a:rPr lang="zh-TW" altLang="en-US" dirty="0"/>
              <a:t>幫我做一個台灣</a:t>
            </a:r>
            <a:r>
              <a:rPr lang="en-US" altLang="zh-TW" dirty="0"/>
              <a:t>2026</a:t>
            </a:r>
            <a:r>
              <a:rPr lang="zh-TW" altLang="en-US" dirty="0"/>
              <a:t>前</a:t>
            </a:r>
            <a:r>
              <a:rPr lang="en-US" altLang="zh-TW" dirty="0"/>
              <a:t>10</a:t>
            </a:r>
            <a:r>
              <a:rPr lang="zh-TW" altLang="en-US" dirty="0"/>
              <a:t>大</a:t>
            </a:r>
            <a:r>
              <a:rPr lang="en-US" altLang="zh-TW" dirty="0"/>
              <a:t>eps</a:t>
            </a:r>
            <a:r>
              <a:rPr lang="zh-TW" altLang="en-US" dirty="0"/>
              <a:t>公司的走勢</a:t>
            </a:r>
            <a:r>
              <a:rPr lang="en-US" altLang="zh-TW" dirty="0"/>
              <a:t>html</a:t>
            </a:r>
            <a:endParaRPr 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2961E63-6D8B-D6F7-C778-8B05EA4B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2F3BE32-341D-8E1B-D549-00E4FD022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810" y="1828800"/>
            <a:ext cx="3182938" cy="3962400"/>
          </a:xfrm>
        </p:spPr>
        <p:txBody>
          <a:bodyPr/>
          <a:lstStyle/>
          <a:p>
            <a:r>
              <a:rPr lang="en-US" altLang="zh-TW" dirty="0"/>
              <a:t>Why HTML?</a:t>
            </a:r>
          </a:p>
          <a:p>
            <a:r>
              <a:rPr lang="en-US" altLang="zh-TW" dirty="0"/>
              <a:t>HTML</a:t>
            </a:r>
            <a:r>
              <a:rPr lang="zh-TW" altLang="en-US" dirty="0"/>
              <a:t>能動態顯示</a:t>
            </a:r>
            <a:r>
              <a:rPr lang="en-US" altLang="zh-TW" dirty="0"/>
              <a:t>.enable/disable </a:t>
            </a:r>
            <a:r>
              <a:rPr lang="zh-TW" altLang="en-US" dirty="0"/>
              <a:t>個股</a:t>
            </a:r>
            <a:endParaRPr lang="en-US" altLang="zh-TW" dirty="0"/>
          </a:p>
          <a:p>
            <a:r>
              <a:rPr lang="zh-TW" altLang="en-US" dirty="0"/>
              <a:t>移動鼠標</a:t>
            </a:r>
            <a:r>
              <a:rPr lang="en-US" altLang="zh-TW" dirty="0"/>
              <a:t>,</a:t>
            </a:r>
            <a:r>
              <a:rPr lang="zh-TW" altLang="en-US" dirty="0"/>
              <a:t>顯示該時間點資訊</a:t>
            </a:r>
            <a:endParaRPr 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92A19A8B-91F3-160C-7961-413EB540DBBB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4893084" y="1828800"/>
            <a:ext cx="6763929" cy="414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829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32D72-98E2-CEC8-CE3D-3C9DA63EB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F478C8-87B1-062F-A37A-F083274A8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2" y="381000"/>
            <a:ext cx="10591801" cy="1447800"/>
          </a:xfrm>
        </p:spPr>
        <p:txBody>
          <a:bodyPr/>
          <a:lstStyle/>
          <a:p>
            <a:r>
              <a:rPr lang="en-US" altLang="zh-TW" dirty="0" err="1"/>
              <a:t>Opencode+Finmind</a:t>
            </a:r>
            <a:r>
              <a:rPr lang="zh-TW" altLang="en-US" dirty="0"/>
              <a:t>能做甚麼</a:t>
            </a:r>
            <a:r>
              <a:rPr lang="en-US" altLang="zh-TW" dirty="0"/>
              <a:t>?</a:t>
            </a:r>
            <a:br>
              <a:rPr lang="en-US" altLang="zh-TW" dirty="0"/>
            </a:br>
            <a:r>
              <a:rPr lang="en-US" altLang="zh-TW" dirty="0"/>
              <a:t>=&gt;</a:t>
            </a:r>
            <a:r>
              <a:rPr lang="zh-TW" altLang="en-US" dirty="0"/>
              <a:t>幫我做一個台灣</a:t>
            </a:r>
            <a:r>
              <a:rPr lang="en-US" altLang="zh-TW" dirty="0"/>
              <a:t>2026</a:t>
            </a:r>
            <a:r>
              <a:rPr lang="zh-TW" altLang="en-US" dirty="0"/>
              <a:t>前</a:t>
            </a:r>
            <a:r>
              <a:rPr lang="en-US" altLang="zh-TW" dirty="0"/>
              <a:t>10</a:t>
            </a:r>
            <a:r>
              <a:rPr lang="zh-TW" altLang="en-US" dirty="0"/>
              <a:t>便宜</a:t>
            </a:r>
            <a:r>
              <a:rPr lang="en-US" altLang="zh-TW" dirty="0"/>
              <a:t>eps&gt;30</a:t>
            </a:r>
            <a:r>
              <a:rPr lang="zh-TW" altLang="en-US" dirty="0"/>
              <a:t>公司的走勢</a:t>
            </a:r>
            <a:r>
              <a:rPr lang="en-US" altLang="zh-TW" dirty="0"/>
              <a:t>html</a:t>
            </a:r>
            <a:endParaRPr 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087809A-0A32-02E5-E531-97CDBF6AD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847C296B-A443-4130-FEE2-F1E59542BFDA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1522412" y="1295400"/>
            <a:ext cx="8382000" cy="540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246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8B23F7-6C1D-49AF-D337-AA3D6DB54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274" y="266700"/>
            <a:ext cx="10668000" cy="685800"/>
          </a:xfrm>
        </p:spPr>
        <p:txBody>
          <a:bodyPr/>
          <a:lstStyle/>
          <a:p>
            <a:r>
              <a:rPr lang="zh-TW" altLang="en-US" dirty="0"/>
              <a:t>與</a:t>
            </a:r>
            <a:r>
              <a:rPr lang="en-US" altLang="zh-TW" dirty="0"/>
              <a:t>AI(</a:t>
            </a:r>
            <a:r>
              <a:rPr lang="en-US" altLang="zh-TW" dirty="0" err="1"/>
              <a:t>Deepseek</a:t>
            </a:r>
            <a:r>
              <a:rPr lang="en-US" altLang="zh-TW" dirty="0"/>
              <a:t> R4 Flash)</a:t>
            </a:r>
            <a:r>
              <a:rPr lang="zh-TW" altLang="en-US" dirty="0"/>
              <a:t>討論策略</a:t>
            </a:r>
            <a:r>
              <a:rPr lang="en-US" altLang="zh-TW" dirty="0"/>
              <a:t>-1</a:t>
            </a:r>
            <a:endParaRPr 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1FFCA50-8ED7-369C-3E04-9D5319B45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822B4C1-805D-353B-49C1-87840576B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12" y="914400"/>
            <a:ext cx="6553200" cy="5334000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核心矛盾</a:t>
            </a:r>
            <a:r>
              <a:rPr lang="en-US" dirty="0"/>
              <a:t>： </a:t>
            </a:r>
            <a:r>
              <a:rPr lang="en-US" dirty="0" err="1">
                <a:highlight>
                  <a:srgbClr val="FFFF00"/>
                </a:highlight>
              </a:rPr>
              <a:t>XX是「結構性利多</a:t>
            </a:r>
            <a:r>
              <a:rPr lang="en-US" dirty="0">
                <a:highlight>
                  <a:srgbClr val="FFFF00"/>
                </a:highlight>
              </a:rPr>
              <a:t>」+「</a:t>
            </a:r>
            <a:r>
              <a:rPr lang="en-US" dirty="0" err="1">
                <a:highlight>
                  <a:srgbClr val="FFFF00"/>
                </a:highlight>
              </a:rPr>
              <a:t>循環股標籤</a:t>
            </a:r>
            <a:r>
              <a:rPr lang="en-US" dirty="0" err="1"/>
              <a:t>」的混合體。結構性利多讓它有向上空間，循環股標籤讓波動極大。策略要同時兼顧這兩者</a:t>
            </a:r>
            <a:r>
              <a:rPr lang="en-US" dirty="0"/>
              <a:t>。</a:t>
            </a:r>
          </a:p>
          <a:p>
            <a:r>
              <a:rPr lang="en-US" dirty="0"/>
              <a:t>適合考慮的方向：</a:t>
            </a:r>
          </a:p>
          <a:p>
            <a:r>
              <a:rPr lang="en-US" dirty="0"/>
              <a:t>1. 核心部位 + 移動停利 大部分持倉抱著吃主升段，但設一個動態出場條件——例如跌破 季線（60MA） 或 月線 </a:t>
            </a:r>
            <a:r>
              <a:rPr lang="en-US" dirty="0" err="1"/>
              <a:t>減碼一部分。循環股最大的風險不是看錯方向，而是抱上去又抱下來</a:t>
            </a:r>
            <a:r>
              <a:rPr lang="en-US" dirty="0"/>
              <a:t>。</a:t>
            </a:r>
          </a:p>
          <a:p>
            <a:r>
              <a:rPr lang="en-US" dirty="0"/>
              <a:t>2. </a:t>
            </a:r>
            <a:r>
              <a:rPr lang="en-US" dirty="0" err="1">
                <a:highlight>
                  <a:srgbClr val="FFFF00"/>
                </a:highlight>
              </a:rPr>
              <a:t>盯著毛利率和庫存轉折</a:t>
            </a:r>
            <a:r>
              <a:rPr lang="en-US" dirty="0" err="1"/>
              <a:t>XX</a:t>
            </a:r>
            <a:r>
              <a:rPr lang="en-US" dirty="0"/>
              <a:t> Q1 毛利率 38%，這在 memory </a:t>
            </a:r>
            <a:r>
              <a:rPr lang="en-US" dirty="0" err="1"/>
              <a:t>模組廠是史詩級數字。真正該警覺的信號是：毛利率連續兩季下滑（代表漲價動能減弱）DRAM</a:t>
            </a:r>
            <a:r>
              <a:rPr lang="en-US" dirty="0"/>
              <a:t> </a:t>
            </a:r>
            <a:r>
              <a:rPr lang="en-US" dirty="0" err="1"/>
              <a:t>合約價漲幅收斂到個位數存貨週轉天數從</a:t>
            </a:r>
            <a:r>
              <a:rPr lang="en-US" dirty="0"/>
              <a:t> 183 天繼續攀升但營收沒跟上那時即使股價還在漲，也要開始收了。</a:t>
            </a:r>
          </a:p>
          <a:p>
            <a:r>
              <a:rPr lang="en-US" dirty="0"/>
              <a:t>3. </a:t>
            </a:r>
            <a:r>
              <a:rPr lang="en-US" dirty="0">
                <a:highlight>
                  <a:srgbClr val="FFFF00"/>
                </a:highlight>
              </a:rPr>
              <a:t>分批出場計畫</a:t>
            </a:r>
            <a:r>
              <a:rPr lang="en-US" dirty="0"/>
              <a:t> 循環股的鐵律：不要妄想賣在最高點。 可以先設幾個目標價區間（比如 300、400、500），每過一個關卡出 20~30%，最後留一些看能不能吃到泡沫。這樣即使後面繼續漲也不會心態炸裂。</a:t>
            </a:r>
          </a:p>
          <a:p>
            <a:r>
              <a:rPr lang="en-US" dirty="0"/>
              <a:t>4</a:t>
            </a:r>
            <a:r>
              <a:rPr lang="en-US" dirty="0">
                <a:highlight>
                  <a:srgbClr val="FFFF00"/>
                </a:highlight>
              </a:rPr>
              <a:t>. 不利情境的準備 </a:t>
            </a:r>
            <a:r>
              <a:rPr lang="en-US" dirty="0"/>
              <a:t>目前的風險不是景氣反轉（你說了一兩年內不太可能），而是：</a:t>
            </a:r>
          </a:p>
          <a:p>
            <a:r>
              <a:rPr lang="en-US" dirty="0"/>
              <a:t>漲多修正 — YTD +22% 了，中間一定會有回檔</a:t>
            </a:r>
          </a:p>
          <a:p>
            <a:r>
              <a:rPr lang="en-US" dirty="0"/>
              <a:t>市場突然重新定性 — 如果哪天市場把記憶體股從「循環股」重新評為「成長股」，反而是大利多，但這個過程不會平滑</a:t>
            </a:r>
          </a:p>
          <a:p>
            <a:r>
              <a:rPr lang="en-US" dirty="0"/>
              <a:t>先想清楚你要賺的是哪一段，再決定策略。如果需要，</a:t>
            </a:r>
            <a:r>
              <a:rPr lang="en-US" b="1" dirty="0">
                <a:highlight>
                  <a:srgbClr val="FFFF00"/>
                </a:highlight>
              </a:rPr>
              <a:t>我可以幫你用 TWSE 資料跑一下十銓的技術面支撐壓力區間。</a:t>
            </a:r>
          </a:p>
          <a:p>
            <a:endParaRPr 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45A4D0F-B435-A4BA-2CE9-312A361C565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085012" y="914400"/>
            <a:ext cx="4572001" cy="4953000"/>
          </a:xfrm>
        </p:spPr>
        <p:txBody>
          <a:bodyPr/>
          <a:lstStyle/>
          <a:p>
            <a:r>
              <a:rPr lang="zh-TW" altLang="en-US" dirty="0"/>
              <a:t>我預期</a:t>
            </a:r>
            <a:r>
              <a:rPr lang="en-US" altLang="zh-TW" dirty="0"/>
              <a:t>xx</a:t>
            </a:r>
            <a:r>
              <a:rPr lang="zh-TW" altLang="en-US" dirty="0"/>
              <a:t>股價還會上升</a:t>
            </a:r>
            <a:r>
              <a:rPr lang="en-US" altLang="zh-TW" dirty="0"/>
              <a:t>, </a:t>
            </a:r>
            <a:r>
              <a:rPr lang="zh-TW" altLang="en-US" dirty="0"/>
              <a:t>你認為這要用甚麼策略</a:t>
            </a:r>
            <a:r>
              <a:rPr lang="en-US" altLang="zh-TW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864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A5445-2D7C-3FA0-4533-9FFDC0498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885A11-CB83-6BB1-7948-91E998EE2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274" y="266700"/>
            <a:ext cx="10668000" cy="685800"/>
          </a:xfrm>
        </p:spPr>
        <p:txBody>
          <a:bodyPr/>
          <a:lstStyle/>
          <a:p>
            <a:r>
              <a:rPr lang="zh-TW" altLang="en-US" dirty="0"/>
              <a:t>與</a:t>
            </a:r>
            <a:r>
              <a:rPr lang="en-US" altLang="zh-TW" dirty="0"/>
              <a:t>AI(</a:t>
            </a:r>
            <a:r>
              <a:rPr lang="en-US" altLang="zh-TW" dirty="0" err="1"/>
              <a:t>Deepseek</a:t>
            </a:r>
            <a:r>
              <a:rPr lang="en-US" altLang="zh-TW" dirty="0"/>
              <a:t> R4 Flash)</a:t>
            </a:r>
            <a:r>
              <a:rPr lang="zh-TW" altLang="en-US" dirty="0"/>
              <a:t>討論策略</a:t>
            </a:r>
            <a:r>
              <a:rPr lang="en-US" altLang="zh-TW" dirty="0"/>
              <a:t>-2</a:t>
            </a:r>
            <a:endParaRPr 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F0328A6-E297-7838-14B4-9CDDFCA42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FCFE8B7-5A60-6E0F-51BC-71C5EF8E8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12" y="914400"/>
            <a:ext cx="6553200" cy="53340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這個策略簡單明瞭，但我想幫你 check </a:t>
            </a:r>
            <a:r>
              <a:rPr lang="en-US" dirty="0" err="1"/>
              <a:t>一下數字：目前股價</a:t>
            </a:r>
            <a:r>
              <a:rPr lang="en-US" dirty="0"/>
              <a:t> 233，已經在 250 以下了，所以其實現在就已經是買點。</a:t>
            </a:r>
          </a:p>
          <a:p>
            <a:r>
              <a:rPr lang="en-US" dirty="0"/>
              <a:t>問題在於 280 </a:t>
            </a:r>
            <a:r>
              <a:rPr lang="en-US" dirty="0" err="1"/>
              <a:t>就賣：XX</a:t>
            </a:r>
            <a:r>
              <a:rPr lang="en-US" dirty="0"/>
              <a:t> 2026 年光是 Q1 EPS 就 27 元</a:t>
            </a:r>
          </a:p>
          <a:p>
            <a:r>
              <a:rPr lang="en-US" dirty="0"/>
              <a:t>就算後面三季保守估 30 元，全年 EPS 也有 ~57 元 280 賣掉 = 本益比不到 5 倍</a:t>
            </a:r>
          </a:p>
          <a:p>
            <a:r>
              <a:rPr lang="en-US" dirty="0"/>
              <a:t>如果這一波真的是結構性超級景氣，市場稍微重新評價到 810 倍本益比，股價可以到 **450~570 元**。現在 280 就賣，可能會賣在剛開始起漲的位置。</a:t>
            </a:r>
          </a:p>
          <a:p>
            <a:r>
              <a:rPr lang="en-US" dirty="0"/>
              <a:t>比較合理的做法：</a:t>
            </a:r>
          </a:p>
          <a:p>
            <a:r>
              <a:rPr lang="en-US" dirty="0">
                <a:highlight>
                  <a:srgbClr val="FFFF00"/>
                </a:highlight>
              </a:rPr>
              <a:t>250 以下買 → 這沒問題</a:t>
            </a:r>
            <a:r>
              <a:rPr lang="en-US" dirty="0"/>
              <a:t>，現在就可以建立部位</a:t>
            </a:r>
          </a:p>
          <a:p>
            <a:r>
              <a:rPr lang="en-US" dirty="0"/>
              <a:t>但賣的條件可以更動態——不要鎖死 280，而是跟 EPS 的實際成長 掛鉤。例如：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第一目標 300 出 1/3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第二目標 400 出 1/3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留一部分看景氣能走到什麼時候</a:t>
            </a:r>
          </a:p>
          <a:p>
            <a:r>
              <a:rPr lang="en-US" dirty="0"/>
              <a:t>單純鎖 250~280 </a:t>
            </a:r>
            <a:r>
              <a:rPr lang="en-US" dirty="0" err="1"/>
              <a:t>區間，等於是預設</a:t>
            </a:r>
            <a:r>
              <a:rPr lang="en-US" altLang="zh-TW" dirty="0" err="1"/>
              <a:t>XX</a:t>
            </a:r>
            <a:r>
              <a:rPr lang="en-US" dirty="0" err="1"/>
              <a:t>只值</a:t>
            </a:r>
            <a:r>
              <a:rPr lang="en-US" dirty="0"/>
              <a:t> 5 倍本益比——如果結構性利多真的兌現，這個假設可能會讓你把魚頭魚身都錯過。要設一個讓自己不會後悔的出場計畫比較實際。</a:t>
            </a:r>
          </a:p>
          <a:p>
            <a:endParaRPr 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BA726EA-468E-7831-EAF6-A28EA0E6ACC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085012" y="914400"/>
            <a:ext cx="4572001" cy="4953000"/>
          </a:xfrm>
        </p:spPr>
        <p:txBody>
          <a:bodyPr/>
          <a:lstStyle/>
          <a:p>
            <a:r>
              <a:rPr lang="en-US" dirty="0" err="1"/>
              <a:t>可以keep</a:t>
            </a:r>
            <a:r>
              <a:rPr lang="en-US" dirty="0"/>
              <a:t> </a:t>
            </a:r>
            <a:r>
              <a:rPr lang="en-US" dirty="0">
                <a:highlight>
                  <a:srgbClr val="FFFF00"/>
                </a:highlight>
              </a:rPr>
              <a:t>wait 250以下買,280以上賣</a:t>
            </a:r>
            <a:r>
              <a:rPr lang="en-US" dirty="0"/>
              <a:t>?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1E6E4A6-3D69-529F-5F5A-9CD8C19232B5}"/>
              </a:ext>
            </a:extLst>
          </p:cNvPr>
          <p:cNvSpPr txBox="1"/>
          <p:nvPr/>
        </p:nvSpPr>
        <p:spPr>
          <a:xfrm>
            <a:off x="7237412" y="2385538"/>
            <a:ext cx="4191000" cy="147732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請注意這是在</a:t>
            </a:r>
            <a:r>
              <a:rPr lang="en-US" altLang="zh-TW" b="1" dirty="0" err="1">
                <a:solidFill>
                  <a:srgbClr val="FF0000"/>
                </a:solidFill>
              </a:rPr>
              <a:t>Opencode</a:t>
            </a:r>
            <a:r>
              <a:rPr lang="zh-TW" altLang="en-US" b="1" dirty="0">
                <a:solidFill>
                  <a:srgbClr val="FF0000"/>
                </a:solidFill>
              </a:rPr>
              <a:t>中的</a:t>
            </a:r>
            <a:r>
              <a:rPr lang="en-US" altLang="zh-TW" b="1" dirty="0">
                <a:solidFill>
                  <a:srgbClr val="FF0000"/>
                </a:solidFill>
              </a:rPr>
              <a:t>AI</a:t>
            </a:r>
            <a:r>
              <a:rPr lang="zh-TW" altLang="en-US" b="1" dirty="0">
                <a:solidFill>
                  <a:srgbClr val="FF0000"/>
                </a:solidFill>
              </a:rPr>
              <a:t>問答</a:t>
            </a:r>
            <a:r>
              <a:rPr lang="en-US" altLang="zh-TW" b="1" dirty="0">
                <a:solidFill>
                  <a:srgbClr val="FF0000"/>
                </a:solidFill>
              </a:rPr>
              <a:t>,</a:t>
            </a:r>
            <a:r>
              <a:rPr lang="zh-TW" altLang="en-US" b="1" dirty="0">
                <a:solidFill>
                  <a:srgbClr val="FF0000"/>
                </a:solidFill>
              </a:rPr>
              <a:t>不是一般對話型</a:t>
            </a:r>
            <a:r>
              <a:rPr lang="en-US" altLang="zh-TW" b="1" dirty="0">
                <a:solidFill>
                  <a:srgbClr val="FF0000"/>
                </a:solidFill>
              </a:rPr>
              <a:t>AI</a:t>
            </a:r>
            <a:r>
              <a:rPr lang="zh-TW" altLang="en-US" b="1" dirty="0">
                <a:solidFill>
                  <a:srgbClr val="FF0000"/>
                </a:solidFill>
              </a:rPr>
              <a:t>的回答</a:t>
            </a:r>
            <a:r>
              <a:rPr lang="en-US" altLang="zh-TW" b="1" dirty="0">
                <a:solidFill>
                  <a:srgbClr val="FF0000"/>
                </a:solidFill>
              </a:rPr>
              <a:t>,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 err="1">
                <a:solidFill>
                  <a:srgbClr val="FF0000"/>
                </a:solidFill>
              </a:rPr>
              <a:t>Opencode</a:t>
            </a:r>
            <a:r>
              <a:rPr lang="zh-TW" altLang="en-US" b="1" dirty="0">
                <a:solidFill>
                  <a:srgbClr val="FF0000"/>
                </a:solidFill>
              </a:rPr>
              <a:t>會先掃描專案內的所有檔案才有辦法針對本專案來回答</a:t>
            </a:r>
            <a:r>
              <a:rPr lang="en-US" altLang="zh-TW" b="1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AI</a:t>
            </a:r>
            <a:r>
              <a:rPr lang="zh-TW" altLang="en-US" b="1" dirty="0">
                <a:solidFill>
                  <a:srgbClr val="FF0000"/>
                </a:solidFill>
              </a:rPr>
              <a:t>說的不全對</a:t>
            </a:r>
            <a:r>
              <a:rPr lang="en-US" altLang="zh-TW" b="1" dirty="0">
                <a:solidFill>
                  <a:srgbClr val="FF0000"/>
                </a:solidFill>
              </a:rPr>
              <a:t>,</a:t>
            </a:r>
            <a:r>
              <a:rPr lang="zh-TW" altLang="en-US" b="1" dirty="0">
                <a:solidFill>
                  <a:srgbClr val="FF0000"/>
                </a:solidFill>
              </a:rPr>
              <a:t>但是很有參考價值</a:t>
            </a:r>
            <a:r>
              <a:rPr lang="en-US" altLang="zh-TW" b="1" dirty="0">
                <a:solidFill>
                  <a:srgbClr val="FF0000"/>
                </a:solidFill>
              </a:rPr>
              <a:t>!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326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467E24-ACF7-FF7F-3725-B515FFE85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164" y="342900"/>
            <a:ext cx="8431848" cy="533400"/>
          </a:xfrm>
        </p:spPr>
        <p:txBody>
          <a:bodyPr anchor="t">
            <a:normAutofit/>
          </a:bodyPr>
          <a:lstStyle/>
          <a:p>
            <a:r>
              <a:rPr lang="zh-TW" altLang="en-US" dirty="0"/>
              <a:t>需要先申請的帳號</a:t>
            </a:r>
            <a:r>
              <a:rPr lang="en-US" altLang="zh-TW" dirty="0"/>
              <a:t>/</a:t>
            </a:r>
            <a:r>
              <a:rPr lang="zh-TW" altLang="en-US" dirty="0"/>
              <a:t>安裝軟件</a:t>
            </a:r>
            <a:r>
              <a:rPr lang="en-US" altLang="zh-TW" dirty="0"/>
              <a:t>(PPT</a:t>
            </a:r>
            <a:r>
              <a:rPr lang="zh-TW" altLang="en-US" dirty="0"/>
              <a:t>檔中有連接</a:t>
            </a:r>
            <a:r>
              <a:rPr lang="en-US" altLang="zh-TW" dirty="0"/>
              <a:t>)</a:t>
            </a:r>
            <a:endParaRPr 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7D63ECD-E295-7072-F51D-3DBD85579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AAEAE4A8-A6E5-453E-B946-FB774B73F48C}" type="slidenum">
              <a:rPr lang="en-US" sz="2000" smtClean="0"/>
              <a:pPr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en-US" sz="2000"/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160DD418-8697-0184-7A17-329D20E7E5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079218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1446212" y="800100"/>
          <a:ext cx="9677400" cy="5867400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2119323">
                  <a:extLst>
                    <a:ext uri="{9D8B030D-6E8A-4147-A177-3AD203B41FA5}">
                      <a16:colId xmlns:a16="http://schemas.microsoft.com/office/drawing/2014/main" val="1443436253"/>
                    </a:ext>
                  </a:extLst>
                </a:gridCol>
                <a:gridCol w="7558077">
                  <a:extLst>
                    <a:ext uri="{9D8B030D-6E8A-4147-A177-3AD203B41FA5}">
                      <a16:colId xmlns:a16="http://schemas.microsoft.com/office/drawing/2014/main" val="2659316039"/>
                    </a:ext>
                  </a:extLst>
                </a:gridCol>
              </a:tblGrid>
              <a:tr h="1039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01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/>
                        <a:t>Google </a:t>
                      </a:r>
                      <a:r>
                        <a:rPr lang="zh-TW" altLang="en-US" sz="3300" dirty="0"/>
                        <a:t>帳號並綁上</a:t>
                      </a:r>
                      <a:r>
                        <a:rPr lang="en-US" altLang="zh-TW" sz="3300" dirty="0"/>
                        <a:t>google pay</a:t>
                      </a:r>
                      <a:r>
                        <a:rPr lang="zh-TW" altLang="en-US" sz="3300" dirty="0"/>
                        <a:t>來</a:t>
                      </a:r>
                      <a:r>
                        <a:rPr lang="zh-TW" altLang="en-US" sz="3300" dirty="0">
                          <a:hlinkClick r:id="rId2"/>
                        </a:rPr>
                        <a:t>申請雲端主機</a:t>
                      </a:r>
                      <a:endParaRPr lang="en-US" sz="3300" dirty="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678377"/>
                  </a:ext>
                </a:extLst>
              </a:tr>
              <a:tr h="1039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02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 err="1">
                          <a:hlinkClick r:id="rId3"/>
                        </a:rPr>
                        <a:t>Openrouter</a:t>
                      </a:r>
                      <a:r>
                        <a:rPr lang="zh-TW" altLang="en-US" sz="3300" dirty="0"/>
                        <a:t>帳戶</a:t>
                      </a:r>
                      <a:r>
                        <a:rPr lang="en-US" altLang="zh-TW" sz="3300" dirty="0"/>
                        <a:t>(</a:t>
                      </a:r>
                      <a:r>
                        <a:rPr lang="zh-TW" altLang="en-US" sz="3300" dirty="0"/>
                        <a:t>並充個</a:t>
                      </a:r>
                      <a:r>
                        <a:rPr lang="en-US" altLang="zh-TW" sz="3300" dirty="0"/>
                        <a:t>20</a:t>
                      </a:r>
                      <a:r>
                        <a:rPr lang="zh-TW" altLang="en-US" sz="3300" dirty="0"/>
                        <a:t>美金</a:t>
                      </a:r>
                      <a:r>
                        <a:rPr lang="en-US" altLang="zh-TW" sz="3300" dirty="0"/>
                        <a:t>,</a:t>
                      </a:r>
                      <a:r>
                        <a:rPr lang="zh-TW" altLang="en-US" sz="3300" dirty="0"/>
                        <a:t>用完再加</a:t>
                      </a:r>
                      <a:r>
                        <a:rPr lang="en-US" altLang="zh-TW" sz="3300" dirty="0"/>
                        <a:t>)</a:t>
                      </a:r>
                      <a:r>
                        <a:rPr lang="zh-TW" altLang="en-US" sz="3300" dirty="0"/>
                        <a:t>以使用</a:t>
                      </a:r>
                      <a:r>
                        <a:rPr lang="en-US" altLang="zh-TW" sz="3300" dirty="0"/>
                        <a:t>AI,</a:t>
                      </a:r>
                      <a:r>
                        <a:rPr lang="zh-TW" altLang="en-US" sz="3300" dirty="0"/>
                        <a:t> 並申請</a:t>
                      </a:r>
                      <a:r>
                        <a:rPr lang="en-US" altLang="zh-TW" sz="3300" dirty="0">
                          <a:hlinkClick r:id="rId4"/>
                        </a:rPr>
                        <a:t>Nvidia</a:t>
                      </a:r>
                      <a:r>
                        <a:rPr lang="zh-TW" altLang="en-US" sz="3300" dirty="0"/>
                        <a:t>帳號備用</a:t>
                      </a:r>
                      <a:endParaRPr lang="en-US" sz="3300" dirty="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871689"/>
                  </a:ext>
                </a:extLst>
              </a:tr>
              <a:tr h="1039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/>
                        <a:t>03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3300" dirty="0"/>
                        <a:t>申請</a:t>
                      </a:r>
                      <a:r>
                        <a:rPr lang="en-US" altLang="zh-TW" sz="3300" dirty="0" err="1">
                          <a:hlinkClick r:id="rId5"/>
                        </a:rPr>
                        <a:t>Finmind</a:t>
                      </a:r>
                      <a:r>
                        <a:rPr lang="zh-TW" altLang="en-US" sz="3300" dirty="0"/>
                        <a:t>的帳號及</a:t>
                      </a:r>
                      <a:r>
                        <a:rPr lang="en-US" altLang="zh-TW" sz="3300" dirty="0"/>
                        <a:t>API Key(</a:t>
                      </a:r>
                      <a:r>
                        <a:rPr lang="zh-TW" altLang="en-US" sz="3300" dirty="0"/>
                        <a:t>回測資料</a:t>
                      </a:r>
                      <a:r>
                        <a:rPr lang="en-US" altLang="zh-TW" sz="3300" dirty="0"/>
                        <a:t>,</a:t>
                      </a:r>
                      <a:r>
                        <a:rPr lang="zh-TW" altLang="en-US" sz="3300" dirty="0"/>
                        <a:t>免費有一小時</a:t>
                      </a:r>
                      <a:r>
                        <a:rPr lang="en-US" altLang="zh-TW" sz="3300" dirty="0"/>
                        <a:t>600</a:t>
                      </a:r>
                      <a:r>
                        <a:rPr lang="zh-TW" altLang="en-US" sz="3300" dirty="0"/>
                        <a:t>次限制</a:t>
                      </a:r>
                      <a:r>
                        <a:rPr lang="en-US" altLang="zh-TW" sz="3300" dirty="0"/>
                        <a:t>)</a:t>
                      </a:r>
                      <a:endParaRPr lang="en-US" sz="3300" dirty="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033343"/>
                  </a:ext>
                </a:extLst>
              </a:tr>
              <a:tr h="1039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/>
                        <a:t>04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300" dirty="0"/>
                        <a:t>申請玉山</a:t>
                      </a:r>
                      <a:r>
                        <a:rPr lang="en-US" altLang="zh-TW" sz="3300" dirty="0">
                          <a:hlinkClick r:id="rId6"/>
                        </a:rPr>
                        <a:t>API</a:t>
                      </a:r>
                      <a:r>
                        <a:rPr lang="zh-TW" altLang="en-US" sz="3300" dirty="0">
                          <a:hlinkClick r:id="rId6"/>
                        </a:rPr>
                        <a:t>取得</a:t>
                      </a:r>
                      <a:r>
                        <a:rPr lang="en-US" altLang="zh-TW" sz="3300" dirty="0"/>
                        <a:t>(</a:t>
                      </a:r>
                      <a:r>
                        <a:rPr lang="zh-TW" altLang="en-US" sz="3300" dirty="0"/>
                        <a:t>需先開證卷戶</a:t>
                      </a:r>
                      <a:r>
                        <a:rPr lang="en-US" altLang="zh-TW" sz="3300" dirty="0"/>
                        <a:t>)</a:t>
                      </a:r>
                      <a:r>
                        <a:rPr lang="en-US" altLang="zh-TW" sz="3300" dirty="0" err="1"/>
                        <a:t>ini</a:t>
                      </a:r>
                      <a:r>
                        <a:rPr lang="en-US" altLang="zh-TW" sz="3300" dirty="0"/>
                        <a:t> example</a:t>
                      </a:r>
                      <a:r>
                        <a:rPr lang="zh-TW" altLang="en-US" sz="3300" dirty="0"/>
                        <a:t>與</a:t>
                      </a:r>
                      <a:r>
                        <a:rPr lang="en-US" altLang="zh-TW" sz="3300" dirty="0"/>
                        <a:t>p12</a:t>
                      </a:r>
                      <a:r>
                        <a:rPr lang="zh-TW" altLang="en-US" sz="3300" dirty="0"/>
                        <a:t>檔</a:t>
                      </a:r>
                      <a:endParaRPr lang="en-US" sz="3300" dirty="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203648"/>
                  </a:ext>
                </a:extLst>
              </a:tr>
              <a:tr h="1039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/>
                        <a:t>05</a:t>
                      </a:r>
                    </a:p>
                    <a:p>
                      <a:pPr>
                        <a:buNone/>
                      </a:pPr>
                      <a:endParaRPr lang="en-US" sz="3300" dirty="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PC:</a:t>
                      </a:r>
                      <a:r>
                        <a:rPr lang="zh-TW" altLang="en-US" sz="1600" dirty="0"/>
                        <a:t>安裝</a:t>
                      </a:r>
                      <a:r>
                        <a:rPr lang="en-US" altLang="zh-TW" sz="1600" dirty="0" err="1">
                          <a:hlinkClick r:id="rId7"/>
                        </a:rPr>
                        <a:t>Vscode</a:t>
                      </a:r>
                      <a:r>
                        <a:rPr lang="en-US" altLang="zh-TW" sz="1600" dirty="0"/>
                        <a:t>(</a:t>
                      </a:r>
                      <a:r>
                        <a:rPr lang="en-US" altLang="zh-TW" sz="1600" dirty="0" err="1">
                          <a:hlinkClick r:id="rId8"/>
                        </a:rPr>
                        <a:t>wsl</a:t>
                      </a:r>
                      <a:r>
                        <a:rPr lang="zh-TW" altLang="en-US" sz="1600" dirty="0"/>
                        <a:t>及</a:t>
                      </a:r>
                      <a:r>
                        <a:rPr lang="en-US" altLang="zh-TW" sz="1600" dirty="0">
                          <a:hlinkClick r:id="rId9"/>
                        </a:rPr>
                        <a:t>markdown all in one</a:t>
                      </a:r>
                      <a:r>
                        <a:rPr lang="zh-TW" altLang="en-US" sz="1600" dirty="0"/>
                        <a:t>插件</a:t>
                      </a:r>
                      <a:r>
                        <a:rPr lang="en-US" altLang="zh-TW" sz="1600" dirty="0"/>
                        <a:t>),</a:t>
                      </a:r>
                      <a:r>
                        <a:rPr lang="en-US" altLang="zh-TW" sz="1600" dirty="0" err="1"/>
                        <a:t>wsl</a:t>
                      </a:r>
                      <a:r>
                        <a:rPr lang="en-US" altLang="zh-TW" sz="1600" dirty="0"/>
                        <a:t>(CMD</a:t>
                      </a:r>
                      <a:r>
                        <a:rPr lang="zh-TW" altLang="en-US" sz="1600" dirty="0"/>
                        <a:t>下</a:t>
                      </a:r>
                      <a:r>
                        <a:rPr lang="en-US" sz="1600" dirty="0" err="1"/>
                        <a:t>wsl</a:t>
                      </a:r>
                      <a:r>
                        <a:rPr lang="en-US" sz="1600" dirty="0"/>
                        <a:t> –install)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/>
                        <a:t>手機</a:t>
                      </a:r>
                      <a:r>
                        <a:rPr lang="en-US" altLang="zh-TW" sz="1600" dirty="0"/>
                        <a:t>:</a:t>
                      </a:r>
                      <a:r>
                        <a:rPr lang="zh-TW" altLang="en-US" sz="1600" dirty="0"/>
                        <a:t> 安裝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Telegram</a:t>
                      </a:r>
                      <a:r>
                        <a:rPr lang="zh-TW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並申請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Bot Token</a:t>
                      </a:r>
                      <a:r>
                        <a:rPr lang="en-US" altLang="zh-TW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(Git</a:t>
                      </a:r>
                      <a:r>
                        <a:rPr lang="zh-TW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上</a:t>
                      </a:r>
                      <a:r>
                        <a:rPr lang="en-US" altLang="zh-TW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/>
                        </a:rPr>
                        <a:t>WSL</a:t>
                      </a:r>
                      <a:r>
                        <a:rPr lang="zh-TW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/>
                        </a:rPr>
                        <a:t>恢復</a:t>
                      </a:r>
                      <a:r>
                        <a:rPr lang="en-US" altLang="zh-TW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/>
                        </a:rPr>
                        <a:t>.MD</a:t>
                      </a:r>
                      <a:r>
                        <a:rPr lang="en-US" altLang="zh-TW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600" dirty="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871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9058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24F3B5-0207-9973-6118-60A7FDD69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/>
          <a:p>
            <a:r>
              <a:rPr lang="en-US" altLang="zh-TW" sz="6600" dirty="0" err="1"/>
              <a:t>Github</a:t>
            </a:r>
            <a:endParaRPr lang="zh-TW" altLang="en-US" sz="66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31FC2F7-4A65-612A-6B7C-760602BA9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AAEAE4A8-A6E5-453E-B946-FB774B73F48C}" type="slidenum">
              <a:rPr lang="en-US" sz="2000" smtClean="0"/>
              <a:pPr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en-US" sz="2000"/>
          </a:p>
        </p:txBody>
      </p:sp>
      <p:graphicFrame>
        <p:nvGraphicFramePr>
          <p:cNvPr id="6" name="內容版面配置區 3">
            <a:extLst>
              <a:ext uri="{FF2B5EF4-FFF2-40B4-BE49-F238E27FC236}">
                <a16:creationId xmlns:a16="http://schemas.microsoft.com/office/drawing/2014/main" id="{A39688D0-C00F-30C3-272F-EBF00BE1EA33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935842177"/>
              </p:ext>
            </p:extLst>
          </p:nvPr>
        </p:nvGraphicFramePr>
        <p:xfrm>
          <a:off x="1293811" y="2743200"/>
          <a:ext cx="10134601" cy="350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394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A8FA1-30AD-354D-73A1-9F012DCA7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14" y="152401"/>
            <a:ext cx="5146195" cy="2666999"/>
          </a:xfrm>
        </p:spPr>
        <p:txBody>
          <a:bodyPr>
            <a:normAutofit fontScale="90000"/>
          </a:bodyPr>
          <a:lstStyle/>
          <a:p>
            <a:pPr marL="45720" marR="0" lvl="0" indent="0" algn="l" defTabSz="914400" rtl="0" eaLnBrk="1" fontAlgn="auto" latinLnBrk="0" hangingPunct="1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  <a:buFont typeface="Arial" pitchFamily="34" charset="0"/>
              <a:buNone/>
              <a:tabLst/>
              <a:defRPr/>
            </a:pPr>
            <a:r>
              <a:rPr lang="zh-TW" altLang="en-US" dirty="0"/>
              <a:t>怎樣申請</a:t>
            </a:r>
            <a:r>
              <a:rPr lang="en-US" altLang="zh-TW" dirty="0" err="1"/>
              <a:t>Gcloud</a:t>
            </a:r>
            <a:r>
              <a:rPr lang="zh-TW" altLang="en-US" dirty="0"/>
              <a:t>雲端主機</a:t>
            </a:r>
            <a:r>
              <a:rPr lang="en-US" altLang="zh-TW" dirty="0"/>
              <a:t>-1</a:t>
            </a:r>
            <a:br>
              <a:rPr lang="en-US" altLang="zh-TW" dirty="0"/>
            </a:br>
            <a: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  <a:t>名稱為 tw-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  <a:t>A</a:t>
            </a:r>
            <a: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  <a:t>utotrader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  <a:t>(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  <a:t>使用者自定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  <a:t>)</a:t>
            </a:r>
            <a: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  <a:t> 的 </a:t>
            </a:r>
            <a:r>
              <a:rPr kumimoji="0" lang="zh-TW" altLang="zh-TW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  <a:t>VM 虛擬機器（Virtual Machine）</a:t>
            </a:r>
            <a: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  <a:t>。 </a:t>
            </a:r>
            <a:b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</a:br>
            <a: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  <a:t>這台機器的規格和特點如下：</a:t>
            </a:r>
            <a:b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</a:br>
            <a:r>
              <a:rPr kumimoji="0" lang="zh-TW" altLang="zh-TW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  <a:t>位置</a:t>
            </a:r>
            <a: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  <a:t>：</a:t>
            </a:r>
            <a: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entury Gothic"/>
              </a:rPr>
              <a:t>asia-east1-b</a:t>
            </a:r>
            <a: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  <a:t>（位於</a:t>
            </a:r>
            <a:r>
              <a:rPr kumimoji="0" lang="zh-TW" altLang="zh-TW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  <a:t>台灣彰濱工業區</a:t>
            </a:r>
            <a: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  <a:t>的機房，對台灣使用者而言連線速度最快）。</a:t>
            </a:r>
            <a:b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</a:br>
            <a:r>
              <a:rPr kumimoji="0" lang="zh-TW" altLang="zh-TW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  <a:t>機型</a:t>
            </a:r>
            <a: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  <a:t>：</a:t>
            </a:r>
            <a: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entury Gothic"/>
              </a:rPr>
              <a:t>e2-micro</a:t>
            </a:r>
            <a: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  <a:t>（配備 1 核心 vCPU、1 GB 記憶體），這是 Google 提供給新用戶或特定區域的輕量級機型。</a:t>
            </a:r>
            <a:b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</a:br>
            <a:r>
              <a:rPr kumimoji="0" lang="zh-TW" altLang="zh-TW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  <a:t>作業系統</a:t>
            </a:r>
            <a: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  <a:t>：</a:t>
            </a:r>
            <a: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Century Gothic"/>
              </a:rPr>
              <a:t>ubuntu-2204</a:t>
            </a:r>
            <a:r>
              <a:rPr kumimoji="0" lang="zh-TW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  <a:t>-jammy。 </a:t>
            </a:r>
            <a:br>
              <a:rPr kumimoji="0" lang="zh-TW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</a:b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8BDA5BB-E04C-3A54-7340-A9E809575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1547577-8D12-9DEB-58B5-83A9960EC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3124200"/>
            <a:ext cx="5105400" cy="2362200"/>
          </a:xfrm>
        </p:spPr>
        <p:txBody>
          <a:bodyPr>
            <a:normAutofit/>
          </a:bodyPr>
          <a:lstStyle/>
          <a:p>
            <a:r>
              <a:rPr lang="zh-TW" altLang="zh-TW" b="1" dirty="0"/>
              <a:t>第一步：註冊 Google Cloud 帳戶並開通免費試用</a:t>
            </a:r>
          </a:p>
          <a:p>
            <a:r>
              <a:rPr lang="zh-TW" altLang="zh-TW" dirty="0"/>
              <a:t>使用您的 Google 帳戶登入 </a:t>
            </a:r>
            <a:r>
              <a:rPr lang="zh-TW" altLang="zh-TW" b="1" dirty="0">
                <a:hlinkClick r:id="rId2"/>
              </a:rPr>
              <a:t>Google Cloud 繁體中文官網</a:t>
            </a:r>
            <a:r>
              <a:rPr lang="zh-TW" altLang="zh-TW" dirty="0"/>
              <a:t>。 </a:t>
            </a:r>
          </a:p>
          <a:p>
            <a:r>
              <a:rPr lang="zh-TW" altLang="zh-TW" dirty="0"/>
              <a:t>點擊頁面上的 </a:t>
            </a:r>
            <a:r>
              <a:rPr lang="zh-TW" altLang="zh-TW" b="1" dirty="0"/>
              <a:t>「免費開始使用」</a:t>
            </a:r>
            <a:r>
              <a:rPr lang="zh-TW" altLang="zh-TW" dirty="0"/>
              <a:t> 或 </a:t>
            </a:r>
            <a:r>
              <a:rPr lang="zh-TW" altLang="zh-TW" b="1" dirty="0"/>
              <a:t>「免費試用」</a:t>
            </a:r>
            <a:r>
              <a:rPr lang="zh-TW" altLang="zh-TW" dirty="0"/>
              <a:t> 按鈕。 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CF6EC3A-0D05-C17B-90EE-4F591092A590}"/>
              </a:ext>
            </a:extLst>
          </p:cNvPr>
          <p:cNvSpPr txBox="1"/>
          <p:nvPr/>
        </p:nvSpPr>
        <p:spPr>
          <a:xfrm>
            <a:off x="6270272" y="643631"/>
            <a:ext cx="5410200" cy="535531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zh-TW" b="1" dirty="0"/>
              <a:t>填寫基本資料與開通帳單</a:t>
            </a:r>
            <a:r>
              <a:rPr lang="zh-TW" altLang="zh-TW" dirty="0"/>
              <a:t>：</a:t>
            </a:r>
          </a:p>
          <a:p>
            <a:pPr lvl="1"/>
            <a:r>
              <a:rPr lang="zh-TW" altLang="zh-TW" dirty="0"/>
              <a:t>填寫您的個人或企業資訊。</a:t>
            </a:r>
          </a:p>
          <a:p>
            <a:pPr lvl="1"/>
            <a:r>
              <a:rPr lang="zh-TW" altLang="zh-TW" dirty="0"/>
              <a:t>系統會要求綁定一張</a:t>
            </a:r>
            <a:r>
              <a:rPr lang="zh-TW" altLang="zh-TW" b="1" dirty="0"/>
              <a:t>信用卡或金融卡</a:t>
            </a:r>
            <a:r>
              <a:rPr lang="zh-TW" altLang="zh-TW" dirty="0"/>
              <a:t>（支援海外刷卡功能）。</a:t>
            </a:r>
          </a:p>
          <a:p>
            <a:pPr lvl="1"/>
            <a:r>
              <a:rPr lang="zh-TW" altLang="zh-TW" i="1" dirty="0"/>
              <a:t>提示：Google 綁定信用卡主要是為了驗證真人身分、防止機器人濫用，在您手動升級為付費帳戶前，並不會自動扣款。註冊成功通常會獲得 $300 美元的免費試用折抵額度（限期 90 天）。</a:t>
            </a:r>
            <a:r>
              <a:rPr lang="zh-TW" altLang="zh-TW" dirty="0"/>
              <a:t> </a:t>
            </a:r>
          </a:p>
          <a:p>
            <a:br>
              <a:rPr lang="zh-TW" altLang="zh-TW" dirty="0"/>
            </a:br>
            <a:endParaRPr lang="zh-TW" altLang="zh-TW" dirty="0"/>
          </a:p>
          <a:p>
            <a:r>
              <a:rPr lang="zh-TW" altLang="zh-TW" b="1" dirty="0"/>
              <a:t>第二步：建立一個新專案</a:t>
            </a:r>
          </a:p>
          <a:p>
            <a:r>
              <a:rPr lang="zh-TW" altLang="zh-TW" dirty="0"/>
              <a:t>進入 </a:t>
            </a:r>
            <a:r>
              <a:rPr lang="zh-TW" altLang="zh-TW" b="1" dirty="0">
                <a:hlinkClick r:id="rId3"/>
              </a:rPr>
              <a:t>Google Cloud 控制台</a:t>
            </a:r>
            <a:r>
              <a:rPr lang="zh-TW" altLang="zh-TW" dirty="0"/>
              <a:t>。</a:t>
            </a:r>
          </a:p>
          <a:p>
            <a:r>
              <a:rPr lang="zh-TW" altLang="zh-TW" dirty="0"/>
              <a:t>點擊頂端列的專案下拉選單，選擇 </a:t>
            </a:r>
            <a:r>
              <a:rPr lang="zh-TW" altLang="zh-TW" b="1" dirty="0"/>
              <a:t>「新建專案」</a:t>
            </a:r>
            <a:r>
              <a:rPr lang="zh-TW" altLang="zh-TW" dirty="0"/>
              <a:t>（New Project）。</a:t>
            </a:r>
          </a:p>
          <a:p>
            <a:r>
              <a:rPr lang="zh-TW" altLang="zh-TW" dirty="0"/>
              <a:t>自訂您的專案名稱（例如：</a:t>
            </a:r>
            <a:r>
              <a:rPr lang="zh-TW" altLang="zh-TW" sz="1400" dirty="0"/>
              <a:t>my-trader-project</a:t>
            </a:r>
            <a:r>
              <a:rPr lang="zh-TW" altLang="zh-TW" dirty="0"/>
              <a:t>），然後點擊建立。 </a:t>
            </a:r>
          </a:p>
          <a:p>
            <a:br>
              <a:rPr lang="en-US" altLang="zh-TW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16439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BE3C7-E7E8-3C5C-ACCF-FE5E5B47F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3D8304-D5EC-6377-8068-A8C933BC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14" y="152401"/>
            <a:ext cx="5181598" cy="685799"/>
          </a:xfrm>
        </p:spPr>
        <p:txBody>
          <a:bodyPr>
            <a:normAutofit fontScale="90000"/>
          </a:bodyPr>
          <a:lstStyle/>
          <a:p>
            <a:pPr marL="45720" marR="0" lvl="0" indent="0" algn="l" defTabSz="914400" rtl="0" eaLnBrk="1" fontAlgn="auto" latinLnBrk="0" hangingPunct="1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80000"/>
              <a:buFont typeface="Arial" pitchFamily="34" charset="0"/>
              <a:buNone/>
              <a:tabLst/>
              <a:defRPr/>
            </a:pPr>
            <a:r>
              <a:rPr lang="zh-TW" altLang="en-US" dirty="0"/>
              <a:t>怎樣申請</a:t>
            </a:r>
            <a:r>
              <a:rPr lang="en-US" altLang="zh-TW" dirty="0" err="1"/>
              <a:t>Gcloud</a:t>
            </a:r>
            <a:r>
              <a:rPr lang="zh-TW" altLang="en-US" dirty="0"/>
              <a:t>雲端主機</a:t>
            </a:r>
            <a:r>
              <a:rPr lang="en-US" altLang="zh-TW" dirty="0"/>
              <a:t>-2</a:t>
            </a:r>
            <a:br>
              <a:rPr lang="en-US" altLang="zh-TW" dirty="0"/>
            </a:br>
            <a:br>
              <a:rPr kumimoji="0" lang="zh-TW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/>
              </a:rPr>
            </a:b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6C6D341-3B4C-C433-9D34-A88F3B400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462C350-7F14-14A8-9EBA-3E7403618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3" y="1045717"/>
            <a:ext cx="5105400" cy="4516883"/>
          </a:xfrm>
        </p:spPr>
        <p:txBody>
          <a:bodyPr>
            <a:normAutofit fontScale="92500" lnSpcReduction="20000"/>
          </a:bodyPr>
          <a:lstStyle/>
          <a:p>
            <a:r>
              <a:rPr lang="zh-TW" altLang="zh-TW" b="1" dirty="0"/>
              <a:t>第三步：建立與圖片中完全相同的 VM 虛擬機器</a:t>
            </a:r>
          </a:p>
          <a:p>
            <a:r>
              <a:rPr lang="zh-TW" altLang="zh-TW" dirty="0"/>
              <a:t>點擊控制台左上角的 </a:t>
            </a:r>
            <a:r>
              <a:rPr lang="zh-TW" altLang="zh-TW" b="1" dirty="0"/>
              <a:t>「導覽選單 ☰」</a:t>
            </a:r>
            <a:r>
              <a:rPr lang="zh-TW" altLang="zh-TW" dirty="0"/>
              <a:t>。 [</a:t>
            </a:r>
            <a:r>
              <a:rPr lang="zh-TW" altLang="zh-TW" dirty="0">
                <a:hlinkClick r:id="rId2"/>
              </a:rPr>
              <a:t>1</a:t>
            </a:r>
            <a:r>
              <a:rPr lang="zh-TW" altLang="zh-TW" dirty="0"/>
              <a:t>, </a:t>
            </a:r>
            <a:r>
              <a:rPr lang="zh-TW" altLang="zh-TW" dirty="0">
                <a:hlinkClick r:id="rId3"/>
              </a:rPr>
              <a:t>2</a:t>
            </a:r>
            <a:r>
              <a:rPr lang="zh-TW" altLang="zh-TW" dirty="0"/>
              <a:t>]</a:t>
            </a:r>
          </a:p>
          <a:p>
            <a:r>
              <a:rPr lang="zh-TW" altLang="zh-TW" dirty="0"/>
              <a:t>找到並依序點選 </a:t>
            </a:r>
            <a:r>
              <a:rPr lang="zh-TW" altLang="zh-TW" b="1" dirty="0"/>
              <a:t>「Compute Engine」</a:t>
            </a:r>
            <a:r>
              <a:rPr lang="zh-TW" altLang="zh-TW" dirty="0"/>
              <a:t> ＞ </a:t>
            </a:r>
            <a:r>
              <a:rPr lang="zh-TW" altLang="zh-TW" b="1" dirty="0"/>
              <a:t>「VM 執行個體」</a:t>
            </a:r>
            <a:r>
              <a:rPr lang="zh-TW" altLang="zh-TW" dirty="0"/>
              <a:t>（VM Instances）。 </a:t>
            </a:r>
          </a:p>
          <a:p>
            <a:r>
              <a:rPr lang="zh-TW" altLang="zh-TW" i="1" dirty="0"/>
              <a:t>如果是第一次使用，系統會提示您啟用 Compute Engine API，點擊「啟用」並稍等幾分鐘即可。</a:t>
            </a:r>
            <a:endParaRPr lang="zh-TW" altLang="zh-TW" dirty="0"/>
          </a:p>
          <a:p>
            <a:r>
              <a:rPr lang="zh-TW" altLang="zh-TW" dirty="0"/>
              <a:t>點擊頁面上方的 </a:t>
            </a:r>
            <a:r>
              <a:rPr lang="zh-TW" altLang="zh-TW" b="1" dirty="0"/>
              <a:t>「</a:t>
            </a:r>
            <a:r>
              <a:rPr lang="zh-TW" altLang="zh-TW" b="1" dirty="0">
                <a:highlight>
                  <a:srgbClr val="FFFF00"/>
                </a:highlight>
              </a:rPr>
              <a:t>建立執行個體</a:t>
            </a:r>
            <a:r>
              <a:rPr lang="zh-TW" altLang="zh-TW" b="1" dirty="0"/>
              <a:t>」</a:t>
            </a:r>
            <a:r>
              <a:rPr lang="zh-TW" altLang="zh-TW" dirty="0"/>
              <a:t>（Create Instance）。</a:t>
            </a:r>
            <a:endParaRPr lang="en-US" altLang="zh-TW" dirty="0"/>
          </a:p>
          <a:p>
            <a:r>
              <a:rPr lang="zh-TW" altLang="zh-TW" b="1" dirty="0"/>
              <a:t>依照規格進行設定</a:t>
            </a:r>
            <a:r>
              <a:rPr lang="zh-TW" altLang="zh-TW" dirty="0"/>
              <a:t>：</a:t>
            </a:r>
          </a:p>
          <a:p>
            <a:pPr lvl="1"/>
            <a:r>
              <a:rPr lang="zh-TW" altLang="zh-TW" sz="2400" b="1" dirty="0"/>
              <a:t>名稱</a:t>
            </a:r>
            <a:r>
              <a:rPr lang="zh-TW" altLang="zh-TW" sz="2400" dirty="0"/>
              <a:t>：輸入 </a:t>
            </a:r>
            <a:r>
              <a:rPr lang="zh-TW" altLang="zh-TW" dirty="0"/>
              <a:t>tw-autotrader</a:t>
            </a:r>
            <a:r>
              <a:rPr lang="zh-TW" altLang="zh-TW" sz="2400" dirty="0"/>
              <a:t>。</a:t>
            </a:r>
          </a:p>
          <a:p>
            <a:pPr lvl="1"/>
            <a:r>
              <a:rPr lang="zh-TW" altLang="zh-TW" sz="2400" b="1" dirty="0"/>
              <a:t>區域</a:t>
            </a:r>
            <a:r>
              <a:rPr lang="zh-TW" altLang="zh-TW" sz="2400" dirty="0"/>
              <a:t>：選擇 </a:t>
            </a:r>
            <a:r>
              <a:rPr lang="zh-TW" altLang="zh-TW" b="1" dirty="0"/>
              <a:t>asia-east1</a:t>
            </a:r>
            <a:r>
              <a:rPr lang="zh-TW" altLang="zh-TW" sz="2400" b="1" dirty="0"/>
              <a:t> (台灣)</a:t>
            </a:r>
            <a:r>
              <a:rPr lang="zh-TW" altLang="zh-TW" sz="2400" dirty="0"/>
              <a:t>，可用區選擇 </a:t>
            </a:r>
            <a:r>
              <a:rPr lang="zh-TW" altLang="zh-TW" b="1" dirty="0">
                <a:highlight>
                  <a:srgbClr val="FFFF00"/>
                </a:highlight>
              </a:rPr>
              <a:t>asia-east1-b</a:t>
            </a:r>
            <a:r>
              <a:rPr lang="zh-TW" altLang="zh-TW" sz="2400" dirty="0"/>
              <a:t>。</a:t>
            </a:r>
          </a:p>
          <a:p>
            <a:endParaRPr lang="zh-TW" altLang="zh-TW" dirty="0"/>
          </a:p>
          <a:p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2C3D3AC-2FEC-0B45-C35C-08AD7AAB6F41}"/>
              </a:ext>
            </a:extLst>
          </p:cNvPr>
          <p:cNvSpPr txBox="1"/>
          <p:nvPr/>
        </p:nvSpPr>
        <p:spPr>
          <a:xfrm>
            <a:off x="5637212" y="678854"/>
            <a:ext cx="6172200" cy="507831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pPr lvl="1"/>
            <a:r>
              <a:rPr lang="zh-TW" altLang="zh-TW" b="1" dirty="0"/>
              <a:t>機器組態（Machine configuration）</a:t>
            </a:r>
            <a:r>
              <a:rPr lang="zh-TW" altLang="zh-TW" dirty="0"/>
              <a:t>：</a:t>
            </a:r>
          </a:p>
          <a:p>
            <a:pPr lvl="2"/>
            <a:r>
              <a:rPr lang="zh-TW" altLang="zh-TW" dirty="0"/>
              <a:t>系列選擇 </a:t>
            </a:r>
            <a:r>
              <a:rPr lang="zh-TW" altLang="zh-TW" b="1" dirty="0">
                <a:highlight>
                  <a:srgbClr val="FFFF00"/>
                </a:highlight>
              </a:rPr>
              <a:t>E2</a:t>
            </a:r>
            <a:r>
              <a:rPr lang="zh-TW" altLang="zh-TW" dirty="0"/>
              <a:t>。</a:t>
            </a:r>
          </a:p>
          <a:p>
            <a:pPr lvl="2"/>
            <a:r>
              <a:rPr lang="zh-TW" altLang="zh-TW" dirty="0"/>
              <a:t>機器類型選擇 </a:t>
            </a:r>
            <a:r>
              <a:rPr lang="zh-TW" altLang="zh-TW" sz="1400" b="1" dirty="0">
                <a:highlight>
                  <a:srgbClr val="FFFF00"/>
                </a:highlight>
              </a:rPr>
              <a:t>e2-micro</a:t>
            </a:r>
            <a:r>
              <a:rPr lang="zh-TW" altLang="zh-TW" b="1" dirty="0"/>
              <a:t> (1 vCPU, 1 GB 記憶體)</a:t>
            </a:r>
            <a:r>
              <a:rPr lang="zh-TW" altLang="zh-TW" dirty="0"/>
              <a:t>。</a:t>
            </a:r>
          </a:p>
          <a:p>
            <a:pPr lvl="1"/>
            <a:r>
              <a:rPr lang="zh-TW" altLang="zh-TW" b="1" dirty="0"/>
              <a:t>開機磁碟（Boot disk）</a:t>
            </a:r>
            <a:r>
              <a:rPr lang="zh-TW" altLang="zh-TW" dirty="0"/>
              <a:t>：</a:t>
            </a:r>
          </a:p>
          <a:p>
            <a:pPr lvl="2"/>
            <a:r>
              <a:rPr lang="zh-TW" altLang="zh-TW" dirty="0"/>
              <a:t>點擊「變更」按鈕。</a:t>
            </a:r>
          </a:p>
          <a:p>
            <a:pPr lvl="2"/>
            <a:r>
              <a:rPr lang="zh-TW" altLang="zh-TW" dirty="0"/>
              <a:t>作業系統（Operating system）選擇 </a:t>
            </a:r>
            <a:r>
              <a:rPr lang="zh-TW" altLang="zh-TW" b="1" dirty="0"/>
              <a:t>Ubuntu</a:t>
            </a:r>
            <a:r>
              <a:rPr lang="zh-TW" altLang="zh-TW" dirty="0"/>
              <a:t>。</a:t>
            </a:r>
          </a:p>
          <a:p>
            <a:pPr lvl="2"/>
            <a:r>
              <a:rPr lang="zh-TW" altLang="zh-TW" dirty="0"/>
              <a:t>版本（Version）選擇 </a:t>
            </a:r>
            <a:r>
              <a:rPr lang="zh-TW" altLang="zh-TW" b="1" dirty="0">
                <a:highlight>
                  <a:srgbClr val="FFFF00"/>
                </a:highlight>
              </a:rPr>
              <a:t>Ubuntu 22.04 LTS</a:t>
            </a:r>
            <a:r>
              <a:rPr lang="zh-TW" altLang="zh-TW" dirty="0">
                <a:highlight>
                  <a:srgbClr val="FFFF00"/>
                </a:highlight>
              </a:rPr>
              <a:t> </a:t>
            </a:r>
            <a:r>
              <a:rPr lang="zh-TW" altLang="zh-TW" dirty="0"/>
              <a:t>(對應圖中的 ubuntu-2204-jammy)。</a:t>
            </a:r>
          </a:p>
          <a:p>
            <a:pPr lvl="2"/>
            <a:r>
              <a:rPr lang="zh-TW" altLang="zh-TW" dirty="0"/>
              <a:t>點擊選取。</a:t>
            </a:r>
          </a:p>
          <a:p>
            <a:pPr lvl="1"/>
            <a:r>
              <a:rPr lang="zh-TW" altLang="zh-TW" b="1" dirty="0"/>
              <a:t>防火牆</a:t>
            </a:r>
            <a:r>
              <a:rPr lang="zh-TW" altLang="zh-TW" dirty="0"/>
              <a:t>：</a:t>
            </a:r>
          </a:p>
          <a:p>
            <a:pPr lvl="2"/>
            <a:r>
              <a:rPr lang="zh-TW" altLang="zh-TW" dirty="0"/>
              <a:t>如果這台機器未來需要架設網站或對外連線，勾選「允許 HTTP 流量」和「允許 HTTPS 流量」。 </a:t>
            </a:r>
          </a:p>
          <a:p>
            <a:r>
              <a:rPr lang="zh-TW" altLang="zh-TW" dirty="0"/>
              <a:t>確認右側的預估費用資訊後，點擊最下方的 </a:t>
            </a:r>
            <a:r>
              <a:rPr lang="zh-TW" altLang="zh-TW" b="1" dirty="0"/>
              <a:t>「</a:t>
            </a:r>
            <a:r>
              <a:rPr lang="zh-TW" altLang="zh-TW" b="1" dirty="0">
                <a:highlight>
                  <a:srgbClr val="FFFF00"/>
                </a:highlight>
              </a:rPr>
              <a:t>建立</a:t>
            </a:r>
            <a:r>
              <a:rPr lang="zh-TW" altLang="zh-TW" b="1" dirty="0"/>
              <a:t>」</a:t>
            </a:r>
            <a:r>
              <a:rPr lang="zh-TW" altLang="zh-TW" dirty="0"/>
              <a:t> 按鈕。 </a:t>
            </a:r>
          </a:p>
          <a:p>
            <a:r>
              <a:rPr lang="zh-TW" altLang="zh-TW" dirty="0"/>
              <a:t>建立完成後，您就可以在列表中看到跟圖片一樣處於運行狀態的虛擬機器，並可以透過頁面上的 「</a:t>
            </a:r>
            <a:r>
              <a:rPr lang="zh-TW" altLang="zh-TW" dirty="0">
                <a:highlight>
                  <a:srgbClr val="FFFF00"/>
                </a:highlight>
              </a:rPr>
              <a:t>SSH</a:t>
            </a:r>
            <a:r>
              <a:rPr lang="zh-TW" altLang="zh-TW" dirty="0"/>
              <a:t>」 按鈕直接連線進去操作。</a:t>
            </a:r>
          </a:p>
          <a:p>
            <a:br>
              <a:rPr lang="zh-TW" altLang="zh-TW" dirty="0"/>
            </a:br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1672925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C6B528-0DBB-C8C4-437F-6C77D40A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7924800" cy="533400"/>
          </a:xfrm>
        </p:spPr>
        <p:txBody>
          <a:bodyPr>
            <a:normAutofit fontScale="90000"/>
          </a:bodyPr>
          <a:lstStyle/>
          <a:p>
            <a:r>
              <a:rPr lang="zh-TW" altLang="zh-TW" dirty="0"/>
              <a:t>快速設定靜態</a:t>
            </a:r>
            <a:r>
              <a:rPr lang="en-US" altLang="zh-TW" dirty="0"/>
              <a:t>IP</a:t>
            </a:r>
            <a:r>
              <a:rPr lang="zh-TW" altLang="zh-TW" dirty="0"/>
              <a:t>步驟（將現有 IP 轉為靜態）</a:t>
            </a:r>
            <a:br>
              <a:rPr lang="zh-TW" altLang="zh-TW" dirty="0"/>
            </a:b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557841F-C232-280B-EBBA-1D218C778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5CE650A-8D98-02E6-8BE2-9F890E00E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812" y="1295400"/>
            <a:ext cx="10345738" cy="5029200"/>
          </a:xfrm>
        </p:spPr>
        <p:txBody>
          <a:bodyPr>
            <a:normAutofit fontScale="85000" lnSpcReduction="10000"/>
          </a:bodyPr>
          <a:lstStyle/>
          <a:p>
            <a:r>
              <a:rPr lang="zh-TW" altLang="zh-TW" b="1" dirty="0"/>
              <a:t>進入 GCP 控制台</a:t>
            </a:r>
            <a:endParaRPr lang="zh-TW" altLang="zh-TW" dirty="0"/>
          </a:p>
          <a:p>
            <a:pPr lvl="1"/>
            <a:r>
              <a:rPr lang="zh-TW" altLang="zh-TW" dirty="0"/>
              <a:t>打開並登入 </a:t>
            </a:r>
            <a:r>
              <a:rPr lang="zh-TW" altLang="zh-TW" b="1" dirty="0">
                <a:hlinkClick r:id="rId2"/>
              </a:rPr>
              <a:t>Google Cloud 控制台</a:t>
            </a:r>
            <a:r>
              <a:rPr lang="zh-TW" altLang="zh-TW" dirty="0"/>
              <a:t>。</a:t>
            </a:r>
          </a:p>
          <a:p>
            <a:r>
              <a:rPr lang="zh-TW" altLang="zh-TW" b="1" dirty="0"/>
              <a:t>尋找 VPC 網路設定</a:t>
            </a:r>
            <a:endParaRPr lang="zh-TW" altLang="zh-TW" dirty="0"/>
          </a:p>
          <a:p>
            <a:pPr lvl="1"/>
            <a:r>
              <a:rPr lang="zh-TW" altLang="zh-TW" dirty="0"/>
              <a:t>點擊左上角的 </a:t>
            </a:r>
            <a:r>
              <a:rPr lang="zh-TW" altLang="zh-TW" b="1" dirty="0"/>
              <a:t>「導覽選單 ☰」</a:t>
            </a:r>
            <a:r>
              <a:rPr lang="zh-TW" altLang="zh-TW" dirty="0"/>
              <a:t>。</a:t>
            </a:r>
          </a:p>
          <a:p>
            <a:pPr lvl="1"/>
            <a:r>
              <a:rPr lang="zh-TW" altLang="zh-TW" dirty="0"/>
              <a:t>向下捲動找到 </a:t>
            </a:r>
            <a:r>
              <a:rPr lang="zh-TW" altLang="zh-TW" b="1" dirty="0"/>
              <a:t>「</a:t>
            </a:r>
            <a:r>
              <a:rPr lang="zh-TW" altLang="zh-TW" b="1" dirty="0">
                <a:highlight>
                  <a:srgbClr val="FFFF00"/>
                </a:highlight>
              </a:rPr>
              <a:t>VPC 網路</a:t>
            </a:r>
            <a:r>
              <a:rPr lang="zh-TW" altLang="zh-TW" b="1" dirty="0"/>
              <a:t>」</a:t>
            </a:r>
            <a:r>
              <a:rPr lang="zh-TW" altLang="zh-TW" dirty="0"/>
              <a:t>（VPC network），然後點選 </a:t>
            </a:r>
            <a:r>
              <a:rPr lang="zh-TW" altLang="zh-TW" b="1" dirty="0"/>
              <a:t>「</a:t>
            </a:r>
            <a:r>
              <a:rPr lang="zh-TW" altLang="zh-TW" b="1" dirty="0">
                <a:highlight>
                  <a:srgbClr val="FFFF00"/>
                </a:highlight>
              </a:rPr>
              <a:t>IP 位址</a:t>
            </a:r>
            <a:r>
              <a:rPr lang="zh-TW" altLang="zh-TW" b="1" dirty="0"/>
              <a:t>」</a:t>
            </a:r>
            <a:r>
              <a:rPr lang="zh-TW" altLang="zh-TW" dirty="0"/>
              <a:t>（IP addresses）。</a:t>
            </a:r>
          </a:p>
          <a:p>
            <a:r>
              <a:rPr lang="zh-TW" altLang="zh-TW" b="1" dirty="0"/>
              <a:t>保留 IP 位址</a:t>
            </a:r>
            <a:endParaRPr lang="zh-TW" altLang="zh-TW" dirty="0"/>
          </a:p>
          <a:p>
            <a:pPr lvl="1"/>
            <a:r>
              <a:rPr lang="zh-TW" altLang="zh-TW" dirty="0"/>
              <a:t>在列表中，您會看到一筆目前分配給 </a:t>
            </a:r>
            <a:r>
              <a:rPr lang="zh-TW" altLang="zh-TW" sz="1400" dirty="0"/>
              <a:t>tw-autotrader</a:t>
            </a:r>
            <a:r>
              <a:rPr lang="zh-TW" altLang="zh-TW" dirty="0"/>
              <a:t> 的 IP 紀錄，其「類型」此時顯示為 </a:t>
            </a:r>
            <a:r>
              <a:rPr lang="zh-TW" altLang="zh-TW" b="1" dirty="0"/>
              <a:t>外網/暫時</a:t>
            </a:r>
            <a:r>
              <a:rPr lang="zh-TW" altLang="zh-TW" dirty="0"/>
              <a:t>（Ephemeral）。</a:t>
            </a:r>
          </a:p>
          <a:p>
            <a:pPr lvl="1"/>
            <a:r>
              <a:rPr lang="zh-TW" altLang="zh-TW" dirty="0"/>
              <a:t>點擊該 IP 資料列最右側的 </a:t>
            </a:r>
            <a:r>
              <a:rPr lang="zh-TW" altLang="zh-TW" b="1" dirty="0"/>
              <a:t>「三個點（更多動作） ⋮」</a:t>
            </a:r>
            <a:r>
              <a:rPr lang="zh-TW" altLang="zh-TW" dirty="0"/>
              <a:t>。</a:t>
            </a:r>
          </a:p>
          <a:p>
            <a:pPr lvl="1"/>
            <a:r>
              <a:rPr lang="zh-TW" altLang="zh-TW" dirty="0"/>
              <a:t>選擇 </a:t>
            </a:r>
            <a:r>
              <a:rPr lang="zh-TW" altLang="zh-TW" b="1" dirty="0"/>
              <a:t>「</a:t>
            </a:r>
            <a:r>
              <a:rPr lang="zh-TW" altLang="zh-TW" b="1" dirty="0">
                <a:highlight>
                  <a:srgbClr val="FFFF00"/>
                </a:highlight>
              </a:rPr>
              <a:t>保留靜態外部 IP 位址」</a:t>
            </a:r>
            <a:r>
              <a:rPr lang="zh-TW" altLang="zh-TW" dirty="0">
                <a:highlight>
                  <a:srgbClr val="FFFF00"/>
                </a:highlight>
              </a:rPr>
              <a:t>（Reserve static external IP address）</a:t>
            </a:r>
            <a:r>
              <a:rPr lang="zh-TW" altLang="zh-TW" dirty="0"/>
              <a:t>。</a:t>
            </a:r>
          </a:p>
          <a:p>
            <a:r>
              <a:rPr lang="zh-TW" altLang="zh-TW" b="1" dirty="0"/>
              <a:t>命名與確認</a:t>
            </a:r>
            <a:endParaRPr lang="zh-TW" altLang="zh-TW" dirty="0"/>
          </a:p>
          <a:p>
            <a:pPr lvl="1"/>
            <a:r>
              <a:rPr lang="zh-TW" altLang="zh-TW" dirty="0"/>
              <a:t>在彈出的視窗中，為這個靜態 IP 取一個名字（例如：</a:t>
            </a:r>
            <a:r>
              <a:rPr lang="zh-TW" altLang="zh-TW" sz="1400" dirty="0"/>
              <a:t>tw-autotrader-static-ip</a:t>
            </a:r>
            <a:r>
              <a:rPr lang="zh-TW" altLang="zh-TW" dirty="0"/>
              <a:t>）。</a:t>
            </a:r>
          </a:p>
          <a:p>
            <a:pPr lvl="1"/>
            <a:r>
              <a:rPr lang="zh-TW" altLang="zh-TW" dirty="0"/>
              <a:t>點擊 </a:t>
            </a:r>
            <a:r>
              <a:rPr lang="zh-TW" altLang="zh-TW" b="1" dirty="0"/>
              <a:t>「</a:t>
            </a:r>
            <a:r>
              <a:rPr lang="zh-TW" altLang="zh-TW" b="1" dirty="0">
                <a:highlight>
                  <a:srgbClr val="FFFF00"/>
                </a:highlight>
              </a:rPr>
              <a:t>保留</a:t>
            </a:r>
            <a:r>
              <a:rPr lang="zh-TW" altLang="zh-TW" b="1" dirty="0"/>
              <a:t>」</a:t>
            </a:r>
            <a:r>
              <a:rPr lang="zh-TW" altLang="zh-TW" dirty="0"/>
              <a:t>。</a:t>
            </a:r>
            <a:r>
              <a:rPr lang="en-US" altLang="zh-TW" dirty="0"/>
              <a:t>=&gt;</a:t>
            </a:r>
            <a:r>
              <a:rPr lang="zh-TW" altLang="en-US" dirty="0"/>
              <a:t>請記錄這個</a:t>
            </a:r>
            <a:r>
              <a:rPr lang="en-US" altLang="zh-TW" dirty="0"/>
              <a:t>IP,</a:t>
            </a:r>
            <a:r>
              <a:rPr lang="zh-TW" altLang="en-US" dirty="0"/>
              <a:t> 要到</a:t>
            </a:r>
            <a:r>
              <a:rPr lang="zh-TW" altLang="en-US" dirty="0">
                <a:hlinkClick r:id="rId3"/>
              </a:rPr>
              <a:t>玉山</a:t>
            </a:r>
            <a:r>
              <a:rPr lang="en-US" altLang="zh-TW" dirty="0">
                <a:hlinkClick r:id="rId3"/>
              </a:rPr>
              <a:t>API</a:t>
            </a:r>
            <a:r>
              <a:rPr lang="zh-TW" altLang="en-US" dirty="0"/>
              <a:t>去設白名單</a:t>
            </a:r>
            <a:r>
              <a:rPr lang="en-US" altLang="zh-TW" dirty="0"/>
              <a:t>.</a:t>
            </a:r>
            <a:endParaRPr lang="zh-TW" altLang="zh-TW" dirty="0"/>
          </a:p>
          <a:p>
            <a:r>
              <a:rPr lang="zh-TW" altLang="zh-TW" dirty="0"/>
              <a:t>此時，該 IP 的類型會變成 </a:t>
            </a:r>
            <a:r>
              <a:rPr lang="zh-TW" altLang="zh-TW" b="1" dirty="0"/>
              <a:t>靜態</a:t>
            </a:r>
            <a:r>
              <a:rPr lang="zh-TW" altLang="zh-TW" dirty="0"/>
              <a:t>，這意味著無論您的 VM 往後如何重啟或關機，這個外部 IP 位址都永遠不會改變。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54703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/>
          <a:lstStyle/>
          <a:p>
            <a:r>
              <a:rPr lang="en-US" dirty="0"/>
              <a:t>frank@dinchen.com.tw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7.potx" id="{B4376E67-A46A-4922-AE0D-3354FC109E20}" vid="{F49CC2A7-BC98-4F28-8A83-D1D23E8024B9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{01E1B3A5-1AE4-4177-BC3F-C596D532C00B}TFf1460845-8e07-4b92-9183-e15be13008a218dbe6a5_win32-cc1095971745</Template>
  <TotalTime>1386</TotalTime>
  <Words>1877</Words>
  <Application>Microsoft Office PowerPoint</Application>
  <PresentationFormat>自訂</PresentationFormat>
  <Paragraphs>153</Paragraphs>
  <Slides>17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ui-sans-serif</vt:lpstr>
      <vt:lpstr>Arial</vt:lpstr>
      <vt:lpstr>Century Gothic</vt:lpstr>
      <vt:lpstr>Palatino Linotype</vt:lpstr>
      <vt:lpstr>Custom</vt:lpstr>
      <vt:lpstr>TW-AUTOTRADER   台股買賣自動化系統</vt:lpstr>
      <vt:lpstr>大綱</vt:lpstr>
      <vt:lpstr>關於我</vt:lpstr>
      <vt:lpstr>PowerPoint 簡報</vt:lpstr>
      <vt:lpstr>系統簡介 </vt:lpstr>
      <vt:lpstr>系統優點</vt:lpstr>
      <vt:lpstr>實際運行展示</vt:lpstr>
      <vt:lpstr>Opencode+Finmind能做甚麼? =&gt;幫我做一個台灣2026前10大eps公司的走勢html</vt:lpstr>
      <vt:lpstr>Opencode+Finmind能做甚麼? =&gt;幫我做一個台灣2026前10便宜eps&gt;30公司的走勢html</vt:lpstr>
      <vt:lpstr>與AI(Deepseek R4 Flash)討論策略-1</vt:lpstr>
      <vt:lpstr>與AI(Deepseek R4 Flash)討論策略-2</vt:lpstr>
      <vt:lpstr>需要先申請的帳號/安裝軟件(PPT檔中有連接)</vt:lpstr>
      <vt:lpstr>Github</vt:lpstr>
      <vt:lpstr>怎樣申請Gcloud雲端主機-1 名稱為 tw-Autotrader(使用者自定) 的 VM 虛擬機器（Virtual Machine）。  這台機器的規格和特點如下： 位置：asia-east1-b（位於台灣彰濱工業區的機房，對台灣使用者而言連線速度最快）。 機型：e2-micro（配備 1 核心 vCPU、1 GB 記憶體），這是 Google 提供給新用戶或特定區域的輕量級機型。 作業系統：ubuntu-2204-jammy。  </vt:lpstr>
      <vt:lpstr>怎樣申請Gcloud雲端主機-2  </vt:lpstr>
      <vt:lpstr>快速設定靜態IP步驟（將現有 IP 轉為靜態）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宜軒 謝</dc:creator>
  <cp:lastModifiedBy>宜軒 謝</cp:lastModifiedBy>
  <cp:revision>3</cp:revision>
  <dcterms:created xsi:type="dcterms:W3CDTF">2026-07-14T08:04:07Z</dcterms:created>
  <dcterms:modified xsi:type="dcterms:W3CDTF">2026-07-21T16:24:15Z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