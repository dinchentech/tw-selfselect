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media/image3.svg" ContentType="image/svg"/>
  <Override PartName="/ppt/media/image5.svg" ContentType="image/svg"/>
  <Override PartName="/ppt/media/image7.svg" ContentType="image/sv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14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customXml/item1.xml"/><Relationship Id="rId5" Type="http://schemas.openxmlformats.org/officeDocument/2006/relationships/customXml" Target="customXml/item2.xml"/><Relationship Id="rId6" Type="http://schemas.openxmlformats.org/officeDocument/2006/relationships/customXml" Target="customXml/item3.xml"/><Relationship Id="rId7" Type="http://schemas.microsoft.com/office/2020/02/relationships/classificationlabels" Target="docMetadata/LabelInfo.xml"/><Relationship Id="rId8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12188825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useTimings="0"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891EB54-36F7-4FA0-B5BB-F2152ED8FC40}" type="doc">
      <dgm:prSet loTypeId="urn:microsoft.com/office/officeart/2005/8/layout/process1" loCatId="process" qsTypeId="urn:microsoft.com/office/officeart/2005/8/quickstyle/simple2" qsCatId="simple" csTypeId="urn:microsoft.com/office/officeart/2005/8/colors/accent3_2" csCatId="accent3"/>
      <dgm:spPr/>
      <dgm:t>
        <a:bodyPr/>
        <a:lstStyle/>
        <a:p>
          <a:endParaRPr lang="en-US"/>
        </a:p>
      </dgm:t>
    </dgm:pt>
    <dgm:pt modelId="{8E3638B4-411F-45DE-BCC0-FB714BEA7962}">
      <dgm:prSet/>
      <dgm:spPr/>
      <dgm:t>
        <a:bodyPr/>
        <a:lstStyle/>
        <a:p>
          <a:r>
            <a:rPr lang="zh-TW" dirty="0">
              <a:highlight>
                <a:srgbClr val="00FF00"/>
              </a:highlight>
              <a:hlinkClick xmlns:r="http://schemas.openxmlformats.org/officeDocument/2006/relationships" r:id="rId1"/>
            </a:rPr>
            <a:t>說明視頻</a:t>
          </a:r>
          <a:endParaRPr lang="en-US" dirty="0">
            <a:highlight>
              <a:srgbClr val="00FF00"/>
            </a:highlight>
          </a:endParaRPr>
        </a:p>
      </dgm:t>
    </dgm:pt>
    <dgm:pt modelId="{4EF02013-264D-45E9-89CB-DF4E19BF6AAE}" type="parTrans" cxnId="{53C4E1C1-CEA0-411A-BCC7-627F602A56AD}">
      <dgm:prSet/>
      <dgm:spPr/>
      <dgm:t>
        <a:bodyPr/>
        <a:lstStyle/>
        <a:p>
          <a:endParaRPr lang="en-US"/>
        </a:p>
      </dgm:t>
    </dgm:pt>
    <dgm:pt modelId="{D86C78AC-76FD-4E4D-AEFD-BA29982DDBBA}" type="sibTrans" cxnId="{53C4E1C1-CEA0-411A-BCC7-627F602A56AD}">
      <dgm:prSet/>
      <dgm:spPr/>
      <dgm:t>
        <a:bodyPr/>
        <a:lstStyle/>
        <a:p>
          <a:endParaRPr lang="en-US"/>
        </a:p>
      </dgm:t>
    </dgm:pt>
    <dgm:pt modelId="{A54CF058-1976-4B5F-AAC3-86E6F8E26CB5}">
      <dgm:prSet/>
      <dgm:spPr/>
      <dgm:t>
        <a:bodyPr/>
        <a:lstStyle/>
        <a:p>
          <a:r>
            <a:rPr lang="zh-TW"/>
            <a:t>雲端擺程式的地方</a:t>
          </a:r>
          <a:endParaRPr lang="en-US"/>
        </a:p>
      </dgm:t>
    </dgm:pt>
    <dgm:pt modelId="{1287F98C-9009-4249-AEAB-E65E1CF25452}" type="parTrans" cxnId="{B4C49A2F-03AF-4D4D-9944-D08F656202EA}">
      <dgm:prSet/>
      <dgm:spPr/>
      <dgm:t>
        <a:bodyPr/>
        <a:lstStyle/>
        <a:p>
          <a:endParaRPr lang="en-US"/>
        </a:p>
      </dgm:t>
    </dgm:pt>
    <dgm:pt modelId="{C81DBF78-D989-42E9-B8AF-AD4E824B6257}" type="sibTrans" cxnId="{B4C49A2F-03AF-4D4D-9944-D08F656202EA}">
      <dgm:prSet/>
      <dgm:spPr/>
      <dgm:t>
        <a:bodyPr/>
        <a:lstStyle/>
        <a:p>
          <a:endParaRPr lang="en-US"/>
        </a:p>
      </dgm:t>
    </dgm:pt>
    <dgm:pt modelId="{8AF7FAA8-9C44-446B-B0AB-F7E13DC58B98}">
      <dgm:prSet/>
      <dgm:spPr/>
      <dgm:t>
        <a:bodyPr/>
        <a:lstStyle/>
        <a:p>
          <a:r>
            <a:rPr lang="zh-TW"/>
            <a:t>紀錄改版的過程</a:t>
          </a:r>
          <a:endParaRPr lang="en-US"/>
        </a:p>
      </dgm:t>
    </dgm:pt>
    <dgm:pt modelId="{54DC7AF1-2CA9-4C81-AEF5-85DEC84E8E0A}" type="parTrans" cxnId="{88B90034-6258-4AA4-A7B2-BB76B43CD4C1}">
      <dgm:prSet/>
      <dgm:spPr/>
      <dgm:t>
        <a:bodyPr/>
        <a:lstStyle/>
        <a:p>
          <a:endParaRPr lang="en-US"/>
        </a:p>
      </dgm:t>
    </dgm:pt>
    <dgm:pt modelId="{0A523E67-CBCA-46C0-9EBE-6487CB841A78}" type="sibTrans" cxnId="{88B90034-6258-4AA4-A7B2-BB76B43CD4C1}">
      <dgm:prSet/>
      <dgm:spPr/>
      <dgm:t>
        <a:bodyPr/>
        <a:lstStyle/>
        <a:p>
          <a:endParaRPr lang="en-US"/>
        </a:p>
      </dgm:t>
    </dgm:pt>
    <dgm:pt modelId="{D3574923-EB64-4EBD-B8D8-75B306B91A4C}">
      <dgm:prSet/>
      <dgm:spPr/>
      <dgm:t>
        <a:bodyPr/>
        <a:lstStyle/>
        <a:p>
          <a:r>
            <a:rPr lang="zh-TW"/>
            <a:t>可以多人協作</a:t>
          </a:r>
          <a:endParaRPr lang="en-US"/>
        </a:p>
      </dgm:t>
    </dgm:pt>
    <dgm:pt modelId="{3C7DA012-32A7-4D24-A648-ABE8A4138975}" type="parTrans" cxnId="{19CEF65C-016A-4CC8-9111-E0EF80AC11D1}">
      <dgm:prSet/>
      <dgm:spPr/>
      <dgm:t>
        <a:bodyPr/>
        <a:lstStyle/>
        <a:p>
          <a:endParaRPr lang="en-US"/>
        </a:p>
      </dgm:t>
    </dgm:pt>
    <dgm:pt modelId="{58607DAF-29AE-4B7D-9E88-C426903325FB}" type="sibTrans" cxnId="{19CEF65C-016A-4CC8-9111-E0EF80AC11D1}">
      <dgm:prSet/>
      <dgm:spPr/>
      <dgm:t>
        <a:bodyPr/>
        <a:lstStyle/>
        <a:p>
          <a:endParaRPr lang="en-US"/>
        </a:p>
      </dgm:t>
    </dgm:pt>
    <dgm:pt modelId="{06E11198-6884-4612-A3EC-2977FF4280A4}" type="pres">
      <dgm:prSet presAssocID="{8891EB54-36F7-4FA0-B5BB-F2152ED8FC40}" presName="Name0" presStyleCnt="0">
        <dgm:presLayoutVars>
          <dgm:dir/>
          <dgm:resizeHandles val="exact"/>
        </dgm:presLayoutVars>
      </dgm:prSet>
      <dgm:spPr/>
    </dgm:pt>
    <dgm:pt modelId="{4D759FBE-DF56-48EE-AADE-38DB07F39F74}" type="pres">
      <dgm:prSet presAssocID="{8E3638B4-411F-45DE-BCC0-FB714BEA7962}" presName="node" presStyleLbl="node1" presStyleIdx="0" presStyleCnt="1">
        <dgm:presLayoutVars>
          <dgm:bulletEnabled val="1"/>
        </dgm:presLayoutVars>
      </dgm:prSet>
      <dgm:spPr/>
    </dgm:pt>
  </dgm:ptLst>
  <dgm:cxnLst>
    <dgm:cxn modelId="{9B79B412-EF19-4362-8EC8-B9E3F1BB30F5}" type="presOf" srcId="{8891EB54-36F7-4FA0-B5BB-F2152ED8FC40}" destId="{06E11198-6884-4612-A3EC-2977FF4280A4}" srcOrd="0" destOrd="0" presId="urn:microsoft.com/office/officeart/2005/8/layout/process1"/>
    <dgm:cxn modelId="{55D70F21-C0EA-4B07-9677-7D7A2936F02C}" type="presOf" srcId="{A54CF058-1976-4B5F-AAC3-86E6F8E26CB5}" destId="{4D759FBE-DF56-48EE-AADE-38DB07F39F74}" srcOrd="0" destOrd="1" presId="urn:microsoft.com/office/officeart/2005/8/layout/process1"/>
    <dgm:cxn modelId="{B4C49A2F-03AF-4D4D-9944-D08F656202EA}" srcId="{8E3638B4-411F-45DE-BCC0-FB714BEA7962}" destId="{A54CF058-1976-4B5F-AAC3-86E6F8E26CB5}" srcOrd="0" destOrd="0" parTransId="{1287F98C-9009-4249-AEAB-E65E1CF25452}" sibTransId="{C81DBF78-D989-42E9-B8AF-AD4E824B6257}"/>
    <dgm:cxn modelId="{88B90034-6258-4AA4-A7B2-BB76B43CD4C1}" srcId="{8E3638B4-411F-45DE-BCC0-FB714BEA7962}" destId="{8AF7FAA8-9C44-446B-B0AB-F7E13DC58B98}" srcOrd="1" destOrd="0" parTransId="{54DC7AF1-2CA9-4C81-AEF5-85DEC84E8E0A}" sibTransId="{0A523E67-CBCA-46C0-9EBE-6487CB841A78}"/>
    <dgm:cxn modelId="{19CEF65C-016A-4CC8-9111-E0EF80AC11D1}" srcId="{8E3638B4-411F-45DE-BCC0-FB714BEA7962}" destId="{D3574923-EB64-4EBD-B8D8-75B306B91A4C}" srcOrd="2" destOrd="0" parTransId="{3C7DA012-32A7-4D24-A648-ABE8A4138975}" sibTransId="{58607DAF-29AE-4B7D-9E88-C426903325FB}"/>
    <dgm:cxn modelId="{D0E5FA9E-0B7F-447C-ADDD-4F06B81D8E23}" type="presOf" srcId="{D3574923-EB64-4EBD-B8D8-75B306B91A4C}" destId="{4D759FBE-DF56-48EE-AADE-38DB07F39F74}" srcOrd="0" destOrd="3" presId="urn:microsoft.com/office/officeart/2005/8/layout/process1"/>
    <dgm:cxn modelId="{1FF7C6B6-FEF1-4D3F-ACC8-A0080319D0AE}" type="presOf" srcId="{8E3638B4-411F-45DE-BCC0-FB714BEA7962}" destId="{4D759FBE-DF56-48EE-AADE-38DB07F39F74}" srcOrd="0" destOrd="0" presId="urn:microsoft.com/office/officeart/2005/8/layout/process1"/>
    <dgm:cxn modelId="{53C4E1C1-CEA0-411A-BCC7-627F602A56AD}" srcId="{8891EB54-36F7-4FA0-B5BB-F2152ED8FC40}" destId="{8E3638B4-411F-45DE-BCC0-FB714BEA7962}" srcOrd="0" destOrd="0" parTransId="{4EF02013-264D-45E9-89CB-DF4E19BF6AAE}" sibTransId="{D86C78AC-76FD-4E4D-AEFD-BA29982DDBBA}"/>
    <dgm:cxn modelId="{DC1522E1-2564-4D8F-9B26-1988672B277A}" type="presOf" srcId="{8AF7FAA8-9C44-446B-B0AB-F7E13DC58B98}" destId="{4D759FBE-DF56-48EE-AADE-38DB07F39F74}" srcOrd="0" destOrd="2" presId="urn:microsoft.com/office/officeart/2005/8/layout/process1"/>
    <dgm:cxn modelId="{B3C7C52D-1358-4002-B709-7780DC04BFD4}" type="presParOf" srcId="{06E11198-6884-4612-A3EC-2977FF4280A4}" destId="{4D759FBE-DF56-48EE-AADE-38DB07F39F74}" srcOrd="0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D759FBE-DF56-48EE-AADE-38DB07F39F74}">
      <dsp:nvSpPr>
        <dsp:cNvPr id="0" name=""/>
        <dsp:cNvSpPr/>
      </dsp:nvSpPr>
      <dsp:spPr>
        <a:xfrm>
          <a:off x="4948" y="0"/>
          <a:ext cx="10124703" cy="3505200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3700" kern="1200" dirty="0">
              <a:highlight>
                <a:srgbClr val="00FF00"/>
              </a:highlight>
              <a:hlinkClick xmlns:r="http://schemas.openxmlformats.org/officeDocument/2006/relationships" r:id="rId1"/>
            </a:rPr>
            <a:t>說明視頻</a:t>
          </a:r>
          <a:endParaRPr lang="en-US" sz="3700" kern="1200" dirty="0">
            <a:highlight>
              <a:srgbClr val="00FF00"/>
            </a:highlight>
          </a:endParaRP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TW" sz="2900" kern="1200"/>
            <a:t>雲端擺程式的地方</a:t>
          </a:r>
          <a:endParaRPr lang="en-US" sz="2900" kern="1200"/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TW" sz="2900" kern="1200"/>
            <a:t>紀錄改版的過程</a:t>
          </a:r>
          <a:endParaRPr lang="en-US" sz="2900" kern="1200"/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TW" sz="2900" kern="1200"/>
            <a:t>可以多人協作</a:t>
          </a:r>
          <a:endParaRPr lang="en-US" sz="2900" kern="1200"/>
        </a:p>
      </dsp:txBody>
      <dsp:txXfrm>
        <a:off x="107612" y="102664"/>
        <a:ext cx="9919375" cy="329987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4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請按這裡移動投影片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請按這裡編輯備註格式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&lt;頁首&gt;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4"/>
          <p:cNvSpPr>
            <a:spLocks noGrp="1"/>
          </p:cNvSpPr>
          <p:nvPr>
            <p:ph type="dt" idx="22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PlaceHolder 5"/>
          <p:cNvSpPr>
            <a:spLocks noGrp="1"/>
          </p:cNvSpPr>
          <p:nvPr>
            <p:ph type="ftr" idx="23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PlaceHolder 6"/>
          <p:cNvSpPr>
            <a:spLocks noGrp="1"/>
          </p:cNvSpPr>
          <p:nvPr>
            <p:ph type="sldNum" idx="24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86D995A-DFF9-4997-BBDD-EA5B61E05A1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2640" cy="3428640"/>
          </a:xfrm>
          <a:prstGeom prst="rect">
            <a:avLst/>
          </a:prstGeom>
          <a:ln w="0">
            <a:noFill/>
          </a:ln>
        </p:spPr>
      </p:sp>
      <p:sp>
        <p:nvSpPr>
          <p:cNvPr id="15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建議時間：30 秒</a:t>
            </a:r>
          </a:p>
          <a:p/>
          <a:p>
            <a:r>
              <a:t>大家好，歡迎來到 TW-SELFSELECT 台股買賣自動化系統的第一堂課。</a:t>
            </a:r>
          </a:p>
          <a:p>
            <a:r>
              <a:t>這套系統，是用 Python 搭配 DSH AI 打造的——簡單說，就是讓電腦幫你看盤、幫你下單、用 Telegram 通知你買賣。</a:t>
            </a:r>
          </a:p>
          <a:p>
            <a:r>
              <a:t>不管你有沒有程式基礎，這一整個系列課程結束之後，你都能把自己的投資策略，變成一台 24 小時自動運作的機器。</a:t>
            </a:r>
          </a:p>
          <a:p/>
          <a:p>
            <a:r>
              <a:t>【講師提示】可以先問台下「有人寫過程式嗎？」建立互動，帶出「不用懂程式也能用」的安心感。</a:t>
            </a:r>
          </a:p>
        </p:txBody>
      </p:sp>
      <p:sp>
        <p:nvSpPr>
          <p:cNvPr id="151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95D61A9-B060-4760-913A-18B748CC72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2640" cy="3428640"/>
          </a:xfrm>
          <a:prstGeom prst="rect">
            <a:avLst/>
          </a:prstGeom>
          <a:ln w="0">
            <a:noFill/>
          </a:ln>
        </p:spPr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建議時間：45 秒</a:t>
            </a:r>
          </a:p>
          <a:p/>
          <a:p>
            <a:r>
              <a:t>先讓大家知道今天我們要聊什麼。</a:t>
            </a:r>
          </a:p>
          <a:p>
            <a:r>
              <a:t>今天的內容包括：簡單認識我、系統簡介、什麼是 Python、什麼是 DSH，接著會介紹系統內建的五大策略、怎麼回測、最後是實盤執行。</a:t>
            </a:r>
          </a:p>
          <a:p>
            <a:r>
              <a:t>如果你對哪一段特別有興趣，也可以隨時舉手打斷我。</a:t>
            </a:r>
          </a:p>
          <a:p/>
          <a:p>
            <a:r>
              <a:t>【講師提示】照著唸即可，這是課程地圖，節奏可以稍微快一點。</a:t>
            </a:r>
          </a:p>
        </p:txBody>
      </p:sp>
      <p:sp>
        <p:nvSpPr>
          <p:cNvPr id="154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FD6FE2A-0F5D-4D49-A83C-A1787AA524A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2640" cy="3428640"/>
          </a:xfrm>
          <a:prstGeom prst="rect">
            <a:avLst/>
          </a:prstGeom>
          <a:ln w="0">
            <a:noFill/>
          </a:ln>
        </p:spPr>
      </p:sp>
      <p:sp>
        <p:nvSpPr>
          <p:cNvPr id="15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建議時間：45 秒</a:t>
            </a:r>
          </a:p>
          <a:p/>
          <a:p>
            <a:r>
              <a:t>先自我介紹一下。</a:t>
            </a:r>
          </a:p>
          <a:p>
            <a:r>
              <a:t>我是謝宜軒，交通大學資訊工程碩士，有三十年資訊軟硬體設計的經歷。</a:t>
            </a:r>
          </a:p>
          <a:p>
            <a:r>
              <a:t>這套 tw-selfselect 台股買賣自動化系統，是我公開放在 GitHub 上的專案——原始碼都看得到、可以學、可以改；授權為個人學習／研究使用，商業使用須經書面授權（詳見 LICENSE）。</a:t>
            </a:r>
          </a:p>
          <a:p/>
          <a:p>
            <a:r>
              <a:t>【講師提示】可以順手把 GitHub 網址投到畫面上，或請學員記下來。</a:t>
            </a:r>
          </a:p>
        </p:txBody>
      </p:sp>
      <p:sp>
        <p:nvSpPr>
          <p:cNvPr id="157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8F3DD06-02F3-44B0-AC56-119083C21E66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2640" cy="3428640"/>
          </a:xfrm>
          <a:prstGeom prst="rect">
            <a:avLst/>
          </a:prstGeom>
          <a:ln w="0">
            <a:noFill/>
          </a:ln>
        </p:spPr>
      </p:sp>
      <p:sp>
        <p:nvSpPr>
          <p:cNvPr id="15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建議時間：1 分鐘</a:t>
            </a:r>
          </a:p>
          <a:p/>
          <a:p>
            <a:r>
              <a:t>這套系統是為誰設計的？如果你符合以下任何一種情況，那你就是我們的目標客群：</a:t>
            </a:r>
          </a:p>
          <a:p>
            <a:r>
              <a:t>第一，你已經有投資策略，但不知道怎麼把它變成量化的程式；</a:t>
            </a:r>
          </a:p>
          <a:p>
            <a:r>
              <a:t>第二，你想投資台股，但沒時間盯盤；</a:t>
            </a:r>
          </a:p>
          <a:p>
            <a:r>
              <a:t>第三，你覺得買 ETF、像是 0050 那樣的收入，還不夠過癮。</a:t>
            </a:r>
          </a:p>
          <a:p>
            <a:r>
              <a:t>關鍵字就是三個：AI、策略量化、買賣自動化。</a:t>
            </a:r>
          </a:p>
          <a:p>
            <a:r>
              <a:t>前提是：你懂電腦操作就好，不用懂寫程式。</a:t>
            </a:r>
          </a:p>
          <a:p>
            <a:r>
              <a:t>不過我要先聲明一件事——我們教的是「策略量化」和「自動化」，不是股票投資建議。這一點很重要，請大家記住。</a:t>
            </a:r>
          </a:p>
          <a:p/>
          <a:p>
            <a:r>
              <a:t>【講師提示】這是合規重點，語氣要認真、明確，可以停頓一下再繼續。</a:t>
            </a:r>
          </a:p>
        </p:txBody>
      </p:sp>
      <p:sp>
        <p:nvSpPr>
          <p:cNvPr id="160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5F99A3C-0A9F-40A6-97FC-1D9F7360D2BA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2640" cy="3428640"/>
          </a:xfrm>
          <a:prstGeom prst="rect">
            <a:avLst/>
          </a:prstGeom>
          <a:ln w="0">
            <a:noFill/>
          </a:ln>
        </p:spPr>
      </p:sp>
      <p:sp>
        <p:nvSpPr>
          <p:cNvPr id="16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建議時間：2 分鐘</a:t>
            </a:r>
          </a:p>
          <a:p/>
          <a:p>
            <a:r>
              <a:t>接下來介紹系統本身。這套系統最大的設計理念，就是「為非資訊背景的人設計」。</a:t>
            </a:r>
          </a:p>
          <a:p>
            <a:r>
              <a:t>首先，每個雲端主機一個月的費用不到一百塊台幣；每個主機可以控制十五檔以內的個股。程式會自動開關機，省電也省錢。</a:t>
            </a:r>
          </a:p>
          <a:p>
            <a:r>
              <a:t>買賣的時候，系統會用 Telegram 手機簡訊通知你——你不用一直盯著螢幕。</a:t>
            </a:r>
          </a:p>
          <a:p>
            <a:r>
              <a:t>你可以自行設定要買賣的個股、策略和資金。不用寫程式，但我建議你至少看得懂 Python，這樣以後要調整參數會比較方便。</a:t>
            </a:r>
          </a:p>
          <a:p>
            <a:r>
              <a:t>系統內建五組策略，另外預留四組讓你自己定義。回測資料方面，可以調用 Finmind 和 TWSE 的歷史股市資料——這些都是免費的。</a:t>
            </a:r>
          </a:p>
          <a:p>
            <a:r>
              <a:t>下單的部分，目前使用玉山證券的 API，之後你也可以自行換成其他券商的 API。</a:t>
            </a:r>
          </a:p>
          <a:p>
            <a:r>
              <a:t>最後，我們會給你一份完整的 WSL 壓縮檔，所有 Python、DSH 等工具都已經安裝好了，打開就能用。</a:t>
            </a:r>
          </a:p>
          <a:p/>
          <a:p>
            <a:r>
              <a:t>【講師提示】這頁資訊量大，可以搭配畫面逐條指著講；提到 00632R 時可略作說明它是反向 ETF 範例。</a:t>
            </a:r>
          </a:p>
        </p:txBody>
      </p:sp>
      <p:sp>
        <p:nvSpPr>
          <p:cNvPr id="163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A9CE9B1-BD10-4E6E-9794-583C6F41805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2640" cy="3428640"/>
          </a:xfrm>
          <a:prstGeom prst="rect">
            <a:avLst/>
          </a:prstGeom>
          <a:ln w="0">
            <a:noFill/>
          </a:ln>
        </p:spPr>
      </p:sp>
      <p:sp>
        <p:nvSpPr>
          <p:cNvPr id="16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建議時間：1 分 30 秒</a:t>
            </a:r>
          </a:p>
          <a:p/>
          <a:p>
            <a:r>
              <a:t>為什麼要用這套系統？我列幾個優點給大家聽。</a:t>
            </a:r>
          </a:p>
          <a:p>
            <a:r>
              <a:t>第一，原始碼**全部公開**在 GitHub（授權見 LICENSE：個人學習／研究使用，商業使用須經書面授權）——沒有加密檔，所有程式都看得到、也改得動；WSL 壓縮檔只是幫你省安裝時間而已。</a:t>
            </a:r>
          </a:p>
          <a:p>
            <a:r>
              <a:t>第二，設定好策略之後，系統自動買賣，你不用整天盯盤。</a:t>
            </a:r>
          </a:p>
          <a:p>
            <a:r>
              <a:t>第三，用免費的 TWSE 和 Finmind 額度就可以回測，不用再花錢買資料庫。</a:t>
            </a:r>
          </a:p>
          <a:p>
            <a:r>
              <a:t>第四，五大策略——布林通道、MA Cross、VWAP 反轉、唐奇安通道、低接高賣——已經涵蓋大部分盤勢，另外還預留四個預備策略。</a:t>
            </a:r>
          </a:p>
          <a:p>
            <a:r>
              <a:t>最後提醒：建議大家直接使用 repo 上長期測試過的版本，你要做的就是修改內建策略參數，或是加上你自己的策略。</a:t>
            </a:r>
          </a:p>
          <a:p/>
          <a:p>
            <a:r>
              <a:t>【講師提示】強調「公開源碼 + 建議用測試過的版本」兩件事不衝突：看得懂、改得動，但不必自己重造輪子。</a:t>
            </a:r>
          </a:p>
        </p:txBody>
      </p:sp>
      <p:sp>
        <p:nvSpPr>
          <p:cNvPr id="166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141D892-38C6-4745-9FD0-B6E13D8C5AD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2640" cy="3428640"/>
          </a:xfrm>
          <a:prstGeom prst="rect">
            <a:avLst/>
          </a:prstGeom>
          <a:ln w="0">
            <a:noFill/>
          </a:ln>
        </p:spPr>
      </p:sp>
      <p:sp>
        <p:nvSpPr>
          <p:cNvPr id="16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建議時間：1 分 30 秒</a:t>
            </a:r>
          </a:p>
          <a:p/>
          <a:p>
            <a:r>
              <a:t>左邊是 VM 的**實機**儀表板截圖（2026-10-26 收盤後產生），右邊連結 https://dinchentech.github.io/tw-selfselect/ 是 Pages 上的**示範頁**、資料是範例。</a:t>
            </a:r>
          </a:p>
          <a:p>
            <a:r>
              <a:t>看圖時帶學員注意三點：① KPI 卡片（已實現／未實現損益、報酬率）；② 持倉一覽多一欄「策略」——1301 顯示 auto→bollinger 表示是系統當月選股買的，keep_wait 的部位會直接標 keep_wait，沒有 PC_ 條目的就顯示「-」；③ 下面是資金曲線（Chart.js）。</a:t>
            </a:r>
          </a:p>
          <a:p/>
          <a:p>
            <a:r>
              <a:t>【講師提示】實機每天 13:45 產生 logs/dashboard.html（只留 VM、不進版控）；示範頁只是給學員「看長什麼樣子」，別把示範頁數字當績效。</a:t>
            </a:r>
          </a:p>
        </p:txBody>
      </p:sp>
      <p:sp>
        <p:nvSpPr>
          <p:cNvPr id="169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3ECFB17-2723-433E-963A-2912B1E7E2BA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2640" cy="3428640"/>
          </a:xfrm>
          <a:prstGeom prst="rect">
            <a:avLst/>
          </a:prstGeom>
          <a:ln w="0">
            <a:noFill/>
          </a:ln>
        </p:spPr>
      </p:sp>
      <p:sp>
        <p:nvSpPr>
          <p:cNvPr id="17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建議時間：2 分鐘</a:t>
            </a:r>
          </a:p>
          <a:p/>
          <a:p>
            <a:r>
              <a:t>在進入正題之前，我先給大家看兩個例子，讓你們感受一下「DSH 加上 Finmind」到底能做到什麼程度。</a:t>
            </a:r>
          </a:p>
          <a:p>
            <a:r>
              <a:t>我請 DSH 幫我做一個「台灣 2026 年前十大 EPS 公司走勢」的 HTML 網頁。</a:t>
            </a:r>
          </a:p>
          <a:p>
            <a:r>
              <a:t>為什麼用 HTML？因為 HTML 能動態顯示——你可以勾選、取消勾選個股，畫面就會即時增減；滑鼠移到某個時間點，還會顯示那時候的資訊。</a:t>
            </a:r>
          </a:p>
          <a:p>
            <a:r>
              <a:t>這不是靜態圖片，而是一個可以互動的分析工具。</a:t>
            </a:r>
          </a:p>
          <a:p/>
          <a:p>
            <a:r>
              <a:t>【講師提示】可以現場示範勾選個股與滑鼠 hover，這是「看得見的震撼」，比講十句話有用。</a:t>
            </a:r>
          </a:p>
        </p:txBody>
      </p:sp>
      <p:sp>
        <p:nvSpPr>
          <p:cNvPr id="172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AE1E3DC-04D4-4EC0-A0B4-977DFAF6615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2640" cy="3428640"/>
          </a:xfrm>
          <a:prstGeom prst="rect">
            <a:avLst/>
          </a:prstGeom>
          <a:ln w="0">
            <a:noFill/>
          </a:ln>
        </p:spPr>
      </p:sp>
      <p:sp>
        <p:nvSpPr>
          <p:cNvPr id="17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建議時間：1 分鐘</a:t>
            </a:r>
          </a:p>
          <a:p/>
          <a:p>
            <a:r>
              <a:t>第二個例子。</a:t>
            </a:r>
          </a:p>
          <a:p>
            <a:r>
              <a:t>這次我請它做「台灣前十大、EPS 大於 30、而且便宜的公司」走勢 HTML。</a:t>
            </a:r>
          </a:p>
          <a:p>
            <a:r>
              <a:t>注意，這個條件是複合的——EPS 要高、股價要相對便宜。這種「用一句話描述篩選條件、AI 直接幫你做出可互動網頁」的能力，就是這門課你們會反覆用到的工作方式。</a:t>
            </a:r>
          </a:p>
          <a:p/>
          <a:p>
            <a:r>
              <a:t>【講師提示】強調「複合條件一句話完成」，這是 DSH 工作流的精髓預告。</a:t>
            </a:r>
          </a:p>
        </p:txBody>
      </p:sp>
      <p:sp>
        <p:nvSpPr>
          <p:cNvPr id="175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D8F6653-F0E4-4B02-8651-CB075395CB5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2640" cy="3428640"/>
          </a:xfrm>
          <a:prstGeom prst="rect">
            <a:avLst/>
          </a:prstGeom>
          <a:ln w="0">
            <a:noFill/>
          </a:ln>
        </p:spPr>
      </p:sp>
      <p:sp>
        <p:nvSpPr>
          <p:cNvPr id="17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建議時間：2 分鐘</a:t>
            </a:r>
          </a:p>
          <a:p/>
          <a:p>
            <a:r>
              <a:t>接下來這個例子很重要，讓大家看看怎麼「跟 AI 討論策略」。</a:t>
            </a:r>
          </a:p>
          <a:p>
            <a:r>
              <a:t>我問 DSH：我預期某檔股票——我們姑且叫它 XX——股價還會上升，該用什麼策略？</a:t>
            </a:r>
          </a:p>
          <a:p>
            <a:r>
              <a:t>AI 分析後指出：XX 是「結構性利多」加上「循環股標籤」的混合體。結構性利多讓它有向上空間，循環股標籤讓它波動極大。所以策略要同時兼顧這兩者。</a:t>
            </a:r>
          </a:p>
          <a:p>
            <a:r>
              <a:t>它給了我四個方向：第一，核心部位加移動停利——大部分持倉抱緊吃主升段，但跌破季線或月線就減碼；第二，盯著毛利率和庫存轉折——Q1 毛利率 38%，是記憶體模組廠的史詩級數字，要小心的是毛利率連續兩季下滑、DRAM 合約價漲幅收斂、存貨週轉天數攀升這些訊號；第三，分批出場——循環股的鐵律是不要妄想賣在最高點，300、400、500 每過一個關卡出二到三成；第四，想清楚不利情境——漲多修正、市場重新定性，這些風險要先有心理準備。</a:t>
            </a:r>
          </a:p>
          <a:p/>
          <a:p>
            <a:r>
              <a:t>【講師提示】這頁是「AI 能當策略軍師」的示範，講解時可以放慢，讓學員消化 AI 的推理邏輯。</a:t>
            </a:r>
          </a:p>
        </p:txBody>
      </p:sp>
      <p:sp>
        <p:nvSpPr>
          <p:cNvPr id="178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7D148C3-1DCB-4029-9551-283DB9B8A8F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2640" cy="3428640"/>
          </a:xfrm>
          <a:prstGeom prst="rect">
            <a:avLst/>
          </a:prstGeom>
          <a:ln w="0">
            <a:noFill/>
          </a:ln>
        </p:spPr>
      </p:sp>
      <p:sp>
        <p:nvSpPr>
          <p:cNvPr id="18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建議時間：2 分鐘</a:t>
            </a:r>
          </a:p>
          <a:p/>
          <a:p>
            <a:r>
              <a:t>我接著問 AI：那「250 以下買、280 以上賣」可以嗎？</a:t>
            </a:r>
          </a:p>
          <a:p>
            <a:r>
              <a:t>AI 先幫我檢查數字——它說目前股價 233，本來就已經在 250 以下，所以現在就是買點。</a:t>
            </a:r>
          </a:p>
          <a:p>
            <a:r>
              <a:t>問題在 280 就賣：XX 光是 Q1 EPS 就 27 元，就算後面三季保守估 30 元，全年 EPS 也有大約 57 元。280 賣掉，本益比不到五倍。如果這波真的是結構性超級景氣，市場重新評價到八到十倍本益比，股價可以到 450 到 570 元——現在 280 就賣，等於賣在剛起漲的位置。</a:t>
            </a:r>
          </a:p>
          <a:p>
            <a:r>
              <a:t>所以 AI 建議：買的條件沒問題，但賣的條件要更動態——第一目標 300 出三分之一、第二目標 400 再出三分之一，留一部分看景氣能走到哪裡。</a:t>
            </a:r>
          </a:p>
          <a:p>
            <a:r>
              <a:t>最後我要強調兩件事：第一，這是在 DSH 中的 AI 問答，不是一般對話型 AI——DSH 會先掃描專案內所有檔案，才能針對這個專案回答；第二，AI 說的不全對，但是很有參考價值。這是我們面對 AI 建議該有的心態。</a:t>
            </a:r>
          </a:p>
          <a:p/>
          <a:p>
            <a:r>
              <a:t>【講師提示】這頁是全場重點，可以放慢到 2.5 分鐘。最後那句「AI 說的不全對，但很有參考價值」是這堂課的態度宣示，務必講清楚。（備答：這一頁示範的是自訂範本 `g1_strategy_1`；現在 `keep_wait` 用 `max_entry_price` ＋ `tp_tiers` 的 `price` 也能做同一件事，還多了 DCA 加碼、分層停利與冷卻——見策略說明 §9.5、§9.6。學員若問「這要自己寫程式嗎？」可以這樣回答。）</a:t>
            </a:r>
          </a:p>
        </p:txBody>
      </p:sp>
      <p:sp>
        <p:nvSpPr>
          <p:cNvPr id="181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7307D0A-FC82-4077-A40C-33940F32AA36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2640" cy="3428640"/>
          </a:xfrm>
          <a:prstGeom prst="rect">
            <a:avLst/>
          </a:prstGeom>
          <a:ln w="0">
            <a:noFill/>
          </a:ln>
        </p:spPr>
      </p:sp>
      <p:sp>
        <p:nvSpPr>
          <p:cNvPr id="18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建議時間：1 分 30 秒</a:t>
            </a:r>
          </a:p>
          <a:p/>
          <a:p>
            <a:r>
              <a:t>好，接下來我們進入實作前的準備工作。總共有五件事要辦：</a:t>
            </a:r>
          </a:p>
          <a:p>
            <a:r>
              <a:t>第一，申請 Google 帳號，並綁上 Google Pay，用來申請雲端主機；</a:t>
            </a:r>
          </a:p>
          <a:p>
            <a:r>
              <a:t>第二，AI 服務：本課程使用 DSH（DeepSeek Harness）＋deepseek-flash，金鑰事先設好，不需要另外申請；</a:t>
            </a:r>
          </a:p>
          <a:p>
            <a:r>
              <a:t>第三，申請 Finmind 的帳號和 API Key，這是回測資料來源，免費，但有一小時六百次的限制；</a:t>
            </a:r>
          </a:p>
          <a:p>
            <a:r>
              <a:t>第四，申請玉山證券 API——這個需要先開證券戶，會拿到 ini 範例檔和 p12 檔；</a:t>
            </a:r>
          </a:p>
          <a:p>
            <a:r>
              <a:t>第五，在你的電腦上安裝 VSCode，記得裝 WSL 和 Markdown All in One 插件，然後在 CMD 底下執行 wsl --install 安裝 WSL。手機上要裝 Telegram，並申請 Bot Token。</a:t>
            </a:r>
          </a:p>
          <a:p/>
          <a:p>
            <a:r>
              <a:t>【講師提示】這頁是功課清單，PPT 檔裡有連結，提醒學員回家照著做。可以逐一編號講，節奏明快。</a:t>
            </a:r>
          </a:p>
        </p:txBody>
      </p:sp>
      <p:sp>
        <p:nvSpPr>
          <p:cNvPr id="184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E960727-B276-4079-8D8D-8BD70A4233AC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2640" cy="3428640"/>
          </a:xfrm>
          <a:prstGeom prst="rect">
            <a:avLst/>
          </a:prstGeom>
          <a:ln w="0">
            <a:noFill/>
          </a:ln>
        </p:spPr>
      </p:sp>
      <p:sp>
        <p:nvSpPr>
          <p:cNvPr id="18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建議時間：30 秒</a:t>
            </a:r>
          </a:p>
          <a:p/>
          <a:p>
            <a:r>
              <a:t>所有教學資源、WSL 恢復檔的說明，都放在 GitHub 上。</a:t>
            </a:r>
          </a:p>
          <a:p>
            <a:r>
              <a:t>請大家到我們的 GitHub 專案頁面，找到 WSL 恢復的說明文件，先把環境準備好。下一頁開始，我們會實際走一遍雲端主機的申請流程。</a:t>
            </a:r>
          </a:p>
          <a:p/>
          <a:p>
            <a:r>
              <a:t>【講師提示】過場頁，快速帶過即可。</a:t>
            </a:r>
          </a:p>
        </p:txBody>
      </p:sp>
      <p:sp>
        <p:nvSpPr>
          <p:cNvPr id="187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2DC0023-F269-46B3-A64B-1DA5F9073269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2640" cy="3428640"/>
          </a:xfrm>
          <a:prstGeom prst="rect">
            <a:avLst/>
          </a:prstGeom>
          <a:ln w="0">
            <a:noFill/>
          </a:ln>
        </p:spPr>
      </p:sp>
      <p:sp>
        <p:nvSpPr>
          <p:cNvPr id="18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建議時間：3 分鐘</a:t>
            </a:r>
          </a:p>
          <a:p/>
          <a:p>
            <a:r>
              <a:t>接下來是今天的重頭戲：怎麼申請一台 Google Cloud 雲端主機。我會照著畫面一步一步帶大家做。</a:t>
            </a:r>
          </a:p>
          <a:p>
            <a:r>
              <a:t>這台機器我們取名為 tw-selfselect（名稱可自取；本機 .env 的 SYNC_VM_NAME 要填同名），規格是：位置在 asia-east1-b，也就是台灣彰濱工業區的機房，對台灣使用者來說連線速度最快；機型是 e2-micro，一核心 vCPU、1GB 記憶體；作業系統用 ubuntu-2204-jammy。</a:t>
            </a:r>
          </a:p>
          <a:p>
            <a:r>
              <a:t>第一步，註冊 Google Cloud 帳戶並開通免費試用：用你的 Google 帳戶登入官網，點「免費開始使用」，填基本資料、綁定一張信用卡或金融卡。</a:t>
            </a:r>
          </a:p>
          <a:p>
            <a:r>
              <a:t>不用擔心，Google 綁定信用卡主要是驗證真人身份，在你手動升級為付費帳戶之前不會自動扣款。註冊成功通常會拿到 300 美元的免費試用額度，限期 90 天。</a:t>
            </a:r>
          </a:p>
          <a:p>
            <a:r>
              <a:t>第二步，建立新專案：進到控制台，點「新建專案」，取個名字，比如 my-trader-project。</a:t>
            </a:r>
          </a:p>
          <a:p/>
          <a:p>
            <a:r>
              <a:t>【講師提示】操作型頁面，建議邊講邊示範，或請學員跟著操作；學員卡關就停下來等。</a:t>
            </a:r>
          </a:p>
        </p:txBody>
      </p:sp>
      <p:sp>
        <p:nvSpPr>
          <p:cNvPr id="190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02A3EE3-E9FE-4CB8-9974-B97654D8EC23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2640" cy="342864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建議時間：3 分鐘</a:t>
            </a:r>
          </a:p>
          <a:p/>
          <a:p>
            <a:r>
              <a:t>第三步，建立跟圖片一模一樣的 VM 虛擬機器。</a:t>
            </a:r>
          </a:p>
          <a:p>
            <a:r>
              <a:t>點左上角導覽選單，找到 Compute Engine，選「VM 執行個體」。第一次使用會提示啟用 Compute Engine API，點啟用，等幾分鐘。</a:t>
            </a:r>
          </a:p>
          <a:p>
            <a:r>
              <a:t>接著點「建立執行個體」，照著規格設定：名稱輸入 tw-selfselect（可自取，需與 .env 的 SYNC_VM_NAME 一致）；區域選 asia-east1，可用區選 asia-east1-b；機器組態選 E2 系列、e2-micro 類型；開機磁碟點「變更」，作業系統選 Ubuntu、版本選 22.04 LTS。</a:t>
            </a:r>
          </a:p>
          <a:p>
            <a:r>
              <a:t>防火牆的部分：如果這台機器未來要架網站或對外連線，就勾選「允許 HTTP 流量」和「允許 HTTPS 流量」。</a:t>
            </a:r>
          </a:p>
          <a:p>
            <a:r>
              <a:t>確認右側預估費用後，點「建立」。建立完成後，你就能在列表看到這台機器在運行，透過「SSH」按鈕就能連進去操作。</a:t>
            </a:r>
          </a:p>
          <a:p/>
          <a:p>
            <a:r>
              <a:t>【講師提示】建議提醒學員：規格必須跟圖片一致，不要自己升級，省錢是這堂課的重點。</a:t>
            </a:r>
          </a:p>
        </p:txBody>
      </p:sp>
      <p:sp>
        <p:nvSpPr>
          <p:cNvPr id="193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A4C1F42-224C-44BA-8026-41BE90105560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2640" cy="3428640"/>
          </a:xfrm>
          <a:prstGeom prst="rect">
            <a:avLst/>
          </a:prstGeom>
          <a:ln w="0">
            <a:noFill/>
          </a:ln>
        </p:spPr>
      </p:sp>
      <p:sp>
        <p:nvSpPr>
          <p:cNvPr id="19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建議時間：2 分鐘</a:t>
            </a:r>
          </a:p>
          <a:p/>
          <a:p>
            <a:r>
              <a:t>機器建好之後，還有一個關鍵動作：把 IP 轉成靜態。</a:t>
            </a:r>
          </a:p>
          <a:p>
            <a:r>
              <a:t>為什麼要這樣做？因為預設的 IP 是暫時的——機器重啟或關機後就可能變動。但玉山證券 API 需要設定白名單，IP 一變就麻煩了。</a:t>
            </a:r>
          </a:p>
          <a:p>
            <a:r>
              <a:t>步驟如下：進到 GCP 控制台，點導覽選單，找到「VPC 網路」裡的「IP 位址」。你會看到一筆分配給 tw-selfselect 的 IP，類型顯示「外網／暫時」。點右側的三個點，選「保留靜態外部 IP 位址」，取個名字，比如 tw-selfselect-static-ip，然後點「保留」。</a:t>
            </a:r>
          </a:p>
          <a:p>
            <a:r>
              <a:t>請把這個 IP 記錄下來——等一下申請玉山 API 的時候，要拿它去設白名單。設定完成後，類型會變成「靜態」，以後不管機器怎麼重啟關機，IP 都不會變了。</a:t>
            </a:r>
          </a:p>
          <a:p/>
          <a:p>
            <a:r>
              <a:t>【講師提示】強調「記錄 IP」這個動作，學員最常在這裡漏掉。</a:t>
            </a:r>
          </a:p>
        </p:txBody>
      </p:sp>
      <p:sp>
        <p:nvSpPr>
          <p:cNvPr id="196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984C4F3-FC9F-4180-BFFD-5F0BACBD04DA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2640" cy="3428640"/>
          </a:xfrm>
          <a:prstGeom prst="rect">
            <a:avLst/>
          </a:prstGeom>
          <a:ln w="0">
            <a:noFill/>
          </a:ln>
        </p:spPr>
      </p:sp>
      <p:sp>
        <p:nvSpPr>
          <p:cNvPr id="19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建議時間：30 秒</a:t>
            </a:r>
          </a:p>
          <a:p/>
          <a:p>
            <a:r>
              <a:t>好，今天的課程到這裡。</a:t>
            </a:r>
          </a:p>
          <a:p>
            <a:r>
              <a:t>我是 frank，信箱是 frank@dinchen.com.tw，有任何問題歡迎寫信給我。</a:t>
            </a:r>
          </a:p>
          <a:p>
            <a:r>
              <a:t>今天的功課：把 slide-12 的五個帳號申請好、Gcloud 機器建起來、靜態 IP 設好。下週我們會開始裝系統、跑回測。我們下次見！</a:t>
            </a:r>
          </a:p>
          <a:p/>
          <a:p>
            <a:r>
              <a:t>【講師提示】收尾節奏明快，把功課清單再唸一次，加強記憶。</a:t>
            </a:r>
          </a:p>
        </p:txBody>
      </p:sp>
      <p:sp>
        <p:nvSpPr>
          <p:cNvPr id="199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1CFDBB3-0977-40E9-8A98-4660D6AAD67F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Only 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7" descr="A white circles on a black background&#10;&#10;Description automatically generated"/>
          <p:cNvPicPr/>
          <p:nvPr/>
        </p:nvPicPr>
        <p:blipFill>
          <a:blip r:embed="rId2"/>
          <a:srcRect l="0" t="11504" r="4106" b="14442"/>
          <a:stretch/>
        </p:blipFill>
        <p:spPr>
          <a:xfrm>
            <a:off x="3274920" y="0"/>
            <a:ext cx="8913600" cy="686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6640" cy="388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84360" y="56008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Cross 2"/>
          <p:cNvSpPr/>
          <p:nvPr/>
        </p:nvSpPr>
        <p:spPr>
          <a:xfrm>
            <a:off x="10975680" y="49870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" name="Cross 3"/>
          <p:cNvSpPr/>
          <p:nvPr/>
        </p:nvSpPr>
        <p:spPr>
          <a:xfrm>
            <a:off x="10118880" y="35812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9"/>
          <p:cNvSpPr/>
          <p:nvPr/>
        </p:nvSpPr>
        <p:spPr>
          <a:xfrm>
            <a:off x="7026120" y="0"/>
            <a:ext cx="4461120" cy="1980720"/>
          </a:xfrm>
          <a:custGeom>
            <a:avLst/>
            <a:gdLst>
              <a:gd name="textAreaLeft" fmla="*/ 0 w 4461120"/>
              <a:gd name="textAreaRight" fmla="*/ 4461480 w 4461120"/>
              <a:gd name="textAreaTop" fmla="*/ 0 h 1980720"/>
              <a:gd name="textAreaBottom" fmla="*/ 1981080 h 198072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" name="Rectangle 2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1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747C7AA3-5E12-4280-AA72-5B2508094D23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ftr" idx="2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3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body"/>
          </p:nvPr>
        </p:nvSpPr>
        <p:spPr>
          <a:xfrm>
            <a:off x="1293840" y="2743200"/>
            <a:ext cx="10134360" cy="3504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6"/>
          <p:cNvSpPr/>
          <p:nvPr/>
        </p:nvSpPr>
        <p:spPr>
          <a:xfrm>
            <a:off x="7026120" y="0"/>
            <a:ext cx="4461120" cy="1980720"/>
          </a:xfrm>
          <a:custGeom>
            <a:avLst/>
            <a:gdLst>
              <a:gd name="textAreaLeft" fmla="*/ 0 w 4461120"/>
              <a:gd name="textAreaRight" fmla="*/ 4461480 w 4461120"/>
              <a:gd name="textAreaTop" fmla="*/ 0 h 1980720"/>
              <a:gd name="textAreaBottom" fmla="*/ 1981080 h 198072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5" name="Rectangle 1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6" name="Cross 5"/>
          <p:cNvSpPr/>
          <p:nvPr/>
        </p:nvSpPr>
        <p:spPr>
          <a:xfrm>
            <a:off x="6683040" y="139716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7" name="Cross 6"/>
          <p:cNvSpPr/>
          <p:nvPr/>
        </p:nvSpPr>
        <p:spPr>
          <a:xfrm>
            <a:off x="11085480" y="56386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sldNum" idx="4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EE3CFB86-D044-497F-ABF2-67C6655E4CFA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ftr" idx="5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dt" idx="6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body"/>
          </p:nvPr>
        </p:nvSpPr>
        <p:spPr>
          <a:xfrm>
            <a:off x="1293840" y="2438280"/>
            <a:ext cx="491148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3" name="PlaceHolder 6"/>
          <p:cNvSpPr>
            <a:spLocks noGrp="1"/>
          </p:cNvSpPr>
          <p:nvPr>
            <p:ph type="body"/>
          </p:nvPr>
        </p:nvSpPr>
        <p:spPr>
          <a:xfrm>
            <a:off x="6516720" y="2438280"/>
            <a:ext cx="491148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: Shape 14"/>
          <p:cNvSpPr/>
          <p:nvPr/>
        </p:nvSpPr>
        <p:spPr>
          <a:xfrm>
            <a:off x="9958320" y="0"/>
            <a:ext cx="2230200" cy="1980720"/>
          </a:xfrm>
          <a:custGeom>
            <a:avLst/>
            <a:gdLst>
              <a:gd name="textAreaLeft" fmla="*/ 0 w 2230200"/>
              <a:gd name="textAreaRight" fmla="*/ 2230560 w 2230200"/>
              <a:gd name="textAreaTop" fmla="*/ 0 h 1980720"/>
              <a:gd name="textAreaBottom" fmla="*/ 1981080 h 1980720"/>
              <a:gd name="GluePoint1X" fmla="*/ 0 w 2230666"/>
              <a:gd name="GluePoint1Y" fmla="*/ 0 h 1981200"/>
              <a:gd name="GluePoint2X" fmla="*/ 2230666 w 2230666"/>
              <a:gd name="GluePoint2Y" fmla="*/ 0 h 1981200"/>
              <a:gd name="GluePoint3X" fmla="*/ 2230666 w 2230666"/>
              <a:gd name="GluePoint3Y" fmla="*/ 1981200 h 1981200"/>
              <a:gd name="GluePoint4X" fmla="*/ 2029222 w 2230666"/>
              <a:gd name="GluePoint4Y" fmla="*/ 1972296 h 1981200"/>
              <a:gd name="GluePoint5X" fmla="*/ 28437 w 2230666"/>
              <a:gd name="GluePoint5Y" fmla="*/ 186331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5" name="Rectangle 1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6" name="Cross 2"/>
          <p:cNvSpPr/>
          <p:nvPr/>
        </p:nvSpPr>
        <p:spPr>
          <a:xfrm>
            <a:off x="7846920" y="3808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7" name="Cross 4"/>
          <p:cNvSpPr/>
          <p:nvPr/>
        </p:nvSpPr>
        <p:spPr>
          <a:xfrm>
            <a:off x="8559720" y="10666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sldNum" idx="7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390B8F92-0A48-4E6C-8E4D-838AE4BA62BA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ftr" idx="8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9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body"/>
          </p:nvPr>
        </p:nvSpPr>
        <p:spPr>
          <a:xfrm>
            <a:off x="1293840" y="2286000"/>
            <a:ext cx="491148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body"/>
          </p:nvPr>
        </p:nvSpPr>
        <p:spPr>
          <a:xfrm>
            <a:off x="6516720" y="2286000"/>
            <a:ext cx="491148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losing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Freeform: Shape 8"/>
          <p:cNvSpPr/>
          <p:nvPr/>
        </p:nvSpPr>
        <p:spPr>
          <a:xfrm>
            <a:off x="2131920" y="0"/>
            <a:ext cx="7924320" cy="6857640"/>
          </a:xfrm>
          <a:custGeom>
            <a:avLst/>
            <a:gdLst>
              <a:gd name="textAreaLeft" fmla="*/ 0 w 7924320"/>
              <a:gd name="textAreaRight" fmla="*/ 7924680 w 7924320"/>
              <a:gd name="textAreaTop" fmla="*/ 0 h 6857640"/>
              <a:gd name="textAreaBottom" fmla="*/ 6858000 h 6857640"/>
              <a:gd name="GluePoint1X" fmla="*/ 1982890 w 7924800"/>
              <a:gd name="GluePoint1Y" fmla="*/ 0 h 6858000"/>
              <a:gd name="GluePoint2X" fmla="*/ 5941911 w 7924800"/>
              <a:gd name="GluePoint2Y" fmla="*/ 0 h 6858000"/>
              <a:gd name="GluePoint3X" fmla="*/ 6177816 w 7924800"/>
              <a:gd name="GluePoint3Y" fmla="*/ 143316 h 6858000"/>
              <a:gd name="GluePoint4X" fmla="*/ 7924800 w 7924800"/>
              <a:gd name="GluePoint4Y" fmla="*/ 3429000 h 6858000"/>
              <a:gd name="GluePoint5X" fmla="*/ 6017049 w 7924800"/>
              <a:gd name="GluePoint5Y" fmla="*/ 6817750 h 6858000"/>
              <a:gd name="GluePoint6X" fmla="*/ 5947047 w 7924800"/>
              <a:gd name="GluePoint6Y" fmla="*/ 6858000 h 6858000"/>
              <a:gd name="GluePoint7X" fmla="*/ 1977753 w 7924800"/>
              <a:gd name="GluePoint7Y" fmla="*/ 6858000 h 6858000"/>
              <a:gd name="GluePoint8X" fmla="*/ 1907752 w 7924800"/>
              <a:gd name="GluePoint8Y" fmla="*/ 6817750 h 6858000"/>
              <a:gd name="GluePoint9X" fmla="*/ 0 w 7924800"/>
              <a:gd name="GluePoint9Y" fmla="*/ 3429000 h 6858000"/>
              <a:gd name="GluePoint10X" fmla="*/ 1746985 w 7924800"/>
              <a:gd name="GluePoint10Y" fmla="*/ 143316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</a:cxnLst>
            <a:rect l="textAreaLeft" t="textAreaTop" r="textAreaRight" b="textAreaBottom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5" name="Left Brace 7"/>
          <p:cNvSpPr/>
          <p:nvPr/>
        </p:nvSpPr>
        <p:spPr>
          <a:xfrm>
            <a:off x="5560920" y="2022120"/>
            <a:ext cx="837720" cy="281376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000000">
                <a:lumMod val="85000"/>
                <a:lumOff val="1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640" cy="586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6768360" y="2247840"/>
            <a:ext cx="4443120" cy="240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gen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7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9" name="Freeform: Shape 12"/>
          <p:cNvSpPr/>
          <p:nvPr/>
        </p:nvSpPr>
        <p:spPr>
          <a:xfrm>
            <a:off x="0" y="1440"/>
            <a:ext cx="3427920" cy="6856200"/>
          </a:xfrm>
          <a:custGeom>
            <a:avLst/>
            <a:gdLst>
              <a:gd name="textAreaLeft" fmla="*/ 0 w 3427920"/>
              <a:gd name="textAreaRight" fmla="*/ 3428280 w 3427920"/>
              <a:gd name="textAreaTop" fmla="*/ 0 h 6856200"/>
              <a:gd name="textAreaBottom" fmla="*/ 6856560 h 6856200"/>
              <a:gd name="GluePoint1X" fmla="*/ 1 w 3428208"/>
              <a:gd name="GluePoint1Y" fmla="*/ 0 h 6856414"/>
              <a:gd name="GluePoint2X" fmla="*/ 3428208 w 3428208"/>
              <a:gd name="GluePoint2Y" fmla="*/ 3428207 h 6856414"/>
              <a:gd name="GluePoint3X" fmla="*/ 1 w 3428208"/>
              <a:gd name="GluePoint3Y" fmla="*/ 6856414 h 6856414"/>
              <a:gd name="GluePoint4X" fmla="*/ 0 w 3428208"/>
              <a:gd name="GluePoint4Y" fmla="*/ 6856414 h 6856414"/>
              <a:gd name="GluePoint5X" fmla="*/ 0 w 3428208"/>
              <a:gd name="GluePoint5Y" fmla="*/ 0 h 6856414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988920" y="723960"/>
            <a:ext cx="4114440" cy="5295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6932520" y="1981080"/>
            <a:ext cx="4114440" cy="285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2" name="Cross 13"/>
          <p:cNvSpPr/>
          <p:nvPr/>
        </p:nvSpPr>
        <p:spPr>
          <a:xfrm>
            <a:off x="4837680" y="91440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3" name="Cross 14"/>
          <p:cNvSpPr/>
          <p:nvPr/>
        </p:nvSpPr>
        <p:spPr>
          <a:xfrm>
            <a:off x="3085200" y="569592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4" name="Left Brace 1"/>
          <p:cNvSpPr/>
          <p:nvPr/>
        </p:nvSpPr>
        <p:spPr>
          <a:xfrm>
            <a:off x="5560920" y="2022120"/>
            <a:ext cx="837720" cy="281376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000000">
                <a:lumMod val="85000"/>
                <a:lumOff val="1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ing with Phone im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Oval 6"/>
          <p:cNvSpPr/>
          <p:nvPr/>
        </p:nvSpPr>
        <p:spPr>
          <a:xfrm>
            <a:off x="6703920" y="1148400"/>
            <a:ext cx="4560840" cy="456084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46" name="Graphic 7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432200" y="598320"/>
            <a:ext cx="3096000" cy="5661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" name="Cross 8"/>
          <p:cNvSpPr/>
          <p:nvPr/>
        </p:nvSpPr>
        <p:spPr>
          <a:xfrm>
            <a:off x="10818720" y="535320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8" name="Cross 10"/>
          <p:cNvSpPr/>
          <p:nvPr/>
        </p:nvSpPr>
        <p:spPr>
          <a:xfrm>
            <a:off x="6336000" y="8056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6372360" cy="4038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608040" y="4876920"/>
            <a:ext cx="6372360" cy="110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7765200" y="883440"/>
            <a:ext cx="2438640" cy="5090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+ Subtitle 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Oval 4"/>
          <p:cNvSpPr/>
          <p:nvPr/>
        </p:nvSpPr>
        <p:spPr>
          <a:xfrm>
            <a:off x="3274920" y="609480"/>
            <a:ext cx="5638320" cy="563832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3" name="Left Brace 7"/>
          <p:cNvSpPr/>
          <p:nvPr/>
        </p:nvSpPr>
        <p:spPr>
          <a:xfrm>
            <a:off x="5560920" y="2022120"/>
            <a:ext cx="837720" cy="281376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000000">
                <a:lumMod val="85000"/>
                <a:lumOff val="1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640" cy="586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6768360" y="2022120"/>
            <a:ext cx="4443120" cy="281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lvl="1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標題及內容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Rectangle 3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7" name="Cross 8"/>
          <p:cNvSpPr/>
          <p:nvPr/>
        </p:nvSpPr>
        <p:spPr>
          <a:xfrm>
            <a:off x="8151840" y="567072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sldNum" idx="10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8EB991F1-7519-444C-85DA-4821F9A004CC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ftr" idx="11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dt" idx="12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3" name="Cross 14"/>
          <p:cNvSpPr/>
          <p:nvPr/>
        </p:nvSpPr>
        <p:spPr>
          <a:xfrm>
            <a:off x="7351560" y="441972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4" name="Freeform: Shape 4"/>
          <p:cNvSpPr/>
          <p:nvPr/>
        </p:nvSpPr>
        <p:spPr>
          <a:xfrm>
            <a:off x="8609040" y="-21960"/>
            <a:ext cx="3579480" cy="6901560"/>
          </a:xfrm>
          <a:custGeom>
            <a:avLst/>
            <a:gdLst>
              <a:gd name="textAreaLeft" fmla="*/ 0 w 3579480"/>
              <a:gd name="textAreaRight" fmla="*/ 3579840 w 3579480"/>
              <a:gd name="textAreaTop" fmla="*/ 0 h 6901560"/>
              <a:gd name="textAreaBottom" fmla="*/ 6901920 h 6901560"/>
              <a:gd name="GluePoint1X" fmla="*/ 3450999 w 3579812"/>
              <a:gd name="GluePoint1Y" fmla="*/ 0 h 6901998"/>
              <a:gd name="GluePoint2X" fmla="*/ 3579812 w 3579812"/>
              <a:gd name="GluePoint2Y" fmla="*/ 3257 h 6901998"/>
              <a:gd name="GluePoint3X" fmla="*/ 3579812 w 3579812"/>
              <a:gd name="GluePoint3Y" fmla="*/ 6898741 h 6901998"/>
              <a:gd name="GluePoint4X" fmla="*/ 3450999 w 3579812"/>
              <a:gd name="GluePoint4Y" fmla="*/ 6901998 h 6901998"/>
              <a:gd name="GluePoint5X" fmla="*/ 0 w 3579812"/>
              <a:gd name="GluePoint5Y" fmla="*/ 3450999 h 6901998"/>
              <a:gd name="GluePoint6X" fmla="*/ 3450999 w 3579812"/>
              <a:gd name="GluePoint6Y" fmla="*/ 0 h 690199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Content with Computer Monito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Oval 4"/>
          <p:cNvSpPr/>
          <p:nvPr/>
        </p:nvSpPr>
        <p:spPr>
          <a:xfrm>
            <a:off x="6703920" y="838080"/>
            <a:ext cx="5028840" cy="502884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6" name="Rectangle 7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67" name="Graphic 14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742080" y="1752480"/>
            <a:ext cx="4950720" cy="3809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sldNum" idx="13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1FF009CC-B908-4EEF-A272-0EA8311D4DD0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ftr" idx="14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 type="dt" idx="15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73" name="PlaceHolder 6"/>
          <p:cNvSpPr>
            <a:spLocks noGrp="1"/>
          </p:cNvSpPr>
          <p:nvPr>
            <p:ph type="body"/>
          </p:nvPr>
        </p:nvSpPr>
        <p:spPr>
          <a:xfrm>
            <a:off x="7045920" y="2057400"/>
            <a:ext cx="4343040" cy="2688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brea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5686920" cy="5288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5" name="Cross 2"/>
          <p:cNvSpPr/>
          <p:nvPr/>
        </p:nvSpPr>
        <p:spPr>
          <a:xfrm>
            <a:off x="7130160" y="3969360"/>
            <a:ext cx="640440" cy="640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76" name="Graphic 3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0" t="0" r="42412" b="0"/>
          <a:stretch/>
        </p:blipFill>
        <p:spPr>
          <a:xfrm>
            <a:off x="7134840" y="533520"/>
            <a:ext cx="5053680" cy="55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" name="Cross 5"/>
          <p:cNvSpPr/>
          <p:nvPr/>
        </p:nvSpPr>
        <p:spPr>
          <a:xfrm>
            <a:off x="6368040" y="2407320"/>
            <a:ext cx="640440" cy="640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8119800" y="990720"/>
            <a:ext cx="4068720" cy="438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with Acc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4"/>
          <p:cNvSpPr/>
          <p:nvPr/>
        </p:nvSpPr>
        <p:spPr>
          <a:xfrm>
            <a:off x="6361200" y="1317240"/>
            <a:ext cx="5028840" cy="502884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0" name="Rectangle 7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sldNum" idx="16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983BAF46-B32D-4A0E-B6C9-92F0660A2E77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ftr" idx="17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PlaceHolder 4"/>
          <p:cNvSpPr>
            <a:spLocks noGrp="1"/>
          </p:cNvSpPr>
          <p:nvPr>
            <p:ph type="dt" idx="18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880200" lvl="2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63080" lvl="3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245960" lvl="4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6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6236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and 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ctangle 7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sldNum" idx="19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9D4AFD60-7275-4E20-9DE9-E89E44177320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ftr" idx="20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 type="dt" idx="21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331560" lvl="1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3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58400" cy="3962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jpeg"/><Relationship Id="rId3" Type="http://schemas.openxmlformats.org/officeDocument/2006/relationships/image" Target="../media/image10.png"/><Relationship Id="rId4" Type="http://schemas.openxmlformats.org/officeDocument/2006/relationships/slideLayout" Target="../slideLayouts/slideLayout7.xm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dinchentech/tw-autotrader/blob/main/python_basic/3-gcp-setup.md" TargetMode="External"/><Relationship Id="rId2" Type="http://schemas.openxmlformats.org/officeDocument/2006/relationships/hyperlink" Target="https://openrouter.ai/" TargetMode="External"/><Relationship Id="rId3" Type="http://schemas.openxmlformats.org/officeDocument/2006/relationships/hyperlink" Target="https://finmindtrade.com/analysis/#/data/api" TargetMode="External"/><Relationship Id="rId4" Type="http://schemas.openxmlformats.org/officeDocument/2006/relationships/hyperlink" Target="https://esuntradingapi.esunsec.com.tw/keys/Home/Index" TargetMode="External"/><Relationship Id="rId5" Type="http://schemas.openxmlformats.org/officeDocument/2006/relationships/hyperlink" Target="https://esuntradingapi.esunsec.com.tw/keys/Home/Index" TargetMode="External"/><Relationship Id="rId6" Type="http://schemas.openxmlformats.org/officeDocument/2006/relationships/hyperlink" Target="https://code.visualstudio.com/" TargetMode="External"/><Relationship Id="rId7" Type="http://schemas.openxmlformats.org/officeDocument/2006/relationships/hyperlink" Target="https://marketplace.visualstudio.com/items?itemName=ms-vscode-remote.remote-wsl" TargetMode="External"/><Relationship Id="rId8" Type="http://schemas.openxmlformats.org/officeDocument/2006/relationships/hyperlink" Target="https://marketplace.visualstudio.com/items?itemName=yzhang.markdown-all-in-one" TargetMode="External"/><Relationship Id="rId9" Type="http://schemas.openxmlformats.org/officeDocument/2006/relationships/hyperlink" Target="https://github.com/dinchentech/tw-autotrader/blob/main/WSL&#24674;&#24489;.md" TargetMode="External"/><Relationship Id="rId10" Type="http://schemas.openxmlformats.org/officeDocument/2006/relationships/hyperlink" Target="https://github.com/dinchentech/tw-autotrader/blob/main/WSL&#24674;&#24489;.md" TargetMode="External"/><Relationship Id="rId11" Type="http://schemas.openxmlformats.org/officeDocument/2006/relationships/hyperlink" Target="https://github.com/dinchentech/tw-autotrader/blob/main/WSL&#24674;&#24489;.md" TargetMode="External"/><Relationship Id="rId12" Type="http://schemas.openxmlformats.org/officeDocument/2006/relationships/slideLayout" Target="../slideLayouts/slideLayout9.xml"/><Relationship Id="rId1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diagramData" Target="../diagrams/data1.xml"/><Relationship Id="rId2" Type="http://schemas.openxmlformats.org/officeDocument/2006/relationships/diagramLayout" Target="../diagrams/layout1.xml"/><Relationship Id="rId3" Type="http://schemas.openxmlformats.org/officeDocument/2006/relationships/diagramQuickStyle" Target="../diagrams/quickStyle1.xml"/><Relationship Id="rId4" Type="http://schemas.openxmlformats.org/officeDocument/2006/relationships/diagramColors" Target="../diagrams/colors1.xml"/><Relationship Id="rId5" Type="http://schemas.microsoft.com/office/2007/relationships/diagramDrawing" Target="../diagrams/drawing1.xml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hyperlink" Target="https://cloud.google.com/free?hl=zh-TW" TargetMode="External"/><Relationship Id="rId2" Type="http://schemas.openxmlformats.org/officeDocument/2006/relationships/hyperlink" Target="https://console.cloud.google.com/" TargetMode="External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hyperlink" Target="https://www.skills.google/focuses/3563?locale=zh_TW&amp;parent=catalog" TargetMode="External"/><Relationship Id="rId2" Type="http://schemas.openxmlformats.org/officeDocument/2006/relationships/hyperlink" Target="https://clone-info.net/gcp-always-free-vps-setup-guide/" TargetMode="External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hyperlink" Target="https://console.cloud.google.com/" TargetMode="External"/><Relationship Id="rId2" Type="http://schemas.openxmlformats.org/officeDocument/2006/relationships/hyperlink" Target="https://esuntradingapi.esunsec.com.tw/keys/Home/Index" TargetMode="External"/><Relationship Id="rId3" Type="http://schemas.openxmlformats.org/officeDocument/2006/relationships/hyperlink" Target="https://esuntradingapi.esunsec.com.tw/keys/Home/Index" TargetMode="External"/><Relationship Id="rId4" Type="http://schemas.openxmlformats.org/officeDocument/2006/relationships/slideLayout" Target="../slideLayouts/slideLayout9.xml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6640" cy="388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TW-SELFSELECT </a:t>
            </a:r>
            <a:br>
              <a:rPr sz="6600"/>
            </a:b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台股買賣自動化系統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684360" y="56008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使用 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 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與 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DSH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988920" y="723960"/>
            <a:ext cx="4114440" cy="5295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r" defTabSz="914400">
              <a:lnSpc>
                <a:spcPct val="100000"/>
              </a:lnSpc>
              <a:buNone/>
            </a:pP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大綱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6932520" y="723960"/>
            <a:ext cx="4571640" cy="537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關於我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系統簡介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關於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關於 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DSH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現有策略介紹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策略的回測與建立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實盤執行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6372360" cy="4038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關於我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608040" y="4876920"/>
            <a:ext cx="6372360" cy="110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 lnSpcReduction="9999"/>
          </a:bodyPr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謝宜軒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交通大學資訊工程碩士</a:t>
            </a:r>
            <a:br>
              <a:rPr sz="2000"/>
            </a:b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三十年資訊軟硬件設計經歷</a:t>
            </a:r>
            <a:br>
              <a:rPr sz="2000"/>
            </a:b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https://github.com/dinchentech/tw-selfselect</a:t>
            </a:r>
            <a:br>
              <a:rPr sz="2000"/>
            </a:b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tw-selfselect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台股買賣自動化系統作者（原始碼公開）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106" name="Picture Placeholder 44" descr="Chart on a mobile device"/>
          <p:cNvSpPr/>
          <p:nvPr/>
        </p:nvSpPr>
        <p:spPr>
          <a:xfrm>
            <a:off x="7765200" y="883440"/>
            <a:ext cx="2438640" cy="5090760"/>
          </a:xfrm>
          <a:custGeom>
            <a:avLst/>
            <a:gdLst>
              <a:gd name="textAreaLeft" fmla="*/ 0 w 2438640"/>
              <a:gd name="textAreaRight" fmla="*/ 2439000 w 2438640"/>
              <a:gd name="textAreaTop" fmla="*/ 0 h 5090760"/>
              <a:gd name="textAreaBottom" fmla="*/ 5091120 h 5090760"/>
              <a:gd name="GluePoint1X" fmla="*/ 340815 w 2439096"/>
              <a:gd name="GluePoint1Y" fmla="*/ 0 h 5091059"/>
              <a:gd name="GluePoint2X" fmla="*/ 2098281 w 2439096"/>
              <a:gd name="GluePoint2Y" fmla="*/ 0 h 5091059"/>
              <a:gd name="GluePoint3X" fmla="*/ 2439096 w 2439096"/>
              <a:gd name="GluePoint3Y" fmla="*/ 340815 h 5091059"/>
              <a:gd name="GluePoint4X" fmla="*/ 2439096 w 2439096"/>
              <a:gd name="GluePoint4Y" fmla="*/ 495300 h 5091059"/>
              <a:gd name="GluePoint5X" fmla="*/ 2439096 w 2439096"/>
              <a:gd name="GluePoint5Y" fmla="*/ 4750244 h 5091059"/>
              <a:gd name="GluePoint6X" fmla="*/ 2098281 w 2439096"/>
              <a:gd name="GluePoint6Y" fmla="*/ 5091059 h 5091059"/>
              <a:gd name="GluePoint7X" fmla="*/ 340815 w 2439096"/>
              <a:gd name="GluePoint7Y" fmla="*/ 5091059 h 5091059"/>
              <a:gd name="GluePoint8X" fmla="*/ 0 w 2439096"/>
              <a:gd name="GluePoint8Y" fmla="*/ 4750244 h 5091059"/>
              <a:gd name="GluePoint9X" fmla="*/ 0 w 2439096"/>
              <a:gd name="GluePoint9Y" fmla="*/ 495300 h 5091059"/>
              <a:gd name="GluePoint10X" fmla="*/ 0 w 2439096"/>
              <a:gd name="GluePoint10Y" fmla="*/ 340815 h 5091059"/>
              <a:gd name="GluePoint11X" fmla="*/ 340815 w 2439096"/>
              <a:gd name="GluePoint11Y" fmla="*/ 0 h 5091059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</a:cxnLst>
            <a:rect l="textAreaLeft" t="textAreaTop" r="textAreaRight" b="textAreaBottom"/>
            <a:pathLst>
              <a:path w="2439096" h="5091059">
                <a:moveTo>
                  <a:pt x="340815" y="0"/>
                </a:moveTo>
                <a:lnTo>
                  <a:pt x="2098281" y="0"/>
                </a:lnTo>
                <a:cubicBezTo>
                  <a:pt x="2286508" y="0"/>
                  <a:pt x="2439096" y="152588"/>
                  <a:pt x="2439096" y="340815"/>
                </a:cubicBezTo>
                <a:lnTo>
                  <a:pt x="2439096" y="495300"/>
                </a:lnTo>
                <a:lnTo>
                  <a:pt x="2439096" y="4750244"/>
                </a:lnTo>
                <a:cubicBezTo>
                  <a:pt x="2439096" y="4938471"/>
                  <a:pt x="2286508" y="5091059"/>
                  <a:pt x="2098281" y="5091059"/>
                </a:cubicBezTo>
                <a:lnTo>
                  <a:pt x="340815" y="5091059"/>
                </a:lnTo>
                <a:cubicBezTo>
                  <a:pt x="152588" y="5091059"/>
                  <a:pt x="0" y="4938471"/>
                  <a:pt x="0" y="4750244"/>
                </a:cubicBezTo>
                <a:lnTo>
                  <a:pt x="0" y="495300"/>
                </a:lnTo>
                <a:lnTo>
                  <a:pt x="0" y="340815"/>
                </a:lnTo>
                <a:cubicBezTo>
                  <a:pt x="0" y="152588"/>
                  <a:pt x="152588" y="0"/>
                  <a:pt x="340815" y="0"/>
                </a:cubicBez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7" name="圖片 4"/>
          <p:cNvPicPr/>
          <p:nvPr/>
        </p:nvPicPr>
        <p:blipFill>
          <a:blip r:embed="rId2"/>
          <a:stretch/>
        </p:blipFill>
        <p:spPr>
          <a:xfrm>
            <a:off x="2131920" y="533520"/>
            <a:ext cx="2952720" cy="3182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8" name="圖片 8"/>
          <p:cNvPicPr/>
          <p:nvPr/>
        </p:nvPicPr>
        <p:blipFill>
          <a:blip r:embed="rId3"/>
          <a:stretch/>
        </p:blipFill>
        <p:spPr>
          <a:xfrm>
            <a:off x="7765200" y="1523880"/>
            <a:ext cx="2438640" cy="4172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684360" y="-4076640"/>
            <a:ext cx="10286640" cy="388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 defTabSz="914400">
              <a:buNone/>
              <a:tabLst>
                <a:tab pos="0" algn="l"/>
              </a:tabLst>
            </a:pP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/>
          </p:nvPr>
        </p:nvSpPr>
        <p:spPr>
          <a:xfrm>
            <a:off x="684360" y="457200"/>
            <a:ext cx="10896120" cy="567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8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目標客群</a:t>
            </a:r>
            <a:r>
              <a:rPr lang="en-US" sz="8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  <a:endParaRPr lang="en-US" sz="8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737360" lvl="1" indent="-1143000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Century Gothic"/>
              <a:buAutoNum type="arabicPeriod"/>
              <a:tabLst>
                <a:tab pos="0" algn="l"/>
              </a:tabLst>
            </a:pPr>
            <a:r>
              <a:rPr lang="zh-TW" sz="5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有策略不知如何量化</a:t>
            </a:r>
            <a:endParaRPr lang="en-US" sz="5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737360" lvl="1" indent="-1143000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Century Gothic"/>
              <a:buAutoNum type="arabicPeriod"/>
              <a:tabLst>
                <a:tab pos="0" algn="l"/>
              </a:tabLst>
            </a:pPr>
            <a:r>
              <a:rPr lang="zh-TW" sz="5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想投資台股，沒時間看盤</a:t>
            </a:r>
            <a:endParaRPr lang="en-US" sz="5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737360" lvl="1" indent="-1143000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Century Gothic"/>
              <a:buAutoNum type="arabicPeriod"/>
              <a:tabLst>
                <a:tab pos="0" algn="l"/>
              </a:tabLst>
            </a:pPr>
            <a:r>
              <a:rPr lang="zh-TW" sz="5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覺得</a:t>
            </a:r>
            <a:r>
              <a:rPr lang="en-US" sz="5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ETF(0050)</a:t>
            </a:r>
            <a:r>
              <a:rPr lang="zh-TW" sz="5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收入還不行</a:t>
            </a:r>
            <a:endParaRPr lang="en-US" sz="5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關鍵字</a:t>
            </a:r>
            <a:r>
              <a:rPr lang="en-US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  </a:t>
            </a:r>
            <a:r>
              <a:rPr lang="en-US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AI</a:t>
            </a:r>
            <a:r>
              <a:rPr lang="en-US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策略</a:t>
            </a:r>
            <a:r>
              <a:rPr lang="zh-TW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量化</a:t>
            </a:r>
            <a:r>
              <a:rPr lang="en-US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買賣</a:t>
            </a:r>
            <a:r>
              <a:rPr lang="zh-TW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自動化</a:t>
            </a:r>
            <a:endParaRPr lang="en-US" sz="4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前提</a:t>
            </a:r>
            <a:r>
              <a:rPr lang="en-US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 </a:t>
            </a: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懂</a:t>
            </a:r>
            <a:r>
              <a:rPr lang="zh-TW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電腦操作</a:t>
            </a:r>
            <a:r>
              <a:rPr lang="en-US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不用懂</a:t>
            </a:r>
            <a:r>
              <a:rPr lang="zh-TW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編程</a:t>
            </a:r>
            <a:endParaRPr lang="en-US" sz="4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澄清</a:t>
            </a:r>
            <a:r>
              <a:rPr lang="en-US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 </a:t>
            </a:r>
            <a:r>
              <a:rPr lang="zh-TW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我們教</a:t>
            </a: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策略量化</a:t>
            </a:r>
            <a:r>
              <a:rPr lang="en-US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自動化</a:t>
            </a:r>
            <a:r>
              <a:rPr lang="en-US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非</a:t>
            </a:r>
            <a:r>
              <a:rPr lang="zh-TW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股票投資</a:t>
            </a:r>
            <a:r>
              <a:rPr lang="en-US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!</a:t>
            </a:r>
            <a:endParaRPr lang="en-US" sz="4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640" cy="586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系統簡介</a:t>
            </a:r>
            <a:r>
              <a:rPr lang="en-US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6768360" y="304920"/>
            <a:ext cx="4571640" cy="579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85000" lnSpcReduction="9999"/>
          </a:bodyPr>
          <a:p>
            <a:pPr marL="388800" indent="-34308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為非資訊背景人員設計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88800" indent="-34308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每個雲主機月費不到百元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88800" indent="-34308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每個雲主機可控制</a:t>
            </a:r>
            <a:r>
              <a:rPr lang="en-US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15</a:t>
            </a: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個以內個股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88800" indent="-34308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程式自動開關機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88800" indent="-34308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以</a:t>
            </a:r>
            <a:r>
              <a:rPr lang="en-US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Telegram</a:t>
            </a: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手機簡訊通知買賣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88800" indent="-34308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自行設定買賣個股</a:t>
            </a:r>
            <a:r>
              <a:rPr lang="en-US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策略</a:t>
            </a:r>
            <a:r>
              <a:rPr lang="en-US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資金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88800" indent="-34308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不用編程</a:t>
            </a:r>
            <a:r>
              <a:rPr lang="en-US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但建議能看懂</a:t>
            </a:r>
            <a:r>
              <a:rPr lang="en-US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88800" indent="-34308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內建</a:t>
            </a:r>
            <a:r>
              <a:rPr lang="en-US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5</a:t>
            </a: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組策略，另預留</a:t>
            </a:r>
            <a:r>
              <a:rPr lang="en-US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4</a:t>
            </a: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組自訂範本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88800" indent="-34308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能調用</a:t>
            </a:r>
            <a:r>
              <a:rPr lang="en-US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Finmind, TWSE</a:t>
            </a: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過去股市資料回測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88800" indent="-34308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使用玉山</a:t>
            </a:r>
            <a:r>
              <a:rPr lang="en-US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API,</a:t>
            </a: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使用者可自行替代其他卷商</a:t>
            </a:r>
            <a:r>
              <a:rPr lang="en-US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API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88800" indent="-34308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完整</a:t>
            </a:r>
            <a:r>
              <a:rPr lang="en-US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WSL</a:t>
            </a: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壓縮檔</a:t>
            </a:r>
            <a:r>
              <a:rPr lang="en-US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 </a:t>
            </a: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已經安裝好所有</a:t>
            </a:r>
            <a:r>
              <a:rPr lang="en-US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Python/DSH/…</a:t>
            </a: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工具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系統優點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 type="sldNum" idx="25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AF6732C6-60D8-476A-B3A5-47F9AED5E97B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6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/>
          </p:nvPr>
        </p:nvSpPr>
        <p:spPr>
          <a:xfrm>
            <a:off x="1311120" y="2286000"/>
            <a:ext cx="699264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原始碼全部公開在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GitHub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（授權見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LICENSE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：個人學習／研究使用），可直接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git clone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；沒有加密檔，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WSL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壓縮檔只是省安裝時間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設定好策略後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自動買賣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不用整天盯盤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利用免費的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TWSE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Finmind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額度即可回測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不用再花錢買資料庫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五大策略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布林通道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/MA Cross/VWAP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反轉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唐奇安通道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低接高賣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已含括大部分盤勢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並預留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4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個預備策略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建議以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repo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上長期測試過的版本為主，只要修改內建策略參數或加上你自己的策略即可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實際運行展示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 type="sldNum" idx="26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4AD1247A-1F19-4618-B423-AA32BC1636F8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7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18" name="Picture 18" descr="dashboard_real_20261026.png"/>
          <p:cNvPicPr/>
          <p:nvPr/>
        </p:nvPicPr>
        <p:blipFill>
          <a:blip r:embed="rId1"/>
          <a:stretch/>
        </p:blipFill>
        <p:spPr>
          <a:xfrm>
            <a:off x="567000" y="1298520"/>
            <a:ext cx="6309000" cy="4829760"/>
          </a:xfrm>
          <a:prstGeom prst="rect">
            <a:avLst/>
          </a:prstGeom>
          <a:noFill/>
          <a:ln w="9525">
            <a:solidFill>
              <a:srgbClr val="BFC7D1"/>
            </a:solidFill>
            <a:round/>
          </a:ln>
        </p:spPr>
      </p:pic>
      <p:sp>
        <p:nvSpPr>
          <p:cNvPr id="119" name="Rectangle 19"/>
          <p:cNvSpPr/>
          <p:nvPr/>
        </p:nvSpPr>
        <p:spPr>
          <a:xfrm>
            <a:off x="6903720" y="1298520"/>
            <a:ext cx="5028840" cy="523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120" name="TextBox 20"/>
          <p:cNvSpPr/>
          <p:nvPr/>
        </p:nvSpPr>
        <p:spPr>
          <a:xfrm>
            <a:off x="7132320" y="1444680"/>
            <a:ext cx="457164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45000" anchor="t">
            <a:spAutoFit/>
          </a:bodyPr>
          <a:p>
            <a:pPr defTabSz="914400">
              <a:lnSpc>
                <a:spcPct val="100000"/>
              </a:lnSpc>
              <a:spcBef>
                <a:spcPts val="1599"/>
              </a:spcBef>
            </a:pPr>
            <a:r>
              <a:rPr lang="zh-TW" sz="2400" b="1" u="none" strike="noStrike">
                <a:solidFill>
                  <a:srgbClr val="111111"/>
                </a:solidFill>
                <a:effectLst/>
                <a:uFillTx/>
                <a:latin typeface="Yu Gothic UI"/>
              </a:rPr>
              <a:t>線上儀表板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601"/>
              </a:spcBef>
            </a:pPr>
            <a:r>
              <a:rPr lang="zh-TW" sz="1500" b="0" u="none" strike="noStrike">
                <a:solidFill>
                  <a:srgbClr val="2B2B2B"/>
                </a:solidFill>
                <a:effectLst/>
                <a:uFillTx/>
                <a:latin typeface="Yu Gothic UI"/>
              </a:rPr>
              <a:t>實機畫面（</a:t>
            </a:r>
            <a:r>
              <a:rPr lang="en-US" sz="1500" b="0" u="none" strike="noStrike">
                <a:solidFill>
                  <a:srgbClr val="2B2B2B"/>
                </a:solidFill>
                <a:effectLst/>
                <a:uFillTx/>
                <a:latin typeface="Yu Gothic UI"/>
              </a:rPr>
              <a:t>VM</a:t>
            </a:r>
            <a:r>
              <a:rPr lang="zh-TW" sz="1500" b="0" u="none" strike="noStrike">
                <a:solidFill>
                  <a:srgbClr val="2B2B2B"/>
                </a:solidFill>
                <a:effectLst/>
                <a:uFillTx/>
                <a:latin typeface="Yu Gothic UI"/>
              </a:rPr>
              <a:t>，</a:t>
            </a:r>
            <a:r>
              <a:rPr lang="en-US" sz="1500" b="0" u="none" strike="noStrike">
                <a:solidFill>
                  <a:srgbClr val="2B2B2B"/>
                </a:solidFill>
                <a:effectLst/>
                <a:uFillTx/>
                <a:latin typeface="Yu Gothic UI"/>
              </a:rPr>
              <a:t>2026-10-26</a:t>
            </a:r>
            <a:r>
              <a:rPr lang="zh-TW" sz="1500" b="0" u="none" strike="noStrike">
                <a:solidFill>
                  <a:srgbClr val="2B2B2B"/>
                </a:solidFill>
                <a:effectLst/>
                <a:uFillTx/>
                <a:latin typeface="Yu Gothic UI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601"/>
              </a:spcBef>
            </a:pPr>
            <a:r>
              <a:rPr lang="en-US" sz="1350" b="0" u="none" strike="noStrike">
                <a:solidFill>
                  <a:srgbClr val="2B2B2B"/>
                </a:solidFill>
                <a:effectLst/>
                <a:uFillTx/>
                <a:latin typeface="Yu Gothic UI"/>
              </a:rPr>
              <a:t>https://dinchentech.github.io/tw-selfselect/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599"/>
              </a:spcBef>
            </a:pPr>
            <a:r>
              <a:rPr lang="zh-TW" sz="1700" b="1" u="none" strike="noStrike">
                <a:solidFill>
                  <a:srgbClr val="111111"/>
                </a:solidFill>
                <a:effectLst/>
                <a:uFillTx/>
                <a:latin typeface="Yu Gothic UI"/>
              </a:rPr>
              <a:t>內容：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601"/>
              </a:spcBef>
            </a:pPr>
            <a:r>
              <a:rPr lang="en-US" sz="1700" b="0" u="none" strike="noStrike">
                <a:solidFill>
                  <a:srgbClr val="2B2B2B"/>
                </a:solidFill>
                <a:effectLst/>
                <a:uFillTx/>
                <a:latin typeface="Yu Gothic UI"/>
              </a:rPr>
              <a:t>• KPI </a:t>
            </a:r>
            <a:r>
              <a:rPr lang="zh-TW" sz="1700" b="0" u="none" strike="noStrike">
                <a:solidFill>
                  <a:srgbClr val="2B2B2B"/>
                </a:solidFill>
                <a:effectLst/>
                <a:uFillTx/>
                <a:latin typeface="Yu Gothic UI"/>
              </a:rPr>
              <a:t>卡片：已實現／未實現損益、報酬率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601"/>
              </a:spcBef>
            </a:pPr>
            <a:r>
              <a:rPr lang="en-US" sz="1700" b="0" u="none" strike="noStrike">
                <a:solidFill>
                  <a:srgbClr val="2B2B2B"/>
                </a:solidFill>
                <a:effectLst/>
                <a:uFillTx/>
                <a:latin typeface="Yu Gothic UI"/>
              </a:rPr>
              <a:t>• 持倉一覽：代號、股數、成本、現價、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601"/>
              </a:spcBef>
            </a:pPr>
            <a:r>
              <a:rPr lang="zh-TW" sz="1700" b="0" u="none" strike="noStrike">
                <a:solidFill>
                  <a:srgbClr val="2B2B2B"/>
                </a:solidFill>
                <a:effectLst/>
                <a:uFillTx/>
                <a:latin typeface="Yu Gothic UI"/>
              </a:rPr>
              <a:t>　市值、損益，多一欄「策略」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601"/>
              </a:spcBef>
            </a:pPr>
            <a:r>
              <a:rPr lang="en-US" sz="1700" b="0" u="none" strike="noStrike">
                <a:solidFill>
                  <a:srgbClr val="2B2B2B"/>
                </a:solidFill>
                <a:effectLst/>
                <a:uFillTx/>
                <a:latin typeface="Yu Gothic UI"/>
              </a:rPr>
              <a:t>• 資金曲線（</a:t>
            </a:r>
            <a:r>
              <a:rPr lang="en-US" sz="1700" b="0" u="none" strike="noStrike">
                <a:solidFill>
                  <a:srgbClr val="2B2B2B"/>
                </a:solidFill>
                <a:effectLst/>
                <a:uFillTx/>
                <a:latin typeface="Yu Gothic UI"/>
              </a:rPr>
              <a:t>Chart.js</a:t>
            </a:r>
            <a:r>
              <a:rPr lang="zh-TW" sz="1700" b="0" u="none" strike="noStrike">
                <a:solidFill>
                  <a:srgbClr val="2B2B2B"/>
                </a:solidFill>
                <a:effectLst/>
                <a:uFillTx/>
                <a:latin typeface="Yu Gothic UI"/>
              </a:rPr>
              <a:t>）與交易明細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601"/>
              </a:spcBef>
            </a:pPr>
            <a:r>
              <a:rPr lang="en-US" sz="1700" b="0" u="none" strike="noStrike">
                <a:solidFill>
                  <a:srgbClr val="2B2B2B"/>
                </a:solidFill>
                <a:effectLst/>
                <a:uFillTx/>
                <a:latin typeface="Yu Gothic UI"/>
              </a:rPr>
              <a:t>• VM </a:t>
            </a:r>
            <a:r>
              <a:rPr lang="zh-TW" sz="1700" b="0" u="none" strike="noStrike">
                <a:solidFill>
                  <a:srgbClr val="2B2B2B"/>
                </a:solidFill>
                <a:effectLst/>
                <a:uFillTx/>
                <a:latin typeface="Yu Gothic UI"/>
              </a:rPr>
              <a:t>每日 </a:t>
            </a:r>
            <a:r>
              <a:rPr lang="en-US" sz="1700" b="0" u="none" strike="noStrike">
                <a:solidFill>
                  <a:srgbClr val="2B2B2B"/>
                </a:solidFill>
                <a:effectLst/>
                <a:uFillTx/>
                <a:latin typeface="Yu Gothic UI"/>
              </a:rPr>
              <a:t>13:45 </a:t>
            </a:r>
            <a:r>
              <a:rPr lang="zh-TW" sz="1700" b="0" u="none" strike="noStrike">
                <a:solidFill>
                  <a:srgbClr val="2B2B2B"/>
                </a:solidFill>
                <a:effectLst/>
                <a:uFillTx/>
                <a:latin typeface="Yu Gothic UI"/>
              </a:rPr>
              <a:t>產生 </a:t>
            </a:r>
            <a:r>
              <a:rPr lang="en-US" sz="1700" b="0" u="none" strike="noStrike">
                <a:solidFill>
                  <a:srgbClr val="2B2B2B"/>
                </a:solidFill>
                <a:effectLst/>
                <a:uFillTx/>
                <a:latin typeface="Yu Gothic UI"/>
              </a:rPr>
              <a:t>logs/dashboard.html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601"/>
              </a:spcBef>
            </a:pPr>
            <a:r>
              <a:rPr lang="zh-TW" sz="1400" b="0" u="none" strike="noStrike">
                <a:solidFill>
                  <a:srgbClr val="2B2B2B"/>
                </a:solidFill>
                <a:effectLst/>
                <a:uFillTx/>
                <a:latin typeface="Yu Gothic UI"/>
              </a:rPr>
              <a:t>（線上示範頁為範例資料；左圖為 </a:t>
            </a:r>
            <a:r>
              <a:rPr lang="en-US" sz="1400" b="0" u="none" strike="noStrike">
                <a:solidFill>
                  <a:srgbClr val="2B2B2B"/>
                </a:solidFill>
                <a:effectLst/>
                <a:uFillTx/>
                <a:latin typeface="Yu Gothic UI"/>
              </a:rPr>
              <a:t>VM </a:t>
            </a:r>
            <a:r>
              <a:rPr lang="zh-TW" sz="1400" b="0" u="none" strike="noStrike">
                <a:solidFill>
                  <a:srgbClr val="2B2B2B"/>
                </a:solidFill>
                <a:effectLst/>
                <a:uFillTx/>
                <a:latin typeface="Yu Gothic UI"/>
              </a:rPr>
              <a:t>實機畫面）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36296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DSH + Finmind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能做甚麼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?</a:t>
            </a:r>
            <a:br>
              <a:rPr sz="3200"/>
            </a:b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=&gt;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幫我做一個台灣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2026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前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10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大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eps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公司的走勢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html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/>
          </p:nvPr>
        </p:nvSpPr>
        <p:spPr>
          <a:xfrm>
            <a:off x="1293840" y="1828800"/>
            <a:ext cx="318240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Why HTML?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HTML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能動態顯示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.enable/disable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個股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移動鼠標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顯示該時間點資訊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23" name="內容版面配置區 6"/>
          <p:cNvPicPr/>
          <p:nvPr/>
        </p:nvPicPr>
        <p:blipFill>
          <a:blip r:embed="rId1"/>
          <a:stretch/>
        </p:blipFill>
        <p:spPr>
          <a:xfrm>
            <a:off x="4893120" y="1828800"/>
            <a:ext cx="6763680" cy="414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62BB16E1-0C4E-4E52-BD6A-9F2FF6869BFC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1217520" y="380880"/>
            <a:ext cx="1059156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DSH + Finmind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能做甚麼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?</a:t>
            </a:r>
            <a:br>
              <a:rPr sz="3200"/>
            </a:b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=&gt;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幫我做一個台灣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2026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前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10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便宜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eps&gt;30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公司的走勢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html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25" name="內容版面配置區 10"/>
          <p:cNvPicPr/>
          <p:nvPr/>
        </p:nvPicPr>
        <p:blipFill>
          <a:blip r:embed="rId1"/>
          <a:stretch/>
        </p:blipFill>
        <p:spPr>
          <a:xfrm>
            <a:off x="2286000" y="1267920"/>
            <a:ext cx="8381520" cy="5409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E6FE0E9C-2C64-4BB6-BFC9-A497D3623B48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1311120" y="266760"/>
            <a:ext cx="1066752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deepseek-flash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/>
          </p:nvPr>
        </p:nvSpPr>
        <p:spPr>
          <a:xfrm>
            <a:off x="379440" y="914400"/>
            <a:ext cx="655272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7500" lnSpcReduction="19999"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核心矛盾：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XX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是「結構性利多」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+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「循環股標籤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」的混合體。結構性利多讓它有向上空間，循環股標籤讓波動極大。策略要同時兼顧這兩者。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適合考慮的方向：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1.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核心部位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+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移動停利 大部分持倉抱著吃主升段，但設一個動態出場條件——例如跌破 季線（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60MA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 或 月線 減碼一部分。循環股最大的風險不是看錯方向，而是抱上去又抱下來。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2.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盯著毛利率和庫存轉折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XX Q1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毛利率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38%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，這在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memory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模組廠是史詩級數字。真正該警覺的信號是：毛利率連續兩季下滑（代表漲價動能減弱）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DRAM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合約價漲幅收斂到個位數存貨週轉天數從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183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天繼續攀升但營收沒跟上那時即使股價還在漲，也要開始收了。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3.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分批出場計畫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 循環股的鐵律：不要妄想賣在最高點。 可以先設幾個目標價區間（比如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300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400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500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），每過一個關卡出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20~30%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，最後留一些看能不能吃到泡沫。這樣即使後面繼續漲也不會心態炸裂。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4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.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不利情境的準備 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目前的風險不是景氣反轉（你說了一兩年內不太可能），而是：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漲多修正 —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YTD +22%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了，中間一定會有回檔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市場突然重新定性 — 如果哪天市場把記憶體股從「循環股」重新評為「成長股」，反而是大利多，但這個過程不會平滑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先想清楚你要賺的是哪一段，再決定策略。如果需要，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我可以幫你用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TWSE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資料跑一下十銓的技術面支撐壓力區間。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/>
          </p:nvPr>
        </p:nvSpPr>
        <p:spPr>
          <a:xfrm>
            <a:off x="7085160" y="914400"/>
            <a:ext cx="4571640" cy="49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我預期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xx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股價還會上升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你認為這要用甚麼策略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?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2736F452-AD5B-4761-A514-730DA4DBEC3B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1311120" y="266760"/>
            <a:ext cx="1066752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deepseek-flash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379440" y="914400"/>
            <a:ext cx="655272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19999"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這個策略簡單明瞭，但我想幫你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check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一下數字：目前股價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233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，已經在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250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以下了，所以其實現在就已經是買點。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問題在於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280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就賣：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XX 2026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年光是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Q1 EPS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就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27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元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就算後面三季保守估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30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元，全年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EPS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也有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~57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元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280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賣掉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本益比不到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5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倍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如果這一波真的是結構性超級景氣，市場稍微重新評價到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810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倍本益比，股價可以到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**450~570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元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**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。現在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280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就賣，可能會賣在剛開始起漲的位置。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比較合理的做法：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250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以下買 → 這沒問題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，現在就可以建立部位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但賣的條件可以更動態——不要鎖死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280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，而是跟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EPS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的實際成長 掛鉤。例如：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第一目標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300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出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1/3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第二目標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400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出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1/3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留一部分看景氣能走到什麼時候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單純鎖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250~280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區間，等於是預設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XX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只值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5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倍本益比——如果結構性利多真的兌現，這個假設可能會讓你把魚頭魚身都錯過。要設一個讓自己不會後悔的出場計畫比較實際。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7085160" y="914400"/>
            <a:ext cx="4571640" cy="49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可以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keep 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wait 250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以下買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,280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以上賣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?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32" name="文字方塊 5"/>
          <p:cNvSpPr/>
          <p:nvPr/>
        </p:nvSpPr>
        <p:spPr>
          <a:xfrm>
            <a:off x="7237440" y="2385360"/>
            <a:ext cx="4190760" cy="147708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spAutoFit/>
          </a:bodyPr>
          <a:p>
            <a:pPr defTabSz="914400">
              <a:lnSpc>
                <a:spcPct val="100000"/>
              </a:lnSpc>
            </a:pPr>
            <a:r>
              <a:rPr lang="zh-TW" sz="1800" b="1" u="none" strike="noStrike">
                <a:solidFill>
                  <a:srgbClr val="FF0000"/>
                </a:solidFill>
                <a:effectLst/>
                <a:uFillTx/>
                <a:latin typeface="Century Gothic"/>
              </a:rPr>
              <a:t>請注意這是在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entury Gothic"/>
              </a:rPr>
              <a:t>DSH</a:t>
            </a:r>
            <a:r>
              <a:rPr lang="zh-TW" sz="1800" b="1" u="none" strike="noStrike">
                <a:solidFill>
                  <a:srgbClr val="FF0000"/>
                </a:solidFill>
                <a:effectLst/>
                <a:uFillTx/>
                <a:latin typeface="Century Gothic"/>
              </a:rPr>
              <a:t>中的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entury Gothic"/>
              </a:rPr>
              <a:t>AI</a:t>
            </a:r>
            <a:r>
              <a:rPr lang="zh-TW" sz="1800" b="1" u="none" strike="noStrike">
                <a:solidFill>
                  <a:srgbClr val="FF0000"/>
                </a:solidFill>
                <a:effectLst/>
                <a:uFillTx/>
                <a:latin typeface="Century Gothic"/>
              </a:rPr>
              <a:t>問答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entury Gothic"/>
              </a:rPr>
              <a:t>,</a:t>
            </a:r>
            <a:r>
              <a:rPr lang="zh-TW" sz="1800" b="1" u="none" strike="noStrike">
                <a:solidFill>
                  <a:srgbClr val="FF0000"/>
                </a:solidFill>
                <a:effectLst/>
                <a:uFillTx/>
                <a:latin typeface="Century Gothic"/>
              </a:rPr>
              <a:t>不是一般對話型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entury Gothic"/>
              </a:rPr>
              <a:t>AI</a:t>
            </a:r>
            <a:r>
              <a:rPr lang="zh-TW" sz="1800" b="1" u="none" strike="noStrike">
                <a:solidFill>
                  <a:srgbClr val="FF0000"/>
                </a:solidFill>
                <a:effectLst/>
                <a:uFillTx/>
                <a:latin typeface="Century Gothic"/>
              </a:rPr>
              <a:t>的回答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entury Gothic"/>
              </a:rPr>
              <a:t>, DSH</a:t>
            </a:r>
            <a:r>
              <a:rPr lang="zh-TW" sz="1800" b="1" u="none" strike="noStrike">
                <a:solidFill>
                  <a:srgbClr val="FF0000"/>
                </a:solidFill>
                <a:effectLst/>
                <a:uFillTx/>
                <a:latin typeface="Century Gothic"/>
              </a:rPr>
              <a:t>會先掃描專案內的所有檔案才有辦法針對本專案來回答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entury Gothic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entury Gothic"/>
              </a:rPr>
              <a:t>AI</a:t>
            </a:r>
            <a:r>
              <a:rPr lang="zh-TW" sz="1800" b="1" u="none" strike="noStrike">
                <a:solidFill>
                  <a:srgbClr val="FF0000"/>
                </a:solidFill>
                <a:effectLst/>
                <a:uFillTx/>
                <a:latin typeface="Century Gothic"/>
              </a:rPr>
              <a:t>說的不全對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entury Gothic"/>
              </a:rPr>
              <a:t>,</a:t>
            </a:r>
            <a:r>
              <a:rPr lang="zh-TW" sz="1800" b="1" u="none" strike="noStrike">
                <a:solidFill>
                  <a:srgbClr val="FF0000"/>
                </a:solidFill>
                <a:effectLst/>
                <a:uFillTx/>
                <a:latin typeface="Century Gothic"/>
              </a:rPr>
              <a:t>但是很有參考價值</a:t>
            </a:r>
            <a:r>
              <a:rPr lang="en-US" sz="1800" b="1" u="none" strike="noStrike">
                <a:solidFill>
                  <a:srgbClr val="FF0000"/>
                </a:solidFill>
                <a:effectLst/>
                <a:uFillTx/>
                <a:latin typeface="Century Gothic"/>
              </a:rPr>
              <a:t>!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6A0DD4E2-BFA2-4F85-A556-77E78E89C7C4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1320120" y="343080"/>
            <a:ext cx="843156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 lnSpcReduction="9999"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需要先申請的帳號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安裝軟件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(PPT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檔中有連接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 type="sldNum" idx="27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AD697AE8-9BF8-40DD-AE9B-1E3AF4411B86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12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35" name="內容版面配置區 6"/>
          <p:cNvGraphicFramePr/>
          <p:nvPr/>
        </p:nvGraphicFramePr>
        <p:xfrm>
          <a:off x="1446120" y="800280"/>
          <a:ext cx="9677160" cy="6097320"/>
        </p:xfrm>
        <a:graphic>
          <a:graphicData uri="http://schemas.openxmlformats.org/drawingml/2006/table">
            <a:tbl>
              <a:tblPr/>
              <a:tblGrid>
                <a:gridCol w="2119320"/>
                <a:gridCol w="7557840"/>
              </a:tblGrid>
              <a:tr h="1039320">
                <a:tc>
                  <a:txBody>
                    <a:bodyPr lIns="167400" tIns="83520" rIns="167400" bIns="835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01</a:t>
                      </a:r>
                      <a:endParaRPr lang="en-US" sz="3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67400" marR="167400" marT="83520" marB="835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67400" tIns="83520" rIns="167400" bIns="835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Google </a:t>
                      </a:r>
                      <a:r>
                        <a:rPr lang="zh-TW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帳號並綁上</a:t>
                      </a:r>
                      <a:r>
                        <a:rPr lang="en-US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google pay</a:t>
                      </a:r>
                      <a:r>
                        <a:rPr lang="zh-TW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來</a:t>
                      </a:r>
                      <a:r>
                        <a:rPr lang="zh-TW" sz="33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  <a:hlinkClick r:id="rId1"/>
                        </a:rPr>
                        <a:t>申請雲端主機</a:t>
                      </a:r>
                      <a:endParaRPr lang="en-US" sz="3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67400" marR="167400" marT="83520" marB="835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1039320">
                <a:tc>
                  <a:txBody>
                    <a:bodyPr lIns="167400" tIns="83520" rIns="167400" bIns="835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02</a:t>
                      </a:r>
                      <a:endParaRPr lang="en-US" sz="3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67400" marR="167400" marT="83520" marB="835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67400" tIns="83520" rIns="167400" bIns="835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33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  <a:hlinkClick r:id="rId2"/>
                        </a:rPr>
                        <a:t>（本課程統一用 DeepSeek 官方模型，避免金鑰與計費混亂）</a:t>
                      </a:r>
                      <a:endParaRPr lang="en-US" sz="3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67400" marR="167400" marT="83520" marB="835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1039320">
                <a:tc>
                  <a:txBody>
                    <a:bodyPr lIns="167400" tIns="83520" rIns="167400" bIns="835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03</a:t>
                      </a:r>
                      <a:endParaRPr lang="en-US" sz="3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67400" marR="167400" marT="83520" marB="835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67400" tIns="83520" rIns="167400" bIns="835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申請</a:t>
                      </a:r>
                      <a:r>
                        <a:rPr lang="en-US" sz="33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  <a:hlinkClick r:id="rId3"/>
                        </a:rPr>
                        <a:t>Finmind</a:t>
                      </a:r>
                      <a:r>
                        <a:rPr lang="zh-TW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的帳號及</a:t>
                      </a:r>
                      <a:r>
                        <a:rPr lang="en-US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API Key(</a:t>
                      </a:r>
                      <a:r>
                        <a:rPr lang="zh-TW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回測資料</a:t>
                      </a:r>
                      <a:r>
                        <a:rPr lang="en-US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,</a:t>
                      </a:r>
                      <a:r>
                        <a:rPr lang="zh-TW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免費有一小時</a:t>
                      </a:r>
                      <a:r>
                        <a:rPr lang="en-US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600</a:t>
                      </a:r>
                      <a:r>
                        <a:rPr lang="zh-TW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次限制</a:t>
                      </a:r>
                      <a:r>
                        <a:rPr lang="en-US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)</a:t>
                      </a:r>
                      <a:endParaRPr lang="en-US" sz="3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67400" marR="167400" marT="83520" marB="835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1039320">
                <a:tc>
                  <a:txBody>
                    <a:bodyPr lIns="167400" tIns="83520" rIns="167400" bIns="835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04</a:t>
                      </a:r>
                      <a:endParaRPr lang="en-US" sz="3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67400" marR="167400" marT="83520" marB="835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67400" tIns="83520" rIns="167400" bIns="835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申請玉山</a:t>
                      </a:r>
                      <a:r>
                        <a:rPr lang="en-US" sz="33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  <a:hlinkClick r:id="rId4"/>
                        </a:rPr>
                        <a:t>API</a:t>
                      </a:r>
                      <a:r>
                        <a:rPr lang="zh-TW" sz="33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  <a:hlinkClick r:id="rId5"/>
                        </a:rPr>
                        <a:t>取得</a:t>
                      </a:r>
                      <a:r>
                        <a:rPr lang="en-US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(</a:t>
                      </a:r>
                      <a:r>
                        <a:rPr lang="zh-TW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需先開證卷戶</a:t>
                      </a:r>
                      <a:r>
                        <a:rPr lang="en-US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)ini example</a:t>
                      </a:r>
                      <a:r>
                        <a:rPr lang="zh-TW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與</a:t>
                      </a:r>
                      <a:r>
                        <a:rPr lang="en-US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p12</a:t>
                      </a:r>
                      <a:r>
                        <a:rPr lang="zh-TW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檔</a:t>
                      </a:r>
                      <a:endParaRPr lang="en-US" sz="3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67400" marR="167400" marT="83520" marB="835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1039320">
                <a:tc>
                  <a:txBody>
                    <a:bodyPr lIns="167400" tIns="83520" rIns="167400" bIns="835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33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05</a:t>
                      </a:r>
                      <a:endParaRPr lang="en-US" sz="3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</a:pPr>
                      <a:endParaRPr lang="en-US" sz="3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67400" marR="167400" marT="83520" marB="835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67400" tIns="83520" rIns="167400" bIns="835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PC: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安裝</a:t>
                      </a:r>
                      <a:r>
                        <a:rPr lang="en-US" sz="16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  <a:hlinkClick r:id="rId6"/>
                        </a:rPr>
                        <a:t>Vscode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(</a:t>
                      </a:r>
                      <a:r>
                        <a:rPr lang="en-US" sz="16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  <a:hlinkClick r:id="rId7"/>
                        </a:rPr>
                        <a:t>wsl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及</a:t>
                      </a:r>
                      <a:r>
                        <a:rPr lang="en-US" sz="16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  <a:hlinkClick r:id="rId8"/>
                        </a:rPr>
                        <a:t>markdown all in one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插件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),wsl(CMD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下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wsl –install)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手機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: 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安裝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Telegram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並申請 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Bot Token(Git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上</a:t>
                      </a:r>
                      <a:r>
                        <a:rPr lang="en-US" sz="16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  <a:hlinkClick r:id="rId9"/>
                        </a:rPr>
                        <a:t>WSL</a:t>
                      </a:r>
                      <a:r>
                        <a:rPr lang="zh-TW" sz="16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  <a:hlinkClick r:id="rId10"/>
                        </a:rPr>
                        <a:t>恢復</a:t>
                      </a:r>
                      <a:r>
                        <a:rPr lang="en-US" sz="16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  <a:hlinkClick r:id="rId11"/>
                        </a:rPr>
                        <a:t>.MD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67400" marR="167400" marT="83520" marB="835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Github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 type="sldNum" idx="28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A1A6F759-1A4E-4063-A78C-681F89FD86BB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13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38" name="Diagram1"/>
          <p:cNvGraphicFramePr/>
          <p:nvPr>
            <p:extLst>
              <p:ext uri="{D42A27DB-BD31-4B8C-83A1-F6EECF244321}">
                <p14:modId xmlns:p14="http://schemas.microsoft.com/office/powerpoint/2010/main" val="3500847136"/>
              </p:ext>
            </p:extLst>
          </p:nvPr>
        </p:nvGraphicFramePr>
        <p:xfrm>
          <a:off x="1293840" y="2743200"/>
          <a:ext cx="10134360" cy="35049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760320" y="152280"/>
            <a:ext cx="5145840" cy="2666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47500" lnSpcReduction="19999"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怎樣申請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Gcloud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雲端主機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-1</a:t>
            </a:r>
            <a:br>
              <a:rPr sz="3200"/>
            </a:b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名稱為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tw-selfselect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（可自取）的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VM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虛擬機器（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Virtual Machine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）。 </a:t>
            </a:r>
            <a:br>
              <a:rPr sz="3200"/>
            </a:b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這台機器的規格和特點如下：</a:t>
            </a:r>
            <a:br>
              <a:rPr sz="3200"/>
            </a:b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位置：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asia-east1-b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（位於台灣彰濱工業區的機房，對台灣使用者而言連線速度最快）。</a:t>
            </a:r>
            <a:br>
              <a:rPr sz="3200"/>
            </a:b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機型：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e2-micro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（配備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核心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vCPU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、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 GB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記憶體），這是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Google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提供給新用戶或特定區域的輕量級機型。</a:t>
            </a:r>
            <a:br>
              <a:rPr sz="3200"/>
            </a:b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作業系統：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ubuntu-2204-jammy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。 </a:t>
            </a:r>
            <a:br>
              <a:rPr sz="3200"/>
            </a:b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0" name="PlaceHolder 2"/>
          <p:cNvSpPr>
            <a:spLocks noGrp="1"/>
          </p:cNvSpPr>
          <p:nvPr>
            <p:ph/>
          </p:nvPr>
        </p:nvSpPr>
        <p:spPr>
          <a:xfrm>
            <a:off x="684360" y="3124080"/>
            <a:ext cx="5105160" cy="2361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第一步：註冊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Google Cloud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帳戶並開通免費試用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使用您的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Google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帳戶登入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1"/>
              </a:rPr>
              <a:t>Google Cloud 繁體中文官網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 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點擊頁面上的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「免費開始使用」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或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「免費試用」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按鈕。 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1" name="文字方塊 4"/>
          <p:cNvSpPr/>
          <p:nvPr/>
        </p:nvSpPr>
        <p:spPr>
          <a:xfrm>
            <a:off x="6270120" y="643680"/>
            <a:ext cx="5409720" cy="535500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spAutoFit/>
          </a:bodyPr>
          <a:p>
            <a:pPr defTabSz="914400">
              <a:lnSpc>
                <a:spcPct val="100000"/>
              </a:lnSpc>
            </a:pPr>
            <a:r>
              <a:rPr lang="zh-TW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填寫基本資料與開通帳單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：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填寫您的個人或企業資訊。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系統會要求綁定一張</a:t>
            </a:r>
            <a:r>
              <a:rPr lang="zh-TW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信用卡或金融卡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（支援海外刷卡功能）。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lang="zh-TW" sz="1800" b="0" i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提示：</a:t>
            </a:r>
            <a:r>
              <a:rPr lang="en-US" sz="1800" b="0" i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Google </a:t>
            </a:r>
            <a:r>
              <a:rPr lang="zh-TW" sz="1800" b="0" i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綁定信用卡主要是為了驗證真人身分、防止機器人濫用，在您手動升級為付費帳戶前，並不會自動扣款。註冊成功通常會獲得 </a:t>
            </a:r>
            <a:r>
              <a:rPr lang="en-US" sz="1800" b="0" i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$300 </a:t>
            </a:r>
            <a:r>
              <a:rPr lang="zh-TW" sz="1800" b="0" i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美元的免費試用折抵額度（限期 </a:t>
            </a:r>
            <a:r>
              <a:rPr lang="en-US" sz="1800" b="0" i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90 </a:t>
            </a:r>
            <a:r>
              <a:rPr lang="zh-TW" sz="1800" b="0" i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天）。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br>
              <a:rPr sz="1800"/>
            </a:b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第二步：建立一個新專案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進入 </a:t>
            </a:r>
            <a:r>
              <a:rPr lang="en-US" sz="1800" b="1" u="sng" strike="noStrike">
                <a:solidFill>
                  <a:schemeClr val="dk1"/>
                </a:solidFill>
                <a:effectLst/>
                <a:uFillTx/>
                <a:latin typeface="Century Gothic"/>
                <a:hlinkClick r:id="rId2"/>
              </a:rPr>
              <a:t>Google Cloud 控制台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點擊頂端列的專案下拉選單，選擇 </a:t>
            </a:r>
            <a:r>
              <a:rPr lang="zh-TW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「新建專案」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（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New Project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）。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自訂您的專案名稱（例如：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my-trader-project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），然後點擊建立。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br>
              <a:rPr sz="1800"/>
            </a:b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B7C587AE-6D86-488C-A66C-1A5B6A19BEFC}" type="slidenum">
              <a:t>14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760320" y="152280"/>
            <a:ext cx="518112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7500" lnSpcReduction="19999"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怎樣申請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Gcloud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雲端主機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-2</a:t>
            </a:r>
            <a:br>
              <a:rPr sz="3200"/>
            </a:br>
            <a:br>
              <a:rPr sz="1100"/>
            </a:b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/>
          </p:nvPr>
        </p:nvSpPr>
        <p:spPr>
          <a:xfrm>
            <a:off x="608040" y="1045800"/>
            <a:ext cx="5105160" cy="4516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第三步：建立與圖片中完全相同的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VM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虛擬機器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點擊控制台左上角的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「導覽選單 ☰」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[</a:t>
            </a:r>
            <a:r>
              <a:rPr lang="en-US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1"/>
              </a:rPr>
              <a:t>1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</a:t>
            </a:r>
            <a:r>
              <a:rPr lang="en-US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2"/>
              </a:rPr>
              <a:t>2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]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找到並依序點選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「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Compute Engine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」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＞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「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VM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執行個體」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VM Instances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）。 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i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如果是第一次使用，系統會提示您啟用 </a:t>
            </a:r>
            <a:r>
              <a:rPr lang="en-US" sz="1800" b="0" i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Compute Engine API</a:t>
            </a:r>
            <a:r>
              <a:rPr lang="zh-TW" sz="1800" b="0" i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，點擊「啟用」並稍等幾分鐘即可。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點擊頁面上方的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「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建立執行個體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」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Create Instance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依照規格進行設定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名稱：輸入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tw-selfselect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（可自取，需與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.env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SYNC_VM_NAME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一致）。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區域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：選擇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asia-east1</a:t>
            </a:r>
            <a:r>
              <a:rPr lang="en-US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</a:t>
            </a:r>
            <a:r>
              <a:rPr lang="zh-TW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台灣</a:t>
            </a:r>
            <a:r>
              <a:rPr lang="en-US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，可用區選擇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asia-east1-b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4" name="文字方塊 4"/>
          <p:cNvSpPr/>
          <p:nvPr/>
        </p:nvSpPr>
        <p:spPr>
          <a:xfrm>
            <a:off x="5637240" y="678960"/>
            <a:ext cx="6171840" cy="507780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spAutoFit/>
          </a:bodyPr>
          <a:p>
            <a:pPr marL="457200" defTabSz="914400">
              <a:lnSpc>
                <a:spcPct val="100000"/>
              </a:lnSpc>
            </a:pPr>
            <a:r>
              <a:rPr lang="zh-TW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機器組態（</a:t>
            </a: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Machine configuration</a:t>
            </a:r>
            <a:r>
              <a:rPr lang="zh-TW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）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：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系列選擇 </a:t>
            </a:r>
            <a:r>
              <a:rPr lang="en-US" sz="1800" b="1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E2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機器類型選擇 </a:t>
            </a:r>
            <a:r>
              <a:rPr lang="en-US" sz="1400" b="1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e2-micro</a:t>
            </a: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(1 vCPU, 1 GB </a:t>
            </a:r>
            <a:r>
              <a:rPr lang="zh-TW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記憶體</a:t>
            </a: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)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lang="zh-TW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開機磁碟（</a:t>
            </a: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Boot disk</a:t>
            </a:r>
            <a:r>
              <a:rPr lang="zh-TW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）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：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點擊「變更」按鈕。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作業系統（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Operating system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）選擇 </a:t>
            </a: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Ubuntu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版本（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Version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）選擇 </a:t>
            </a:r>
            <a:r>
              <a:rPr lang="en-US" sz="1800" b="1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Ubuntu 22.04 LTS</a:t>
            </a:r>
            <a:r>
              <a:rPr lang="en-US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(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對應圖中的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ubuntu-2204-jammy)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點擊選取。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lang="zh-TW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防火牆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：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如果這台機器未來需要架設網站或對外連線，勾選「允許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HTTP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流量」和「允許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HTTPS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流量」。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確認右側的預估費用資訊後，點擊最下方的 </a:t>
            </a:r>
            <a:r>
              <a:rPr lang="zh-TW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「</a:t>
            </a:r>
            <a:r>
              <a:rPr lang="zh-TW" sz="1800" b="1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建立</a:t>
            </a:r>
            <a:r>
              <a:rPr lang="zh-TW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」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按鈕。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建立完成後，您就可以在列表中看到跟圖片一樣處於運行狀態的虛擬機器，並可以透過頁面上的 「</a:t>
            </a:r>
            <a:r>
              <a:rPr lang="en-US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SSH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」 按鈕直接連線進去操作。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br>
              <a:rPr sz="1800"/>
            </a:b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D4A93063-9E29-4AD9-A757-65FE28F79643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792432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47500" lnSpcReduction="19999"/>
          </a:bodyPr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快速設定靜態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IP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步驟（將現有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IP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轉為靜態）</a:t>
            </a:r>
            <a:br>
              <a:rPr sz="3200"/>
            </a:b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1293840" y="1295280"/>
            <a:ext cx="10345320" cy="5028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進入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GCP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控制台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打開並登入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1"/>
              </a:rPr>
              <a:t>Google Cloud 控制台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尋找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VPC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網路設定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點擊左上角的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「導覽選單 ☰」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向下捲動找到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「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VPC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網路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」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VPC network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），然後點選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「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位址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」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IP addresses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保留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IP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位址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在列表中，您會看到一筆目前分配給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tw-selfselect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IP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紀錄，其「類型」此時顯示為 外網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暫時（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Ephemeral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點擊該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IP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資料列最右側的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「三個點（更多動作） ⋮」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選擇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「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保留靜態外部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位址」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Reserve static external IP address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）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命名與確認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在彈出的視窗中，為這個靜態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IP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取一個名字（例如：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tw-selfselect-static-ip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「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保留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」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=&gt;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請記錄這個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IP,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要到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2"/>
              </a:rPr>
              <a:t>玉山</a:t>
            </a:r>
            <a:r>
              <a:rPr lang="en-US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3"/>
              </a:rPr>
              <a:t>API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去設白名單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此時，該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IP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的類型會變成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靜態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，這意味著無論您的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VM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往後如何重啟或關機，這個外部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IP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位址都永遠不會改變。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EFF8C2C9-ABC6-44E2-9F74-208BE3011CF4}" type="slidenum">
              <a:t>16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640" cy="586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en-US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Thank you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/>
          </p:nvPr>
        </p:nvSpPr>
        <p:spPr>
          <a:xfrm>
            <a:off x="6768360" y="2247840"/>
            <a:ext cx="4443120" cy="240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frank@dinchen.com.tw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ustom">
  <a:themeElements>
    <a:clrScheme name="Custom 174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 pitchFamily="0" charset="1"/>
        <a:ea typeface=""/>
        <a:cs typeface=""/>
      </a:majorFont>
      <a:minorFont>
        <a:latin typeface="Century Gothic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20C06458-EC9A-428C-9123-A760B9587A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C37B52A-9EC8-4B7A-85C4-31F7EAFE403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050606-E255-48B6-AE23-CE03A589EB22}">
  <ds:schemaRefs>
    <ds:schemaRef ds:uri="http://schemas.microsoft.com/office/infopath/2007/PartnerControls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230e9df3-be65-4c73-a93b-d1236ebd677e"/>
    <ds:schemaRef ds:uri="16c05727-aa75-4e4a-9b5f-8a80a1165891"/>
    <ds:schemaRef ds:uri="http://schemas.microsoft.com/sharepoint/v3"/>
    <ds:schemaRef ds:uri="71af3243-3dd4-4a8d-8c0d-dd76da1f02a5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1394</TotalTime>
  <Application>LibreOffice/26.2.6.3$Windows_X86_64 LibreOffice_project/8221e31b3ac356a1623c672912a3d2b492f7e3d1</Application>
  <AppVersion>15.0000</AppVersion>
  <Words>1877</Words>
  <Paragraphs>153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2026-07-14T08:04:07Z</dcterms:created>
  <dc:creator>宜軒 謝</dc:creator>
  <dc:description/>
  <dc:language>en-US</dc:language>
  <cp:lastModifiedBy/>
  <dcterms:modified xsi:type="dcterms:W3CDTF">2026-10-26T16:30:10Z</dcterms:modified>
  <cp:revision>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lications">
    <vt:lpwstr/>
  </property>
  <property fmtid="{D5CDD505-2E9C-101B-9397-08002B2CF9AE}" pid="3" name="CampaignTags">
    <vt:lpwstr/>
  </property>
  <property fmtid="{D5CDD505-2E9C-101B-9397-08002B2CF9AE}" pid="4" name="CategoryTags">
    <vt:lpwstr/>
  </property>
  <property fmtid="{D5CDD505-2E9C-101B-9397-08002B2CF9AE}" pid="5" name="ContentTypeId">
    <vt:lpwstr>0x01010079F111ED35F8CC479449609E8A0923A6</vt:lpwstr>
  </property>
  <property fmtid="{D5CDD505-2E9C-101B-9397-08002B2CF9AE}" pid="6" name="FeatureTags">
    <vt:lpwstr/>
  </property>
  <property fmtid="{D5CDD505-2E9C-101B-9397-08002B2CF9AE}" pid="7" name="HiddenCategoryTags">
    <vt:lpwstr/>
  </property>
  <property fmtid="{D5CDD505-2E9C-101B-9397-08002B2CF9AE}" pid="8" name="InternalTags">
    <vt:lpwstr/>
  </property>
  <property fmtid="{D5CDD505-2E9C-101B-9397-08002B2CF9AE}" pid="9" name="LocalizationTags">
    <vt:lpwstr/>
  </property>
  <property fmtid="{D5CDD505-2E9C-101B-9397-08002B2CF9AE}" pid="10" name="MediaServiceImageTags">
    <vt:lpwstr/>
  </property>
  <property fmtid="{D5CDD505-2E9C-101B-9397-08002B2CF9AE}" pid="11" name="Notes">
    <vt:i4>1</vt:i4>
  </property>
  <property fmtid="{D5CDD505-2E9C-101B-9397-08002B2CF9AE}" pid="12" name="Order">
    <vt:r8>74069400</vt:r8>
  </property>
  <property fmtid="{D5CDD505-2E9C-101B-9397-08002B2CF9AE}" pid="13" name="PresentationFormat">
    <vt:lpwstr>自訂</vt:lpwstr>
  </property>
  <property fmtid="{D5CDD505-2E9C-101B-9397-08002B2CF9AE}" pid="14" name="ScenarioTags">
    <vt:lpwstr/>
  </property>
  <property fmtid="{D5CDD505-2E9C-101B-9397-08002B2CF9AE}" pid="15" name="Slides">
    <vt:i4>17</vt:i4>
  </property>
</Properties>
</file>